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4a" ContentType="audio/mp4"/>
  <Override PartName="/ppt/media/media10.m4a" ContentType="audio/mp4"/>
  <Override PartName="/ppt/media/media2.m4a" ContentType="audio/mp4"/>
  <Override PartName="/ppt/media/media3.m4a" ContentType="audio/mp4"/>
  <Override PartName="/ppt/media/media4.m4a" ContentType="audio/mp4"/>
  <Override PartName="/ppt/media/media5.m4a" ContentType="audio/mp4"/>
  <Override PartName="/ppt/media/media6.m4a" ContentType="audio/mp4"/>
  <Override PartName="/ppt/media/media7.m4a" ContentType="audio/mp4"/>
  <Override PartName="/ppt/media/media8.m4a" ContentType="audio/mp4"/>
  <Override PartName="/ppt/media/media9.m4a" ContentType="audi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73" r:id="rId9"/>
    <p:sldId id="274" r:id="rId8"/>
    <p:sldId id="275" r:id="rId7"/>
    <p:sldId id="276" r:id="rId6"/>
    <p:sldId id="277" r:id="rId5"/>
    <p:sldId id="278" r:id="rId23"/>
    <p:sldId id="264" r:id="rId10"/>
    <p:sldId id="265" r:id="rId11"/>
    <p:sldId id="266" r:id="rId12"/>
    <p:sldId id="267" r:id="rId13"/>
    <p:sldId id="268" r:id="rId14"/>
    <p:sldId id="269" r:id="rId15"/>
    <p:sldId id="271" r:id="rId16"/>
    <p:sldId id="272"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7"/>
    <p:restoredTop sz="68915"/>
  </p:normalViewPr>
  <p:slideViewPr>
    <p:cSldViewPr snapToGrid="0" snapToObjects="1">
      <p:cViewPr varScale="1">
        <p:scale>
          <a:sx n="74" d="100"/>
          <a:sy n="74" d="100"/>
        </p:scale>
        <p:origin x="600"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5.xml"/><Relationship Id="rId9" Type="http://schemas.openxmlformats.org/officeDocument/2006/relationships/slide" Target="slides/slide4.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23"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98695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Hi Everyone, I'm Can! </a:t>
            </a:r>
            <a:r>
              <a:rPr dirty="0"/>
              <a:t>Have you ever been stuck on a staircase, holding one end of a couch, thinking: "there is no way this fits"?</a:t>
            </a:r>
          </a:p>
          <a:p>
            <a:endParaRPr dirty="0"/>
          </a:p>
          <a:p>
            <a:r>
              <a:rPr dirty="0"/>
              <a:t>Today we're going to settle that argument with math.</a:t>
            </a:r>
          </a:p>
          <a:p>
            <a:endParaRPr dirty="0"/>
          </a:p>
          <a:p>
            <a:r>
              <a:rPr dirty="0"/>
              <a:t>I built a browser app called Can It Fit</a:t>
            </a:r>
            <a:r>
              <a:rPr lang="en-US" dirty="0"/>
              <a:t>, where y</a:t>
            </a:r>
            <a:r>
              <a:rPr dirty="0"/>
              <a:t>ou </a:t>
            </a:r>
            <a:r>
              <a:rPr lang="en-US" dirty="0"/>
              <a:t>can </a:t>
            </a:r>
            <a:r>
              <a:rPr dirty="0"/>
              <a:t>design a room in 3D, drop in a piece of furniture, and a motion planner</a:t>
            </a:r>
            <a:r>
              <a:rPr lang="en-US" dirty="0"/>
              <a:t> will</a:t>
            </a:r>
            <a:r>
              <a:rPr dirty="0"/>
              <a:t> figure out whether it can actually get through.</a:t>
            </a:r>
          </a:p>
          <a:p>
            <a:endParaRPr dirty="0"/>
          </a:p>
          <a:p>
            <a:r>
              <a:rPr dirty="0"/>
              <a:t>In the next few minutes I'll show you how to use it, and then, the fun part, how the planner really </a:t>
            </a:r>
            <a:r>
              <a:rPr lang="en-US" dirty="0"/>
              <a:t>solve the problem</a:t>
            </a:r>
            <a:r>
              <a:rPr dirty="0"/>
              <a:t>. No installs. No build step. Just a browser.</a:t>
            </a:r>
          </a:p>
          <a:p>
            <a:endParaRPr dirty="0"/>
          </a:p>
          <a:p>
            <a:r>
              <a:rPr dirty="0"/>
              <a:t>Let's go.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Here's why this is harder than it looks.</a:t>
            </a:r>
          </a:p>
          <a:p>
            <a:endParaRPr dirty="0"/>
          </a:p>
          <a:p>
            <a:r>
              <a:rPr dirty="0"/>
              <a:t>A couch isn't just sliding along a hallway. It can move in three directions, and it can rotate in three ways: yaw, pitch and roll. That's six degrees of freedom.</a:t>
            </a:r>
          </a:p>
          <a:p>
            <a:endParaRPr dirty="0"/>
          </a:p>
          <a:p>
            <a:r>
              <a:rPr dirty="0"/>
              <a:t>So "does it fit?" is secretly a question about finding a path through six-dimensional space, where every single pose along the way has to avoid every wall.</a:t>
            </a:r>
          </a:p>
          <a:p>
            <a:endParaRPr dirty="0"/>
          </a:p>
          <a:p>
            <a:r>
              <a:rPr dirty="0"/>
              <a:t>Look at this corner. The sofa can't just slide through. It has to turn, at exactly the right moment, by exactly the right amount.</a:t>
            </a:r>
          </a:p>
          <a:p>
            <a:endParaRPr dirty="0"/>
          </a:p>
          <a:p>
            <a:r>
              <a:rPr dirty="0"/>
              <a:t>That turning is what makes this problem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
            </a:r>
            <a:r>
              <a:rPr lang="en-US" dirty="0"/>
              <a:t>is</a:t>
            </a:r>
            <a:r>
              <a:rPr dirty="0"/>
              <a:t> app gives you three ways to answer the question.</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First, </a:t>
            </a:r>
            <a:r>
              <a:rPr lang="en-US" dirty="0"/>
              <a:t>manual mode, where you grab the furniture yourself and try it virtually.</a:t>
            </a:r>
          </a:p>
          <a:p>
            <a:endParaRPr dirty="0"/>
          </a:p>
          <a:p>
            <a:r>
              <a:rPr dirty="0"/>
              <a:t>Second, a deterministic straight-shot heuristic.</a:t>
            </a:r>
          </a:p>
          <a:p>
            <a:endParaRPr dirty="0"/>
          </a:p>
          <a:p>
            <a:r>
              <a:rPr dirty="0"/>
              <a:t>Third, </a:t>
            </a:r>
            <a:r>
              <a:rPr lang="en-US" dirty="0"/>
              <a:t>a probabilistic solver using motion planning algorithm called RRT-Connect, </a:t>
            </a:r>
          </a:p>
          <a:p>
            <a:endParaRPr lang="en-US" dirty="0"/>
          </a:p>
          <a:p>
            <a:r>
              <a:rPr lang="en-US" dirty="0"/>
              <a:t>and </a:t>
            </a:r>
            <a:r>
              <a:rPr dirty="0"/>
              <a:t>Everything follows four simple steps: build the room, choose the entrance and exit, describe the furniture, and solve. Let's walk through each one.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for the fun part: building the place your furniture has to travel through.</a:t>
            </a:r>
          </a:p>
          <a:p/>
          <a:p>
            <a:r>
              <a:t>And here's the best thing about this app: you're not stuck with one shape. You can build almost anything. A straight hallway, an L-shaped corner, a zig-zag, or a full flight of stairs like this one.</a:t>
            </a:r>
          </a:p>
          <a:p/>
          <a:p>
            <a:r>
              <a:t>The idea is simple. You shape some blocks, you connect them together, and then you test your furniture inside. That's it.</a:t>
            </a:r>
          </a:p>
          <a:p/>
          <a:p>
            <a:r>
              <a:t>This staircase is built from just three blocks and two connections. Let me show you how.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one: shape your blocks.</a:t>
            </a:r>
          </a:p>
          <a:p/>
          <a:p>
            <a:r>
              <a:t>Every block starts out as a simple box. Use the length sliders to stretch it, and the angle sliders to tilt it. A tilted box is how you get a ramp, or the slope of a staircase.</a:t>
            </a:r>
          </a:p>
          <a:p/>
          <a:p>
            <a:r>
              <a:t>Need more pieces? Press "Add object" and another block appears. Here we have two ordinary boxes for the hallways, and one tilted box in the middle that will become the stairs.</a:t>
            </a:r>
          </a:p>
          <a:p/>
          <a:p>
            <a:r>
              <a:t>You can make as many blocks as you like, in any size, at any angle.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two: connect the blocks. Press "Connect two objects", then click one face on each block you want to join.</a:t>
            </a:r>
          </a:p>
          <a:p/>
          <a:p>
            <a:r>
              <a:t>A small preview window opens, with three sliders. When two blocks first snap together, they might stick out the wrong way, like on the left.</a:t>
            </a:r>
          </a:p>
          <a:p/>
          <a:p>
            <a:r>
              <a:t>So you drag the sliders: one rotates the block around the surface it's attached to, and the other two slide it along that surface. Rotating changes the angle between the two surfaces, and that's the trick that lets you bend a hallway, or turn a flat block into stairs.</a:t>
            </a:r>
          </a:p>
          <a:p/>
          <a:p>
            <a:r>
              <a:t>When it looks right, like on the right, press Apply. Then repeat for the next joint.</a:t>
            </a:r>
          </a:p>
          <a:p/>
          <a:p>
            <a:r>
              <a:t>That's the whole recipe: shape, connect, adjust. With those three moves, you can build whatever your own home looks like.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Steps two and three are quick.</a:t>
            </a:r>
          </a:p>
          <a:p/>
          <a:p>
            <a:r>
              <a:t>First, tell the app where the furniture comes in and where it has to come out. Click the end of the bottom hallway for the entrance, and the top for the exit. Press "Confirm 3D model" and the walls turn see-through.</a:t>
            </a:r>
          </a:p>
          <a:p/>
          <a:p>
            <a:r>
              <a:t>Those two faces are the only doorways. Every other wall is solid, so the furniture can't cheat by walking through one.</a:t>
            </a:r>
          </a:p>
          <a:p/>
          <a:p>
            <a:r>
              <a:t>Then type in the size of your furniture: length, width and height. The green box next to the building is a preview of it. I'll start with a big sofa, two and a half by one point two by one point two.</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Before we let the computer try, try it yourself. Press "Try manually" and the furniture starts just outside the entrance.</a:t>
            </a:r>
          </a:p>
          <a:p/>
          <a:p>
            <a:r>
              <a:t>Hold the M key and drag it into the building. The box turns green when it's legal, yellow when it's outside, and red when it hits a wall. Use the sliders to tilt and lift it.</a:t>
            </a:r>
          </a:p>
          <a:p/>
          <a:p>
            <a:r>
              <a:t>If you get stuck, Auto Pilot lines the furniture up with a wall for you. Reach the exit and you win.</a:t>
            </a:r>
          </a:p>
          <a:p/>
          <a:p>
            <a:r>
              <a:t>It's trickier than it looks, which is exactly why a planner is so useful.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let the computer try. Press "Run selected solver", and the planner searches for a path.</a:t>
            </a:r>
          </a:p>
          <a:p/>
          <a:p>
            <a:r>
              <a:t>With the big sofa, it comes back: "No route found". Now, be careful how you read that. The search is random, so it can't prove that no route exists. It's strong evidence, not a guarantee. So we change something.</a:t>
            </a:r>
          </a:p>
          <a:p/>
          <a:p>
            <a:r>
              <a:t>I'll shrink the furniture and run it again. And this time: "It fits!" You can drag the timeline and watch the box travel up the stairs, tilting to follow the slope.</a:t>
            </a:r>
          </a:p>
          <a:p/>
          <a:p>
            <a:r>
              <a:t>Same building, same solver. The only thing that changed was the size of the furniture. That's the whole point: you can test a move before you ever lift a couch.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 far you've seen what it does. Now let's open the hood.</a:t>
            </a:r>
          </a:p>
          <a:p>
            <a:endParaRPr dirty="0"/>
          </a:p>
          <a:p>
            <a:r>
              <a:rPr dirty="0"/>
              <a:t>Three questions. How is a position stored? How do we know a position is legal? And how do we search for a path?</a:t>
            </a:r>
          </a:p>
          <a:p>
            <a:endParaRPr dirty="0"/>
          </a:p>
          <a:p>
            <a:r>
              <a:rPr lang="en-US" dirty="0"/>
              <a:t>By a</a:t>
            </a:r>
            <a:r>
              <a:rPr dirty="0"/>
              <a:t>nswer</a:t>
            </a:r>
            <a:r>
              <a:rPr lang="en-US" dirty="0"/>
              <a:t>ing</a:t>
            </a:r>
            <a:r>
              <a:rPr dirty="0"/>
              <a:t> those three</a:t>
            </a:r>
            <a:r>
              <a:rPr lang="en-US" dirty="0"/>
              <a:t> questions</a:t>
            </a:r>
            <a:r>
              <a:rPr dirty="0"/>
              <a:t>, </a:t>
            </a:r>
            <a:r>
              <a:rPr lang="en-US" dirty="0"/>
              <a:t>y</a:t>
            </a:r>
            <a:r>
              <a:rPr dirty="0"/>
              <a:t>ou </a:t>
            </a:r>
            <a:r>
              <a:rPr lang="en-US" dirty="0"/>
              <a:t>will </a:t>
            </a:r>
            <a:r>
              <a:rPr dirty="0"/>
              <a:t>understand the whole planner.</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one: how do you describe where a couch is?</a:t>
            </a:r>
          </a:p>
          <a:p>
            <a:endParaRPr dirty="0"/>
          </a:p>
          <a:p>
            <a:r>
              <a:rPr dirty="0"/>
              <a:t>With six numbers. X, Y and Z for position, and yaw, pitch and roll for rotation.</a:t>
            </a:r>
          </a:p>
          <a:p>
            <a:endParaRPr dirty="0"/>
          </a:p>
          <a:p>
            <a:r>
              <a:rPr dirty="0"/>
              <a:t>The code stores that as a simple object, and converts the three angles into a quaternion, using Z-Y-X Euler order. We use the same convention everywhere, so rendering, collision checking and saving always agree.</a:t>
            </a:r>
          </a:p>
          <a:p>
            <a:endParaRPr dirty="0"/>
          </a:p>
          <a:p>
            <a:r>
              <a:rPr dirty="0"/>
              <a:t>And here's a neat trick: turn off "Allow roll sampling" and the search drops from six dimensions to five. That makes it faster, and most furniture never needs to barrel-roll anyway.</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two: given a pose, is it legal?</a:t>
            </a:r>
          </a:p>
          <a:p>
            <a:endParaRPr dirty="0"/>
          </a:p>
          <a:p>
            <a:r>
              <a:rPr dirty="0"/>
              <a:t>If every </a:t>
            </a:r>
            <a:r>
              <a:rPr lang="en-US" dirty="0"/>
              <a:t>boundary point of the furniture </a:t>
            </a:r>
            <a:r>
              <a:rPr dirty="0"/>
              <a:t>is inside the room, the pose is legal.</a:t>
            </a:r>
          </a:p>
          <a:p>
            <a:endParaRPr dirty="0"/>
          </a:p>
          <a:p>
            <a:r>
              <a:rPr dirty="0"/>
              <a:t>To check a move between two poses, we interpolate and test every little step along the way.</a:t>
            </a:r>
          </a:p>
          <a:p>
            <a:endParaRPr dirty="0"/>
          </a:p>
          <a:p>
            <a:r>
              <a:rPr dirty="0"/>
              <a:t>And crossing a wall? That's only allowed through the entrance or exit.</a:t>
            </a:r>
          </a:p>
          <a:p>
            <a:endParaRPr dirty="0"/>
          </a:p>
          <a:p>
            <a:r>
              <a:rPr dirty="0"/>
              <a:t>It's the exact same check for manual mode and for both solvers. Nobody gets special treatment.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Question three: how do we find a path through six-dimensional space?</a:t>
            </a:r>
          </a:p>
          <a:p>
            <a:endParaRPr dirty="0"/>
          </a:p>
          <a:p>
            <a:r>
              <a:rPr dirty="0"/>
              <a:t>With an algorithm called RRT-Connect. RRT stands for Rapidly-exploring Random Tree.</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Specifically, RRT-Connect grows two trees, one from the start and one from the goal.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randomly samples new nodes in each iteration, attempting to connect the two trees while avoiding the obstacles.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dirty="0"/>
              <a:t>When the two trees touch, we have a path. We smooth it, resample it, and animate it.</a:t>
            </a:r>
          </a:p>
          <a:p>
            <a:endParaRPr dirty="0"/>
          </a:p>
          <a:p>
            <a:r>
              <a:rPr dirty="0"/>
              <a:t>One honest caveat. It's probabilistic.</a:t>
            </a:r>
            <a:r>
              <a:rPr lang="en-US" dirty="0"/>
              <a:t> So</a:t>
            </a:r>
            <a:r>
              <a:rPr dirty="0"/>
              <a:t> Finding a route proves the </a:t>
            </a:r>
            <a:r>
              <a:rPr lang="en-US" dirty="0"/>
              <a:t>furniture</a:t>
            </a:r>
            <a:r>
              <a:rPr dirty="0"/>
              <a:t> fits. </a:t>
            </a:r>
            <a:endParaRPr lang="en-US" dirty="0"/>
          </a:p>
          <a:p>
            <a:endParaRPr lang="en-US" dirty="0"/>
          </a:p>
          <a:p>
            <a:r>
              <a:rPr lang="en-US" dirty="0"/>
              <a:t>But f</a:t>
            </a:r>
            <a:r>
              <a:rPr dirty="0"/>
              <a:t>ailing to find one does not prove it can't. </a:t>
            </a:r>
            <a:r>
              <a:rPr lang="en-US" dirty="0"/>
              <a:t>You may try</a:t>
            </a:r>
            <a:r>
              <a:rPr dirty="0"/>
              <a:t> run it again,  raise the iterations</a:t>
            </a:r>
            <a:r>
              <a:rPr lang="en-US" dirty="0"/>
              <a:t>, or use the manual solver.</a:t>
            </a:r>
            <a:endParaRPr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Pure random sampling struggles with a tight doorway. The chance of randomly guessing a good entrance pose is tiny.</a:t>
            </a:r>
          </a:p>
          <a:p>
            <a:endParaRPr dirty="0"/>
          </a:p>
          <a:p>
            <a:r>
              <a:rPr dirty="0"/>
              <a:t>So we don't start blind. We sample offsets across the opening, combined with fifteen-degree yaw, pitch and roll orientations. We refine the promising ones at five degrees. Then we probe each candidate inward, to see how deep it gets.</a:t>
            </a:r>
          </a:p>
          <a:p>
            <a:endParaRPr dirty="0"/>
          </a:p>
          <a:p>
            <a:r>
              <a:rPr dirty="0"/>
              <a:t>We rank them by depth, clearance, alignment, offset and tilt, and feed the best ones to the planner as</a:t>
            </a:r>
            <a:r>
              <a:rPr lang="en-US" dirty="0"/>
              <a:t> candidate starting poses</a:t>
            </a:r>
            <a:r>
              <a:rPr dirty="0"/>
              <a:t>.</a:t>
            </a:r>
          </a:p>
          <a:p>
            <a:endParaRPr lang="en-US" dirty="0"/>
          </a:p>
          <a:p>
            <a:r>
              <a:rPr lang="en-US" dirty="0"/>
              <a:t>And this will increase the chance of successfully finding a path.</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second solver is the straight-shot heuristic, and it's the opposite of random.</a:t>
            </a:r>
          </a:p>
          <a:p>
            <a:endParaRPr dirty="0"/>
          </a:p>
          <a:p>
            <a:r>
              <a:rPr dirty="0"/>
              <a:t>The travel direction is the room edge that isn't part of the entrance face. We line up the furniture's longest axis with it, project the doorway along that direction, and check whether the furniture's cross-section, with clearance, fits through.</a:t>
            </a:r>
          </a:p>
          <a:p>
            <a:endParaRPr dirty="0"/>
          </a:p>
          <a:p>
            <a:r>
              <a:rPr dirty="0"/>
              <a:t>If it does, we </a:t>
            </a:r>
            <a:r>
              <a:rPr dirty="0" err="1"/>
              <a:t>centre</a:t>
            </a:r>
            <a:r>
              <a:rPr dirty="0"/>
              <a:t> it, park it outside, and slide it straight in.</a:t>
            </a:r>
          </a:p>
          <a:p>
            <a:endParaRPr dirty="0"/>
          </a:p>
          <a:p>
            <a:r>
              <a:rPr dirty="0"/>
              <a:t>For rooms made of several blocks, it hands off between blocks using a short RRT.</a:t>
            </a:r>
          </a:p>
          <a:p>
            <a:endParaRPr dirty="0"/>
          </a:p>
          <a:p>
            <a:r>
              <a:rPr dirty="0"/>
              <a:t>My rule of thumb: use the heuristic for a fast yes on </a:t>
            </a:r>
            <a:r>
              <a:rPr lang="en-US" dirty="0"/>
              <a:t>simple straight room</a:t>
            </a:r>
            <a:r>
              <a:rPr dirty="0"/>
              <a:t>, and RRT-Connect when you need real </a:t>
            </a:r>
            <a:r>
              <a:rPr dirty="0" err="1"/>
              <a:t>manoeuvring</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it's your turn.</a:t>
            </a:r>
          </a:p>
          <a:p>
            <a:endParaRPr dirty="0"/>
          </a:p>
          <a:p>
            <a:r>
              <a:rPr dirty="0"/>
              <a:t>Build an L-shaped hallway out of two connected blocks. </a:t>
            </a:r>
            <a:r>
              <a:rPr lang="en-US" dirty="0"/>
              <a:t>You can make</a:t>
            </a:r>
            <a:r>
              <a:rPr dirty="0"/>
              <a:t> furniture </a:t>
            </a:r>
            <a:r>
              <a:rPr lang="en-US" dirty="0"/>
              <a:t>and clearance </a:t>
            </a:r>
            <a:r>
              <a:rPr dirty="0"/>
              <a:t>of</a:t>
            </a:r>
            <a:r>
              <a:rPr lang="en-US" dirty="0"/>
              <a:t> this size</a:t>
            </a:r>
          </a:p>
          <a:p>
            <a:endParaRPr dirty="0"/>
          </a:p>
          <a:p>
            <a:r>
              <a:rPr dirty="0"/>
              <a:t>Try it manually first. Then run both solvers.</a:t>
            </a:r>
          </a:p>
          <a:p>
            <a:endParaRPr dirty="0"/>
          </a:p>
          <a:p>
            <a:r>
              <a:rPr dirty="0"/>
              <a:t>Then </a:t>
            </a:r>
            <a:r>
              <a:rPr lang="en-US" dirty="0"/>
              <a:t>increase the furniture size </a:t>
            </a:r>
            <a:r>
              <a:rPr dirty="0"/>
              <a:t>until it stops fitting, and see whether roll sampling rescues it.</a:t>
            </a:r>
          </a:p>
          <a:p>
            <a:endParaRPr dirty="0"/>
          </a:p>
          <a:p>
            <a:r>
              <a:rPr dirty="0"/>
              <a:t>So here's the question: what's the</a:t>
            </a:r>
            <a:r>
              <a:rPr lang="en-US" dirty="0"/>
              <a:t> </a:t>
            </a:r>
            <a:r>
              <a:rPr lang="en-US" sz="1200" b="1" i="0" dirty="0">
                <a:solidFill>
                  <a:srgbClr val="17211D"/>
                </a:solidFill>
                <a:latin typeface="Arial"/>
              </a:rPr>
              <a:t>largest sofa that fits your hallway</a:t>
            </a:r>
            <a:r>
              <a:rPr dirty="0"/>
              <a:t>?</a:t>
            </a:r>
          </a:p>
          <a:p>
            <a:endParaRPr dirty="0"/>
          </a:p>
          <a:p>
            <a:r>
              <a:rPr dirty="0"/>
              <a:t>Pause the video, give it a go, and drop your number in the comments. I'm really curious what you find.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That's everything. And the best part: you can try it right now.</a:t>
            </a:r>
          </a:p>
          <a:p>
            <a:endParaRPr dirty="0"/>
          </a:p>
          <a:p>
            <a:r>
              <a:rPr dirty="0"/>
              <a:t>The app is live in your browser. No install, no account. The link is on screen and in the description</a:t>
            </a:r>
            <a:r>
              <a:rPr lang="en-US" dirty="0"/>
              <a:t>.</a:t>
            </a:r>
          </a:p>
          <a:p>
            <a:endParaRPr dirty="0"/>
          </a:p>
          <a:p>
            <a:r>
              <a:rPr lang="en-US" dirty="0"/>
              <a:t>T</a:t>
            </a:r>
            <a:r>
              <a:rPr dirty="0"/>
              <a:t>he full source code is on GitHub, so you can read the planner, change it, or even add your own solver.</a:t>
            </a:r>
          </a:p>
          <a:p>
            <a:endParaRPr dirty="0"/>
          </a:p>
          <a:p>
            <a:r>
              <a:rPr dirty="0"/>
              <a:t>Thanks so much for watching. Now go move some couches.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microsoft.com/office/2007/relationships/media" Target="../media/media1.m4a"/><Relationship Id="rId2" Type="http://schemas.openxmlformats.org/officeDocument/2006/relationships/audio" Target="../media/media1.m4a"/><Relationship Id="rId3" Type="http://schemas.openxmlformats.org/officeDocument/2006/relationships/slideLayout" Target="../slideLayouts/slideLayout7.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jpeg"/><Relationship Id="rId7"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microsoft.com/office/2007/relationships/media" Target="../media/media2.m4a"/><Relationship Id="rId3" Type="http://schemas.openxmlformats.org/officeDocument/2006/relationships/audio" Target="../media/media2.m4a"/><Relationship Id="rId4" Type="http://schemas.openxmlformats.org/officeDocument/2006/relationships/slideLayout" Target="../slideLayouts/slideLayout7.xml"/><Relationship Id="rId5" Type="http://schemas.openxmlformats.org/officeDocument/2006/relationships/notesSlide" Target="../notesSlides/notesSlide2.xml"/><Relationship Id="rId6"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microsoft.com/office/2007/relationships/media" Target="../media/media3.m4a"/><Relationship Id="rId3" Type="http://schemas.openxmlformats.org/officeDocument/2006/relationships/audio" Target="../media/media3.m4a"/><Relationship Id="rId4" Type="http://schemas.openxmlformats.org/officeDocument/2006/relationships/slideLayout" Target="../slideLayouts/slideLayout7.xml"/><Relationship Id="rId5" Type="http://schemas.openxmlformats.org/officeDocument/2006/relationships/notesSlide" Target="../notesSlides/notesSlide3.xml"/><Relationship Id="rId6"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9.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microsoft.com/office/2007/relationships/media" Target="../media/media4.m4a"/><Relationship Id="rId2" Type="http://schemas.openxmlformats.org/officeDocument/2006/relationships/audio" Target="../media/media4.m4a"/><Relationship Id="rId3" Type="http://schemas.openxmlformats.org/officeDocument/2006/relationships/slideLayout" Target="../slideLayouts/slideLayout7.xml"/><Relationship Id="rId4" Type="http://schemas.openxmlformats.org/officeDocument/2006/relationships/notesSlide" Target="../notesSlides/notesSlide10.xml"/><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microsoft.com/office/2007/relationships/media" Target="../media/media5.m4a"/><Relationship Id="rId2" Type="http://schemas.openxmlformats.org/officeDocument/2006/relationships/audio" Target="../media/media5.m4a"/><Relationship Id="rId3" Type="http://schemas.openxmlformats.org/officeDocument/2006/relationships/slideLayout" Target="../slideLayouts/slideLayout7.xml"/><Relationship Id="rId4" Type="http://schemas.openxmlformats.org/officeDocument/2006/relationships/notesSlide" Target="../notesSlides/notesSlide11.xml"/><Relationship Id="rId5" Type="http://schemas.openxmlformats.org/officeDocument/2006/relationships/image" Target="../media/image10.png"/><Relationship Id="rId6"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microsoft.com/office/2007/relationships/media" Target="../media/media6.m4a"/><Relationship Id="rId2" Type="http://schemas.openxmlformats.org/officeDocument/2006/relationships/audio" Target="../media/media6.m4a"/><Relationship Id="rId3" Type="http://schemas.openxmlformats.org/officeDocument/2006/relationships/slideLayout" Target="../slideLayouts/slideLayout7.xml"/><Relationship Id="rId4" Type="http://schemas.openxmlformats.org/officeDocument/2006/relationships/notesSlide" Target="../notesSlides/notesSlide12.xml"/><Relationship Id="rId5" Type="http://schemas.openxmlformats.org/officeDocument/2006/relationships/image" Target="../media/image11.png"/><Relationship Id="rId6"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microsoft.com/office/2007/relationships/media" Target="../media/media7.m4a"/><Relationship Id="rId2" Type="http://schemas.openxmlformats.org/officeDocument/2006/relationships/audio" Target="../media/media7.m4a"/><Relationship Id="rId3" Type="http://schemas.openxmlformats.org/officeDocument/2006/relationships/slideLayout" Target="../slideLayouts/slideLayout7.xml"/><Relationship Id="rId4" Type="http://schemas.openxmlformats.org/officeDocument/2006/relationships/notesSlide" Target="../notesSlides/notesSlide13.xml"/><Relationship Id="rId5" Type="http://schemas.openxmlformats.org/officeDocument/2006/relationships/image" Target="../media/image12.jpg"/><Relationship Id="rId6"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microsoft.com/office/2007/relationships/media" Target="../media/media8.m4a"/><Relationship Id="rId2" Type="http://schemas.openxmlformats.org/officeDocument/2006/relationships/audio" Target="../media/media8.m4a"/><Relationship Id="rId3" Type="http://schemas.openxmlformats.org/officeDocument/2006/relationships/slideLayout" Target="../slideLayouts/slideLayout7.xml"/><Relationship Id="rId4" Type="http://schemas.openxmlformats.org/officeDocument/2006/relationships/notesSlide" Target="../notesSlides/notesSlide15.xml"/><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microsoft.com/office/2007/relationships/media" Target="../media/media9.m4a"/><Relationship Id="rId2" Type="http://schemas.openxmlformats.org/officeDocument/2006/relationships/audio" Target="../media/media9.m4a"/><Relationship Id="rId3" Type="http://schemas.openxmlformats.org/officeDocument/2006/relationships/slideLayout" Target="../slideLayouts/slideLayout7.xml"/><Relationship Id="rId4" Type="http://schemas.openxmlformats.org/officeDocument/2006/relationships/notesSlide" Target="../notesSlides/notesSlide16.xml"/><Relationship Id="rId5" Type="http://schemas.openxmlformats.org/officeDocument/2006/relationships/image" Target="../media/image14.png"/><Relationship Id="rId6"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microsoft.com/office/2007/relationships/media" Target="../media/media10.m4a"/><Relationship Id="rId2" Type="http://schemas.openxmlformats.org/officeDocument/2006/relationships/audio" Target="../media/media10.m4a"/><Relationship Id="rId3" Type="http://schemas.openxmlformats.org/officeDocument/2006/relationships/slideLayout" Target="../slideLayouts/slideLayout7.xml"/><Relationship Id="rId4" Type="http://schemas.openxmlformats.org/officeDocument/2006/relationships/notesSlide" Target="../notesSlides/notesSlide17.xml"/><Relationship Id="rId5" Type="http://schemas.openxmlformats.org/officeDocument/2006/relationships/hyperlink" Target="https://volcano1998.github.io/FurnitureSim_3D/" TargetMode="External"/><Relationship Id="rId6" Type="http://schemas.openxmlformats.org/officeDocument/2006/relationships/hyperlink" Target="https://volcano1998.github.io/FurnitureSim_3D/slides/" TargetMode="External"/><Relationship Id="rId7" Type="http://schemas.openxmlformats.org/officeDocument/2006/relationships/hyperlink" Target="https://github.com/volcano1998/FurnitureSim_3D" TargetMode="External"/><Relationship Id="rId8" Type="http://schemas.openxmlformats.org/officeDocument/2006/relationships/image" Target="../media/image8.jp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3594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MOTION PLANNING IN THE BROWSER</a:t>
            </a:r>
          </a:p>
        </p:txBody>
      </p:sp>
      <p:sp>
        <p:nvSpPr>
          <p:cNvPr id="3" name="TextBox 2"/>
          <p:cNvSpPr txBox="1"/>
          <p:nvPr/>
        </p:nvSpPr>
        <p:spPr>
          <a:xfrm>
            <a:off x="698500" y="1524000"/>
            <a:ext cx="6350000" cy="2413000"/>
          </a:xfrm>
          <a:prstGeom prst="rect">
            <a:avLst/>
          </a:prstGeom>
          <a:noFill/>
        </p:spPr>
        <p:txBody>
          <a:bodyPr wrap="square" lIns="0" tIns="0" rIns="0" bIns="0" anchor="t">
            <a:spAutoFit/>
          </a:bodyPr>
          <a:lstStyle/>
          <a:p>
            <a:pPr algn="l">
              <a:lnSpc>
                <a:spcPct val="90000"/>
              </a:lnSpc>
              <a:spcAft>
                <a:spcPts val="0"/>
              </a:spcAft>
            </a:pPr>
            <a:r>
              <a:rPr sz="8800" b="1" i="0">
                <a:solidFill>
                  <a:srgbClr val="EEF5F0"/>
                </a:solidFill>
                <a:latin typeface="Arial"/>
              </a:rPr>
              <a:t>Can It</a:t>
            </a:r>
          </a:p>
          <a:p>
            <a:pPr algn="l">
              <a:lnSpc>
                <a:spcPct val="90000"/>
              </a:lnSpc>
              <a:spcAft>
                <a:spcPts val="0"/>
              </a:spcAft>
            </a:pPr>
            <a:r>
              <a:rPr sz="8800" b="1" i="0">
                <a:solidFill>
                  <a:srgbClr val="D6EF5B"/>
                </a:solidFill>
                <a:latin typeface="Arial"/>
              </a:rPr>
              <a:t>Fit?</a:t>
            </a:r>
          </a:p>
        </p:txBody>
      </p:sp>
      <p:sp>
        <p:nvSpPr>
          <p:cNvPr id="4" name="TextBox 3"/>
          <p:cNvSpPr txBox="1"/>
          <p:nvPr/>
        </p:nvSpPr>
        <p:spPr>
          <a:xfrm>
            <a:off x="698500" y="4191000"/>
            <a:ext cx="5969000" cy="1397000"/>
          </a:xfrm>
          <a:prstGeom prst="rect">
            <a:avLst/>
          </a:prstGeom>
          <a:noFill/>
        </p:spPr>
        <p:txBody>
          <a:bodyPr wrap="square" lIns="0" tIns="0" rIns="0" bIns="0" anchor="t">
            <a:spAutoFit/>
          </a:bodyPr>
          <a:lstStyle/>
          <a:p>
            <a:pPr algn="l">
              <a:lnSpc>
                <a:spcPct val="120000"/>
              </a:lnSpc>
              <a:spcAft>
                <a:spcPts val="0"/>
              </a:spcAft>
            </a:pPr>
            <a:r>
              <a:rPr sz="1900" b="0" i="0" dirty="0">
                <a:solidFill>
                  <a:srgbClr val="B7CBC1"/>
                </a:solidFill>
                <a:latin typeface="Arial"/>
              </a:rPr>
              <a:t>Will the sofa make it through the hallway? Let's build the room, then let a robot-style planner figure it out — and learn how it thinks.</a:t>
            </a:r>
          </a:p>
        </p:txBody>
      </p:sp>
      <p:pic>
        <p:nvPicPr>
          <p:cNvPr id="8" name="Picture 7" descr="d1.png"/>
          <p:cNvPicPr>
            <a:picLocks noChangeAspect="1"/>
          </p:cNvPicPr>
          <p:nvPr/>
        </p:nvPicPr>
        <p:blipFill>
          <a:blip r:embed="rId5"/>
          <a:stretch>
            <a:fillRect/>
          </a:stretch>
        </p:blipFill>
        <p:spPr>
          <a:xfrm>
            <a:off x="6667500" y="1206500"/>
            <a:ext cx="4572000" cy="4572000"/>
          </a:xfrm>
          <a:prstGeom prst="rect">
            <a:avLst/>
          </a:prstGeom>
        </p:spPr>
      </p:pic>
      <p:pic>
        <p:nvPicPr>
          <p:cNvPr id="9" name="Picture 8" descr="When the couch looks at the staircase and realizes what’s about to happen.  😅, Narrow stairs, tight turns, and oversized furniture can turn moving day  into a challenge—but that’s exactly where ...">
            <a:extLst>
              <a:ext uri="{FF2B5EF4-FFF2-40B4-BE49-F238E27FC236}">
                <a16:creationId xmlns:a16="http://schemas.microsoft.com/office/drawing/2014/main" id="{60F272D0-55AF-F3CD-13B3-B80AD81D58D8}"/>
              </a:ext>
            </a:extLst>
          </p:cNvPr>
          <p:cNvPicPr>
            <a:picLocks noChangeAspect="1"/>
          </p:cNvPicPr>
          <p:nvPr/>
        </p:nvPicPr>
        <p:blipFill>
          <a:blip r:embed="rId6"/>
          <a:stretch>
            <a:fillRect/>
          </a:stretch>
        </p:blipFill>
        <p:spPr>
          <a:xfrm>
            <a:off x="7048500" y="0"/>
            <a:ext cx="3797780" cy="6769956"/>
          </a:xfrm>
          <a:prstGeom prst="rect">
            <a:avLst/>
          </a:prstGeom>
        </p:spPr>
      </p:pic>
      <p:pic>
        <p:nvPicPr>
          <p:cNvPr id="49" name="Audio 48">
            <a:extLst>
              <a:ext uri="{FF2B5EF4-FFF2-40B4-BE49-F238E27FC236}">
                <a16:creationId xmlns:a16="http://schemas.microsoft.com/office/drawing/2014/main" id="{572FA9DF-4DF6-79A5-23FC-0F7B24756117}"/>
              </a:ext>
            </a:extLst>
          </p:cNvPr>
          <p:cNvPicPr>
            <a:picLocks noChangeAspect="1"/>
          </p:cNvPicPr>
          <p:nvPr>
            <a:audioFile r:link="rId2"/>
            <p:extLst>
              <p:ext uri="{DAA4B4D4-6D71-4841-9C94-3DE7FCFB9230}">
                <p14:media xmlns:p14="http://schemas.microsoft.com/office/powerpoint/2010/main" r:embed="rId1"/>
              </p:ext>
            </p:extLst>
          </p:nvPr>
        </p:nvPicPr>
        <p:blipFill>
          <a:blip r:embed="rId7"/>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4566"/>
    </mc:Choice>
    <mc:Fallback xmlns="">
      <p:transition spd="slow" advTm="345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9"/>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5430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THE PROBLEM</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Moving a couch is a </a:t>
            </a:r>
            <a:r>
              <a:rPr sz="3800" b="1" i="0">
                <a:solidFill>
                  <a:srgbClr val="166B50"/>
                </a:solidFill>
                <a:latin typeface="Arial"/>
              </a:rPr>
              <a:t>6-dimensional</a:t>
            </a:r>
            <a:r>
              <a:rPr sz="3800" b="1" i="0">
                <a:solidFill>
                  <a:srgbClr val="17211D"/>
                </a:solidFill>
                <a:latin typeface="Arial"/>
              </a:rPr>
              <a:t> puzzle</a:t>
            </a:r>
          </a:p>
        </p:txBody>
      </p:sp>
      <p:sp>
        <p:nvSpPr>
          <p:cNvPr id="4" name="TextBox 3"/>
          <p:cNvSpPr txBox="1"/>
          <p:nvPr/>
        </p:nvSpPr>
        <p:spPr>
          <a:xfrm>
            <a:off x="698500" y="2095500"/>
            <a:ext cx="5080000" cy="33020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slides in </a:t>
            </a:r>
            <a:r>
              <a:rPr sz="1700" b="1" i="0" dirty="0">
                <a:solidFill>
                  <a:srgbClr val="17211D"/>
                </a:solidFill>
                <a:latin typeface="Arial"/>
              </a:rPr>
              <a:t>3</a:t>
            </a:r>
            <a:r>
              <a:rPr sz="1700" b="0" i="0" dirty="0">
                <a:solidFill>
                  <a:srgbClr val="17211D"/>
                </a:solidFill>
                <a:latin typeface="Arial"/>
              </a:rPr>
              <a:t> directions: x, y, z</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It spins in </a:t>
            </a:r>
            <a:r>
              <a:rPr sz="1700" b="1" i="0" dirty="0">
                <a:solidFill>
                  <a:srgbClr val="17211D"/>
                </a:solidFill>
                <a:latin typeface="Arial"/>
              </a:rPr>
              <a:t>3</a:t>
            </a:r>
            <a:r>
              <a:rPr sz="1700" b="0" i="0" dirty="0">
                <a:solidFill>
                  <a:srgbClr val="17211D"/>
                </a:solidFill>
                <a:latin typeface="Arial"/>
              </a:rPr>
              <a:t> ways: yaw, pitch, roll</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Walls, corners and doorways don't care how clever you are</a:t>
            </a:r>
          </a:p>
          <a:p>
            <a:pPr marL="457200" indent="-457200">
              <a:lnSpc>
                <a:spcPct val="108000"/>
              </a:lnSpc>
              <a:spcAft>
                <a:spcPts val="1400"/>
              </a:spcAft>
              <a:buClr>
                <a:srgbClr val="166B50"/>
              </a:buClr>
              <a:buSzPct val="100000"/>
              <a:buFont typeface="Arial"/>
              <a:buChar char="■"/>
            </a:pPr>
            <a:r>
              <a:rPr sz="1700" b="0" i="0" dirty="0">
                <a:solidFill>
                  <a:srgbClr val="17211D"/>
                </a:solidFill>
                <a:latin typeface="Arial"/>
              </a:rPr>
              <a:t>"Does it fit?" really means: </a:t>
            </a:r>
            <a:r>
              <a:rPr sz="1700" b="1" i="0" dirty="0">
                <a:solidFill>
                  <a:srgbClr val="17211D"/>
                </a:solidFill>
                <a:latin typeface="Arial"/>
              </a:rPr>
              <a:t>is there a collision-free path through 6-D space?</a:t>
            </a:r>
          </a:p>
        </p:txBody>
      </p:sp>
      <p:pic>
        <p:nvPicPr>
          <p:cNvPr id="77" name="Audio 76">
            <a:extLst>
              <a:ext uri="{FF2B5EF4-FFF2-40B4-BE49-F238E27FC236}">
                <a16:creationId xmlns:a16="http://schemas.microsoft.com/office/drawing/2014/main" id="{6AB69DEA-1D1E-4C37-85AF-6F87EEFAA331}"/>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
        <p:nvSpPr>
          <p:cNvPr id="6" name="L-Shape 5">
            <a:extLst>
              <a:ext uri="{FF2B5EF4-FFF2-40B4-BE49-F238E27FC236}">
                <a16:creationId xmlns:a16="http://schemas.microsoft.com/office/drawing/2014/main" id="{9ED8F876-85F2-C418-91F1-8238F7236E55}"/>
              </a:ext>
            </a:extLst>
          </p:cNvPr>
          <p:cNvSpPr/>
          <p:nvPr/>
        </p:nvSpPr>
        <p:spPr>
          <a:xfrm>
            <a:off x="7037502" y="2566036"/>
            <a:ext cx="3191774" cy="2878587"/>
          </a:xfrm>
          <a:prstGeom prst="corner">
            <a:avLst>
              <a:gd name="adj1" fmla="val 35016"/>
              <a:gd name="adj2" fmla="val 38613"/>
            </a:avLst>
          </a:prstGeom>
          <a:solidFill>
            <a:schemeClr val="accent3">
              <a:lumMod val="60000"/>
              <a:lumOff val="40000"/>
            </a:schemeClr>
          </a:solidFill>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dirty="0"/>
          </a:p>
        </p:txBody>
      </p:sp>
      <p:sp>
        <p:nvSpPr>
          <p:cNvPr id="7" name="Rounded Rectangle 6">
            <a:extLst>
              <a:ext uri="{FF2B5EF4-FFF2-40B4-BE49-F238E27FC236}">
                <a16:creationId xmlns:a16="http://schemas.microsoft.com/office/drawing/2014/main" id="{59F54195-285E-3EBA-5D7D-F00E62A7733C}"/>
              </a:ext>
            </a:extLst>
          </p:cNvPr>
          <p:cNvSpPr/>
          <p:nvPr/>
        </p:nvSpPr>
        <p:spPr>
          <a:xfrm rot="20348982">
            <a:off x="7282254" y="310172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6C883E7C-7BAF-3D7E-30C3-C252AC893848}"/>
              </a:ext>
            </a:extLst>
          </p:cNvPr>
          <p:cNvSpPr/>
          <p:nvPr/>
        </p:nvSpPr>
        <p:spPr>
          <a:xfrm rot="20348982">
            <a:off x="7425972" y="3896470"/>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5C4D6DD2-5CCB-7C79-D544-9D72E1CE1D3D}"/>
              </a:ext>
            </a:extLst>
          </p:cNvPr>
          <p:cNvSpPr/>
          <p:nvPr/>
        </p:nvSpPr>
        <p:spPr>
          <a:xfrm rot="17993297">
            <a:off x="7849032" y="408133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1B1D2DC-B852-4AB7-FAAA-AA83B8C09DA4}"/>
              </a:ext>
            </a:extLst>
          </p:cNvPr>
          <p:cNvSpPr/>
          <p:nvPr/>
        </p:nvSpPr>
        <p:spPr>
          <a:xfrm rot="16200000">
            <a:off x="8950000" y="4218135"/>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6457021B-3C88-8307-5080-9A8A9ABEB78C}"/>
              </a:ext>
            </a:extLst>
          </p:cNvPr>
          <p:cNvSpPr/>
          <p:nvPr/>
        </p:nvSpPr>
        <p:spPr>
          <a:xfrm>
            <a:off x="7309558" y="2234349"/>
            <a:ext cx="500332" cy="1467342"/>
          </a:xfrm>
          <a:prstGeom prst="roundRect">
            <a:avLst/>
          </a:prstGeom>
          <a:noFill/>
          <a:ln w="22225">
            <a:solidFill>
              <a:schemeClr val="accent6">
                <a:lumMod val="75000"/>
              </a:schemeClr>
            </a:solidFill>
            <a:prstDash val="dash"/>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3" name="Down Arrow 12">
            <a:extLst>
              <a:ext uri="{FF2B5EF4-FFF2-40B4-BE49-F238E27FC236}">
                <a16:creationId xmlns:a16="http://schemas.microsoft.com/office/drawing/2014/main" id="{B2DE73CA-9E96-E294-4DBA-9FABC9141F53}"/>
              </a:ext>
            </a:extLst>
          </p:cNvPr>
          <p:cNvSpPr/>
          <p:nvPr/>
        </p:nvSpPr>
        <p:spPr>
          <a:xfrm>
            <a:off x="7226686" y="1778000"/>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4" name="Down Arrow 13">
            <a:extLst>
              <a:ext uri="{FF2B5EF4-FFF2-40B4-BE49-F238E27FC236}">
                <a16:creationId xmlns:a16="http://schemas.microsoft.com/office/drawing/2014/main" id="{7355B772-AAA4-E7F7-B16F-176B37F5980B}"/>
              </a:ext>
            </a:extLst>
          </p:cNvPr>
          <p:cNvSpPr/>
          <p:nvPr/>
        </p:nvSpPr>
        <p:spPr>
          <a:xfrm rot="16200000">
            <a:off x="10350427" y="4804428"/>
            <a:ext cx="666075" cy="317500"/>
          </a:xfrm>
          <a:prstGeom prst="down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7737"/>
    </mc:Choice>
    <mc:Fallback xmlns="">
      <p:transition spd="slow" advTm="377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7"/>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23" fill="hold" display="0">
                  <p:stCondLst>
                    <p:cond delay="indefinite"/>
                  </p:stCondLst>
                  <p:endCondLst>
                    <p:cond evt="onStopAudio" delay="0">
                      <p:tgtEl>
                        <p:sldTgt/>
                      </p:tgtEl>
                    </p:cond>
                  </p:endCondLst>
                </p:cTn>
                <p:tgtEl>
                  <p:spTgt spid="7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9748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WHAT YOU'LL SEE</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One app, three ways to answer it</a:t>
            </a:r>
          </a:p>
        </p:txBody>
      </p:sp>
      <p:grpSp>
        <p:nvGrpSpPr>
          <p:cNvPr id="25" name="Group 24">
            <a:extLst>
              <a:ext uri="{FF2B5EF4-FFF2-40B4-BE49-F238E27FC236}">
                <a16:creationId xmlns:a16="http://schemas.microsoft.com/office/drawing/2014/main" id="{DA1D2B47-0F27-6219-F843-7778037EEA42}"/>
              </a:ext>
            </a:extLst>
          </p:cNvPr>
          <p:cNvGrpSpPr/>
          <p:nvPr/>
        </p:nvGrpSpPr>
        <p:grpSpPr>
          <a:xfrm>
            <a:off x="8196580" y="2095500"/>
            <a:ext cx="3429000" cy="2095500"/>
            <a:chOff x="698500" y="2095500"/>
            <a:chExt cx="3429000" cy="2095500"/>
          </a:xfrm>
        </p:grpSpPr>
        <p:sp>
          <p:nvSpPr>
            <p:cNvPr id="4" name="Rounded Rectangle 3"/>
            <p:cNvSpPr/>
            <p:nvPr/>
          </p:nvSpPr>
          <p:spPr>
            <a:xfrm>
              <a:off x="698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39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9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i="0" dirty="0">
                  <a:solidFill>
                    <a:srgbClr val="17211D"/>
                  </a:solidFill>
                  <a:latin typeface="Arial"/>
                </a:rPr>
                <a:t>Probabilistic solver</a:t>
              </a:r>
              <a:endParaRPr sz="2000" b="1" i="0" dirty="0">
                <a:solidFill>
                  <a:srgbClr val="17211D"/>
                </a:solidFill>
                <a:latin typeface="Arial"/>
              </a:endParaRPr>
            </a:p>
          </p:txBody>
        </p:sp>
        <p:sp>
          <p:nvSpPr>
            <p:cNvPr id="7" name="TextBox 6"/>
            <p:cNvSpPr txBox="1"/>
            <p:nvPr/>
          </p:nvSpPr>
          <p:spPr>
            <a:xfrm>
              <a:off x="939800" y="3048000"/>
              <a:ext cx="2952750" cy="243143"/>
            </a:xfrm>
            <a:prstGeom prst="rect">
              <a:avLst/>
            </a:prstGeom>
            <a:noFill/>
          </p:spPr>
          <p:txBody>
            <a:bodyPr wrap="square" lIns="0" tIns="0" rIns="0" bIns="0" anchor="t">
              <a:spAutoFit/>
            </a:bodyPr>
            <a:lstStyle/>
            <a:p>
              <a:pPr>
                <a:lnSpc>
                  <a:spcPct val="120000"/>
                </a:lnSpc>
              </a:pPr>
              <a:r>
                <a:rPr lang="en-US" sz="1450" dirty="0">
                  <a:solidFill>
                    <a:srgbClr val="5D6963"/>
                  </a:solidFill>
                  <a:latin typeface="Arial"/>
                </a:rPr>
                <a:t>RRT-Connect.</a:t>
              </a:r>
              <a:endParaRPr sz="1450" b="0" i="0" dirty="0">
                <a:solidFill>
                  <a:srgbClr val="5D6963"/>
                </a:solidFill>
                <a:latin typeface="Arial"/>
              </a:endParaRPr>
            </a:p>
          </p:txBody>
        </p:sp>
      </p:grpSp>
      <p:grpSp>
        <p:nvGrpSpPr>
          <p:cNvPr id="24" name="Group 23">
            <a:extLst>
              <a:ext uri="{FF2B5EF4-FFF2-40B4-BE49-F238E27FC236}">
                <a16:creationId xmlns:a16="http://schemas.microsoft.com/office/drawing/2014/main" id="{6397C192-1A80-1117-96B7-11AAAFB625F1}"/>
              </a:ext>
            </a:extLst>
          </p:cNvPr>
          <p:cNvGrpSpPr/>
          <p:nvPr/>
        </p:nvGrpSpPr>
        <p:grpSpPr>
          <a:xfrm>
            <a:off x="4381500" y="2095500"/>
            <a:ext cx="3429000" cy="2095500"/>
            <a:chOff x="4381500" y="2095500"/>
            <a:chExt cx="3429000" cy="2095500"/>
          </a:xfrm>
        </p:grpSpPr>
        <p:sp>
          <p:nvSpPr>
            <p:cNvPr id="8" name="Rounded Rectangle 7"/>
            <p:cNvSpPr/>
            <p:nvPr/>
          </p:nvSpPr>
          <p:spPr>
            <a:xfrm>
              <a:off x="4381500" y="2095500"/>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622800" y="2362200"/>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2800" y="2603500"/>
              <a:ext cx="2952750" cy="317500"/>
            </a:xfrm>
            <a:prstGeom prst="rect">
              <a:avLst/>
            </a:prstGeom>
            <a:noFill/>
          </p:spPr>
          <p:txBody>
            <a:bodyPr wrap="square" lIns="0" tIns="0" rIns="0" bIns="0" anchor="t">
              <a:spAutoFit/>
            </a:bodyPr>
            <a:lstStyle/>
            <a:p>
              <a:pPr algn="l">
                <a:lnSpc>
                  <a:spcPct val="112000"/>
                </a:lnSpc>
                <a:spcAft>
                  <a:spcPts val="0"/>
                </a:spcAft>
              </a:pPr>
              <a:r>
                <a:rPr lang="en-US" sz="2000" b="1" dirty="0">
                  <a:solidFill>
                    <a:srgbClr val="17211D"/>
                  </a:solidFill>
                  <a:latin typeface="Arial"/>
                </a:rPr>
                <a:t>Deterministic solver</a:t>
              </a:r>
              <a:endParaRPr sz="2000" b="1" i="0" dirty="0">
                <a:solidFill>
                  <a:srgbClr val="17211D"/>
                </a:solidFill>
                <a:latin typeface="Arial"/>
              </a:endParaRPr>
            </a:p>
          </p:txBody>
        </p:sp>
        <p:sp>
          <p:nvSpPr>
            <p:cNvPr id="11" name="TextBox 10"/>
            <p:cNvSpPr txBox="1"/>
            <p:nvPr/>
          </p:nvSpPr>
          <p:spPr>
            <a:xfrm>
              <a:off x="4622800" y="3048000"/>
              <a:ext cx="2952750" cy="510909"/>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a deterministic straight-shot heuristic.</a:t>
              </a:r>
            </a:p>
          </p:txBody>
        </p:sp>
      </p:grpSp>
      <p:grpSp>
        <p:nvGrpSpPr>
          <p:cNvPr id="23" name="Group 22">
            <a:extLst>
              <a:ext uri="{FF2B5EF4-FFF2-40B4-BE49-F238E27FC236}">
                <a16:creationId xmlns:a16="http://schemas.microsoft.com/office/drawing/2014/main" id="{6663DFEC-92F9-3C38-CA82-500AE93F7FB2}"/>
              </a:ext>
            </a:extLst>
          </p:cNvPr>
          <p:cNvGrpSpPr/>
          <p:nvPr/>
        </p:nvGrpSpPr>
        <p:grpSpPr>
          <a:xfrm>
            <a:off x="508000" y="2095500"/>
            <a:ext cx="3429000" cy="2095500"/>
            <a:chOff x="-330200" y="5655564"/>
            <a:chExt cx="3429000" cy="2095500"/>
          </a:xfrm>
        </p:grpSpPr>
        <p:sp>
          <p:nvSpPr>
            <p:cNvPr id="12" name="Rounded Rectangle 11"/>
            <p:cNvSpPr/>
            <p:nvPr/>
          </p:nvSpPr>
          <p:spPr>
            <a:xfrm>
              <a:off x="-330200" y="5655564"/>
              <a:ext cx="3429000" cy="20955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8900" y="5922264"/>
              <a:ext cx="444500" cy="63500"/>
            </a:xfrm>
            <a:prstGeom prst="rect">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900" y="6163564"/>
              <a:ext cx="2952750" cy="317500"/>
            </a:xfrm>
            <a:prstGeom prst="rect">
              <a:avLst/>
            </a:prstGeom>
            <a:noFill/>
          </p:spPr>
          <p:txBody>
            <a:bodyPr wrap="square" lIns="0" tIns="0" rIns="0" bIns="0" anchor="t">
              <a:spAutoFit/>
            </a:bodyPr>
            <a:lstStyle/>
            <a:p>
              <a:pPr algn="l">
                <a:lnSpc>
                  <a:spcPct val="112000"/>
                </a:lnSpc>
                <a:spcAft>
                  <a:spcPts val="0"/>
                </a:spcAft>
              </a:pPr>
              <a:r>
                <a:rPr sz="2000" b="1" i="0">
                  <a:solidFill>
                    <a:srgbClr val="17211D"/>
                  </a:solidFill>
                  <a:latin typeface="Arial"/>
                </a:rPr>
                <a:t>Manual mode</a:t>
              </a:r>
            </a:p>
          </p:txBody>
        </p:sp>
        <p:sp>
          <p:nvSpPr>
            <p:cNvPr id="15" name="TextBox 14"/>
            <p:cNvSpPr txBox="1"/>
            <p:nvPr/>
          </p:nvSpPr>
          <p:spPr>
            <a:xfrm>
              <a:off x="-88900" y="6608064"/>
              <a:ext cx="2952750" cy="1079500"/>
            </a:xfrm>
            <a:prstGeom prst="rect">
              <a:avLst/>
            </a:prstGeom>
            <a:noFill/>
          </p:spPr>
          <p:txBody>
            <a:bodyPr wrap="square" lIns="0" tIns="0" rIns="0" bIns="0" anchor="t">
              <a:spAutoFit/>
            </a:bodyPr>
            <a:lstStyle/>
            <a:p>
              <a:pPr algn="l">
                <a:lnSpc>
                  <a:spcPct val="120000"/>
                </a:lnSpc>
                <a:spcAft>
                  <a:spcPts val="0"/>
                </a:spcAft>
              </a:pPr>
              <a:r>
                <a:rPr sz="1450" b="0" i="0" dirty="0">
                  <a:solidFill>
                    <a:srgbClr val="5D6963"/>
                  </a:solidFill>
                  <a:latin typeface="Arial"/>
                </a:rPr>
                <a:t>Hold </a:t>
              </a:r>
              <a:r>
                <a:rPr sz="1450" b="1" i="0" dirty="0">
                  <a:solidFill>
                    <a:srgbClr val="5D6963"/>
                  </a:solidFill>
                  <a:latin typeface="Courier New"/>
                </a:rPr>
                <a:t>M</a:t>
              </a:r>
              <a:r>
                <a:rPr sz="1450" b="0" i="0" dirty="0">
                  <a:solidFill>
                    <a:srgbClr val="5D6963"/>
                  </a:solidFill>
                  <a:latin typeface="Arial"/>
                </a:rPr>
                <a:t>, drag the furniture yourself. The app tells you when you collide.</a:t>
              </a:r>
            </a:p>
          </p:txBody>
        </p:sp>
      </p:grpSp>
      <p:sp>
        <p:nvSpPr>
          <p:cNvPr id="16" name="Rounded Rectangle 15"/>
          <p:cNvSpPr/>
          <p:nvPr/>
        </p:nvSpPr>
        <p:spPr>
          <a:xfrm>
            <a:off x="69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1  Build</a:t>
            </a:r>
          </a:p>
        </p:txBody>
      </p:sp>
      <p:sp>
        <p:nvSpPr>
          <p:cNvPr id="17" name="Right Arrow 16"/>
          <p:cNvSpPr/>
          <p:nvPr/>
        </p:nvSpPr>
        <p:spPr>
          <a:xfrm>
            <a:off x="208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413000" y="4826000"/>
            <a:ext cx="1714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2  Entrance &amp; exit</a:t>
            </a:r>
          </a:p>
        </p:txBody>
      </p:sp>
      <p:sp>
        <p:nvSpPr>
          <p:cNvPr id="19" name="Right Arrow 18"/>
          <p:cNvSpPr/>
          <p:nvPr/>
        </p:nvSpPr>
        <p:spPr>
          <a:xfrm>
            <a:off x="41783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45085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3  Furniture</a:t>
            </a:r>
          </a:p>
        </p:txBody>
      </p:sp>
      <p:sp>
        <p:nvSpPr>
          <p:cNvPr id="21" name="Right Arrow 20"/>
          <p:cNvSpPr/>
          <p:nvPr/>
        </p:nvSpPr>
        <p:spPr>
          <a:xfrm>
            <a:off x="5892800" y="4972050"/>
            <a:ext cx="279400" cy="215900"/>
          </a:xfrm>
          <a:prstGeom prst="rightArrow">
            <a:avLst/>
          </a:prstGeom>
          <a:solidFill>
            <a:srgbClr val="166B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23000" y="4826000"/>
            <a:ext cx="1333500" cy="508000"/>
          </a:xfrm>
          <a:prstGeom prst="roundRect">
            <a:avLst>
              <a:gd name="adj" fmla="val 30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00" b="1" i="0">
                <a:solidFill>
                  <a:srgbClr val="17211D"/>
                </a:solidFill>
                <a:latin typeface="Arial"/>
              </a:rPr>
              <a:t>4  Solve</a:t>
            </a:r>
          </a:p>
        </p:txBody>
      </p:sp>
      <p:pic>
        <p:nvPicPr>
          <p:cNvPr id="104" name="Audio 103">
            <a:extLst>
              <a:ext uri="{FF2B5EF4-FFF2-40B4-BE49-F238E27FC236}">
                <a16:creationId xmlns:a16="http://schemas.microsoft.com/office/drawing/2014/main" id="{7D285E8D-20C1-D9EC-A818-95B43006E65C}"/>
              </a:ext>
            </a:extLst>
          </p:cNvPr>
          <p:cNvPicPr>
            <a:picLocks noChangeAspect="1"/>
          </p:cNvPicPr>
          <p:nvPr>
            <a:audioFile r:link="rId3"/>
            <p:extLst>
              <p:ext uri="{DAA4B4D4-6D71-4841-9C94-3DE7FCFB9230}">
                <p14:media xmlns:p14="http://schemas.microsoft.com/office/powerpoint/2010/main" r:embed="rId2"/>
              </p:ext>
            </p:extLst>
          </p:nvPr>
        </p:nvPicPr>
        <p:blipFill>
          <a:blip r:embed="rId6"/>
          <a:stretch>
            <a:fillRect/>
          </a:stretch>
        </p:blipFill>
        <p:spPr>
          <a:xfrm>
            <a:off x="11226800" y="5892800"/>
            <a:ext cx="812800" cy="812800"/>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300"/>
    </mc:Choice>
    <mc:Fallback xmlns="">
      <p:transition spd="slow" advTm="333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4"/>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1" fill="hold" display="0">
                  <p:stCondLst>
                    <p:cond delay="indefinite"/>
                  </p:stCondLst>
                  <p:endCondLst>
                    <p:cond evt="onStopAudio" delay="0">
                      <p:tgtEl>
                        <p:sldTgt/>
                      </p:tgtEl>
                    </p:cond>
                  </p:endCondLst>
                </p:cTn>
                <p:tgtEl>
                  <p:spTgt spid="104"/>
                </p:tgtEl>
              </p:cMediaNode>
            </p:audio>
          </p:childTnLst>
        </p:cTn>
      </p:par>
    </p:tnLst>
    <p:bldLst>
      <p:bldP spid="16" grpId="0" animBg="1"/>
      <p:bldP spid="17" grpId="0" animBg="1"/>
      <p:bldP spid="18" grpId="0" animBg="1"/>
      <p:bldP spid="19" grpId="0" animBg="1"/>
      <p:bldP spid="20" grpId="0" animBg="1"/>
      <p:bldP spid="21" grpId="0" animBg="1"/>
      <p:bldP spid="2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1907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1</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Build any shape you can imagine</a:t>
            </a:r>
          </a:p>
        </p:txBody>
      </p:sp>
      <p:sp>
        <p:nvSpPr>
          <p:cNvPr id="4" name="TextBox 3"/>
          <p:cNvSpPr txBox="1"/>
          <p:nvPr/>
        </p:nvSpPr>
        <p:spPr>
          <a:xfrm>
            <a:off x="698500" y="1905000"/>
            <a:ext cx="4127500" cy="825500"/>
          </a:xfrm>
          <a:prstGeom prst="rect">
            <a:avLst/>
          </a:prstGeom>
          <a:noFill/>
        </p:spPr>
        <p:txBody>
          <a:bodyPr wrap="square" lIns="0" rIns="0" tIns="0" bIns="0" anchor="t">
            <a:spAutoFit/>
          </a:bodyPr>
          <a:lstStyle/>
          <a:p>
            <a:pPr algn="l">
              <a:lnSpc>
                <a:spcPct val="120000"/>
              </a:lnSpc>
              <a:spcAft>
                <a:spcPts val="0"/>
              </a:spcAft>
            </a:pPr>
            <a:r>
              <a:rPr sz="1700" b="0" i="0">
                <a:solidFill>
                  <a:srgbClr val="5D6963"/>
                </a:solidFill>
                <a:latin typeface="Arial"/>
              </a:rPr>
              <a:t>Stairs, L-shaped halls, zig-zags. If you can make it from blocks, you can test it.</a:t>
            </a:r>
          </a:p>
        </p:txBody>
      </p:sp>
      <p:sp>
        <p:nvSpPr>
          <p:cNvPr id="5" name="TextBox 4"/>
          <p:cNvSpPr txBox="1"/>
          <p:nvPr/>
        </p:nvSpPr>
        <p:spPr>
          <a:xfrm>
            <a:off x="698500" y="3175000"/>
            <a:ext cx="4127500" cy="15875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800" b="1" i="0">
                <a:solidFill>
                  <a:srgbClr val="17211D"/>
                </a:solidFill>
                <a:latin typeface="Arial"/>
              </a:rPr>
              <a:t>Shape</a:t>
            </a:r>
            <a:r>
              <a:rPr sz="1800" b="0" i="0">
                <a:solidFill>
                  <a:srgbClr val="17211D"/>
                </a:solidFill>
                <a:latin typeface="Arial"/>
              </a:rPr>
              <a:t> simple blocks: stretch them, tilt them.</a:t>
            </a:r>
          </a:p>
          <a:p>
            <a:pPr marL="457200" indent="-457200">
              <a:lnSpc>
                <a:spcPct val="108000"/>
              </a:lnSpc>
              <a:spcAft>
                <a:spcPts val="1400"/>
              </a:spcAft>
              <a:buClr>
                <a:srgbClr val="166B50"/>
              </a:buClr>
              <a:buSzPct val="100000"/>
              <a:buFont typeface="Arial"/>
              <a:buAutoNum type="arabicPeriod"/>
            </a:pPr>
            <a:r>
              <a:rPr sz="1800" b="1" i="0">
                <a:solidFill>
                  <a:srgbClr val="17211D"/>
                </a:solidFill>
                <a:latin typeface="Arial"/>
              </a:rPr>
              <a:t>Connect</a:t>
            </a:r>
            <a:r>
              <a:rPr sz="1800" b="0" i="0">
                <a:solidFill>
                  <a:srgbClr val="17211D"/>
                </a:solidFill>
                <a:latin typeface="Arial"/>
              </a:rPr>
              <a:t> the blocks together.</a:t>
            </a:r>
          </a:p>
          <a:p>
            <a:pPr marL="457200" indent="-457200">
              <a:lnSpc>
                <a:spcPct val="108000"/>
              </a:lnSpc>
              <a:spcAft>
                <a:spcPts val="1400"/>
              </a:spcAft>
              <a:buClr>
                <a:srgbClr val="166B50"/>
              </a:buClr>
              <a:buSzPct val="100000"/>
              <a:buFont typeface="Arial"/>
              <a:buAutoNum type="arabicPeriod"/>
            </a:pPr>
            <a:r>
              <a:rPr sz="1800" b="1" i="0">
                <a:solidFill>
                  <a:srgbClr val="17211D"/>
                </a:solidFill>
                <a:latin typeface="Arial"/>
              </a:rPr>
              <a:t>Test</a:t>
            </a:r>
            <a:r>
              <a:rPr sz="1800" b="0" i="0">
                <a:solidFill>
                  <a:srgbClr val="17211D"/>
                </a:solidFill>
                <a:latin typeface="Arial"/>
              </a:rPr>
              <a:t> your furniture.</a:t>
            </a:r>
          </a:p>
        </p:txBody>
      </p:sp>
      <p:sp>
        <p:nvSpPr>
          <p:cNvPr id="6" name="Rounded Rectangle 5"/>
          <p:cNvSpPr/>
          <p:nvPr/>
        </p:nvSpPr>
        <p:spPr>
          <a:xfrm>
            <a:off x="698500" y="5080000"/>
            <a:ext cx="41275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This staircase is just </a:t>
            </a:r>
            <a:r>
              <a:rPr sz="1400" b="1" i="0">
                <a:solidFill>
                  <a:srgbClr val="D6EF5B"/>
                </a:solidFill>
                <a:latin typeface="Arial"/>
              </a:rPr>
              <a:t>three blocks</a:t>
            </a:r>
            <a:r>
              <a:rPr sz="1400" b="0" i="0">
                <a:solidFill>
                  <a:srgbClr val="EAF5EE"/>
                </a:solidFill>
                <a:latin typeface="Arial"/>
              </a:rPr>
              <a:t> and </a:t>
            </a:r>
            <a:r>
              <a:rPr sz="1400" b="1" i="0">
                <a:solidFill>
                  <a:srgbClr val="D6EF5B"/>
                </a:solidFill>
                <a:latin typeface="Arial"/>
              </a:rPr>
              <a:t>two connections</a:t>
            </a:r>
            <a:r>
              <a:rPr sz="1400" b="0" i="0">
                <a:solidFill>
                  <a:srgbClr val="EAF5EE"/>
                </a:solidFill>
                <a:latin typeface="Arial"/>
              </a:rPr>
              <a:t>.</a:t>
            </a:r>
          </a:p>
        </p:txBody>
      </p:sp>
      <p:pic>
        <p:nvPicPr>
          <p:cNvPr id="7" name="Picture 6" descr="final_build.jpg"/>
          <p:cNvPicPr>
            <a:picLocks noChangeAspect="1"/>
          </p:cNvPicPr>
          <p:nvPr/>
        </p:nvPicPr>
        <p:blipFill>
          <a:blip r:embed="rId2"/>
          <a:srcRect r="27037"/>
          <a:stretch>
            <a:fillRect/>
          </a:stretch>
        </p:blipFill>
        <p:spPr>
          <a:xfrm>
            <a:off x="5143500" y="1714500"/>
            <a:ext cx="5461000" cy="4677887"/>
          </a:xfrm>
          <a:prstGeom prst="rect">
            <a:avLst/>
          </a:prstGeom>
          <a:ln w="12700">
            <a:solidFill>
              <a:srgbClr val="CFD8D1"/>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18669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STEP 1 · SHAPE</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Shape the blocks</a:t>
            </a:r>
          </a:p>
        </p:txBody>
      </p:sp>
      <p:sp>
        <p:nvSpPr>
          <p:cNvPr id="4" name="TextBox 3"/>
          <p:cNvSpPr txBox="1"/>
          <p:nvPr/>
        </p:nvSpPr>
        <p:spPr>
          <a:xfrm>
            <a:off x="698500" y="2032000"/>
            <a:ext cx="4064000" cy="2921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Start with a simple box.</a:t>
            </a:r>
          </a:p>
          <a:p>
            <a:pPr marL="457200" indent="-457200">
              <a:lnSpc>
                <a:spcPct val="108000"/>
              </a:lnSpc>
              <a:spcAft>
                <a:spcPts val="1400"/>
              </a:spcAft>
              <a:buClr>
                <a:srgbClr val="166B50"/>
              </a:buClr>
              <a:buSzPct val="100000"/>
              <a:buFont typeface="Arial"/>
              <a:buAutoNum type="arabicPeriod"/>
            </a:pPr>
            <a:r>
              <a:rPr sz="1700" b="1" i="0">
                <a:solidFill>
                  <a:srgbClr val="17211D"/>
                </a:solidFill>
                <a:latin typeface="Arial"/>
              </a:rPr>
              <a:t>Stretch</a:t>
            </a:r>
            <a:r>
              <a:rPr sz="1700" b="0" i="0">
                <a:solidFill>
                  <a:srgbClr val="17211D"/>
                </a:solidFill>
                <a:latin typeface="Arial"/>
              </a:rPr>
              <a:t> it with the length sliders.</a:t>
            </a:r>
          </a:p>
          <a:p>
            <a:pPr marL="457200" indent="-457200">
              <a:lnSpc>
                <a:spcPct val="108000"/>
              </a:lnSpc>
              <a:spcAft>
                <a:spcPts val="1400"/>
              </a:spcAft>
              <a:buClr>
                <a:srgbClr val="166B50"/>
              </a:buClr>
              <a:buSzPct val="100000"/>
              <a:buFont typeface="Arial"/>
              <a:buAutoNum type="arabicPeriod"/>
            </a:pPr>
            <a:r>
              <a:rPr sz="1700" b="1" i="0">
                <a:solidFill>
                  <a:srgbClr val="17211D"/>
                </a:solidFill>
                <a:latin typeface="Arial"/>
              </a:rPr>
              <a:t>Tilt</a:t>
            </a:r>
            <a:r>
              <a:rPr sz="1700" b="0" i="0">
                <a:solidFill>
                  <a:srgbClr val="17211D"/>
                </a:solidFill>
                <a:latin typeface="Arial"/>
              </a:rPr>
              <a:t> it with the angle sliders. A tilted box becomes a ramp or stairs.</a:t>
            </a:r>
          </a:p>
          <a:p>
            <a:pPr marL="457200" indent="-457200">
              <a:lnSpc>
                <a:spcPct val="108000"/>
              </a:lnSpc>
              <a:spcAft>
                <a:spcPts val="1400"/>
              </a:spcAft>
              <a:buClr>
                <a:srgbClr val="166B50"/>
              </a:buClr>
              <a:buSzPct val="100000"/>
              <a:buFont typeface="Arial"/>
              <a:buAutoNum type="arabicPeriod"/>
            </a:pPr>
            <a:r>
              <a:rPr sz="1700" b="1" i="0">
                <a:solidFill>
                  <a:srgbClr val="17211D"/>
                </a:solidFill>
                <a:latin typeface="Arial"/>
              </a:rPr>
              <a:t>Add</a:t>
            </a:r>
            <a:r>
              <a:rPr sz="1700" b="0" i="0">
                <a:solidFill>
                  <a:srgbClr val="17211D"/>
                </a:solidFill>
                <a:latin typeface="Arial"/>
              </a:rPr>
              <a:t> as many blocks as you need.</a:t>
            </a:r>
          </a:p>
        </p:txBody>
      </p:sp>
      <p:sp>
        <p:nvSpPr>
          <p:cNvPr id="5" name="Rounded Rectangle 4"/>
          <p:cNvSpPr/>
          <p:nvPr/>
        </p:nvSpPr>
        <p:spPr>
          <a:xfrm>
            <a:off x="698500" y="51435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Every block is a box you can stretch and tilt. That's all you need.</a:t>
            </a:r>
          </a:p>
        </p:txBody>
      </p:sp>
      <p:pic>
        <p:nvPicPr>
          <p:cNvPr id="6" name="Picture 5" descr="v3.jpg"/>
          <p:cNvPicPr>
            <a:picLocks noChangeAspect="1"/>
          </p:cNvPicPr>
          <p:nvPr/>
        </p:nvPicPr>
        <p:blipFill>
          <a:blip r:embed="rId2"/>
          <a:stretch>
            <a:fillRect/>
          </a:stretch>
        </p:blipFill>
        <p:spPr>
          <a:xfrm>
            <a:off x="5080000" y="1841500"/>
            <a:ext cx="6413500" cy="4008438"/>
          </a:xfrm>
          <a:prstGeom prst="rect">
            <a:avLst/>
          </a:prstGeom>
          <a:ln w="12700">
            <a:solidFill>
              <a:srgbClr val="CFD8D1"/>
            </a:solidFill>
          </a:ln>
        </p:spPr>
      </p:pic>
      <p:pic>
        <p:nvPicPr>
          <p:cNvPr id="7" name="Picture 6" descr="v2b.jpg"/>
          <p:cNvPicPr>
            <a:picLocks noChangeAspect="1"/>
          </p:cNvPicPr>
          <p:nvPr/>
        </p:nvPicPr>
        <p:blipFill>
          <a:blip r:embed="rId3"/>
          <a:srcRect l="74074" r="463" t="21481" b="52593"/>
          <a:stretch>
            <a:fillRect/>
          </a:stretch>
        </p:blipFill>
        <p:spPr>
          <a:xfrm>
            <a:off x="9048750" y="4243387"/>
            <a:ext cx="2305050" cy="1466850"/>
          </a:xfrm>
          <a:prstGeom prst="rect">
            <a:avLst/>
          </a:prstGeom>
          <a:ln w="28575">
            <a:solidFill>
              <a:srgbClr val="166B50"/>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0828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STEP 1 · CONNECT</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Connect them together</a:t>
            </a:r>
          </a:p>
        </p:txBody>
      </p:sp>
      <p:sp>
        <p:nvSpPr>
          <p:cNvPr id="4" name="TextBox 3"/>
          <p:cNvSpPr txBox="1"/>
          <p:nvPr/>
        </p:nvSpPr>
        <p:spPr>
          <a:xfrm>
            <a:off x="698500" y="2032000"/>
            <a:ext cx="4064000" cy="2794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Connect two objects</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one face on each block.</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Drag the sliders to </a:t>
            </a:r>
            <a:r>
              <a:rPr sz="1700" b="1" i="0">
                <a:solidFill>
                  <a:srgbClr val="17211D"/>
                </a:solidFill>
                <a:latin typeface="Arial"/>
              </a:rPr>
              <a:t>rotate</a:t>
            </a:r>
            <a:r>
              <a:rPr sz="1700" b="0" i="0">
                <a:solidFill>
                  <a:srgbClr val="17211D"/>
                </a:solidFill>
                <a:latin typeface="Arial"/>
              </a:rPr>
              <a:t> and </a:t>
            </a:r>
            <a:r>
              <a:rPr sz="1700" b="1" i="0">
                <a:solidFill>
                  <a:srgbClr val="17211D"/>
                </a:solidFill>
                <a:latin typeface="Arial"/>
              </a:rPr>
              <a:t>slide</a:t>
            </a:r>
            <a:r>
              <a:rPr sz="1700" b="0" i="0">
                <a:solidFill>
                  <a:srgbClr val="17211D"/>
                </a:solidFill>
                <a:latin typeface="Arial"/>
              </a:rPr>
              <a:t> them until they line up.</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Apply</a:t>
            </a:r>
            <a:r>
              <a:rPr sz="1700" b="0" i="0">
                <a:solidFill>
                  <a:srgbClr val="17211D"/>
                </a:solidFill>
                <a:latin typeface="Arial"/>
              </a:rPr>
              <a:t>. Repeat for every joint.</a:t>
            </a:r>
          </a:p>
        </p:txBody>
      </p:sp>
      <p:sp>
        <p:nvSpPr>
          <p:cNvPr id="5" name="Rounded Rectangle 4"/>
          <p:cNvSpPr/>
          <p:nvPr/>
        </p:nvSpPr>
        <p:spPr>
          <a:xfrm>
            <a:off x="698500" y="5143500"/>
            <a:ext cx="4064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Rotating one block against the other changes the angle between the two surfaces. That's how you bend a hallway.</a:t>
            </a:r>
          </a:p>
        </p:txBody>
      </p:sp>
      <p:pic>
        <p:nvPicPr>
          <p:cNvPr id="6" name="Picture 5" descr="join1_rot0.jpg"/>
          <p:cNvPicPr>
            <a:picLocks noChangeAspect="1"/>
          </p:cNvPicPr>
          <p:nvPr/>
        </p:nvPicPr>
        <p:blipFill>
          <a:blip r:embed="rId2"/>
          <a:srcRect r="59259" t="2222" b="19259"/>
          <a:stretch>
            <a:fillRect/>
          </a:stretch>
        </p:blipFill>
        <p:spPr>
          <a:xfrm>
            <a:off x="5080000" y="1841500"/>
            <a:ext cx="3048000" cy="3671454"/>
          </a:xfrm>
          <a:prstGeom prst="rect">
            <a:avLst/>
          </a:prstGeom>
          <a:ln w="12700">
            <a:solidFill>
              <a:srgbClr val="CFD8D1"/>
            </a:solidFill>
          </a:ln>
        </p:spPr>
      </p:pic>
      <p:pic>
        <p:nvPicPr>
          <p:cNvPr id="7" name="Picture 6" descr="join1_final.jpg"/>
          <p:cNvPicPr>
            <a:picLocks noChangeAspect="1"/>
          </p:cNvPicPr>
          <p:nvPr/>
        </p:nvPicPr>
        <p:blipFill>
          <a:blip r:embed="rId3"/>
          <a:srcRect r="59259" t="2222" b="19259"/>
          <a:stretch>
            <a:fillRect/>
          </a:stretch>
        </p:blipFill>
        <p:spPr>
          <a:xfrm>
            <a:off x="8382000" y="1841500"/>
            <a:ext cx="3048000" cy="3671454"/>
          </a:xfrm>
          <a:prstGeom prst="rect">
            <a:avLst/>
          </a:prstGeom>
          <a:ln w="12700">
            <a:solidFill>
              <a:srgbClr val="CFD8D1"/>
            </a:solidFill>
          </a:ln>
        </p:spPr>
      </p:pic>
      <p:sp>
        <p:nvSpPr>
          <p:cNvPr id="8" name="TextBox 7"/>
          <p:cNvSpPr txBox="1"/>
          <p:nvPr/>
        </p:nvSpPr>
        <p:spPr>
          <a:xfrm>
            <a:off x="5080000" y="5601854"/>
            <a:ext cx="3048000" cy="254000"/>
          </a:xfrm>
          <a:prstGeom prst="rect">
            <a:avLst/>
          </a:prstGeom>
          <a:noFill/>
        </p:spPr>
        <p:txBody>
          <a:bodyPr wrap="square" lIns="0" rIns="0" tIns="0" bIns="0" anchor="t">
            <a:spAutoFit/>
          </a:bodyPr>
          <a:lstStyle/>
          <a:p>
            <a:pPr algn="ctr">
              <a:lnSpc>
                <a:spcPct val="112000"/>
              </a:lnSpc>
              <a:spcAft>
                <a:spcPts val="0"/>
              </a:spcAft>
            </a:pPr>
            <a:r>
              <a:rPr sz="1500" b="1" i="0">
                <a:solidFill>
                  <a:srgbClr val="17211D"/>
                </a:solidFill>
                <a:latin typeface="Arial"/>
              </a:rPr>
              <a:t>Just attached</a:t>
            </a:r>
          </a:p>
        </p:txBody>
      </p:sp>
      <p:sp>
        <p:nvSpPr>
          <p:cNvPr id="9" name="TextBox 8"/>
          <p:cNvSpPr txBox="1"/>
          <p:nvPr/>
        </p:nvSpPr>
        <p:spPr>
          <a:xfrm>
            <a:off x="8382000" y="5601854"/>
            <a:ext cx="3048000" cy="254000"/>
          </a:xfrm>
          <a:prstGeom prst="rect">
            <a:avLst/>
          </a:prstGeom>
          <a:noFill/>
        </p:spPr>
        <p:txBody>
          <a:bodyPr wrap="square" lIns="0" rIns="0" tIns="0" bIns="0" anchor="t">
            <a:spAutoFit/>
          </a:bodyPr>
          <a:lstStyle/>
          <a:p>
            <a:pPr algn="ctr">
              <a:lnSpc>
                <a:spcPct val="112000"/>
              </a:lnSpc>
              <a:spcAft>
                <a:spcPts val="0"/>
              </a:spcAft>
            </a:pPr>
            <a:r>
              <a:rPr sz="1500" b="1" i="0">
                <a:solidFill>
                  <a:srgbClr val="17211D"/>
                </a:solidFill>
                <a:latin typeface="Arial"/>
              </a:rPr>
              <a:t>After rotating and sliding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7305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STEPS 2 &amp; 3</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Pick the doors, set the furniture</a:t>
            </a:r>
          </a:p>
        </p:txBody>
      </p:sp>
      <p:sp>
        <p:nvSpPr>
          <p:cNvPr id="4" name="TextBox 3"/>
          <p:cNvSpPr txBox="1"/>
          <p:nvPr/>
        </p:nvSpPr>
        <p:spPr>
          <a:xfrm>
            <a:off x="698500" y="2032000"/>
            <a:ext cx="4064000" cy="2667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Click where the furniture goes </a:t>
            </a:r>
            <a:r>
              <a:rPr sz="1700" b="1" i="0">
                <a:solidFill>
                  <a:srgbClr val="17211D"/>
                </a:solidFill>
                <a:latin typeface="Arial"/>
              </a:rPr>
              <a:t>in</a:t>
            </a:r>
            <a:r>
              <a:rPr sz="1700" b="0" i="0">
                <a:solidFill>
                  <a:srgbClr val="17211D"/>
                </a:solidFill>
                <a:latin typeface="Arial"/>
              </a:rPr>
              <a:t> (</a:t>
            </a:r>
            <a:r>
              <a:rPr sz="1700" b="1" i="0">
                <a:solidFill>
                  <a:srgbClr val="2F9A5E"/>
                </a:solidFill>
                <a:latin typeface="Arial"/>
              </a:rPr>
              <a:t>green</a:t>
            </a:r>
            <a:r>
              <a:rPr sz="1700" b="0" i="0">
                <a:solidFill>
                  <a:srgbClr val="17211D"/>
                </a:solidFill>
                <a:latin typeface="Arial"/>
              </a:rPr>
              <a:t>) and </a:t>
            </a:r>
            <a:r>
              <a:rPr sz="1700" b="1" i="0">
                <a:solidFill>
                  <a:srgbClr val="17211D"/>
                </a:solidFill>
                <a:latin typeface="Arial"/>
              </a:rPr>
              <a:t>out</a:t>
            </a:r>
            <a:r>
              <a:rPr sz="1700" b="0" i="0">
                <a:solidFill>
                  <a:srgbClr val="17211D"/>
                </a:solidFill>
                <a:latin typeface="Arial"/>
              </a:rPr>
              <a:t> (</a:t>
            </a:r>
            <a:r>
              <a:rPr sz="1700" b="1" i="0">
                <a:solidFill>
                  <a:srgbClr val="D97F1A"/>
                </a:solidFill>
                <a:latin typeface="Arial"/>
              </a:rPr>
              <a:t>orange</a:t>
            </a:r>
            <a:r>
              <a:rPr sz="1700" b="0" i="0">
                <a:solidFill>
                  <a:srgbClr val="17211D"/>
                </a:solidFill>
                <a:latin typeface="Arial"/>
              </a:rPr>
              <a: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Confirm 3D model</a:t>
            </a:r>
            <a:r>
              <a:rPr sz="1700" b="0" i="0">
                <a:solidFill>
                  <a:srgbClr val="17211D"/>
                </a:solidFill>
                <a:latin typeface="Arial"/>
              </a:rPr>
              <a:t>. The walls turn see-through.</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Type the furniture's </a:t>
            </a:r>
            <a:r>
              <a:rPr sz="1700" b="1" i="0">
                <a:solidFill>
                  <a:srgbClr val="17211D"/>
                </a:solidFill>
                <a:latin typeface="Arial"/>
              </a:rPr>
              <a:t>length, width and height</a:t>
            </a:r>
            <a:r>
              <a:rPr sz="1700" b="0" i="0">
                <a:solidFill>
                  <a:srgbClr val="17211D"/>
                </a:solidFill>
                <a:latin typeface="Arial"/>
              </a:rPr>
              <a:t>. The </a:t>
            </a:r>
            <a:r>
              <a:rPr sz="1700" b="1" i="0">
                <a:solidFill>
                  <a:srgbClr val="2F9A5E"/>
                </a:solidFill>
                <a:latin typeface="Arial"/>
              </a:rPr>
              <a:t>green box</a:t>
            </a:r>
            <a:r>
              <a:rPr sz="1700" b="0" i="0">
                <a:solidFill>
                  <a:srgbClr val="17211D"/>
                </a:solidFill>
                <a:latin typeface="Arial"/>
              </a:rPr>
              <a:t> previews it.</a:t>
            </a:r>
          </a:p>
        </p:txBody>
      </p:sp>
      <p:sp>
        <p:nvSpPr>
          <p:cNvPr id="5" name="Rounded Rectangle 4"/>
          <p:cNvSpPr/>
          <p:nvPr/>
        </p:nvSpPr>
        <p:spPr>
          <a:xfrm>
            <a:off x="698500" y="4635500"/>
            <a:ext cx="4064000" cy="10160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Only those two faces are doorways. Every other wall stays solid, so the furniture can't cheat.</a:t>
            </a:r>
          </a:p>
        </p:txBody>
      </p:sp>
      <p:pic>
        <p:nvPicPr>
          <p:cNvPr id="6" name="Picture 5" descr="f_open_try2.jpg"/>
          <p:cNvPicPr>
            <a:picLocks noChangeAspect="1"/>
          </p:cNvPicPr>
          <p:nvPr/>
        </p:nvPicPr>
        <p:blipFill>
          <a:blip r:embed="rId2"/>
          <a:srcRect r="27037"/>
          <a:stretch>
            <a:fillRect/>
          </a:stretch>
        </p:blipFill>
        <p:spPr>
          <a:xfrm>
            <a:off x="5080000" y="2032000"/>
            <a:ext cx="3111500" cy="2665307"/>
          </a:xfrm>
          <a:prstGeom prst="rect">
            <a:avLst/>
          </a:prstGeom>
          <a:ln w="12700">
            <a:solidFill>
              <a:srgbClr val="CFD8D1"/>
            </a:solidFill>
          </a:ln>
        </p:spPr>
      </p:pic>
      <p:pic>
        <p:nvPicPr>
          <p:cNvPr id="7" name="Picture 6" descr="f_furniture.jpg"/>
          <p:cNvPicPr>
            <a:picLocks noChangeAspect="1"/>
          </p:cNvPicPr>
          <p:nvPr/>
        </p:nvPicPr>
        <p:blipFill>
          <a:blip r:embed="rId3"/>
          <a:srcRect r="27037"/>
          <a:stretch>
            <a:fillRect/>
          </a:stretch>
        </p:blipFill>
        <p:spPr>
          <a:xfrm>
            <a:off x="8382000" y="2032000"/>
            <a:ext cx="3111500" cy="2665307"/>
          </a:xfrm>
          <a:prstGeom prst="rect">
            <a:avLst/>
          </a:prstGeom>
          <a:ln w="12700">
            <a:solidFill>
              <a:srgbClr val="CFD8D1"/>
            </a:solidFill>
          </a:ln>
        </p:spPr>
      </p:pic>
      <p:sp>
        <p:nvSpPr>
          <p:cNvPr id="8" name="TextBox 7"/>
          <p:cNvSpPr txBox="1"/>
          <p:nvPr/>
        </p:nvSpPr>
        <p:spPr>
          <a:xfrm>
            <a:off x="5080000" y="4786207"/>
            <a:ext cx="3111500" cy="254000"/>
          </a:xfrm>
          <a:prstGeom prst="rect">
            <a:avLst/>
          </a:prstGeom>
          <a:noFill/>
        </p:spPr>
        <p:txBody>
          <a:bodyPr wrap="square" lIns="0" rIns="0" tIns="0" bIns="0" anchor="t">
            <a:spAutoFit/>
          </a:bodyPr>
          <a:lstStyle/>
          <a:p>
            <a:pPr algn="ctr">
              <a:lnSpc>
                <a:spcPct val="112000"/>
              </a:lnSpc>
              <a:spcAft>
                <a:spcPts val="0"/>
              </a:spcAft>
            </a:pPr>
            <a:r>
              <a:rPr sz="1500" b="1" i="0">
                <a:solidFill>
                  <a:srgbClr val="17211D"/>
                </a:solidFill>
                <a:latin typeface="Arial"/>
              </a:rPr>
              <a:t>Entrance and exit</a:t>
            </a:r>
          </a:p>
        </p:txBody>
      </p:sp>
      <p:sp>
        <p:nvSpPr>
          <p:cNvPr id="9" name="TextBox 8"/>
          <p:cNvSpPr txBox="1"/>
          <p:nvPr/>
        </p:nvSpPr>
        <p:spPr>
          <a:xfrm>
            <a:off x="8382000" y="4786207"/>
            <a:ext cx="3111500" cy="254000"/>
          </a:xfrm>
          <a:prstGeom prst="rect">
            <a:avLst/>
          </a:prstGeom>
          <a:noFill/>
        </p:spPr>
        <p:txBody>
          <a:bodyPr wrap="square" lIns="0" rIns="0" tIns="0" bIns="0" anchor="t">
            <a:spAutoFit/>
          </a:bodyPr>
          <a:lstStyle/>
          <a:p>
            <a:pPr algn="ctr">
              <a:lnSpc>
                <a:spcPct val="112000"/>
              </a:lnSpc>
              <a:spcAft>
                <a:spcPts val="0"/>
              </a:spcAft>
            </a:pPr>
            <a:r>
              <a:rPr sz="1500" b="1" i="0">
                <a:solidFill>
                  <a:srgbClr val="17211D"/>
                </a:solidFill>
                <a:latin typeface="Arial"/>
              </a:rPr>
              <a:t>Furniture preview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4A</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Try it yourself first</a:t>
            </a:r>
          </a:p>
        </p:txBody>
      </p:sp>
      <p:sp>
        <p:nvSpPr>
          <p:cNvPr id="4" name="TextBox 3"/>
          <p:cNvSpPr txBox="1"/>
          <p:nvPr/>
        </p:nvSpPr>
        <p:spPr>
          <a:xfrm>
            <a:off x="698500" y="2032000"/>
            <a:ext cx="4064000" cy="2413000"/>
          </a:xfrm>
          <a:prstGeom prst="rect">
            <a:avLst/>
          </a:prstGeom>
          <a:noFill/>
        </p:spPr>
        <p:txBody>
          <a:bodyPr wrap="square" lIns="0" rIns="0" tIns="0" bIns="0">
            <a:spAutoFit/>
          </a:bodyPr>
          <a:lstStyle/>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Press </a:t>
            </a:r>
            <a:r>
              <a:rPr sz="1700" b="1" i="0">
                <a:solidFill>
                  <a:srgbClr val="17211D"/>
                </a:solidFill>
                <a:latin typeface="Arial"/>
              </a:rPr>
              <a:t>Try manually</a:t>
            </a:r>
            <a:r>
              <a:rPr sz="1700" b="0" i="0">
                <a:solidFill>
                  <a:srgbClr val="17211D"/>
                </a:solidFill>
                <a:latin typeface="Arial"/>
              </a:rPr>
              <a:t>. The furniture starts outside the entrance.</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Hold </a:t>
            </a:r>
            <a:r>
              <a:rPr sz="1700" b="1" i="0">
                <a:solidFill>
                  <a:srgbClr val="17211D"/>
                </a:solidFill>
                <a:latin typeface="Courier New"/>
              </a:rPr>
              <a:t>M</a:t>
            </a:r>
            <a:r>
              <a:rPr sz="1700" b="0" i="0">
                <a:solidFill>
                  <a:srgbClr val="17211D"/>
                </a:solidFill>
                <a:latin typeface="Arial"/>
              </a:rPr>
              <a:t> and drag it through. Sliders tilt and lift it.</a:t>
            </a:r>
          </a:p>
          <a:p>
            <a:pPr marL="457200" indent="-457200">
              <a:lnSpc>
                <a:spcPct val="108000"/>
              </a:lnSpc>
              <a:spcAft>
                <a:spcPts val="1400"/>
              </a:spcAft>
              <a:buClr>
                <a:srgbClr val="166B50"/>
              </a:buClr>
              <a:buSzPct val="100000"/>
              <a:buFont typeface="Arial"/>
              <a:buAutoNum type="arabicPeriod"/>
            </a:pPr>
            <a:r>
              <a:rPr sz="1700" b="0" i="0">
                <a:solidFill>
                  <a:srgbClr val="17211D"/>
                </a:solidFill>
                <a:latin typeface="Arial"/>
              </a:rPr>
              <a:t>Stuck? </a:t>
            </a:r>
            <a:r>
              <a:rPr sz="1700" b="1" i="0">
                <a:solidFill>
                  <a:srgbClr val="17211D"/>
                </a:solidFill>
                <a:latin typeface="Arial"/>
              </a:rPr>
              <a:t>Auto Pilot</a:t>
            </a:r>
            <a:r>
              <a:rPr sz="1700" b="0" i="0">
                <a:solidFill>
                  <a:srgbClr val="17211D"/>
                </a:solidFill>
                <a:latin typeface="Arial"/>
              </a:rPr>
              <a:t> lines it up for you.</a:t>
            </a:r>
          </a:p>
        </p:txBody>
      </p:sp>
      <p:sp>
        <p:nvSpPr>
          <p:cNvPr id="5" name="TextBox 4"/>
          <p:cNvSpPr txBox="1"/>
          <p:nvPr/>
        </p:nvSpPr>
        <p:spPr>
          <a:xfrm>
            <a:off x="698500" y="4699000"/>
            <a:ext cx="4064000" cy="254000"/>
          </a:xfrm>
          <a:prstGeom prst="rect">
            <a:avLst/>
          </a:prstGeom>
          <a:noFill/>
        </p:spPr>
        <p:txBody>
          <a:bodyPr wrap="square" lIns="0" rIns="0" tIns="0" bIns="0" anchor="t">
            <a:spAutoFit/>
          </a:bodyPr>
          <a:lstStyle/>
          <a:p>
            <a:pPr algn="l">
              <a:lnSpc>
                <a:spcPct val="112000"/>
              </a:lnSpc>
              <a:spcAft>
                <a:spcPts val="0"/>
              </a:spcAft>
            </a:pPr>
            <a:r>
              <a:rPr sz="1300" b="1" i="0">
                <a:solidFill>
                  <a:srgbClr val="2F9A5E"/>
                </a:solidFill>
                <a:latin typeface="Arial"/>
              </a:rPr>
              <a:t>■ legal</a:t>
            </a:r>
            <a:r>
              <a:rPr sz="1300" b="1" i="0">
                <a:solidFill>
                  <a:srgbClr val="B08A1E"/>
                </a:solidFill>
                <a:latin typeface="Arial"/>
              </a:rPr>
              <a:t>     ■ outside     </a:t>
            </a:r>
            <a:r>
              <a:rPr sz="1300" b="1" i="0">
                <a:solidFill>
                  <a:srgbClr val="D94D45"/>
                </a:solidFill>
                <a:latin typeface="Arial"/>
              </a:rPr>
              <a:t>■ collision</a:t>
            </a:r>
          </a:p>
        </p:txBody>
      </p:sp>
      <p:sp>
        <p:nvSpPr>
          <p:cNvPr id="6" name="Rounded Rectangle 5"/>
          <p:cNvSpPr/>
          <p:nvPr/>
        </p:nvSpPr>
        <p:spPr>
          <a:xfrm>
            <a:off x="698500" y="5080000"/>
            <a:ext cx="4064000" cy="698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400" b="0" i="0">
                <a:solidFill>
                  <a:srgbClr val="EAF5EE"/>
                </a:solidFill>
                <a:latin typeface="Arial"/>
              </a:rPr>
              <a:t>Reach the exit and </a:t>
            </a:r>
            <a:r>
              <a:rPr sz="1400" b="1" i="0">
                <a:solidFill>
                  <a:srgbClr val="D6EF5B"/>
                </a:solidFill>
                <a:latin typeface="Arial"/>
              </a:rPr>
              <a:t>you win</a:t>
            </a:r>
            <a:r>
              <a:rPr sz="1400" b="0" i="0">
                <a:solidFill>
                  <a:srgbClr val="EAF5EE"/>
                </a:solidFill>
                <a:latin typeface="Arial"/>
              </a:rPr>
              <a:t>. A pop-up tells you.</a:t>
            </a:r>
          </a:p>
        </p:txBody>
      </p:sp>
      <p:pic>
        <p:nvPicPr>
          <p:cNvPr id="7" name="Picture 6" descr="f_manual.jpg"/>
          <p:cNvPicPr>
            <a:picLocks noChangeAspect="1"/>
          </p:cNvPicPr>
          <p:nvPr/>
        </p:nvPicPr>
        <p:blipFill>
          <a:blip r:embed="rId2"/>
          <a:stretch>
            <a:fillRect/>
          </a:stretch>
        </p:blipFill>
        <p:spPr>
          <a:xfrm>
            <a:off x="5080000" y="1841500"/>
            <a:ext cx="6413500" cy="4008438"/>
          </a:xfrm>
          <a:prstGeom prst="rect">
            <a:avLst/>
          </a:prstGeom>
          <a:ln w="12700">
            <a:solidFill>
              <a:srgbClr val="CFD8D1"/>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2"/>
        </a:solidFill>
        <a:effectLst/>
      </p:bgPr>
    </p:bg>
    <p:spTree>
      <p:nvGrpSpPr>
        <p:cNvPr id="1" name=""/>
        <p:cNvGrpSpPr/>
        <p:nvPr/>
      </p:nvGrpSpPr>
      <p:grpSpPr/>
      <p:sp>
        <p:nvSpPr>
          <p:cNvPr id="2" name="Rounded Rectangle 1"/>
          <p:cNvSpPr/>
          <p:nvPr/>
        </p:nvSpPr>
        <p:spPr>
          <a:xfrm>
            <a:off x="698500" y="533400"/>
            <a:ext cx="229870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spc="150">
                <a:solidFill>
                  <a:srgbClr val="166B50"/>
                </a:solidFill>
                <a:latin typeface="Arial"/>
              </a:rPr>
              <a:t>HANDS-ON · STEP 4B</a:t>
            </a:r>
          </a:p>
        </p:txBody>
      </p:sp>
      <p:sp>
        <p:nvSpPr>
          <p:cNvPr id="3" name="TextBox 2"/>
          <p:cNvSpPr txBox="1"/>
          <p:nvPr/>
        </p:nvSpPr>
        <p:spPr>
          <a:xfrm>
            <a:off x="698500" y="952500"/>
            <a:ext cx="10795000" cy="825500"/>
          </a:xfrm>
          <a:prstGeom prst="rect">
            <a:avLst/>
          </a:prstGeom>
          <a:noFill/>
        </p:spPr>
        <p:txBody>
          <a:bodyPr wrap="square" lIns="0" rIns="0" tIns="0" bIns="0" anchor="t">
            <a:spAutoFit/>
          </a:bodyPr>
          <a:lstStyle/>
          <a:p>
            <a:pPr algn="l">
              <a:lnSpc>
                <a:spcPct val="100000"/>
              </a:lnSpc>
              <a:spcAft>
                <a:spcPts val="0"/>
              </a:spcAft>
            </a:pPr>
            <a:r>
              <a:rPr sz="3800" b="1" i="0">
                <a:solidFill>
                  <a:srgbClr val="17211D"/>
                </a:solidFill>
                <a:latin typeface="Arial"/>
              </a:rPr>
              <a:t>Now let the solver try</a:t>
            </a:r>
          </a:p>
        </p:txBody>
      </p:sp>
      <p:pic>
        <p:nvPicPr>
          <p:cNvPr id="4" name="Picture 3" descr="f_solver_fail.jpg"/>
          <p:cNvPicPr>
            <a:picLocks noChangeAspect="1"/>
          </p:cNvPicPr>
          <p:nvPr/>
        </p:nvPicPr>
        <p:blipFill>
          <a:blip r:embed="rId2"/>
          <a:srcRect/>
          <a:stretch>
            <a:fillRect/>
          </a:stretch>
        </p:blipFill>
        <p:spPr>
          <a:xfrm>
            <a:off x="698500" y="1841500"/>
            <a:ext cx="5080000" cy="3175000"/>
          </a:xfrm>
          <a:prstGeom prst="rect">
            <a:avLst/>
          </a:prstGeom>
          <a:ln w="12700">
            <a:solidFill>
              <a:srgbClr val="CFD8D1"/>
            </a:solidFill>
          </a:ln>
        </p:spPr>
      </p:pic>
      <p:pic>
        <p:nvPicPr>
          <p:cNvPr id="5" name="Picture 4" descr="f_route_mid.jpg"/>
          <p:cNvPicPr>
            <a:picLocks noChangeAspect="1"/>
          </p:cNvPicPr>
          <p:nvPr/>
        </p:nvPicPr>
        <p:blipFill>
          <a:blip r:embed="rId3"/>
          <a:srcRect/>
          <a:stretch>
            <a:fillRect/>
          </a:stretch>
        </p:blipFill>
        <p:spPr>
          <a:xfrm>
            <a:off x="6413500" y="1841500"/>
            <a:ext cx="5080000" cy="3175000"/>
          </a:xfrm>
          <a:prstGeom prst="rect">
            <a:avLst/>
          </a:prstGeom>
          <a:ln w="12700">
            <a:solidFill>
              <a:srgbClr val="CFD8D1"/>
            </a:solidFill>
          </a:ln>
        </p:spPr>
      </p:pic>
      <p:sp>
        <p:nvSpPr>
          <p:cNvPr id="6" name="TextBox 5"/>
          <p:cNvSpPr txBox="1"/>
          <p:nvPr/>
        </p:nvSpPr>
        <p:spPr>
          <a:xfrm>
            <a:off x="698500" y="5092700"/>
            <a:ext cx="5080000" cy="254000"/>
          </a:xfrm>
          <a:prstGeom prst="rect">
            <a:avLst/>
          </a:prstGeom>
          <a:noFill/>
        </p:spPr>
        <p:txBody>
          <a:bodyPr wrap="square" lIns="0" rIns="0" tIns="0" bIns="0" anchor="t">
            <a:spAutoFit/>
          </a:bodyPr>
          <a:lstStyle/>
          <a:p>
            <a:pPr algn="ctr">
              <a:lnSpc>
                <a:spcPct val="112000"/>
              </a:lnSpc>
              <a:spcAft>
                <a:spcPts val="0"/>
              </a:spcAft>
            </a:pPr>
            <a:r>
              <a:rPr sz="1500" b="1" i="0">
                <a:solidFill>
                  <a:srgbClr val="D94D45"/>
                </a:solidFill>
                <a:latin typeface="Arial"/>
              </a:rPr>
              <a:t>Big sofa  ·  2.5 × 1.2 × 1.2:  No route found</a:t>
            </a:r>
          </a:p>
        </p:txBody>
      </p:sp>
      <p:sp>
        <p:nvSpPr>
          <p:cNvPr id="7" name="TextBox 6"/>
          <p:cNvSpPr txBox="1"/>
          <p:nvPr/>
        </p:nvSpPr>
        <p:spPr>
          <a:xfrm>
            <a:off x="6413500" y="5092700"/>
            <a:ext cx="5080000" cy="254000"/>
          </a:xfrm>
          <a:prstGeom prst="rect">
            <a:avLst/>
          </a:prstGeom>
          <a:noFill/>
        </p:spPr>
        <p:txBody>
          <a:bodyPr wrap="square" lIns="0" rIns="0" tIns="0" bIns="0" anchor="t">
            <a:spAutoFit/>
          </a:bodyPr>
          <a:lstStyle/>
          <a:p>
            <a:pPr algn="ctr">
              <a:lnSpc>
                <a:spcPct val="112000"/>
              </a:lnSpc>
              <a:spcAft>
                <a:spcPts val="0"/>
              </a:spcAft>
            </a:pPr>
            <a:r>
              <a:rPr sz="1500" b="1" i="0">
                <a:solidFill>
                  <a:srgbClr val="2F9A5E"/>
                </a:solidFill>
                <a:latin typeface="Arial"/>
              </a:rPr>
              <a:t>Smaller  ·  1.6 × 0.9 × 0.9:  It fits!</a:t>
            </a:r>
          </a:p>
        </p:txBody>
      </p:sp>
      <p:sp>
        <p:nvSpPr>
          <p:cNvPr id="8" name="Rounded Rectangle 7"/>
          <p:cNvSpPr/>
          <p:nvPr/>
        </p:nvSpPr>
        <p:spPr>
          <a:xfrm>
            <a:off x="698500" y="5461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77800" rIns="177800" tIns="101600" bIns="101600"/>
          <a:lstStyle/>
          <a:p>
            <a:pPr algn="l">
              <a:lnSpc>
                <a:spcPct val="110000"/>
              </a:lnSpc>
            </a:pPr>
            <a:r>
              <a:rPr sz="1500" b="0" i="0">
                <a:solidFill>
                  <a:srgbClr val="EAF5EE"/>
                </a:solidFill>
                <a:latin typeface="Arial"/>
              </a:rPr>
              <a:t>Press </a:t>
            </a:r>
            <a:r>
              <a:rPr sz="1500" b="1" i="0">
                <a:solidFill>
                  <a:srgbClr val="D6EF5B"/>
                </a:solidFill>
                <a:latin typeface="Arial"/>
              </a:rPr>
              <a:t>Run selected solver</a:t>
            </a:r>
            <a:r>
              <a:rPr sz="1500" b="0" i="0">
                <a:solidFill>
                  <a:srgbClr val="EAF5EE"/>
                </a:solidFill>
                <a:latin typeface="Arial"/>
              </a:rPr>
              <a:t>. Same building, same solver, only the furniture changed. "No route found" isn't proof, so change something and try again.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8669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UNDER THE HOOD</a:t>
            </a:r>
          </a:p>
        </p:txBody>
      </p:sp>
      <p:sp>
        <p:nvSpPr>
          <p:cNvPr id="3" name="TextBox 2"/>
          <p:cNvSpPr txBox="1"/>
          <p:nvPr/>
        </p:nvSpPr>
        <p:spPr>
          <a:xfrm>
            <a:off x="698500" y="1587500"/>
            <a:ext cx="10795000" cy="2339102"/>
          </a:xfrm>
          <a:prstGeom prst="rect">
            <a:avLst/>
          </a:prstGeom>
          <a:noFill/>
        </p:spPr>
        <p:txBody>
          <a:bodyPr wrap="square" lIns="0" tIns="0" rIns="0" bIns="0" anchor="t">
            <a:spAutoFit/>
          </a:bodyPr>
          <a:lstStyle/>
          <a:p>
            <a:pPr algn="l">
              <a:lnSpc>
                <a:spcPct val="95000"/>
              </a:lnSpc>
              <a:spcAft>
                <a:spcPts val="0"/>
              </a:spcAft>
            </a:pPr>
            <a:r>
              <a:rPr sz="8000" b="1" i="0" dirty="0">
                <a:solidFill>
                  <a:srgbClr val="EEF5F0"/>
                </a:solidFill>
                <a:latin typeface="Arial"/>
              </a:rPr>
              <a:t>How does it</a:t>
            </a:r>
          </a:p>
          <a:p>
            <a:pPr algn="l">
              <a:lnSpc>
                <a:spcPct val="95000"/>
              </a:lnSpc>
              <a:spcAft>
                <a:spcPts val="0"/>
              </a:spcAft>
            </a:pPr>
            <a:r>
              <a:rPr sz="8000" b="1" i="0" dirty="0">
                <a:solidFill>
                  <a:srgbClr val="D6EF5B"/>
                </a:solidFill>
                <a:latin typeface="Arial"/>
              </a:rPr>
              <a:t>actually </a:t>
            </a:r>
            <a:r>
              <a:rPr lang="en-US" sz="8000" b="1" dirty="0">
                <a:solidFill>
                  <a:srgbClr val="D6EF5B"/>
                </a:solidFill>
                <a:latin typeface="Arial"/>
              </a:rPr>
              <a:t>work</a:t>
            </a:r>
            <a:r>
              <a:rPr sz="8000" b="1" i="0" dirty="0">
                <a:solidFill>
                  <a:srgbClr val="D6EF5B"/>
                </a:solidFill>
                <a:latin typeface="Arial"/>
              </a:rPr>
              <a:t>?</a:t>
            </a:r>
          </a:p>
        </p:txBody>
      </p:sp>
      <p:sp>
        <p:nvSpPr>
          <p:cNvPr id="4" name="Rounded Rectangle 3"/>
          <p:cNvSpPr/>
          <p:nvPr/>
        </p:nvSpPr>
        <p:spPr>
          <a:xfrm>
            <a:off x="698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9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1 · Pose</a:t>
            </a:r>
          </a:p>
        </p:txBody>
      </p:sp>
      <p:sp>
        <p:nvSpPr>
          <p:cNvPr id="6" name="TextBox 5"/>
          <p:cNvSpPr txBox="1"/>
          <p:nvPr/>
        </p:nvSpPr>
        <p:spPr>
          <a:xfrm>
            <a:off x="939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is a position stored?</a:t>
            </a:r>
          </a:p>
        </p:txBody>
      </p:sp>
      <p:sp>
        <p:nvSpPr>
          <p:cNvPr id="7" name="Rounded Rectangle 6"/>
          <p:cNvSpPr/>
          <p:nvPr/>
        </p:nvSpPr>
        <p:spPr>
          <a:xfrm>
            <a:off x="4381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22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2 · Collision</a:t>
            </a:r>
          </a:p>
        </p:txBody>
      </p:sp>
      <p:sp>
        <p:nvSpPr>
          <p:cNvPr id="9" name="TextBox 8"/>
          <p:cNvSpPr txBox="1"/>
          <p:nvPr/>
        </p:nvSpPr>
        <p:spPr>
          <a:xfrm>
            <a:off x="4622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know it's legal?</a:t>
            </a:r>
          </a:p>
        </p:txBody>
      </p:sp>
      <p:sp>
        <p:nvSpPr>
          <p:cNvPr id="10" name="Rounded Rectangle 9"/>
          <p:cNvSpPr/>
          <p:nvPr/>
        </p:nvSpPr>
        <p:spPr>
          <a:xfrm>
            <a:off x="8064500" y="4318000"/>
            <a:ext cx="3429000" cy="1397000"/>
          </a:xfrm>
          <a:prstGeom prst="roundRect">
            <a:avLst>
              <a:gd name="adj" fmla="val 7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305800" y="4603750"/>
            <a:ext cx="2921000" cy="317500"/>
          </a:xfrm>
          <a:prstGeom prst="rect">
            <a:avLst/>
          </a:prstGeom>
          <a:noFill/>
        </p:spPr>
        <p:txBody>
          <a:bodyPr wrap="square" lIns="0" tIns="0" rIns="0" bIns="0" anchor="t">
            <a:spAutoFit/>
          </a:bodyPr>
          <a:lstStyle/>
          <a:p>
            <a:pPr algn="l">
              <a:lnSpc>
                <a:spcPct val="112000"/>
              </a:lnSpc>
              <a:spcAft>
                <a:spcPts val="0"/>
              </a:spcAft>
            </a:pPr>
            <a:r>
              <a:rPr sz="2200" b="1" i="0">
                <a:solidFill>
                  <a:srgbClr val="D6EF5B"/>
                </a:solidFill>
                <a:latin typeface="Arial"/>
              </a:rPr>
              <a:t>3 · Search</a:t>
            </a:r>
          </a:p>
        </p:txBody>
      </p:sp>
      <p:sp>
        <p:nvSpPr>
          <p:cNvPr id="12" name="TextBox 11"/>
          <p:cNvSpPr txBox="1"/>
          <p:nvPr/>
        </p:nvSpPr>
        <p:spPr>
          <a:xfrm>
            <a:off x="8305800" y="5080000"/>
            <a:ext cx="2921000" cy="508000"/>
          </a:xfrm>
          <a:prstGeom prst="rect">
            <a:avLst/>
          </a:prstGeom>
          <a:noFill/>
        </p:spPr>
        <p:txBody>
          <a:bodyPr wrap="square" lIns="0" tIns="0" rIns="0" bIns="0" anchor="t">
            <a:spAutoFit/>
          </a:bodyPr>
          <a:lstStyle/>
          <a:p>
            <a:pPr algn="l">
              <a:lnSpc>
                <a:spcPct val="112000"/>
              </a:lnSpc>
              <a:spcAft>
                <a:spcPts val="0"/>
              </a:spcAft>
            </a:pPr>
            <a:r>
              <a:rPr sz="1700" b="0" i="0">
                <a:solidFill>
                  <a:srgbClr val="C9DAD1"/>
                </a:solidFill>
                <a:latin typeface="Arial"/>
              </a:rPr>
              <a:t>How do we find a path?</a:t>
            </a:r>
          </a:p>
        </p:txBody>
      </p:sp>
      <p:pic>
        <p:nvPicPr>
          <p:cNvPr id="21" name="Audio 20">
            <a:extLst>
              <a:ext uri="{FF2B5EF4-FFF2-40B4-BE49-F238E27FC236}">
                <a16:creationId xmlns:a16="http://schemas.microsoft.com/office/drawing/2014/main" id="{7D960516-4E07-9F1E-A81A-A06441009C9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6446"/>
    </mc:Choice>
    <mc:Fallback xmlns="">
      <p:transition spd="slow" advTm="164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1</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A position is </a:t>
            </a:r>
            <a:r>
              <a:rPr sz="3800" b="1" i="0">
                <a:solidFill>
                  <a:srgbClr val="166B50"/>
                </a:solidFill>
                <a:latin typeface="Arial"/>
              </a:rPr>
              <a:t>six numbers</a:t>
            </a:r>
          </a:p>
        </p:txBody>
      </p:sp>
      <p:sp>
        <p:nvSpPr>
          <p:cNvPr id="4" name="Rounded Rectangle 3"/>
          <p:cNvSpPr/>
          <p:nvPr/>
        </p:nvSpPr>
        <p:spPr>
          <a:xfrm>
            <a:off x="698500" y="2095500"/>
            <a:ext cx="4445000" cy="1270000"/>
          </a:xfrm>
          <a:prstGeom prst="roundRect">
            <a:avLst>
              <a:gd name="adj" fmla="val 8000"/>
            </a:avLst>
          </a:prstGeom>
          <a:solidFill>
            <a:srgbClr val="0F1C17"/>
          </a:solidFill>
          <a:ln>
            <a:noFill/>
          </a:ln>
          <a:effectLst/>
        </p:spPr>
        <p:style>
          <a:lnRef idx="1">
            <a:schemeClr val="accent1"/>
          </a:lnRef>
          <a:fillRef idx="3">
            <a:schemeClr val="accent1"/>
          </a:fillRef>
          <a:effectRef idx="2">
            <a:schemeClr val="accent1"/>
          </a:effectRef>
          <a:fontRef idx="minor">
            <a:schemeClr val="lt1"/>
          </a:fontRef>
        </p:style>
        <p:txBody>
          <a:bodyPr wrap="square" lIns="279400" rtlCol="0" anchor="ctr"/>
          <a:lstStyle/>
          <a:p>
            <a:pPr algn="l"/>
            <a:r>
              <a:rPr sz="2000" b="0" i="0">
                <a:solidFill>
                  <a:srgbClr val="6F8F80"/>
                </a:solidFill>
                <a:latin typeface="Courier New"/>
              </a:rPr>
              <a:t>// furniture pose</a:t>
            </a:r>
          </a:p>
          <a:p>
            <a:pPr algn="l"/>
            <a:r>
              <a:rPr sz="2000" b="0" i="0">
                <a:solidFill>
                  <a:srgbClr val="D7EFE2"/>
                </a:solidFill>
                <a:latin typeface="Courier New"/>
              </a:rPr>
              <a:t>{ x, y, z,</a:t>
            </a:r>
          </a:p>
          <a:p>
            <a:pPr algn="l"/>
            <a:r>
              <a:rPr sz="2000" b="0" i="0">
                <a:solidFill>
                  <a:srgbClr val="D7EFE2"/>
                </a:solidFill>
                <a:latin typeface="Courier New"/>
              </a:rPr>
              <a:t>  yaw, pitch, roll }</a:t>
            </a:r>
          </a:p>
        </p:txBody>
      </p:sp>
      <p:sp>
        <p:nvSpPr>
          <p:cNvPr id="5" name="TextBox 4"/>
          <p:cNvSpPr txBox="1"/>
          <p:nvPr/>
        </p:nvSpPr>
        <p:spPr>
          <a:xfrm>
            <a:off x="698500" y="3683000"/>
            <a:ext cx="4826000" cy="2095500"/>
          </a:xfrm>
          <a:prstGeom prst="rect">
            <a:avLst/>
          </a:prstGeom>
          <a:noFill/>
        </p:spPr>
        <p:txBody>
          <a:bodyPr wrap="square" lIns="0" tIns="0" rIns="0" bIns="0">
            <a:spAutoFit/>
          </a:bodyPr>
          <a:lstStyle/>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3 to translate, 3 to rotate</a:t>
            </a:r>
          </a:p>
          <a:p>
            <a:pPr marL="457200" indent="-457200">
              <a:lnSpc>
                <a:spcPct val="108000"/>
              </a:lnSpc>
              <a:spcAft>
                <a:spcPts val="1400"/>
              </a:spcAft>
              <a:buClr>
                <a:srgbClr val="166B50"/>
              </a:buClr>
              <a:buSzPct val="100000"/>
              <a:buFont typeface="Arial"/>
              <a:buChar char="■"/>
            </a:pPr>
            <a:r>
              <a:rPr sz="1600" b="0" i="0" dirty="0">
                <a:solidFill>
                  <a:srgbClr val="17211D"/>
                </a:solidFill>
                <a:latin typeface="Arial"/>
              </a:rPr>
              <a:t>Rotations use Euler order </a:t>
            </a:r>
            <a:r>
              <a:rPr sz="1600" b="1" i="0" dirty="0">
                <a:solidFill>
                  <a:srgbClr val="17211D"/>
                </a:solidFill>
                <a:latin typeface="Courier New"/>
              </a:rPr>
              <a:t>ZYX</a:t>
            </a:r>
            <a:r>
              <a:rPr sz="1600" b="0" i="0" dirty="0">
                <a:solidFill>
                  <a:srgbClr val="17211D"/>
                </a:solidFill>
                <a:latin typeface="Arial"/>
              </a:rPr>
              <a:t>, converted to a </a:t>
            </a:r>
            <a:r>
              <a:rPr sz="1600" b="1" i="0" dirty="0">
                <a:solidFill>
                  <a:srgbClr val="17211D"/>
                </a:solidFill>
                <a:latin typeface="Arial"/>
              </a:rPr>
              <a:t>quaternion</a:t>
            </a:r>
          </a:p>
          <a:p>
            <a:pPr marL="457200" indent="-457200">
              <a:lnSpc>
                <a:spcPct val="108000"/>
              </a:lnSpc>
              <a:spcAft>
                <a:spcPts val="1400"/>
              </a:spcAft>
              <a:buClr>
                <a:srgbClr val="166B50"/>
              </a:buClr>
              <a:buSzPct val="100000"/>
              <a:buFont typeface="Arial"/>
              <a:buChar char="■"/>
            </a:pPr>
            <a:r>
              <a:rPr sz="1600" b="1" i="0" dirty="0">
                <a:solidFill>
                  <a:srgbClr val="17211D"/>
                </a:solidFill>
                <a:latin typeface="Arial"/>
              </a:rPr>
              <a:t>Allow roll sampling</a:t>
            </a:r>
            <a:r>
              <a:rPr sz="1600" b="0" i="0" dirty="0">
                <a:solidFill>
                  <a:srgbClr val="17211D"/>
                </a:solidFill>
                <a:latin typeface="Arial"/>
              </a:rPr>
              <a:t> off? The search drops to 5-D — faster</a:t>
            </a:r>
          </a:p>
        </p:txBody>
      </p:sp>
      <p:pic>
        <p:nvPicPr>
          <p:cNvPr id="6" name="Picture 5" descr="d10.png"/>
          <p:cNvPicPr>
            <a:picLocks noChangeAspect="1"/>
          </p:cNvPicPr>
          <p:nvPr/>
        </p:nvPicPr>
        <p:blipFill>
          <a:blip r:embed="rId5"/>
          <a:stretch>
            <a:fillRect/>
          </a:stretch>
        </p:blipFill>
        <p:spPr>
          <a:xfrm>
            <a:off x="6096000" y="1905000"/>
            <a:ext cx="5397500" cy="4318000"/>
          </a:xfrm>
          <a:prstGeom prst="rect">
            <a:avLst/>
          </a:prstGeom>
        </p:spPr>
      </p:pic>
      <p:pic>
        <p:nvPicPr>
          <p:cNvPr id="22" name="Audio 21">
            <a:extLst>
              <a:ext uri="{FF2B5EF4-FFF2-40B4-BE49-F238E27FC236}">
                <a16:creationId xmlns:a16="http://schemas.microsoft.com/office/drawing/2014/main" id="{B6472139-475B-E937-AAC7-7087453EEE6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0393"/>
    </mc:Choice>
    <mc:Fallback xmlns="">
      <p:transition spd="slow" advTm="403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2</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Is this pose </a:t>
            </a:r>
            <a:r>
              <a:rPr sz="3800" b="1" i="0">
                <a:solidFill>
                  <a:srgbClr val="166B50"/>
                </a:solidFill>
                <a:latin typeface="Arial"/>
              </a:rPr>
              <a:t>legal?</a:t>
            </a:r>
          </a:p>
        </p:txBody>
      </p:sp>
      <p:sp>
        <p:nvSpPr>
          <p:cNvPr id="4" name="TextBox 3"/>
          <p:cNvSpPr txBox="1"/>
          <p:nvPr/>
        </p:nvSpPr>
        <p:spPr>
          <a:xfrm>
            <a:off x="1016000" y="2870752"/>
            <a:ext cx="5080000" cy="1576778"/>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Char char="■"/>
            </a:pPr>
            <a:r>
              <a:rPr sz="1550" b="1" i="0" dirty="0">
                <a:solidFill>
                  <a:srgbClr val="17211D"/>
                </a:solidFill>
                <a:latin typeface="Arial"/>
              </a:rPr>
              <a:t>Every</a:t>
            </a:r>
            <a:r>
              <a:rPr sz="1550" b="0" i="0" dirty="0">
                <a:solidFill>
                  <a:srgbClr val="17211D"/>
                </a:solidFill>
                <a:latin typeface="Arial"/>
              </a:rPr>
              <a:t> point must be inside the room</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Between two poses we </a:t>
            </a:r>
            <a:r>
              <a:rPr sz="1550" b="1" i="0" dirty="0">
                <a:solidFill>
                  <a:srgbClr val="17211D"/>
                </a:solidFill>
                <a:latin typeface="Arial"/>
              </a:rPr>
              <a:t>interpolate</a:t>
            </a:r>
            <a:r>
              <a:rPr sz="1550" b="0" i="0" dirty="0">
                <a:solidFill>
                  <a:srgbClr val="17211D"/>
                </a:solidFill>
                <a:latin typeface="Arial"/>
              </a:rPr>
              <a:t> and check every step</a:t>
            </a:r>
          </a:p>
          <a:p>
            <a:pPr marL="457200" indent="-457200">
              <a:lnSpc>
                <a:spcPct val="108000"/>
              </a:lnSpc>
              <a:spcAft>
                <a:spcPts val="1200"/>
              </a:spcAft>
              <a:buClr>
                <a:srgbClr val="166B50"/>
              </a:buClr>
              <a:buSzPct val="100000"/>
              <a:buFont typeface="Arial"/>
              <a:buChar char="■"/>
            </a:pPr>
            <a:r>
              <a:rPr sz="1550" b="0" i="0" dirty="0">
                <a:solidFill>
                  <a:srgbClr val="17211D"/>
                </a:solidFill>
                <a:latin typeface="Arial"/>
              </a:rPr>
              <a:t>Crossing a wall is allowed </a:t>
            </a:r>
            <a:r>
              <a:rPr sz="1550" b="1" i="0" dirty="0">
                <a:solidFill>
                  <a:srgbClr val="17211D"/>
                </a:solidFill>
                <a:latin typeface="Arial"/>
              </a:rPr>
              <a:t>only through</a:t>
            </a:r>
            <a:r>
              <a:rPr sz="1550" b="0" i="0" dirty="0">
                <a:solidFill>
                  <a:srgbClr val="17211D"/>
                </a:solidFill>
                <a:latin typeface="Arial"/>
              </a:rPr>
              <a:t> the entrance / exit polygon</a:t>
            </a:r>
          </a:p>
        </p:txBody>
      </p:sp>
      <p:pic>
        <p:nvPicPr>
          <p:cNvPr id="5" name="Picture 4" descr="d11.png"/>
          <p:cNvPicPr>
            <a:picLocks noChangeAspect="1"/>
          </p:cNvPicPr>
          <p:nvPr/>
        </p:nvPicPr>
        <p:blipFill>
          <a:blip r:embed="rId5"/>
          <a:stretch>
            <a:fillRect/>
          </a:stretch>
        </p:blipFill>
        <p:spPr>
          <a:xfrm>
            <a:off x="6096000" y="1905000"/>
            <a:ext cx="5397500" cy="3973620"/>
          </a:xfrm>
          <a:prstGeom prst="rect">
            <a:avLst/>
          </a:prstGeom>
        </p:spPr>
      </p:pic>
      <p:pic>
        <p:nvPicPr>
          <p:cNvPr id="21" name="Audio 20">
            <a:extLst>
              <a:ext uri="{FF2B5EF4-FFF2-40B4-BE49-F238E27FC236}">
                <a16:creationId xmlns:a16="http://schemas.microsoft.com/office/drawing/2014/main" id="{8AEC28EC-114E-E14E-29BA-53F8DA80F3BB}"/>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8815"/>
    </mc:Choice>
    <mc:Fallback xmlns="">
      <p:transition spd="slow" advTm="288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3</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RRT-Connect: two trees, </a:t>
            </a:r>
            <a:r>
              <a:rPr sz="3800" b="1" i="0">
                <a:solidFill>
                  <a:srgbClr val="166B50"/>
                </a:solidFill>
                <a:latin typeface="Arial"/>
              </a:rPr>
              <a:t>one path</a:t>
            </a:r>
          </a:p>
        </p:txBody>
      </p:sp>
      <p:sp>
        <p:nvSpPr>
          <p:cNvPr id="4" name="TextBox 3"/>
          <p:cNvSpPr txBox="1"/>
          <p:nvPr/>
        </p:nvSpPr>
        <p:spPr>
          <a:xfrm>
            <a:off x="698500" y="2032000"/>
            <a:ext cx="4953000" cy="1319144"/>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One tree grows from the </a:t>
            </a:r>
            <a:r>
              <a:rPr sz="1550" b="1" i="0" dirty="0">
                <a:solidFill>
                  <a:srgbClr val="2F9A5E"/>
                </a:solidFill>
                <a:latin typeface="Arial"/>
              </a:rPr>
              <a:t>start</a:t>
            </a:r>
            <a:r>
              <a:rPr sz="1550" b="0" i="0" dirty="0">
                <a:solidFill>
                  <a:srgbClr val="17211D"/>
                </a:solidFill>
                <a:latin typeface="Arial"/>
              </a:rPr>
              <a:t>, one from the </a:t>
            </a:r>
            <a:r>
              <a:rPr sz="1550" b="1" i="0" dirty="0">
                <a:solidFill>
                  <a:srgbClr val="D97F1A"/>
                </a:solidFill>
                <a:latin typeface="Arial"/>
              </a:rPr>
              <a:t>goal</a:t>
            </a: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Then the </a:t>
            </a:r>
            <a:r>
              <a:rPr sz="1550" b="1" i="0" dirty="0">
                <a:solidFill>
                  <a:srgbClr val="17211D"/>
                </a:solidFill>
                <a:latin typeface="Arial"/>
              </a:rPr>
              <a:t>other tree</a:t>
            </a:r>
            <a:r>
              <a:rPr sz="1550" b="0" i="0" dirty="0">
                <a:solidFill>
                  <a:srgbClr val="17211D"/>
                </a:solidFill>
                <a:latin typeface="Arial"/>
              </a:rPr>
              <a:t> greedily chases that new node</a:t>
            </a:r>
            <a:endParaRPr lang="en-US" sz="1550" b="0" i="0" dirty="0">
              <a:solidFill>
                <a:srgbClr val="17211D"/>
              </a:solidFill>
              <a:latin typeface="Arial"/>
            </a:endParaRPr>
          </a:p>
          <a:p>
            <a:pPr marL="457200" indent="-457200">
              <a:lnSpc>
                <a:spcPct val="108000"/>
              </a:lnSpc>
              <a:spcAft>
                <a:spcPts val="1200"/>
              </a:spcAft>
              <a:buClr>
                <a:srgbClr val="166B50"/>
              </a:buClr>
              <a:buSzPct val="100000"/>
              <a:buFont typeface="Arial"/>
              <a:buAutoNum type="arabicPeriod"/>
            </a:pPr>
            <a:r>
              <a:rPr sz="1550" b="0" i="0" dirty="0">
                <a:solidFill>
                  <a:srgbClr val="17211D"/>
                </a:solidFill>
                <a:latin typeface="Arial"/>
              </a:rPr>
              <a:t>Trees touch → </a:t>
            </a:r>
            <a:r>
              <a:rPr sz="1550" b="1" i="0" dirty="0">
                <a:solidFill>
                  <a:srgbClr val="17211D"/>
                </a:solidFill>
                <a:latin typeface="Arial"/>
              </a:rPr>
              <a:t>path found</a:t>
            </a:r>
            <a:r>
              <a:rPr sz="1550" b="0" i="0" dirty="0">
                <a:solidFill>
                  <a:srgbClr val="17211D"/>
                </a:solidFill>
                <a:latin typeface="Arial"/>
              </a:rPr>
              <a:t>. Smooth it, resample it, animate it</a:t>
            </a:r>
          </a:p>
        </p:txBody>
      </p:sp>
      <p:sp>
        <p:nvSpPr>
          <p:cNvPr id="6" name="Rounded Rectangle 5"/>
          <p:cNvSpPr/>
          <p:nvPr/>
        </p:nvSpPr>
        <p:spPr>
          <a:xfrm>
            <a:off x="698500" y="5080000"/>
            <a:ext cx="10795000" cy="825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400" b="1" i="0" dirty="0">
                <a:solidFill>
                  <a:srgbClr val="D6EF5B"/>
                </a:solidFill>
                <a:latin typeface="Arial"/>
              </a:rPr>
              <a:t>Probabilistic:</a:t>
            </a:r>
            <a:r>
              <a:rPr sz="1400" b="0" i="0" dirty="0">
                <a:solidFill>
                  <a:srgbClr val="EAF5EE"/>
                </a:solidFill>
                <a:latin typeface="Arial"/>
              </a:rPr>
              <a:t> finding a route proves it fits — </a:t>
            </a:r>
            <a:r>
              <a:rPr sz="1400" b="1" i="0" dirty="0">
                <a:solidFill>
                  <a:srgbClr val="D6EF5B"/>
                </a:solidFill>
                <a:latin typeface="Arial"/>
              </a:rPr>
              <a:t>failing doesn't prove it can't</a:t>
            </a:r>
            <a:r>
              <a:rPr sz="1400" b="0" i="0" dirty="0">
                <a:solidFill>
                  <a:srgbClr val="EAF5EE"/>
                </a:solidFill>
                <a:latin typeface="Arial"/>
              </a:rPr>
              <a:t>. Run it again or raise iterations. </a:t>
            </a:r>
            <a:r>
              <a:rPr lang="en-US" sz="1400" b="0" i="0" dirty="0">
                <a:solidFill>
                  <a:srgbClr val="EAF5EE"/>
                </a:solidFill>
                <a:latin typeface="Arial"/>
              </a:rPr>
              <a:t>We never "fix" failures by quietly shrinking clearance.</a:t>
            </a:r>
            <a:endParaRPr sz="1400" b="0" i="0" dirty="0">
              <a:solidFill>
                <a:srgbClr val="EAF5EE"/>
              </a:solidFill>
              <a:latin typeface="Arial"/>
            </a:endParaRPr>
          </a:p>
        </p:txBody>
      </p:sp>
      <p:pic>
        <p:nvPicPr>
          <p:cNvPr id="7" name="Picture 6" descr="Path Planning for Mobile Robots Based on Improved RRT-Connect and DWA Fusion">
            <a:extLst>
              <a:ext uri="{FF2B5EF4-FFF2-40B4-BE49-F238E27FC236}">
                <a16:creationId xmlns:a16="http://schemas.microsoft.com/office/drawing/2014/main" id="{A845819E-B596-3A6E-E541-250DBB4B3FAA}"/>
              </a:ext>
            </a:extLst>
          </p:cNvPr>
          <p:cNvPicPr>
            <a:picLocks noChangeAspect="1"/>
          </p:cNvPicPr>
          <p:nvPr/>
        </p:nvPicPr>
        <p:blipFill>
          <a:blip r:embed="rId5"/>
          <a:stretch>
            <a:fillRect/>
          </a:stretch>
        </p:blipFill>
        <p:spPr>
          <a:xfrm>
            <a:off x="6096000" y="1811683"/>
            <a:ext cx="5745313" cy="3228561"/>
          </a:xfrm>
          <a:prstGeom prst="rect">
            <a:avLst/>
          </a:prstGeom>
        </p:spPr>
      </p:pic>
      <p:pic>
        <p:nvPicPr>
          <p:cNvPr id="10" name="Audio 9">
            <a:extLst>
              <a:ext uri="{FF2B5EF4-FFF2-40B4-BE49-F238E27FC236}">
                <a16:creationId xmlns:a16="http://schemas.microsoft.com/office/drawing/2014/main" id="{00A869D4-29DF-536C-C8F1-B068CAA3FBB6}"/>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50153"/>
    </mc:Choice>
    <mc:Fallback xmlns="">
      <p:transition spd="slow" advTm="5015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4</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Smart starts beat </a:t>
            </a:r>
            <a:r>
              <a:rPr sz="3800" b="1" i="0">
                <a:solidFill>
                  <a:srgbClr val="166B50"/>
                </a:solidFill>
                <a:latin typeface="Arial"/>
              </a:rPr>
              <a:t>pure luck</a:t>
            </a:r>
          </a:p>
        </p:txBody>
      </p:sp>
      <p:sp>
        <p:nvSpPr>
          <p:cNvPr id="4" name="TextBox 3"/>
          <p:cNvSpPr txBox="1"/>
          <p:nvPr/>
        </p:nvSpPr>
        <p:spPr>
          <a:xfrm>
            <a:off x="698500" y="1968500"/>
            <a:ext cx="4826000" cy="571500"/>
          </a:xfrm>
          <a:prstGeom prst="rect">
            <a:avLst/>
          </a:prstGeom>
          <a:noFill/>
        </p:spPr>
        <p:txBody>
          <a:bodyPr wrap="square" lIns="0" tIns="0" rIns="0" bIns="0" anchor="t">
            <a:spAutoFit/>
          </a:bodyPr>
          <a:lstStyle/>
          <a:p>
            <a:pPr algn="l">
              <a:lnSpc>
                <a:spcPct val="115000"/>
              </a:lnSpc>
              <a:spcAft>
                <a:spcPts val="0"/>
              </a:spcAft>
            </a:pPr>
            <a:r>
              <a:rPr sz="1550" b="0" i="0">
                <a:solidFill>
                  <a:srgbClr val="5D6963"/>
                </a:solidFill>
                <a:latin typeface="Arial"/>
              </a:rPr>
              <a:t>Random sampling alone rarely threads a tight doorway. So we seed the search:</a:t>
            </a:r>
          </a:p>
        </p:txBody>
      </p:sp>
      <p:sp>
        <p:nvSpPr>
          <p:cNvPr id="5" name="TextBox 4"/>
          <p:cNvSpPr txBox="1"/>
          <p:nvPr/>
        </p:nvSpPr>
        <p:spPr>
          <a:xfrm>
            <a:off x="698500" y="2730500"/>
            <a:ext cx="4953000" cy="3048000"/>
          </a:xfrm>
          <a:prstGeom prst="rect">
            <a:avLst/>
          </a:prstGeom>
          <a:noFill/>
        </p:spPr>
        <p:txBody>
          <a:bodyPr wrap="square" lIns="0" tIns="0" rIns="0" bIns="0">
            <a:spAutoFit/>
          </a:bodyPr>
          <a:lstStyle/>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Sample offsets across the opening × </a:t>
            </a:r>
            <a:r>
              <a:rPr sz="1550" b="1" i="0">
                <a:solidFill>
                  <a:srgbClr val="17211D"/>
                </a:solidFill>
                <a:latin typeface="Arial"/>
              </a:rPr>
              <a:t>15°</a:t>
            </a:r>
            <a:r>
              <a:rPr sz="1550" b="0" i="0">
                <a:solidFill>
                  <a:srgbClr val="17211D"/>
                </a:solidFill>
                <a:latin typeface="Arial"/>
              </a:rPr>
              <a:t> yaw / pitch / roll orientations</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Refine</a:t>
            </a:r>
            <a:r>
              <a:rPr sz="1550" b="0" i="0">
                <a:solidFill>
                  <a:srgbClr val="17211D"/>
                </a:solidFill>
                <a:latin typeface="Arial"/>
              </a:rPr>
              <a:t> the promising ones at 5°</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Probe inward</a:t>
            </a:r>
            <a:r>
              <a:rPr sz="1550" b="0" i="0">
                <a:solidFill>
                  <a:srgbClr val="17211D"/>
                </a:solidFill>
                <a:latin typeface="Arial"/>
              </a:rPr>
              <a:t>: how deep does each candidate get?</a:t>
            </a:r>
          </a:p>
          <a:p>
            <a:pPr marL="457200" indent="-457200">
              <a:lnSpc>
                <a:spcPct val="108000"/>
              </a:lnSpc>
              <a:spcAft>
                <a:spcPts val="1000"/>
              </a:spcAft>
              <a:buClr>
                <a:srgbClr val="166B50"/>
              </a:buClr>
              <a:buSzPct val="100000"/>
              <a:buFont typeface="Arial"/>
              <a:buAutoNum type="arabicPeriod"/>
            </a:pPr>
            <a:r>
              <a:rPr sz="1550" b="1" i="0">
                <a:solidFill>
                  <a:srgbClr val="17211D"/>
                </a:solidFill>
                <a:latin typeface="Arial"/>
              </a:rPr>
              <a:t>Rank</a:t>
            </a:r>
            <a:r>
              <a:rPr sz="1550" b="0" i="0">
                <a:solidFill>
                  <a:srgbClr val="17211D"/>
                </a:solidFill>
                <a:latin typeface="Arial"/>
              </a:rPr>
              <a:t> by depth, clearance, alignment, offset, tilt</a:t>
            </a:r>
          </a:p>
          <a:p>
            <a:pPr marL="457200" indent="-457200">
              <a:lnSpc>
                <a:spcPct val="108000"/>
              </a:lnSpc>
              <a:spcAft>
                <a:spcPts val="1000"/>
              </a:spcAft>
              <a:buClr>
                <a:srgbClr val="166B50"/>
              </a:buClr>
              <a:buSzPct val="100000"/>
              <a:buFont typeface="Arial"/>
              <a:buAutoNum type="arabicPeriod"/>
            </a:pPr>
            <a:r>
              <a:rPr sz="1550" b="0" i="0">
                <a:solidFill>
                  <a:srgbClr val="17211D"/>
                </a:solidFill>
                <a:latin typeface="Arial"/>
              </a:rPr>
              <a:t>Feed the top poses as </a:t>
            </a:r>
            <a:r>
              <a:rPr sz="1550" b="1" i="0">
                <a:solidFill>
                  <a:srgbClr val="17211D"/>
                </a:solidFill>
                <a:latin typeface="Arial"/>
              </a:rPr>
              <a:t>many starts and goals</a:t>
            </a:r>
          </a:p>
        </p:txBody>
      </p:sp>
      <p:pic>
        <p:nvPicPr>
          <p:cNvPr id="6" name="Picture 5" descr="d13.png"/>
          <p:cNvPicPr>
            <a:picLocks noChangeAspect="1"/>
          </p:cNvPicPr>
          <p:nvPr/>
        </p:nvPicPr>
        <p:blipFill>
          <a:blip r:embed="rId3"/>
          <a:stretch>
            <a:fillRect/>
          </a:stretch>
        </p:blipFill>
        <p:spPr>
          <a:xfrm>
            <a:off x="6413500" y="1841500"/>
            <a:ext cx="4826000" cy="3860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758949" cy="292100"/>
          </a:xfrm>
          <a:prstGeom prst="roundRect">
            <a:avLst>
              <a:gd name="adj" fmla="val 50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TECHNIQUE · 5</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The straight-shot </a:t>
            </a:r>
            <a:r>
              <a:rPr sz="3800" b="1" i="0">
                <a:solidFill>
                  <a:srgbClr val="166B50"/>
                </a:solidFill>
                <a:latin typeface="Arial"/>
              </a:rPr>
              <a:t>heuristic</a:t>
            </a:r>
          </a:p>
        </p:txBody>
      </p:sp>
      <p:sp>
        <p:nvSpPr>
          <p:cNvPr id="4" name="TextBox 3"/>
          <p:cNvSpPr txBox="1"/>
          <p:nvPr/>
        </p:nvSpPr>
        <p:spPr>
          <a:xfrm>
            <a:off x="698500" y="2032000"/>
            <a:ext cx="4953000" cy="2667000"/>
          </a:xfrm>
          <a:prstGeom prst="rect">
            <a:avLst/>
          </a:prstGeom>
          <a:noFill/>
        </p:spPr>
        <p:txBody>
          <a:bodyPr wrap="square" lIns="0" tIns="0" rIns="0" bIns="0">
            <a:spAutoFit/>
          </a:bodyPr>
          <a:lstStyle/>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Travel direction = the block edge </a:t>
            </a:r>
            <a:r>
              <a:rPr sz="1550" b="1" i="0">
                <a:solidFill>
                  <a:srgbClr val="17211D"/>
                </a:solidFill>
                <a:latin typeface="Arial"/>
              </a:rPr>
              <a:t>not</a:t>
            </a:r>
            <a:r>
              <a:rPr sz="1550" b="0" i="0">
                <a:solidFill>
                  <a:srgbClr val="17211D"/>
                </a:solidFill>
                <a:latin typeface="Arial"/>
              </a:rPr>
              <a:t> in the entrance face</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Point the furniture's </a:t>
            </a:r>
            <a:r>
              <a:rPr sz="1550" b="1" i="0">
                <a:solidFill>
                  <a:srgbClr val="17211D"/>
                </a:solidFill>
                <a:latin typeface="Arial"/>
              </a:rPr>
              <a:t>longest axis</a:t>
            </a:r>
            <a:r>
              <a:rPr sz="1550" b="0" i="0">
                <a:solidFill>
                  <a:srgbClr val="17211D"/>
                </a:solidFill>
                <a:latin typeface="Arial"/>
              </a:rPr>
              <a:t> along 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Project the doorway along that direction: does the </a:t>
            </a:r>
            <a:r>
              <a:rPr sz="1550" b="1" i="0">
                <a:solidFill>
                  <a:srgbClr val="17211D"/>
                </a:solidFill>
                <a:latin typeface="Arial"/>
              </a:rPr>
              <a:t>cross-section</a:t>
            </a:r>
            <a:r>
              <a:rPr sz="1550" b="0" i="0">
                <a:solidFill>
                  <a:srgbClr val="17211D"/>
                </a:solidFill>
                <a:latin typeface="Arial"/>
              </a:rPr>
              <a:t> (with clearance) fit?</a:t>
            </a:r>
          </a:p>
          <a:p>
            <a:pPr marL="457200" indent="-457200">
              <a:lnSpc>
                <a:spcPct val="108000"/>
              </a:lnSpc>
              <a:spcAft>
                <a:spcPts val="1200"/>
              </a:spcAft>
              <a:buClr>
                <a:srgbClr val="166B50"/>
              </a:buClr>
              <a:buSzPct val="100000"/>
              <a:buFont typeface="Arial"/>
              <a:buAutoNum type="arabicPeriod"/>
            </a:pPr>
            <a:r>
              <a:rPr sz="1550" b="0" i="0">
                <a:solidFill>
                  <a:srgbClr val="17211D"/>
                </a:solidFill>
                <a:latin typeface="Arial"/>
              </a:rPr>
              <a:t>Centre it, stage it outside, </a:t>
            </a:r>
            <a:r>
              <a:rPr sz="1550" b="1" i="0">
                <a:solidFill>
                  <a:srgbClr val="17211D"/>
                </a:solidFill>
                <a:latin typeface="Arial"/>
              </a:rPr>
              <a:t>slide straight in</a:t>
            </a:r>
          </a:p>
        </p:txBody>
      </p:sp>
      <p:sp>
        <p:nvSpPr>
          <p:cNvPr id="5" name="Rounded Rectangle 4"/>
          <p:cNvSpPr/>
          <p:nvPr/>
        </p:nvSpPr>
        <p:spPr>
          <a:xfrm>
            <a:off x="698500" y="4699000"/>
            <a:ext cx="4953000" cy="1079500"/>
          </a:xfrm>
          <a:prstGeom prst="roundRect">
            <a:avLst>
              <a:gd name="adj" fmla="val 14000"/>
            </a:avLst>
          </a:prstGeom>
          <a:solidFill>
            <a:srgbClr val="0E2F26"/>
          </a:solidFill>
          <a:ln>
            <a:noFill/>
          </a:ln>
          <a:effectLst/>
        </p:spPr>
        <p:style>
          <a:lnRef idx="1">
            <a:schemeClr val="accent1"/>
          </a:lnRef>
          <a:fillRef idx="3">
            <a:schemeClr val="accent1"/>
          </a:fillRef>
          <a:effectRef idx="2">
            <a:schemeClr val="accent1"/>
          </a:effectRef>
          <a:fontRef idx="minor">
            <a:schemeClr val="lt1"/>
          </a:fontRef>
        </p:style>
        <p:txBody>
          <a:bodyPr wrap="square" lIns="177800" tIns="101600" rIns="177800" bIns="101600" rtlCol="0" anchor="ctr"/>
          <a:lstStyle/>
          <a:p>
            <a:pPr algn="l">
              <a:lnSpc>
                <a:spcPct val="110000"/>
              </a:lnSpc>
            </a:pPr>
            <a:r>
              <a:rPr sz="1350" b="0" i="0">
                <a:solidFill>
                  <a:srgbClr val="EAF5EE"/>
                </a:solidFill>
                <a:latin typeface="Arial"/>
              </a:rPr>
              <a:t>Deterministic, instant, and when it fails it names the </a:t>
            </a:r>
            <a:r>
              <a:rPr sz="1350" b="1" i="0">
                <a:solidFill>
                  <a:srgbClr val="D6EF5B"/>
                </a:solidFill>
                <a:latin typeface="Arial"/>
              </a:rPr>
              <a:t>checkpoint</a:t>
            </a:r>
            <a:r>
              <a:rPr sz="1350" b="0" i="0">
                <a:solidFill>
                  <a:srgbClr val="EAF5EE"/>
                </a:solidFill>
                <a:latin typeface="Arial"/>
              </a:rPr>
              <a:t> where it got stuck. Multi-block rooms hand off between blocks with a short RRT.</a:t>
            </a:r>
          </a:p>
        </p:txBody>
      </p:sp>
      <p:graphicFrame>
        <p:nvGraphicFramePr>
          <p:cNvPr id="6" name="Table 5"/>
          <p:cNvGraphicFramePr>
            <a:graphicFrameLocks noGrp="1"/>
          </p:cNvGraphicFramePr>
          <p:nvPr/>
        </p:nvGraphicFramePr>
        <p:xfrm>
          <a:off x="6096000" y="2095500"/>
          <a:ext cx="5397500" cy="2857500"/>
        </p:xfrm>
        <a:graphic>
          <a:graphicData uri="http://schemas.openxmlformats.org/drawingml/2006/table">
            <a:tbl>
              <a:tblPr>
                <a:tableStyleId>{5C22544A-7EE6-4342-B048-85BDC9FD1C3A}</a:tableStyleId>
              </a:tblPr>
              <a:tblGrid>
                <a:gridCol w="15875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571500">
                <a:tc>
                  <a:txBody>
                    <a:bodyPr/>
                    <a:lstStyle/>
                    <a:p>
                      <a:endParaRPr/>
                    </a:p>
                  </a:txBody>
                  <a:tcPr marL="152400" marR="152400" anchor="ctr">
                    <a:solidFill>
                      <a:srgbClr val="0E2F26"/>
                    </a:solidFill>
                  </a:tcPr>
                </a:tc>
                <a:tc>
                  <a:txBody>
                    <a:bodyPr/>
                    <a:lstStyle/>
                    <a:p>
                      <a:r>
                        <a:rPr sz="1300" b="1" i="0">
                          <a:solidFill>
                            <a:srgbClr val="FFFFFF"/>
                          </a:solidFill>
                          <a:latin typeface="Arial"/>
                        </a:rPr>
                        <a:t>RRT-Connect</a:t>
                      </a:r>
                    </a:p>
                  </a:txBody>
                  <a:tcPr marL="152400" marR="152400" anchor="ctr">
                    <a:solidFill>
                      <a:srgbClr val="0E2F26"/>
                    </a:solidFill>
                  </a:tcPr>
                </a:tc>
                <a:tc>
                  <a:txBody>
                    <a:bodyPr/>
                    <a:lstStyle/>
                    <a:p>
                      <a:r>
                        <a:rPr sz="1300" b="1" i="0">
                          <a:solidFill>
                            <a:srgbClr val="FFFFFF"/>
                          </a:solidFill>
                          <a:latin typeface="Arial"/>
                        </a:rPr>
                        <a:t>Heuristic</a:t>
                      </a:r>
                    </a:p>
                  </a:txBody>
                  <a:tcPr marL="152400" marR="152400" anchor="ctr">
                    <a:solidFill>
                      <a:srgbClr val="0E2F26"/>
                    </a:solidFill>
                  </a:tcPr>
                </a:tc>
                <a:extLst>
                  <a:ext uri="{0D108BD9-81ED-4DB2-BD59-A6C34878D82A}">
                    <a16:rowId xmlns:a16="http://schemas.microsoft.com/office/drawing/2014/main" val="10000"/>
                  </a:ext>
                </a:extLst>
              </a:tr>
              <a:tr h="571500">
                <a:tc>
                  <a:txBody>
                    <a:bodyPr/>
                    <a:lstStyle/>
                    <a:p>
                      <a:r>
                        <a:rPr sz="1450" b="1" i="0">
                          <a:solidFill>
                            <a:srgbClr val="166B50"/>
                          </a:solidFill>
                          <a:latin typeface="Arial"/>
                        </a:rPr>
                        <a:t>Idea</a:t>
                      </a:r>
                    </a:p>
                  </a:txBody>
                  <a:tcPr marL="152400" marR="152400" anchor="ctr">
                    <a:solidFill>
                      <a:srgbClr val="FFFFFF"/>
                    </a:solidFill>
                  </a:tcPr>
                </a:tc>
                <a:tc>
                  <a:txBody>
                    <a:bodyPr/>
                    <a:lstStyle/>
                    <a:p>
                      <a:r>
                        <a:rPr sz="1450" b="0" i="0">
                          <a:solidFill>
                            <a:srgbClr val="17211D"/>
                          </a:solidFill>
                          <a:latin typeface="Arial"/>
                        </a:rPr>
                        <a:t>Random search</a:t>
                      </a:r>
                    </a:p>
                  </a:txBody>
                  <a:tcPr marL="152400" marR="152400" anchor="ctr">
                    <a:solidFill>
                      <a:srgbClr val="FFFFFF"/>
                    </a:solidFill>
                  </a:tcPr>
                </a:tc>
                <a:tc>
                  <a:txBody>
                    <a:bodyPr/>
                    <a:lstStyle/>
                    <a:p>
                      <a:r>
                        <a:rPr sz="1450" b="0" i="0">
                          <a:solidFill>
                            <a:srgbClr val="17211D"/>
                          </a:solidFill>
                          <a:latin typeface="Arial"/>
                        </a:rPr>
                        <a:t>Slide it in straight</a:t>
                      </a:r>
                    </a:p>
                  </a:txBody>
                  <a:tcPr marL="152400" marR="152400" anchor="ctr">
                    <a:solidFill>
                      <a:srgbClr val="FFFFFF"/>
                    </a:solidFill>
                  </a:tcPr>
                </a:tc>
                <a:extLst>
                  <a:ext uri="{0D108BD9-81ED-4DB2-BD59-A6C34878D82A}">
                    <a16:rowId xmlns:a16="http://schemas.microsoft.com/office/drawing/2014/main" val="10001"/>
                  </a:ext>
                </a:extLst>
              </a:tr>
              <a:tr h="571500">
                <a:tc>
                  <a:txBody>
                    <a:bodyPr/>
                    <a:lstStyle/>
                    <a:p>
                      <a:r>
                        <a:rPr sz="1450" b="1" i="0">
                          <a:solidFill>
                            <a:srgbClr val="166B50"/>
                          </a:solidFill>
                          <a:latin typeface="Arial"/>
                        </a:rPr>
                        <a:t>Result</a:t>
                      </a:r>
                    </a:p>
                  </a:txBody>
                  <a:tcPr marL="152400" marR="152400" anchor="ctr">
                    <a:solidFill>
                      <a:srgbClr val="FFFFFF"/>
                    </a:solidFill>
                  </a:tcPr>
                </a:tc>
                <a:tc>
                  <a:txBody>
                    <a:bodyPr/>
                    <a:lstStyle/>
                    <a:p>
                      <a:r>
                        <a:rPr sz="1450" b="0" i="0">
                          <a:solidFill>
                            <a:srgbClr val="17211D"/>
                          </a:solidFill>
                          <a:latin typeface="Arial"/>
                        </a:rPr>
                        <a:t>Different each run</a:t>
                      </a:r>
                    </a:p>
                  </a:txBody>
                  <a:tcPr marL="152400" marR="152400" anchor="ctr">
                    <a:solidFill>
                      <a:srgbClr val="FFFFFF"/>
                    </a:solidFill>
                  </a:tcPr>
                </a:tc>
                <a:tc>
                  <a:txBody>
                    <a:bodyPr/>
                    <a:lstStyle/>
                    <a:p>
                      <a:r>
                        <a:rPr sz="1450" b="0" i="0">
                          <a:solidFill>
                            <a:srgbClr val="17211D"/>
                          </a:solidFill>
                          <a:latin typeface="Arial"/>
                        </a:rPr>
                        <a:t>Same every run</a:t>
                      </a:r>
                    </a:p>
                  </a:txBody>
                  <a:tcPr marL="152400" marR="152400" anchor="ctr">
                    <a:solidFill>
                      <a:srgbClr val="FFFFFF"/>
                    </a:solidFill>
                  </a:tcPr>
                </a:tc>
                <a:extLst>
                  <a:ext uri="{0D108BD9-81ED-4DB2-BD59-A6C34878D82A}">
                    <a16:rowId xmlns:a16="http://schemas.microsoft.com/office/drawing/2014/main" val="10002"/>
                  </a:ext>
                </a:extLst>
              </a:tr>
              <a:tr h="571500">
                <a:tc>
                  <a:txBody>
                    <a:bodyPr/>
                    <a:lstStyle/>
                    <a:p>
                      <a:r>
                        <a:rPr sz="1450" b="1" i="0">
                          <a:solidFill>
                            <a:srgbClr val="166B50"/>
                          </a:solidFill>
                          <a:latin typeface="Arial"/>
                        </a:rPr>
                        <a:t>Handles turns</a:t>
                      </a:r>
                    </a:p>
                  </a:txBody>
                  <a:tcPr marL="152400" marR="152400" anchor="ctr">
                    <a:solidFill>
                      <a:srgbClr val="FFFFFF"/>
                    </a:solidFill>
                  </a:tcPr>
                </a:tc>
                <a:tc>
                  <a:txBody>
                    <a:bodyPr/>
                    <a:lstStyle/>
                    <a:p>
                      <a:r>
                        <a:rPr sz="1450" b="0" i="0">
                          <a:solidFill>
                            <a:srgbClr val="17211D"/>
                          </a:solidFill>
                          <a:latin typeface="Arial"/>
                        </a:rPr>
                        <a:t>Yes</a:t>
                      </a:r>
                    </a:p>
                  </a:txBody>
                  <a:tcPr marL="152400" marR="152400" anchor="ctr">
                    <a:solidFill>
                      <a:srgbClr val="FFFFFF"/>
                    </a:solidFill>
                  </a:tcPr>
                </a:tc>
                <a:tc>
                  <a:txBody>
                    <a:bodyPr/>
                    <a:lstStyle/>
                    <a:p>
                      <a:r>
                        <a:rPr sz="1450" b="0" i="0">
                          <a:solidFill>
                            <a:srgbClr val="17211D"/>
                          </a:solidFill>
                          <a:latin typeface="Arial"/>
                        </a:rPr>
                        <a:t>Via handoffs</a:t>
                      </a:r>
                    </a:p>
                  </a:txBody>
                  <a:tcPr marL="152400" marR="152400" anchor="ctr">
                    <a:solidFill>
                      <a:srgbClr val="FFFFFF"/>
                    </a:solidFill>
                  </a:tcPr>
                </a:tc>
                <a:extLst>
                  <a:ext uri="{0D108BD9-81ED-4DB2-BD59-A6C34878D82A}">
                    <a16:rowId xmlns:a16="http://schemas.microsoft.com/office/drawing/2014/main" val="10003"/>
                  </a:ext>
                </a:extLst>
              </a:tr>
              <a:tr h="571500">
                <a:tc>
                  <a:txBody>
                    <a:bodyPr/>
                    <a:lstStyle/>
                    <a:p>
                      <a:r>
                        <a:rPr sz="1450" b="1" i="0">
                          <a:solidFill>
                            <a:srgbClr val="166B50"/>
                          </a:solidFill>
                          <a:latin typeface="Arial"/>
                        </a:rPr>
                        <a:t>On failure</a:t>
                      </a:r>
                    </a:p>
                  </a:txBody>
                  <a:tcPr marL="152400" marR="152400" anchor="ctr">
                    <a:solidFill>
                      <a:srgbClr val="FFFFFF"/>
                    </a:solidFill>
                  </a:tcPr>
                </a:tc>
                <a:tc>
                  <a:txBody>
                    <a:bodyPr/>
                    <a:lstStyle/>
                    <a:p>
                      <a:r>
                        <a:rPr sz="1450" b="0" i="0">
                          <a:solidFill>
                            <a:srgbClr val="17211D"/>
                          </a:solidFill>
                          <a:latin typeface="Arial"/>
                        </a:rPr>
                        <a:t>Try again</a:t>
                      </a:r>
                    </a:p>
                  </a:txBody>
                  <a:tcPr marL="152400" marR="152400" anchor="ctr">
                    <a:solidFill>
                      <a:srgbClr val="FFFFFF"/>
                    </a:solidFill>
                  </a:tcPr>
                </a:tc>
                <a:tc>
                  <a:txBody>
                    <a:bodyPr/>
                    <a:lstStyle/>
                    <a:p>
                      <a:r>
                        <a:rPr sz="1450" b="0" i="0">
                          <a:solidFill>
                            <a:srgbClr val="17211D"/>
                          </a:solidFill>
                          <a:latin typeface="Arial"/>
                        </a:rPr>
                        <a:t>Shows the stuck spot</a:t>
                      </a:r>
                    </a:p>
                  </a:txBody>
                  <a:tcPr marL="152400" marR="152400" anchor="ctr">
                    <a:solidFill>
                      <a:srgbClr val="FFFFFF"/>
                    </a:solidFill>
                  </a:tcPr>
                </a:tc>
                <a:extLst>
                  <a:ext uri="{0D108BD9-81ED-4DB2-BD59-A6C34878D82A}">
                    <a16:rowId xmlns:a16="http://schemas.microsoft.com/office/drawing/2014/main" val="10004"/>
                  </a:ext>
                </a:extLst>
              </a:tr>
            </a:tbl>
          </a:graphicData>
        </a:graphic>
      </p:graphicFrame>
      <p:pic>
        <p:nvPicPr>
          <p:cNvPr id="21" name="Audio 20">
            <a:extLst>
              <a:ext uri="{FF2B5EF4-FFF2-40B4-BE49-F238E27FC236}">
                <a16:creationId xmlns:a16="http://schemas.microsoft.com/office/drawing/2014/main" id="{1B58BA4A-96FE-C24C-741B-D46BD621CFAA}"/>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4131"/>
    </mc:Choice>
    <mc:Fallback xmlns="">
      <p:transition spd="slow" advTm="44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2"/>
        </a:soli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327150" cy="292100"/>
          </a:xfrm>
          <a:prstGeom prst="roundRect">
            <a:avLst>
              <a:gd name="adj" fmla="val 50000"/>
            </a:avLst>
          </a:prstGeom>
          <a:solidFill>
            <a:srgbClr val="E3F2EA"/>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166B50"/>
                </a:solidFill>
                <a:latin typeface="Arial"/>
              </a:rPr>
              <a:t>YOUR TURN</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3800" b="1" i="0">
                <a:solidFill>
                  <a:srgbClr val="17211D"/>
                </a:solidFill>
                <a:latin typeface="Arial"/>
              </a:rPr>
              <a:t>Challenge: find the </a:t>
            </a:r>
            <a:r>
              <a:rPr sz="3800" b="1" i="0">
                <a:solidFill>
                  <a:srgbClr val="166B50"/>
                </a:solidFill>
                <a:latin typeface="Arial"/>
              </a:rPr>
              <a:t>tipping point</a:t>
            </a:r>
          </a:p>
        </p:txBody>
      </p:sp>
      <p:sp>
        <p:nvSpPr>
          <p:cNvPr id="4" name="TextBox 3"/>
          <p:cNvSpPr txBox="1"/>
          <p:nvPr/>
        </p:nvSpPr>
        <p:spPr>
          <a:xfrm>
            <a:off x="698500" y="2095500"/>
            <a:ext cx="5080000" cy="2494850"/>
          </a:xfrm>
          <a:prstGeom prst="rect">
            <a:avLst/>
          </a:prstGeom>
          <a:noFill/>
        </p:spPr>
        <p:txBody>
          <a:bodyPr wrap="square" lIns="0" tIns="0" rIns="0" bIns="0">
            <a:spAutoFit/>
          </a:bodyPr>
          <a:lstStyle/>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Build an </a:t>
            </a:r>
            <a:r>
              <a:rPr sz="1700" b="1" i="0" dirty="0">
                <a:solidFill>
                  <a:srgbClr val="17211D"/>
                </a:solidFill>
                <a:latin typeface="Arial"/>
              </a:rPr>
              <a:t>L-shaped hallway</a:t>
            </a:r>
            <a:r>
              <a:rPr sz="1700" b="0" i="0" dirty="0">
                <a:solidFill>
                  <a:srgbClr val="17211D"/>
                </a:solidFill>
                <a:latin typeface="Arial"/>
              </a:rPr>
              <a:t>: two blocks</a:t>
            </a:r>
            <a:r>
              <a:rPr lang="en-US" sz="1700" b="0" i="0" dirty="0">
                <a:solidFill>
                  <a:srgbClr val="17211D"/>
                </a:solidFill>
                <a:latin typeface="Arial"/>
              </a:rPr>
              <a:t> (5 * 2 * 2)</a:t>
            </a:r>
            <a:r>
              <a:rPr sz="1700" b="0" i="0" dirty="0">
                <a:solidFill>
                  <a:srgbClr val="17211D"/>
                </a:solidFill>
                <a:latin typeface="Arial"/>
              </a:rPr>
              <a:t>, connected end to end</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Furniture </a:t>
            </a:r>
            <a:r>
              <a:rPr lang="en-US" sz="1700" b="0" i="0" dirty="0">
                <a:solidFill>
                  <a:srgbClr val="17211D"/>
                </a:solidFill>
                <a:latin typeface="Arial"/>
              </a:rPr>
              <a:t>(</a:t>
            </a:r>
            <a:r>
              <a:rPr lang="en-US" sz="1700" b="1" dirty="0">
                <a:solidFill>
                  <a:srgbClr val="17211D"/>
                </a:solidFill>
                <a:latin typeface="Courier New"/>
              </a:rPr>
              <a:t>1</a:t>
            </a:r>
            <a:r>
              <a:rPr sz="1700" b="1" i="0" dirty="0">
                <a:solidFill>
                  <a:srgbClr val="17211D"/>
                </a:solidFill>
                <a:latin typeface="Courier New"/>
              </a:rPr>
              <a:t>.5</a:t>
            </a:r>
            <a:r>
              <a:rPr lang="en-US" sz="1700" b="1" i="0" dirty="0">
                <a:solidFill>
                  <a:srgbClr val="17211D"/>
                </a:solidFill>
                <a:latin typeface="Courier New"/>
              </a:rPr>
              <a:t> * </a:t>
            </a:r>
            <a:r>
              <a:rPr sz="1700" b="1" i="0" dirty="0">
                <a:solidFill>
                  <a:srgbClr val="17211D"/>
                </a:solidFill>
                <a:latin typeface="Courier New"/>
              </a:rPr>
              <a:t>1.2 </a:t>
            </a:r>
            <a:r>
              <a:rPr lang="en-US" sz="1700" b="1" i="0" dirty="0">
                <a:solidFill>
                  <a:srgbClr val="17211D"/>
                </a:solidFill>
                <a:latin typeface="Courier New"/>
              </a:rPr>
              <a:t>* </a:t>
            </a:r>
            <a:r>
              <a:rPr sz="1700" b="1" i="0" dirty="0">
                <a:solidFill>
                  <a:srgbClr val="17211D"/>
                </a:solidFill>
                <a:latin typeface="Courier New"/>
              </a:rPr>
              <a:t>1.2</a:t>
            </a:r>
            <a:r>
              <a:rPr lang="en-US" sz="1700" b="1" i="0" dirty="0">
                <a:solidFill>
                  <a:srgbClr val="17211D"/>
                </a:solidFill>
                <a:latin typeface="Courier New"/>
              </a:rPr>
              <a:t>)</a:t>
            </a:r>
            <a:r>
              <a:rPr sz="1700" b="0" i="0" dirty="0">
                <a:solidFill>
                  <a:srgbClr val="17211D"/>
                </a:solidFill>
                <a:latin typeface="Arial"/>
              </a:rPr>
              <a:t>, clearance </a:t>
            </a:r>
            <a:r>
              <a:rPr sz="1700" b="1" i="0" dirty="0">
                <a:solidFill>
                  <a:srgbClr val="17211D"/>
                </a:solidFill>
                <a:latin typeface="Courier New"/>
              </a:rPr>
              <a:t>0.1</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Try it </a:t>
            </a:r>
            <a:r>
              <a:rPr sz="1700" b="1" i="0" dirty="0">
                <a:solidFill>
                  <a:srgbClr val="17211D"/>
                </a:solidFill>
                <a:latin typeface="Arial"/>
              </a:rPr>
              <a:t>manually</a:t>
            </a:r>
            <a:r>
              <a:rPr sz="1700" b="0" i="0" dirty="0">
                <a:solidFill>
                  <a:srgbClr val="17211D"/>
                </a:solidFill>
                <a:latin typeface="Arial"/>
              </a:rPr>
              <a:t>, then run </a:t>
            </a:r>
            <a:r>
              <a:rPr sz="1700" b="1" i="0" dirty="0">
                <a:solidFill>
                  <a:srgbClr val="17211D"/>
                </a:solidFill>
                <a:latin typeface="Arial"/>
              </a:rPr>
              <a:t>both solvers</a:t>
            </a:r>
          </a:p>
          <a:p>
            <a:pPr marL="457200" indent="-457200">
              <a:lnSpc>
                <a:spcPct val="108000"/>
              </a:lnSpc>
              <a:spcAft>
                <a:spcPts val="1600"/>
              </a:spcAft>
              <a:buClr>
                <a:srgbClr val="166B50"/>
              </a:buClr>
              <a:buSzPct val="100000"/>
              <a:buFont typeface="Arial"/>
              <a:buAutoNum type="arabicPeriod"/>
            </a:pPr>
            <a:r>
              <a:rPr lang="en-US" sz="1700" b="0" i="0" dirty="0">
                <a:solidFill>
                  <a:srgbClr val="17211D"/>
                </a:solidFill>
                <a:latin typeface="Arial"/>
              </a:rPr>
              <a:t>Increase the furniture size</a:t>
            </a:r>
            <a:r>
              <a:rPr sz="1700" b="0" i="0" dirty="0">
                <a:solidFill>
                  <a:srgbClr val="17211D"/>
                </a:solidFill>
                <a:latin typeface="Arial"/>
              </a:rPr>
              <a:t> until it </a:t>
            </a:r>
            <a:r>
              <a:rPr sz="1700" b="1" i="0" dirty="0">
                <a:solidFill>
                  <a:srgbClr val="17211D"/>
                </a:solidFill>
                <a:latin typeface="Arial"/>
              </a:rPr>
              <a:t>stops fitting</a:t>
            </a:r>
          </a:p>
          <a:p>
            <a:pPr marL="457200" indent="-457200">
              <a:lnSpc>
                <a:spcPct val="108000"/>
              </a:lnSpc>
              <a:spcAft>
                <a:spcPts val="1600"/>
              </a:spcAft>
              <a:buClr>
                <a:srgbClr val="166B50"/>
              </a:buClr>
              <a:buSzPct val="100000"/>
              <a:buFont typeface="Arial"/>
              <a:buAutoNum type="arabicPeriod"/>
            </a:pPr>
            <a:r>
              <a:rPr sz="1700" b="0" i="0" dirty="0">
                <a:solidFill>
                  <a:srgbClr val="17211D"/>
                </a:solidFill>
                <a:latin typeface="Arial"/>
              </a:rPr>
              <a:t>Does </a:t>
            </a:r>
            <a:r>
              <a:rPr sz="1700" b="1" i="0" dirty="0">
                <a:solidFill>
                  <a:srgbClr val="17211D"/>
                </a:solidFill>
                <a:latin typeface="Arial"/>
              </a:rPr>
              <a:t>roll sampling</a:t>
            </a:r>
            <a:r>
              <a:rPr sz="1700" b="0" i="0" dirty="0">
                <a:solidFill>
                  <a:srgbClr val="17211D"/>
                </a:solidFill>
                <a:latin typeface="Arial"/>
              </a:rPr>
              <a:t> rescue it?</a:t>
            </a:r>
          </a:p>
        </p:txBody>
      </p:sp>
      <p:sp>
        <p:nvSpPr>
          <p:cNvPr id="5" name="Rounded Rectangle 4"/>
          <p:cNvSpPr/>
          <p:nvPr/>
        </p:nvSpPr>
        <p:spPr>
          <a:xfrm>
            <a:off x="6350000" y="2159000"/>
            <a:ext cx="5143500" cy="2794000"/>
          </a:xfrm>
          <a:prstGeom prst="roundRect">
            <a:avLst>
              <a:gd name="adj" fmla="val 7000"/>
            </a:avLst>
          </a:prstGeom>
          <a:solidFill>
            <a:srgbClr val="FFFFFF"/>
          </a:solidFill>
          <a:ln w="12700">
            <a:solidFill>
              <a:srgbClr val="DCE2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350000" y="2476500"/>
            <a:ext cx="5143500" cy="952500"/>
          </a:xfrm>
          <a:prstGeom prst="rect">
            <a:avLst/>
          </a:prstGeom>
          <a:noFill/>
        </p:spPr>
        <p:txBody>
          <a:bodyPr wrap="square" lIns="0" tIns="0" rIns="0" bIns="0" anchor="t">
            <a:spAutoFit/>
          </a:bodyPr>
          <a:lstStyle/>
          <a:p>
            <a:pPr algn="ctr">
              <a:lnSpc>
                <a:spcPct val="112000"/>
              </a:lnSpc>
              <a:spcAft>
                <a:spcPts val="0"/>
              </a:spcAft>
            </a:pPr>
            <a:r>
              <a:rPr sz="6000" b="0" i="0">
                <a:solidFill>
                  <a:srgbClr val="17211D"/>
                </a:solidFill>
                <a:latin typeface="Arial"/>
              </a:rPr>
              <a:t>🛋️</a:t>
            </a:r>
          </a:p>
        </p:txBody>
      </p:sp>
      <p:sp>
        <p:nvSpPr>
          <p:cNvPr id="7" name="TextBox 6"/>
          <p:cNvSpPr txBox="1"/>
          <p:nvPr/>
        </p:nvSpPr>
        <p:spPr>
          <a:xfrm>
            <a:off x="6731000" y="3556000"/>
            <a:ext cx="4381500" cy="745525"/>
          </a:xfrm>
          <a:prstGeom prst="rect">
            <a:avLst/>
          </a:prstGeom>
          <a:noFill/>
        </p:spPr>
        <p:txBody>
          <a:bodyPr wrap="square" lIns="0" tIns="0" rIns="0" bIns="0" anchor="t">
            <a:spAutoFit/>
          </a:bodyPr>
          <a:lstStyle/>
          <a:p>
            <a:pPr algn="ctr">
              <a:lnSpc>
                <a:spcPct val="115000"/>
              </a:lnSpc>
              <a:spcAft>
                <a:spcPts val="0"/>
              </a:spcAft>
            </a:pPr>
            <a:r>
              <a:rPr sz="2200" b="1" i="0" dirty="0">
                <a:solidFill>
                  <a:srgbClr val="17211D"/>
                </a:solidFill>
                <a:latin typeface="Arial"/>
              </a:rPr>
              <a:t>What's the </a:t>
            </a:r>
            <a:r>
              <a:rPr lang="en-US" sz="2200" b="1" i="0" dirty="0">
                <a:solidFill>
                  <a:srgbClr val="17211D"/>
                </a:solidFill>
                <a:latin typeface="Arial"/>
              </a:rPr>
              <a:t>largest sofa that fits your hallway</a:t>
            </a:r>
            <a:r>
              <a:rPr sz="2200" b="1" i="0" dirty="0">
                <a:solidFill>
                  <a:srgbClr val="17211D"/>
                </a:solidFill>
                <a:latin typeface="Arial"/>
              </a:rPr>
              <a:t>?</a:t>
            </a:r>
          </a:p>
        </p:txBody>
      </p:sp>
      <p:sp>
        <p:nvSpPr>
          <p:cNvPr id="8" name="TextBox 7"/>
          <p:cNvSpPr txBox="1"/>
          <p:nvPr/>
        </p:nvSpPr>
        <p:spPr>
          <a:xfrm>
            <a:off x="6731000" y="4381500"/>
            <a:ext cx="4381500" cy="317500"/>
          </a:xfrm>
          <a:prstGeom prst="rect">
            <a:avLst/>
          </a:prstGeom>
          <a:noFill/>
        </p:spPr>
        <p:txBody>
          <a:bodyPr wrap="square" lIns="0" tIns="0" rIns="0" bIns="0" anchor="t">
            <a:spAutoFit/>
          </a:bodyPr>
          <a:lstStyle/>
          <a:p>
            <a:pPr algn="ctr">
              <a:lnSpc>
                <a:spcPct val="112000"/>
              </a:lnSpc>
              <a:spcAft>
                <a:spcPts val="0"/>
              </a:spcAft>
            </a:pPr>
            <a:r>
              <a:rPr sz="1500" b="0" i="0" dirty="0">
                <a:solidFill>
                  <a:srgbClr val="5D6963"/>
                </a:solidFill>
                <a:latin typeface="Arial"/>
              </a:rPr>
              <a:t>Share your number in the comments.</a:t>
            </a:r>
          </a:p>
        </p:txBody>
      </p:sp>
      <p:pic>
        <p:nvPicPr>
          <p:cNvPr id="10" name="Picture 9">
            <a:extLst>
              <a:ext uri="{FF2B5EF4-FFF2-40B4-BE49-F238E27FC236}">
                <a16:creationId xmlns:a16="http://schemas.microsoft.com/office/drawing/2014/main" id="{9052F4E8-DAE5-BD11-0FE5-AADE50D7AF0D}"/>
              </a:ext>
            </a:extLst>
          </p:cNvPr>
          <p:cNvPicPr>
            <a:picLocks noChangeAspect="1"/>
          </p:cNvPicPr>
          <p:nvPr/>
        </p:nvPicPr>
        <p:blipFill>
          <a:blip r:embed="rId5"/>
          <a:stretch>
            <a:fillRect/>
          </a:stretch>
        </p:blipFill>
        <p:spPr>
          <a:xfrm>
            <a:off x="1742696" y="4699000"/>
            <a:ext cx="1991306" cy="1933447"/>
          </a:xfrm>
          <a:prstGeom prst="rect">
            <a:avLst/>
          </a:prstGeom>
        </p:spPr>
      </p:pic>
      <p:cxnSp>
        <p:nvCxnSpPr>
          <p:cNvPr id="12" name="Straight Arrow Connector 11">
            <a:extLst>
              <a:ext uri="{FF2B5EF4-FFF2-40B4-BE49-F238E27FC236}">
                <a16:creationId xmlns:a16="http://schemas.microsoft.com/office/drawing/2014/main" id="{8A8EC915-34A4-8D52-7BB7-92C6FD63FE32}"/>
              </a:ext>
            </a:extLst>
          </p:cNvPr>
          <p:cNvCxnSpPr/>
          <p:nvPr/>
        </p:nvCxnSpPr>
        <p:spPr>
          <a:xfrm flipH="1">
            <a:off x="3467819" y="495300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B1D9A6F3-C46D-A38F-8F5D-E2B5F340021C}"/>
              </a:ext>
            </a:extLst>
          </p:cNvPr>
          <p:cNvCxnSpPr/>
          <p:nvPr/>
        </p:nvCxnSpPr>
        <p:spPr>
          <a:xfrm flipH="1">
            <a:off x="1777202" y="6528930"/>
            <a:ext cx="638355" cy="13658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52F06BB-3C43-321D-839B-F08688EFA4C5}"/>
              </a:ext>
            </a:extLst>
          </p:cNvPr>
          <p:cNvSpPr txBox="1"/>
          <p:nvPr/>
        </p:nvSpPr>
        <p:spPr>
          <a:xfrm>
            <a:off x="4106174" y="4836626"/>
            <a:ext cx="1016625" cy="369332"/>
          </a:xfrm>
          <a:prstGeom prst="rect">
            <a:avLst/>
          </a:prstGeom>
          <a:noFill/>
        </p:spPr>
        <p:txBody>
          <a:bodyPr wrap="none" rtlCol="0">
            <a:spAutoFit/>
          </a:bodyPr>
          <a:lstStyle/>
          <a:p>
            <a:r>
              <a:rPr lang="en-US" dirty="0"/>
              <a:t>entrance</a:t>
            </a:r>
          </a:p>
        </p:txBody>
      </p:sp>
      <p:sp>
        <p:nvSpPr>
          <p:cNvPr id="15" name="TextBox 14">
            <a:extLst>
              <a:ext uri="{FF2B5EF4-FFF2-40B4-BE49-F238E27FC236}">
                <a16:creationId xmlns:a16="http://schemas.microsoft.com/office/drawing/2014/main" id="{9E8B4FFB-1F16-2042-7C57-59A2D3BE8135}"/>
              </a:ext>
            </a:extLst>
          </p:cNvPr>
          <p:cNvSpPr txBox="1"/>
          <p:nvPr/>
        </p:nvSpPr>
        <p:spPr>
          <a:xfrm>
            <a:off x="1157568" y="6447781"/>
            <a:ext cx="524503" cy="369332"/>
          </a:xfrm>
          <a:prstGeom prst="rect">
            <a:avLst/>
          </a:prstGeom>
          <a:noFill/>
        </p:spPr>
        <p:txBody>
          <a:bodyPr wrap="none" rtlCol="0">
            <a:spAutoFit/>
          </a:bodyPr>
          <a:lstStyle/>
          <a:p>
            <a:r>
              <a:rPr lang="en-US" dirty="0"/>
              <a:t>exit</a:t>
            </a:r>
          </a:p>
        </p:txBody>
      </p:sp>
      <p:pic>
        <p:nvPicPr>
          <p:cNvPr id="27" name="Audio 26">
            <a:extLst>
              <a:ext uri="{FF2B5EF4-FFF2-40B4-BE49-F238E27FC236}">
                <a16:creationId xmlns:a16="http://schemas.microsoft.com/office/drawing/2014/main" id="{AE815F0D-F97D-EB68-0E5A-A7F7EBAB76A1}"/>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5465"/>
    </mc:Choice>
    <mc:Fallback xmlns="">
      <p:transition spd="slow" advTm="35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7"/>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1B5A45"/>
            </a:gs>
            <a:gs pos="100000">
              <a:srgbClr val="08140F"/>
            </a:gs>
          </a:gsLst>
          <a:lin ang="19500000" scaled="0"/>
        </a:gradFill>
        <a:effectLst/>
      </p:bgPr>
    </p:bg>
    <p:spTree>
      <p:nvGrpSpPr>
        <p:cNvPr id="1" name=""/>
        <p:cNvGrpSpPr/>
        <p:nvPr/>
      </p:nvGrpSpPr>
      <p:grpSpPr>
        <a:xfrm>
          <a:off x="0" y="0"/>
          <a:ext cx="0" cy="0"/>
          <a:chOff x="0" y="0"/>
          <a:chExt cx="0" cy="0"/>
        </a:xfrm>
      </p:grpSpPr>
      <p:sp>
        <p:nvSpPr>
          <p:cNvPr id="2" name="Rounded Rectangle 1"/>
          <p:cNvSpPr/>
          <p:nvPr/>
        </p:nvSpPr>
        <p:spPr>
          <a:xfrm>
            <a:off x="698500" y="533400"/>
            <a:ext cx="1435100" cy="292100"/>
          </a:xfrm>
          <a:prstGeom prst="roundRect">
            <a:avLst>
              <a:gd name="adj" fmla="val 50000"/>
            </a:avLst>
          </a:prstGeom>
          <a:solidFill>
            <a:srgbClr val="2F4A3F"/>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i="0" spc="150">
                <a:solidFill>
                  <a:srgbClr val="D6EF5B"/>
                </a:solidFill>
                <a:latin typeface="Arial"/>
              </a:rPr>
              <a:t>TRY IT NOW</a:t>
            </a:r>
          </a:p>
        </p:txBody>
      </p:sp>
      <p:sp>
        <p:nvSpPr>
          <p:cNvPr id="3" name="TextBox 2"/>
          <p:cNvSpPr txBox="1"/>
          <p:nvPr/>
        </p:nvSpPr>
        <p:spPr>
          <a:xfrm>
            <a:off x="698500" y="952500"/>
            <a:ext cx="10795000" cy="825500"/>
          </a:xfrm>
          <a:prstGeom prst="rect">
            <a:avLst/>
          </a:prstGeom>
          <a:noFill/>
        </p:spPr>
        <p:txBody>
          <a:bodyPr wrap="square" lIns="0" tIns="0" rIns="0" bIns="0" anchor="t">
            <a:spAutoFit/>
          </a:bodyPr>
          <a:lstStyle/>
          <a:p>
            <a:pPr algn="l">
              <a:lnSpc>
                <a:spcPct val="100000"/>
              </a:lnSpc>
              <a:spcAft>
                <a:spcPts val="0"/>
              </a:spcAft>
            </a:pPr>
            <a:r>
              <a:rPr sz="4400" b="1" i="0">
                <a:solidFill>
                  <a:srgbClr val="EEF5F0"/>
                </a:solidFill>
                <a:latin typeface="Arial"/>
              </a:rPr>
              <a:t>Open it in your browser</a:t>
            </a:r>
          </a:p>
        </p:txBody>
      </p:sp>
      <p:sp>
        <p:nvSpPr>
          <p:cNvPr id="4" name="Rounded Rectangle 3">
            <a:hlinkClick r:id="rId5"/>
          </p:cNvPr>
          <p:cNvSpPr/>
          <p:nvPr/>
        </p:nvSpPr>
        <p:spPr>
          <a:xfrm>
            <a:off x="698500" y="2095500"/>
            <a:ext cx="6604000" cy="1206500"/>
          </a:xfrm>
          <a:prstGeom prst="roundRect">
            <a:avLst>
              <a:gd name="adj" fmla="val 14000"/>
            </a:avLst>
          </a:prstGeom>
          <a:solidFill>
            <a:srgbClr val="D6EF5B"/>
          </a:solidFill>
          <a:ln>
            <a:no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dirty="0">
                <a:solidFill>
                  <a:srgbClr val="0E2F26"/>
                </a:solidFill>
                <a:latin typeface="Arial"/>
              </a:rPr>
              <a:t>LAUNCH THE APP  —  NO INSTALL</a:t>
            </a:r>
          </a:p>
          <a:p>
            <a:pPr algn="l">
              <a:spcBef>
                <a:spcPts val="400"/>
              </a:spcBef>
            </a:pPr>
            <a:r>
              <a:rPr sz="2600" b="1" i="0" dirty="0">
                <a:solidFill>
                  <a:srgbClr val="0E2F26"/>
                </a:solidFill>
                <a:latin typeface="Arial"/>
              </a:rPr>
              <a:t>volcano1998.github.io/FurnitureSim_3D</a:t>
            </a:r>
          </a:p>
        </p:txBody>
      </p:sp>
      <p:sp>
        <p:nvSpPr>
          <p:cNvPr id="5" name="Rounded Rectangle 4">
            <a:hlinkClick r:id="rId6"/>
          </p:cNvPr>
          <p:cNvSpPr/>
          <p:nvPr/>
        </p:nvSpPr>
        <p:spPr>
          <a:xfrm>
            <a:off x="698500" y="3492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SLIDES + POWERPOINT</a:t>
            </a:r>
          </a:p>
          <a:p>
            <a:pPr algn="l">
              <a:spcBef>
                <a:spcPts val="400"/>
              </a:spcBef>
            </a:pPr>
            <a:r>
              <a:rPr sz="1800" b="1" i="0">
                <a:solidFill>
                  <a:srgbClr val="EEF5F0"/>
                </a:solidFill>
                <a:latin typeface="Arial"/>
              </a:rPr>
              <a:t>volcano1998.github.io/FurnitureSim_3D/slides</a:t>
            </a:r>
          </a:p>
        </p:txBody>
      </p:sp>
      <p:sp>
        <p:nvSpPr>
          <p:cNvPr id="6" name="Rounded Rectangle 5">
            <a:hlinkClick r:id="rId7"/>
          </p:cNvPr>
          <p:cNvSpPr/>
          <p:nvPr/>
        </p:nvSpPr>
        <p:spPr>
          <a:xfrm>
            <a:off x="698500" y="4381500"/>
            <a:ext cx="6604000" cy="762000"/>
          </a:xfrm>
          <a:prstGeom prst="roundRect">
            <a:avLst>
              <a:gd name="adj" fmla="val 14000"/>
            </a:avLst>
          </a:prstGeom>
          <a:solidFill>
            <a:srgbClr val="27483C"/>
          </a:solidFill>
          <a:ln w="12700">
            <a:solidFill>
              <a:srgbClr val="3E5E52"/>
            </a:solidFill>
          </a:ln>
          <a:effectLst/>
        </p:spPr>
        <p:style>
          <a:lnRef idx="1">
            <a:schemeClr val="accent1"/>
          </a:lnRef>
          <a:fillRef idx="3">
            <a:schemeClr val="accent1"/>
          </a:fillRef>
          <a:effectRef idx="2">
            <a:schemeClr val="accent1"/>
          </a:effectRef>
          <a:fontRef idx="minor">
            <a:schemeClr val="lt1"/>
          </a:fontRef>
        </p:style>
        <p:txBody>
          <a:bodyPr wrap="square" lIns="254000" rIns="254000" rtlCol="0" anchor="ctr"/>
          <a:lstStyle/>
          <a:p>
            <a:pPr algn="l"/>
            <a:r>
              <a:rPr sz="1200" b="1" i="0" spc="150">
                <a:solidFill>
                  <a:srgbClr val="D6EF5B"/>
                </a:solidFill>
                <a:latin typeface="Arial"/>
              </a:rPr>
              <a:t>SOURCE CODE ON GITHUB</a:t>
            </a:r>
          </a:p>
          <a:p>
            <a:pPr algn="l">
              <a:spcBef>
                <a:spcPts val="400"/>
              </a:spcBef>
            </a:pPr>
            <a:r>
              <a:rPr sz="1800" b="1" i="0">
                <a:solidFill>
                  <a:srgbClr val="EEF5F0"/>
                </a:solidFill>
                <a:latin typeface="Arial"/>
              </a:rPr>
              <a:t>github.com/volcano1998/FurnitureSim_3D</a:t>
            </a:r>
          </a:p>
        </p:txBody>
      </p:sp>
      <p:pic>
        <p:nvPicPr>
          <p:cNvPr id="7" name="Picture 6" descr="s4-route.jpg">
            <a:hlinkClick r:id="rId5"/>
          </p:cNvPr>
          <p:cNvPicPr>
            <a:picLocks noChangeAspect="1"/>
          </p:cNvPicPr>
          <p:nvPr/>
        </p:nvPicPr>
        <p:blipFill>
          <a:blip r:embed="rId8"/>
          <a:stretch>
            <a:fillRect/>
          </a:stretch>
        </p:blipFill>
        <p:spPr>
          <a:xfrm>
            <a:off x="7747000" y="2095500"/>
            <a:ext cx="3746500" cy="2341562"/>
          </a:xfrm>
          <a:prstGeom prst="rect">
            <a:avLst/>
          </a:prstGeom>
        </p:spPr>
      </p:pic>
      <p:sp>
        <p:nvSpPr>
          <p:cNvPr id="8" name="TextBox 7"/>
          <p:cNvSpPr txBox="1"/>
          <p:nvPr/>
        </p:nvSpPr>
        <p:spPr>
          <a:xfrm>
            <a:off x="7747000" y="4445000"/>
            <a:ext cx="3746500" cy="254000"/>
          </a:xfrm>
          <a:prstGeom prst="rect">
            <a:avLst/>
          </a:prstGeom>
          <a:noFill/>
        </p:spPr>
        <p:txBody>
          <a:bodyPr wrap="square" lIns="0" tIns="0" rIns="0" bIns="0" anchor="t">
            <a:spAutoFit/>
          </a:bodyPr>
          <a:lstStyle/>
          <a:p>
            <a:pPr algn="ctr">
              <a:lnSpc>
                <a:spcPct val="112000"/>
              </a:lnSpc>
              <a:spcAft>
                <a:spcPts val="0"/>
              </a:spcAft>
            </a:pPr>
            <a:r>
              <a:rPr sz="1200" b="0" i="0">
                <a:solidFill>
                  <a:srgbClr val="9DB5AA"/>
                </a:solidFill>
                <a:latin typeface="Arial"/>
              </a:rPr>
              <a:t>Click any card to open it</a:t>
            </a:r>
          </a:p>
        </p:txBody>
      </p:sp>
      <p:sp>
        <p:nvSpPr>
          <p:cNvPr id="9" name="TextBox 8"/>
          <p:cNvSpPr txBox="1"/>
          <p:nvPr/>
        </p:nvSpPr>
        <p:spPr>
          <a:xfrm>
            <a:off x="698500" y="5397500"/>
            <a:ext cx="6604000" cy="254000"/>
          </a:xfrm>
          <a:prstGeom prst="rect">
            <a:avLst/>
          </a:prstGeom>
          <a:noFill/>
        </p:spPr>
        <p:txBody>
          <a:bodyPr wrap="square" lIns="0" tIns="0" rIns="0" bIns="0" anchor="t">
            <a:spAutoFit/>
          </a:bodyPr>
          <a:lstStyle/>
          <a:p>
            <a:pPr algn="l">
              <a:lnSpc>
                <a:spcPct val="112000"/>
              </a:lnSpc>
              <a:spcAft>
                <a:spcPts val="0"/>
              </a:spcAft>
            </a:pPr>
            <a:r>
              <a:rPr sz="1300" b="0" i="0">
                <a:solidFill>
                  <a:srgbClr val="9DB5AA"/>
                </a:solidFill>
                <a:latin typeface="Arial"/>
              </a:rPr>
              <a:t>Prefer to run it locally? One command: </a:t>
            </a:r>
            <a:r>
              <a:rPr sz="1300" b="1" i="0">
                <a:solidFill>
                  <a:srgbClr val="D7EFE2"/>
                </a:solidFill>
                <a:latin typeface="Courier New"/>
              </a:rPr>
              <a:t>python3 -m http.server 8000</a:t>
            </a:r>
            <a:r>
              <a:rPr sz="1300" b="0" i="0">
                <a:solidFill>
                  <a:srgbClr val="9DB5AA"/>
                </a:solidFill>
                <a:latin typeface="Arial"/>
              </a:rPr>
              <a:t> — see the README.</a:t>
            </a:r>
          </a:p>
        </p:txBody>
      </p:sp>
      <p:sp>
        <p:nvSpPr>
          <p:cNvPr id="10" name="TextBox 9"/>
          <p:cNvSpPr txBox="1"/>
          <p:nvPr/>
        </p:nvSpPr>
        <p:spPr>
          <a:xfrm>
            <a:off x="698500" y="5842000"/>
            <a:ext cx="10795000" cy="571500"/>
          </a:xfrm>
          <a:prstGeom prst="rect">
            <a:avLst/>
          </a:prstGeom>
          <a:noFill/>
        </p:spPr>
        <p:txBody>
          <a:bodyPr wrap="square" lIns="0" tIns="0" rIns="0" bIns="0" anchor="t">
            <a:spAutoFit/>
          </a:bodyPr>
          <a:lstStyle/>
          <a:p>
            <a:pPr algn="ctr">
              <a:lnSpc>
                <a:spcPct val="112000"/>
              </a:lnSpc>
              <a:spcAft>
                <a:spcPts val="0"/>
              </a:spcAft>
            </a:pPr>
            <a:r>
              <a:rPr sz="3400" b="1" i="0">
                <a:solidFill>
                  <a:srgbClr val="EEF5F0"/>
                </a:solidFill>
                <a:latin typeface="Arial"/>
              </a:rPr>
              <a:t>Thanks for watching — </a:t>
            </a:r>
            <a:r>
              <a:rPr sz="3400" b="1" i="0">
                <a:solidFill>
                  <a:srgbClr val="D6EF5B"/>
                </a:solidFill>
                <a:latin typeface="Arial"/>
              </a:rPr>
              <a:t>go move some couches.</a:t>
            </a:r>
          </a:p>
        </p:txBody>
      </p:sp>
      <p:pic>
        <p:nvPicPr>
          <p:cNvPr id="18" name="Audio 17">
            <a:extLst>
              <a:ext uri="{FF2B5EF4-FFF2-40B4-BE49-F238E27FC236}">
                <a16:creationId xmlns:a16="http://schemas.microsoft.com/office/drawing/2014/main" id="{28A8BAC5-D357-9E07-A61D-C0A204D04CB4}"/>
              </a:ext>
            </a:extLst>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226800" y="5892800"/>
            <a:ext cx="812800" cy="8128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3146"/>
    </mc:Choice>
    <mc:Fallback xmlns="">
      <p:transition spd="slow" advTm="23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4|2.1|6.1|3.5|6.3"/>
</p:tagLst>
</file>

<file path=ppt/tags/tag2.xml><?xml version="1.0" encoding="utf-8"?>
<p:tagLst xmlns:a="http://schemas.openxmlformats.org/drawingml/2006/main" xmlns:r="http://schemas.openxmlformats.org/officeDocument/2006/relationships" xmlns:p="http://schemas.openxmlformats.org/presentationml/2006/main">
  <p:tag name="TIMING" val="|5.1|5|4.2|5.6|6.5|1.6|1.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2766</Words>
  <Application>Microsoft Macintosh PowerPoint</Application>
  <PresentationFormat>Widescreen</PresentationFormat>
  <Paragraphs>280</Paragraphs>
  <Slides>16</Slides>
  <Notes>16</Notes>
  <HiddenSlides>1</HiddenSlides>
  <MMClips>10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Can Luo</cp:lastModifiedBy>
  <cp:revision>7</cp:revision>
  <dcterms:created xsi:type="dcterms:W3CDTF">2013-01-27T09:14:16Z</dcterms:created>
  <dcterms:modified xsi:type="dcterms:W3CDTF">2026-10-24T16:20:27Z</dcterms:modified>
  <cp:category/>
</cp:coreProperties>
</file>