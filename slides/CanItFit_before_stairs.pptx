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68963"/>
  </p:normalViewPr>
  <p:slideViewPr>
    <p:cSldViewPr snapToGrid="0" snapToObjects="1">
      <p:cViewPr varScale="1">
        <p:scale>
          <a:sx n="75" d="100"/>
          <a:sy n="75" d="100"/>
        </p:scale>
        <p:origin x="1752"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869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Hi Everyone, I'm Can! </a:t>
            </a:r>
            <a:r>
              <a:rPr dirty="0"/>
              <a:t>Have you ever been stuck on a staircase, holding one end of a couch, thinking: "there is no way this fits"?</a:t>
            </a:r>
          </a:p>
          <a:p>
            <a:endParaRPr dirty="0"/>
          </a:p>
          <a:p>
            <a:r>
              <a:rPr dirty="0"/>
              <a:t>Today we're going to settle that argument with math.</a:t>
            </a:r>
          </a:p>
          <a:p>
            <a:endParaRPr dirty="0"/>
          </a:p>
          <a:p>
            <a:r>
              <a:rPr dirty="0"/>
              <a:t>I built a browser app called Can It Fit</a:t>
            </a:r>
            <a:r>
              <a:rPr lang="en-US" dirty="0"/>
              <a:t>, where y</a:t>
            </a:r>
            <a:r>
              <a:rPr dirty="0"/>
              <a:t>ou </a:t>
            </a:r>
            <a:r>
              <a:rPr lang="en-US" dirty="0"/>
              <a:t>can </a:t>
            </a:r>
            <a:r>
              <a:rPr dirty="0"/>
              <a:t>design a room in 3D, drop in a piece of furniture, and a motion planner</a:t>
            </a:r>
            <a:r>
              <a:rPr lang="en-US" dirty="0"/>
              <a:t> will</a:t>
            </a:r>
            <a:r>
              <a:rPr dirty="0"/>
              <a:t> figure out whether it can actually get through.</a:t>
            </a:r>
          </a:p>
          <a:p>
            <a:endParaRPr dirty="0"/>
          </a:p>
          <a:p>
            <a:r>
              <a:rPr dirty="0"/>
              <a:t>In the next few minutes I'll show you how to use it, and then, the fun part, how the planner really </a:t>
            </a:r>
            <a:r>
              <a:rPr lang="en-US" dirty="0"/>
              <a:t>solve the problem</a:t>
            </a:r>
            <a:r>
              <a:rPr dirty="0"/>
              <a:t>. No installs. No build step. Just a browser.</a:t>
            </a:r>
          </a:p>
          <a:p>
            <a:endParaRPr dirty="0"/>
          </a:p>
          <a:p>
            <a:r>
              <a:rPr dirty="0"/>
              <a:t>Let's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why this is harder than it looks.</a:t>
            </a:r>
          </a:p>
          <a:p>
            <a:endParaRPr dirty="0"/>
          </a:p>
          <a:p>
            <a:r>
              <a:rPr dirty="0"/>
              <a:t>A couch isn't just sliding along a hallway. It can move in three directions, and it can rotate in three ways: yaw, pitch and roll. That's six degrees of freedom.</a:t>
            </a:r>
          </a:p>
          <a:p>
            <a:endParaRPr dirty="0"/>
          </a:p>
          <a:p>
            <a:r>
              <a:rPr dirty="0"/>
              <a:t>So "does it fit?" is secretly a question about finding a path through six-dimensional space, where every single pose along the way has to avoid every wall.</a:t>
            </a:r>
          </a:p>
          <a:p>
            <a:endParaRPr dirty="0"/>
          </a:p>
          <a:p>
            <a:r>
              <a:rPr dirty="0"/>
              <a:t>Look at this corner. The sofa can't just slide through. It has to turn, at exactly the right moment, by exactly the right amount.</a:t>
            </a:r>
          </a:p>
          <a:p>
            <a:endParaRPr dirty="0"/>
          </a:p>
          <a:p>
            <a:r>
              <a:rPr dirty="0"/>
              <a:t>That turning is what makes this problem interesting.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
            </a:r>
            <a:r>
              <a:rPr lang="en-US" dirty="0"/>
              <a:t>is</a:t>
            </a:r>
            <a:r>
              <a:rPr dirty="0"/>
              <a:t> app gives you three ways to answer the question.</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First, </a:t>
            </a:r>
            <a:r>
              <a:rPr lang="en-US" dirty="0"/>
              <a:t>manual mode, where you grab the furniture yourself and try it virtually.</a:t>
            </a:r>
          </a:p>
          <a:p>
            <a:endParaRPr dirty="0"/>
          </a:p>
          <a:p>
            <a:r>
              <a:rPr dirty="0"/>
              <a:t>Second, a deterministic straight-shot heuristic.</a:t>
            </a:r>
          </a:p>
          <a:p>
            <a:endParaRPr dirty="0"/>
          </a:p>
          <a:p>
            <a:r>
              <a:rPr dirty="0"/>
              <a:t>Third, </a:t>
            </a:r>
            <a:r>
              <a:rPr lang="en-US" dirty="0"/>
              <a:t>a probabilistic solver using motion planning algorithm called RRT-Connect, </a:t>
            </a:r>
          </a:p>
          <a:p>
            <a:endParaRPr lang="en-US" dirty="0"/>
          </a:p>
          <a:p>
            <a:r>
              <a:rPr lang="en-US" dirty="0"/>
              <a:t>and </a:t>
            </a:r>
            <a:r>
              <a:rPr dirty="0"/>
              <a:t>Everything follows four simple steps: build the room, choose the entrance and exit, describe the furniture, and solve. Let's walk through each 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Step one: build the room.</a:t>
            </a:r>
          </a:p>
          <a:p>
            <a:endParaRPr dirty="0"/>
          </a:p>
          <a:p>
            <a:r>
              <a:rPr dirty="0"/>
              <a:t>[DEMO: drag the A, B and C length sliders]</a:t>
            </a:r>
          </a:p>
          <a:p>
            <a:endParaRPr dirty="0"/>
          </a:p>
          <a:p>
            <a:r>
              <a:rPr dirty="0"/>
              <a:t>I'll set A to eight, and B and C to two point four. And just like that, we have a hallway.</a:t>
            </a:r>
          </a:p>
          <a:p>
            <a:endParaRPr dirty="0"/>
          </a:p>
          <a:p>
            <a:r>
              <a:rPr dirty="0"/>
              <a:t>Change the angles between the vectors and the box skews. There's even a one-click forty-five degree template.</a:t>
            </a:r>
          </a:p>
          <a:p>
            <a:endParaRPr dirty="0"/>
          </a:p>
          <a:p>
            <a:r>
              <a:rPr dirty="0"/>
              <a:t>Need a corner? Add a second object, hit "Connect two objects", and click a face on each. Now you have an L-shaped hallway.</a:t>
            </a:r>
          </a:p>
          <a:p>
            <a:endParaRPr dirty="0"/>
          </a:p>
          <a:p>
            <a:endParaRPr dirty="0"/>
          </a:p>
          <a:p>
            <a:r>
              <a:rPr dirty="0"/>
              <a:t>Turn on the vector labels and you can see A, B and C right on the model.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Step two: tell the planner where the furniture comes in, and where it has to come out.</a:t>
            </a:r>
          </a:p>
          <a:p>
            <a:endParaRPr dirty="0"/>
          </a:p>
          <a:p>
            <a:r>
              <a:rPr dirty="0"/>
              <a:t>Press "Pick faces in 3D view". Click an outside wall for the entrance, which turns green, then click another for the exit, which turns orange. You can also use the dropdowns.</a:t>
            </a:r>
          </a:p>
          <a:p>
            <a:endParaRPr dirty="0"/>
          </a:p>
          <a:p>
            <a:r>
              <a:rPr dirty="0"/>
              <a:t>Then press "Confirm 3D model", and the room locks.</a:t>
            </a:r>
          </a:p>
          <a:p>
            <a:endParaRPr dirty="0"/>
          </a:p>
          <a:p>
            <a:r>
              <a:rPr dirty="0"/>
              <a:t>Here's the key rule: these two faces are the only doorways. Every other wall is solid, so the furniture can't cheat.</a:t>
            </a:r>
          </a:p>
          <a:p>
            <a:endParaRPr dirty="0"/>
          </a:p>
          <a:p>
            <a:r>
              <a:rPr dirty="0"/>
              <a:t>And if you change your mind later, just click step one or step two in the progress bar and the room unlocks again.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Step three: describe your furniture.</a:t>
            </a:r>
          </a:p>
          <a:p>
            <a:endParaRPr dirty="0"/>
          </a:p>
          <a:p>
            <a:r>
              <a:rPr dirty="0"/>
              <a:t>Enter the length, width and height. I'll use two point five by one point two by one point two.</a:t>
            </a:r>
          </a:p>
          <a:p>
            <a:endParaRPr dirty="0"/>
          </a:p>
          <a:p>
            <a:r>
              <a:rPr dirty="0"/>
              <a:t>That green box next to the room is your sofa.</a:t>
            </a:r>
          </a:p>
          <a:p>
            <a:endParaRPr dirty="0"/>
          </a:p>
          <a:p>
            <a:r>
              <a:rPr dirty="0"/>
              <a:t>Then set the clearance, which is a safety margin around every side. And here's the important detail: clearance doesn't just add a rule at the end. It actually inflates the box in every direction before any collision check.</a:t>
            </a:r>
          </a:p>
          <a:p>
            <a:endParaRPr dirty="0"/>
          </a:p>
          <a:p>
            <a:r>
              <a:rPr dirty="0"/>
              <a:t>So a clearance of point one means the planner treats your sofa as slightly fatter than it really is. That's realistic, and it's deliberately conservative.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we let the computer try, try it yourself.</a:t>
            </a:r>
          </a:p>
          <a:p>
            <a:endParaRPr dirty="0"/>
          </a:p>
          <a:p>
            <a:r>
              <a:rPr dirty="0"/>
              <a:t>Press "Try manually". The furniture starts fully outside the entrance.</a:t>
            </a:r>
          </a:p>
          <a:p>
            <a:endParaRPr dirty="0"/>
          </a:p>
          <a:p>
            <a:r>
              <a:rPr dirty="0"/>
              <a:t>[DEMO: hold M and drag the furniture in]</a:t>
            </a:r>
          </a:p>
          <a:p>
            <a:endParaRPr dirty="0"/>
          </a:p>
          <a:p>
            <a:r>
              <a:rPr dirty="0"/>
              <a:t>Hold M and drag. Use the sliders for height, yaw, pitch and roll. Watch the </a:t>
            </a:r>
            <a:r>
              <a:rPr dirty="0" err="1"/>
              <a:t>colour</a:t>
            </a:r>
            <a:r>
              <a:rPr dirty="0"/>
              <a:t>: green means you're inside and legal, yellow means you're still outside, and red means you've collided with a wall.</a:t>
            </a:r>
          </a:p>
          <a:p>
            <a:endParaRPr dirty="0"/>
          </a:p>
          <a:p>
            <a:r>
              <a:rPr dirty="0"/>
              <a:t>Stuck at a corner? Try Auto Pilot. Click an edge of the furniture, then an edge of the room, and the app snaps them parallel for you.</a:t>
            </a:r>
          </a:p>
          <a:p>
            <a:endParaRPr dirty="0"/>
          </a:p>
          <a:p>
            <a:r>
              <a:rPr dirty="0"/>
              <a:t>Get all the way through the exit and you win.</a:t>
            </a:r>
          </a:p>
          <a:p>
            <a:endParaRPr dirty="0"/>
          </a:p>
          <a:p>
            <a:r>
              <a:rPr dirty="0"/>
              <a:t>I promise it's harder than it looks, and that's exactly why we need a planner.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let the planner try.</a:t>
            </a:r>
          </a:p>
          <a:p>
            <a:endParaRPr dirty="0"/>
          </a:p>
          <a:p>
            <a:r>
              <a:rPr dirty="0"/>
              <a:t>Choose RRT-Connect or Heuristic, and press "Run selected solver".</a:t>
            </a:r>
          </a:p>
          <a:p>
            <a:endParaRPr dirty="0"/>
          </a:p>
          <a:p>
            <a:r>
              <a:rPr dirty="0"/>
              <a:t>[DEMO: run it]</a:t>
            </a:r>
          </a:p>
          <a:p>
            <a:endParaRPr dirty="0"/>
          </a:p>
          <a:p>
            <a:r>
              <a:rPr dirty="0"/>
              <a:t>When it's done, a pop-up gives you the verdict: "It fits!", or "No route found". Close it, and scrub the timeline to watch the sofa travel through the room. Green means clear, yellow means tight, red means a collision.</a:t>
            </a:r>
          </a:p>
          <a:p>
            <a:endParaRPr dirty="0"/>
          </a:p>
          <a:p>
            <a:r>
              <a:rPr dirty="0"/>
              <a:t>If it fails, you have options. Raise the max iterations. Allow roll sampling. Reshape the room. Or just click back a step and change the furniture. Nothing is locked in.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far you've seen what it does. Now let's open the hood.</a:t>
            </a:r>
          </a:p>
          <a:p>
            <a:endParaRPr dirty="0"/>
          </a:p>
          <a:p>
            <a:r>
              <a:rPr dirty="0"/>
              <a:t>Three questions. How is a position stored? How do we know a position is legal? And how do we search for a path?</a:t>
            </a:r>
          </a:p>
          <a:p>
            <a:endParaRPr dirty="0"/>
          </a:p>
          <a:p>
            <a:r>
              <a:rPr lang="en-US" dirty="0"/>
              <a:t>By a</a:t>
            </a:r>
            <a:r>
              <a:rPr dirty="0"/>
              <a:t>nswer</a:t>
            </a:r>
            <a:r>
              <a:rPr lang="en-US" dirty="0"/>
              <a:t>ing</a:t>
            </a:r>
            <a:r>
              <a:rPr dirty="0"/>
              <a:t> those three</a:t>
            </a:r>
            <a:r>
              <a:rPr lang="en-US" dirty="0"/>
              <a:t> questions</a:t>
            </a:r>
            <a:r>
              <a:rPr dirty="0"/>
              <a:t>, </a:t>
            </a:r>
            <a:r>
              <a:rPr lang="en-US" dirty="0"/>
              <a:t>y</a:t>
            </a:r>
            <a:r>
              <a:rPr dirty="0"/>
              <a:t>ou </a:t>
            </a:r>
            <a:r>
              <a:rPr lang="en-US" dirty="0"/>
              <a:t>will </a:t>
            </a:r>
            <a:r>
              <a:rPr dirty="0"/>
              <a:t>understand the whole planner.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one: how do you describe where a couch is?</a:t>
            </a:r>
          </a:p>
          <a:p>
            <a:endParaRPr dirty="0"/>
          </a:p>
          <a:p>
            <a:r>
              <a:rPr dirty="0"/>
              <a:t>With six numbers. X, Y and Z for position, and yaw, pitch and roll for rotation.</a:t>
            </a:r>
          </a:p>
          <a:p>
            <a:endParaRPr dirty="0"/>
          </a:p>
          <a:p>
            <a:r>
              <a:rPr dirty="0"/>
              <a:t>The code stores that as a simple object, and converts the three angles into a quaternion, using Z-Y-X Euler order. We use the same convention everywhere, so rendering, collision checking and saving always agree.</a:t>
            </a:r>
          </a:p>
          <a:p>
            <a:endParaRPr dirty="0"/>
          </a:p>
          <a:p>
            <a:r>
              <a:rPr dirty="0"/>
              <a:t>And here's a neat trick: turn off "Allow roll sampling" and the search drops from six dimensions to five. That makes it faster, and most furniture never needs to barrel-roll anyway.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two: given a pose, is it legal?</a:t>
            </a:r>
          </a:p>
          <a:p>
            <a:endParaRPr dirty="0"/>
          </a:p>
          <a:p>
            <a:r>
              <a:rPr dirty="0"/>
              <a:t>If every </a:t>
            </a:r>
            <a:r>
              <a:rPr lang="en-US" dirty="0"/>
              <a:t>boundary point of the furniture </a:t>
            </a:r>
            <a:r>
              <a:rPr dirty="0"/>
              <a:t>is inside the room, the pose is legal.</a:t>
            </a:r>
          </a:p>
          <a:p>
            <a:endParaRPr dirty="0"/>
          </a:p>
          <a:p>
            <a:r>
              <a:rPr dirty="0"/>
              <a:t>To check a move between two poses, we interpolate and test every little step along the way.</a:t>
            </a:r>
          </a:p>
          <a:p>
            <a:endParaRPr dirty="0"/>
          </a:p>
          <a:p>
            <a:r>
              <a:rPr dirty="0"/>
              <a:t>And crossing a wall? That's only allowed through the entrance or exit.</a:t>
            </a:r>
          </a:p>
          <a:p>
            <a:endParaRPr dirty="0"/>
          </a:p>
          <a:p>
            <a:r>
              <a:rPr dirty="0"/>
              <a:t>It's the exact same check for manual mode and for both solvers. Nobody gets special treatment.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three: how do we find a path through six-dimensional space?</a:t>
            </a:r>
          </a:p>
          <a:p>
            <a:endParaRPr dirty="0"/>
          </a:p>
          <a:p>
            <a:r>
              <a:rPr dirty="0"/>
              <a:t>With an algorithm called RRT-Connect. RRT stands for Rapidly-exploring Random Tree.</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Specifically, RRT-Connect grows two trees, one from the start and one from the goal.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randomly samples new nodes in each iteration, attempting to connect the two trees while avoiding the obstacles.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dirty="0"/>
              <a:t>When the two trees touch, we have a path. We smooth it, resample it, and animate it.</a:t>
            </a:r>
          </a:p>
          <a:p>
            <a:endParaRPr dirty="0"/>
          </a:p>
          <a:p>
            <a:r>
              <a:rPr dirty="0"/>
              <a:t>One honest caveat. It's probabilistic.</a:t>
            </a:r>
            <a:r>
              <a:rPr lang="en-US" dirty="0"/>
              <a:t> So</a:t>
            </a:r>
            <a:r>
              <a:rPr dirty="0"/>
              <a:t> Finding a route proves the </a:t>
            </a:r>
            <a:r>
              <a:rPr lang="en-US" dirty="0"/>
              <a:t>furniture</a:t>
            </a:r>
            <a:r>
              <a:rPr dirty="0"/>
              <a:t> fits. </a:t>
            </a:r>
            <a:endParaRPr lang="en-US" dirty="0"/>
          </a:p>
          <a:p>
            <a:endParaRPr lang="en-US" dirty="0"/>
          </a:p>
          <a:p>
            <a:r>
              <a:rPr lang="en-US" dirty="0"/>
              <a:t>But f</a:t>
            </a:r>
            <a:r>
              <a:rPr dirty="0"/>
              <a:t>ailing to find one does not prove it can't. </a:t>
            </a:r>
            <a:r>
              <a:rPr lang="en-US" dirty="0"/>
              <a:t>You may try</a:t>
            </a:r>
            <a:r>
              <a:rPr dirty="0"/>
              <a:t> run it again,  raise the iterations</a:t>
            </a:r>
            <a:r>
              <a:rPr lang="en-US" dirty="0"/>
              <a:t>, or use the manual solver.</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Pure random sampling struggles with a tight doorway. The chance of randomly guessing a good entrance pose is tiny.</a:t>
            </a:r>
          </a:p>
          <a:p>
            <a:endParaRPr dirty="0"/>
          </a:p>
          <a:p>
            <a:r>
              <a:rPr dirty="0"/>
              <a:t>So we don't start blind. We sample offsets across the opening, combined with fifteen-degree yaw, pitch and roll orientations. We refine the promising ones at five degrees. Then we probe each candidate inward, to see how deep it gets.</a:t>
            </a:r>
          </a:p>
          <a:p>
            <a:endParaRPr dirty="0"/>
          </a:p>
          <a:p>
            <a:r>
              <a:rPr dirty="0"/>
              <a:t>We rank them by depth, clearance, alignment, offset and tilt, and feed the best ones to the planner as</a:t>
            </a:r>
            <a:r>
              <a:rPr lang="en-US" dirty="0"/>
              <a:t> candidate starting poses</a:t>
            </a:r>
            <a:r>
              <a:rPr dirty="0"/>
              <a:t>.</a:t>
            </a:r>
          </a:p>
          <a:p>
            <a:endParaRPr lang="en-US" dirty="0"/>
          </a:p>
          <a:p>
            <a:r>
              <a:rPr lang="en-US" dirty="0"/>
              <a:t>And this will increase the chance of successfully finding a path.</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second solver is the straight-shot heuristic, and it's the opposite of random.</a:t>
            </a:r>
          </a:p>
          <a:p>
            <a:endParaRPr dirty="0"/>
          </a:p>
          <a:p>
            <a:r>
              <a:rPr dirty="0"/>
              <a:t>The travel direction is the room edge that isn't part of the entrance face. We line up the furniture's longest axis with it, project the doorway along that direction, and check whether the furniture's cross-section, with clearance, fits through.</a:t>
            </a:r>
          </a:p>
          <a:p>
            <a:endParaRPr dirty="0"/>
          </a:p>
          <a:p>
            <a:r>
              <a:rPr dirty="0"/>
              <a:t>If it does, we </a:t>
            </a:r>
            <a:r>
              <a:rPr dirty="0" err="1"/>
              <a:t>centre</a:t>
            </a:r>
            <a:r>
              <a:rPr dirty="0"/>
              <a:t> it, park it outside, and slide it straight in.</a:t>
            </a:r>
          </a:p>
          <a:p>
            <a:endParaRPr dirty="0"/>
          </a:p>
          <a:p>
            <a:r>
              <a:rPr dirty="0"/>
              <a:t>For rooms made of several blocks, it hands off between blocks using a short RRT.</a:t>
            </a:r>
          </a:p>
          <a:p>
            <a:endParaRPr dirty="0"/>
          </a:p>
          <a:p>
            <a:r>
              <a:rPr dirty="0"/>
              <a:t>My rule of thumb: use the heuristic for a fast yes on </a:t>
            </a:r>
            <a:r>
              <a:rPr lang="en-US" dirty="0"/>
              <a:t>simple straight room</a:t>
            </a:r>
            <a:r>
              <a:rPr dirty="0"/>
              <a:t>, and RRT-Connect when you need real </a:t>
            </a:r>
            <a:r>
              <a:rPr dirty="0" err="1"/>
              <a:t>manoeuvring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it's your turn.</a:t>
            </a:r>
          </a:p>
          <a:p>
            <a:endParaRPr dirty="0"/>
          </a:p>
          <a:p>
            <a:r>
              <a:rPr dirty="0"/>
              <a:t>Build an L-shaped hallway out of two connected blocks. </a:t>
            </a:r>
            <a:r>
              <a:rPr lang="en-US" dirty="0"/>
              <a:t>You can make</a:t>
            </a:r>
            <a:r>
              <a:rPr dirty="0"/>
              <a:t> furniture </a:t>
            </a:r>
            <a:r>
              <a:rPr lang="en-US" dirty="0"/>
              <a:t>and clearance </a:t>
            </a:r>
            <a:r>
              <a:rPr dirty="0"/>
              <a:t>of</a:t>
            </a:r>
            <a:r>
              <a:rPr lang="en-US" dirty="0"/>
              <a:t> this size</a:t>
            </a:r>
          </a:p>
          <a:p>
            <a:endParaRPr dirty="0"/>
          </a:p>
          <a:p>
            <a:r>
              <a:rPr dirty="0"/>
              <a:t>Try it manually first. Then run both solvers.</a:t>
            </a:r>
          </a:p>
          <a:p>
            <a:endParaRPr dirty="0"/>
          </a:p>
          <a:p>
            <a:r>
              <a:rPr dirty="0"/>
              <a:t>Then </a:t>
            </a:r>
            <a:r>
              <a:rPr lang="en-US" dirty="0"/>
              <a:t>increase the furniture size </a:t>
            </a:r>
            <a:r>
              <a:rPr dirty="0"/>
              <a:t>until it stops fitting, and see whether roll sampling rescues it.</a:t>
            </a:r>
          </a:p>
          <a:p>
            <a:endParaRPr dirty="0"/>
          </a:p>
          <a:p>
            <a:r>
              <a:rPr dirty="0"/>
              <a:t>So here's the question: what's the</a:t>
            </a:r>
            <a:r>
              <a:rPr lang="en-US" dirty="0"/>
              <a:t> </a:t>
            </a:r>
            <a:r>
              <a:rPr lang="en-US" sz="1200" b="1" i="0" dirty="0">
                <a:solidFill>
                  <a:srgbClr val="17211D"/>
                </a:solidFill>
                <a:latin typeface="Arial"/>
              </a:rPr>
              <a:t>largest sofa that fits your hallway</a:t>
            </a:r>
            <a:r>
              <a:rPr dirty="0"/>
              <a:t>?</a:t>
            </a:r>
          </a:p>
          <a:p>
            <a:endParaRPr dirty="0"/>
          </a:p>
          <a:p>
            <a:r>
              <a:rPr dirty="0"/>
              <a:t>Pause the video, give it a go, and drop your number in the comments. I'm really curious what you find.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That's everything. And the best part: you can try it right now.</a:t>
            </a:r>
          </a:p>
          <a:p>
            <a:endParaRPr dirty="0"/>
          </a:p>
          <a:p>
            <a:r>
              <a:rPr dirty="0"/>
              <a:t>The app is live in your browser. No install, no account. The link is on screen and in the description</a:t>
            </a:r>
            <a:r>
              <a:rPr lang="en-US" dirty="0"/>
              <a:t>.</a:t>
            </a:r>
          </a:p>
          <a:p>
            <a:endParaRPr dirty="0"/>
          </a:p>
          <a:p>
            <a:r>
              <a:rPr lang="en-US" dirty="0"/>
              <a:t>T</a:t>
            </a:r>
            <a:r>
              <a:rPr dirty="0"/>
              <a:t>he full source code is on GitHub, so you can read the planner, change it, or even add your own solver.</a:t>
            </a:r>
          </a:p>
          <a:p>
            <a:endParaRPr dirty="0"/>
          </a:p>
          <a:p>
            <a:r>
              <a:rPr dirty="0"/>
              <a:t>Thanks so much for watching. Now go move some couches.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audio" Target="../media/media2.m4a"/><Relationship Id="rId7" Type="http://schemas.openxmlformats.org/officeDocument/2006/relationships/image" Target="../media/image3.png"/><Relationship Id="rId2" Type="http://schemas.microsoft.com/office/2007/relationships/media" Target="../media/media2.m4a"/><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notesSlide" Target="../notesSlides/notesSlide2.xml"/><Relationship Id="rId4"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2" Type="http://schemas.microsoft.com/office/2007/relationships/media" Target="../media/media3.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3.png"/><Relationship Id="rId5" Type="http://schemas.openxmlformats.org/officeDocument/2006/relationships/image" Target="../media/image13.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slideLayout" Target="../slideLayouts/slideLayout7.xml"/><Relationship Id="rId7" Type="http://schemas.openxmlformats.org/officeDocument/2006/relationships/hyperlink" Target="https://github.com/volcano1998/FurnitureSim_3D" TargetMode="Externa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hyperlink" Target="https://volcano1998.github.io/FurnitureSim_3D/slides/" TargetMode="External"/><Relationship Id="rId5" Type="http://schemas.openxmlformats.org/officeDocument/2006/relationships/hyperlink" Target="https://volcano1998.github.io/FurnitureSim_3D/" TargetMode="External"/><Relationship Id="rId4" Type="http://schemas.openxmlformats.org/officeDocument/2006/relationships/notesSlide" Target="../notesSlides/notesSlide16.xm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3594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MOTION PLANNING IN THE BROWSER</a:t>
            </a:r>
          </a:p>
        </p:txBody>
      </p:sp>
      <p:sp>
        <p:nvSpPr>
          <p:cNvPr id="3" name="TextBox 2"/>
          <p:cNvSpPr txBox="1"/>
          <p:nvPr/>
        </p:nvSpPr>
        <p:spPr>
          <a:xfrm>
            <a:off x="698500" y="1524000"/>
            <a:ext cx="6350000" cy="2413000"/>
          </a:xfrm>
          <a:prstGeom prst="rect">
            <a:avLst/>
          </a:prstGeom>
          <a:noFill/>
        </p:spPr>
        <p:txBody>
          <a:bodyPr wrap="square" lIns="0" tIns="0" rIns="0" bIns="0" anchor="t">
            <a:spAutoFit/>
          </a:bodyPr>
          <a:lstStyle/>
          <a:p>
            <a:pPr algn="l">
              <a:lnSpc>
                <a:spcPct val="90000"/>
              </a:lnSpc>
              <a:spcAft>
                <a:spcPts val="0"/>
              </a:spcAft>
            </a:pPr>
            <a:r>
              <a:rPr sz="8800" b="1" i="0">
                <a:solidFill>
                  <a:srgbClr val="EEF5F0"/>
                </a:solidFill>
                <a:latin typeface="Arial"/>
              </a:rPr>
              <a:t>Can It</a:t>
            </a:r>
          </a:p>
          <a:p>
            <a:pPr algn="l">
              <a:lnSpc>
                <a:spcPct val="90000"/>
              </a:lnSpc>
              <a:spcAft>
                <a:spcPts val="0"/>
              </a:spcAft>
            </a:pPr>
            <a:r>
              <a:rPr sz="8800" b="1" i="0">
                <a:solidFill>
                  <a:srgbClr val="D6EF5B"/>
                </a:solidFill>
                <a:latin typeface="Arial"/>
              </a:rPr>
              <a:t>Fit?</a:t>
            </a:r>
          </a:p>
        </p:txBody>
      </p:sp>
      <p:sp>
        <p:nvSpPr>
          <p:cNvPr id="4" name="TextBox 3"/>
          <p:cNvSpPr txBox="1"/>
          <p:nvPr/>
        </p:nvSpPr>
        <p:spPr>
          <a:xfrm>
            <a:off x="698500" y="4191000"/>
            <a:ext cx="5969000" cy="1397000"/>
          </a:xfrm>
          <a:prstGeom prst="rect">
            <a:avLst/>
          </a:prstGeom>
          <a:noFill/>
        </p:spPr>
        <p:txBody>
          <a:bodyPr wrap="square" lIns="0" tIns="0" rIns="0" bIns="0" anchor="t">
            <a:spAutoFit/>
          </a:bodyPr>
          <a:lstStyle/>
          <a:p>
            <a:pPr algn="l">
              <a:lnSpc>
                <a:spcPct val="120000"/>
              </a:lnSpc>
              <a:spcAft>
                <a:spcPts val="0"/>
              </a:spcAft>
            </a:pPr>
            <a:r>
              <a:rPr sz="1900" b="0" i="0" dirty="0">
                <a:solidFill>
                  <a:srgbClr val="B7CBC1"/>
                </a:solidFill>
                <a:latin typeface="Arial"/>
              </a:rPr>
              <a:t>Will the sofa make it through the hallway? Let's build the room, then let a robot-style planner figure it out — and learn how it thinks.</a:t>
            </a:r>
          </a:p>
        </p:txBody>
      </p:sp>
      <p:pic>
        <p:nvPicPr>
          <p:cNvPr id="8" name="Picture 7" descr="d1.png"/>
          <p:cNvPicPr>
            <a:picLocks noChangeAspect="1"/>
          </p:cNvPicPr>
          <p:nvPr/>
        </p:nvPicPr>
        <p:blipFill>
          <a:blip r:embed="rId5"/>
          <a:stretch>
            <a:fillRect/>
          </a:stretch>
        </p:blipFill>
        <p:spPr>
          <a:xfrm>
            <a:off x="6667500" y="1206500"/>
            <a:ext cx="4572000" cy="4572000"/>
          </a:xfrm>
          <a:prstGeom prst="rect">
            <a:avLst/>
          </a:prstGeom>
        </p:spPr>
      </p:pic>
      <p:pic>
        <p:nvPicPr>
          <p:cNvPr id="9" name="Picture 8" descr="When the couch looks at the staircase and realizes what’s about to happen.  😅, Narrow stairs, tight turns, and oversized furniture can turn moving day  into a challenge—but that’s exactly where ...">
            <a:extLst>
              <a:ext uri="{FF2B5EF4-FFF2-40B4-BE49-F238E27FC236}">
                <a16:creationId xmlns:a16="http://schemas.microsoft.com/office/drawing/2014/main" id="{60F272D0-55AF-F3CD-13B3-B80AD81D58D8}"/>
              </a:ext>
            </a:extLst>
          </p:cNvPr>
          <p:cNvPicPr>
            <a:picLocks noChangeAspect="1"/>
          </p:cNvPicPr>
          <p:nvPr/>
        </p:nvPicPr>
        <p:blipFill>
          <a:blip r:embed="rId6"/>
          <a:stretch>
            <a:fillRect/>
          </a:stretch>
        </p:blipFill>
        <p:spPr>
          <a:xfrm>
            <a:off x="7048500" y="0"/>
            <a:ext cx="3797780" cy="6769956"/>
          </a:xfrm>
          <a:prstGeom prst="rect">
            <a:avLst/>
          </a:prstGeom>
        </p:spPr>
      </p:pic>
      <p:pic>
        <p:nvPicPr>
          <p:cNvPr id="49" name="Audio 48">
            <a:extLst>
              <a:ext uri="{FF2B5EF4-FFF2-40B4-BE49-F238E27FC236}">
                <a16:creationId xmlns:a16="http://schemas.microsoft.com/office/drawing/2014/main" id="{572FA9DF-4DF6-79A5-23FC-0F7B2475611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4566"/>
    </mc:Choice>
    <mc:Fallback xmlns="">
      <p:transition spd="slow" advTm="345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5430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THE PROBLEM</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Moving a couch is a </a:t>
            </a:r>
            <a:r>
              <a:rPr sz="3800" b="1" i="0">
                <a:solidFill>
                  <a:srgbClr val="166B50"/>
                </a:solidFill>
                <a:latin typeface="Arial"/>
              </a:rPr>
              <a:t>6-dimensional</a:t>
            </a:r>
            <a:r>
              <a:rPr sz="3800" b="1" i="0">
                <a:solidFill>
                  <a:srgbClr val="17211D"/>
                </a:solidFill>
                <a:latin typeface="Arial"/>
              </a:rPr>
              <a:t> puzzle</a:t>
            </a:r>
          </a:p>
        </p:txBody>
      </p:sp>
      <p:sp>
        <p:nvSpPr>
          <p:cNvPr id="4" name="TextBox 3"/>
          <p:cNvSpPr txBox="1"/>
          <p:nvPr/>
        </p:nvSpPr>
        <p:spPr>
          <a:xfrm>
            <a:off x="698500" y="2095500"/>
            <a:ext cx="5080000" cy="3302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slides in </a:t>
            </a:r>
            <a:r>
              <a:rPr sz="1700" b="1" i="0" dirty="0">
                <a:solidFill>
                  <a:srgbClr val="17211D"/>
                </a:solidFill>
                <a:latin typeface="Arial"/>
              </a:rPr>
              <a:t>3</a:t>
            </a:r>
            <a:r>
              <a:rPr sz="1700" b="0" i="0" dirty="0">
                <a:solidFill>
                  <a:srgbClr val="17211D"/>
                </a:solidFill>
                <a:latin typeface="Arial"/>
              </a:rPr>
              <a:t> directions: x, y, z</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spins in </a:t>
            </a:r>
            <a:r>
              <a:rPr sz="1700" b="1" i="0" dirty="0">
                <a:solidFill>
                  <a:srgbClr val="17211D"/>
                </a:solidFill>
                <a:latin typeface="Arial"/>
              </a:rPr>
              <a:t>3</a:t>
            </a:r>
            <a:r>
              <a:rPr sz="1700" b="0" i="0" dirty="0">
                <a:solidFill>
                  <a:srgbClr val="17211D"/>
                </a:solidFill>
                <a:latin typeface="Arial"/>
              </a:rPr>
              <a:t> ways: yaw, pitch, roll</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Walls, corners and doorways don't care how clever you are</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"Does it fit?" really means: </a:t>
            </a:r>
            <a:r>
              <a:rPr sz="1700" b="1" i="0" dirty="0">
                <a:solidFill>
                  <a:srgbClr val="17211D"/>
                </a:solidFill>
                <a:latin typeface="Arial"/>
              </a:rPr>
              <a:t>is there a collision-free path through 6-D space?</a:t>
            </a:r>
          </a:p>
        </p:txBody>
      </p:sp>
      <p:pic>
        <p:nvPicPr>
          <p:cNvPr id="5" name="Picture 4" descr="d2.png"/>
          <p:cNvPicPr>
            <a:picLocks noChangeAspect="1"/>
          </p:cNvPicPr>
          <p:nvPr/>
        </p:nvPicPr>
        <p:blipFill>
          <a:blip r:embed="rId6"/>
          <a:stretch>
            <a:fillRect/>
          </a:stretch>
        </p:blipFill>
        <p:spPr>
          <a:xfrm>
            <a:off x="6096000" y="1905000"/>
            <a:ext cx="5397500" cy="3774939"/>
          </a:xfrm>
          <a:prstGeom prst="rect">
            <a:avLst/>
          </a:prstGeom>
        </p:spPr>
      </p:pic>
      <p:pic>
        <p:nvPicPr>
          <p:cNvPr id="77" name="Audio 76">
            <a:extLst>
              <a:ext uri="{FF2B5EF4-FFF2-40B4-BE49-F238E27FC236}">
                <a16:creationId xmlns:a16="http://schemas.microsoft.com/office/drawing/2014/main" id="{6AB69DEA-1D1E-4C37-85AF-6F87EEFAA331}"/>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737"/>
    </mc:Choice>
    <mc:Fallback xmlns="">
      <p:transition spd="slow" advTm="377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7" fill="hold" display="0">
                  <p:stCondLst>
                    <p:cond delay="indefinite"/>
                  </p:stCondLst>
                  <p:endCondLst>
                    <p:cond evt="onStopAudio" delay="0">
                      <p:tgtEl>
                        <p:sldTgt/>
                      </p:tgtEl>
                    </p:cond>
                  </p:endCondLst>
                </p:cTn>
                <p:tgtEl>
                  <p:spTgt spid="7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9748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WHAT YOU'LL SEE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One app, three ways to answer it</a:t>
            </a:r>
          </a:p>
        </p:txBody>
      </p:sp>
      <p:grpSp>
        <p:nvGrpSpPr>
          <p:cNvPr id="25" name="Group 24">
            <a:extLst>
              <a:ext uri="{FF2B5EF4-FFF2-40B4-BE49-F238E27FC236}">
                <a16:creationId xmlns:a16="http://schemas.microsoft.com/office/drawing/2014/main" id="{DA1D2B47-0F27-6219-F843-7778037EEA42}"/>
              </a:ext>
            </a:extLst>
          </p:cNvPr>
          <p:cNvGrpSpPr/>
          <p:nvPr/>
        </p:nvGrpSpPr>
        <p:grpSpPr>
          <a:xfrm>
            <a:off x="8196580" y="2095500"/>
            <a:ext cx="3429000" cy="2095500"/>
            <a:chOff x="698500" y="2095500"/>
            <a:chExt cx="3429000" cy="2095500"/>
          </a:xfrm>
        </p:grpSpPr>
        <p:sp>
          <p:nvSpPr>
            <p:cNvPr id="4" name="Rounded Rectangle 3"/>
            <p:cNvSpPr/>
            <p:nvPr/>
          </p:nvSpPr>
          <p:spPr>
            <a:xfrm>
              <a:off x="698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39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9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i="0" dirty="0">
                  <a:solidFill>
                    <a:srgbClr val="17211D"/>
                  </a:solidFill>
                  <a:latin typeface="Arial"/>
                </a:rPr>
                <a:t>Probabilistic solver</a:t>
              </a:r>
              <a:endParaRPr sz="2000" b="1" i="0" dirty="0">
                <a:solidFill>
                  <a:srgbClr val="17211D"/>
                </a:solidFill>
                <a:latin typeface="Arial"/>
              </a:endParaRPr>
            </a:p>
          </p:txBody>
        </p:sp>
        <p:sp>
          <p:nvSpPr>
            <p:cNvPr id="7" name="TextBox 6"/>
            <p:cNvSpPr txBox="1"/>
            <p:nvPr/>
          </p:nvSpPr>
          <p:spPr>
            <a:xfrm>
              <a:off x="939800" y="3048000"/>
              <a:ext cx="2952750" cy="243143"/>
            </a:xfrm>
            <a:prstGeom prst="rect">
              <a:avLst/>
            </a:prstGeom>
            <a:noFill/>
          </p:spPr>
          <p:txBody>
            <a:bodyPr wrap="square" lIns="0" tIns="0" rIns="0" bIns="0" anchor="t">
              <a:spAutoFit/>
            </a:bodyPr>
            <a:lstStyle/>
            <a:p>
              <a:pPr>
                <a:lnSpc>
                  <a:spcPct val="120000"/>
                </a:lnSpc>
              </a:pPr>
              <a:r>
                <a:rPr lang="en-US" sz="1450" dirty="0">
                  <a:solidFill>
                    <a:srgbClr val="5D6963"/>
                  </a:solidFill>
                  <a:latin typeface="Arial"/>
                </a:rPr>
                <a:t>RRT-Connect.</a:t>
              </a:r>
              <a:endParaRPr sz="1450" b="0" i="0" dirty="0">
                <a:solidFill>
                  <a:srgbClr val="5D6963"/>
                </a:solidFill>
                <a:latin typeface="Arial"/>
              </a:endParaRPr>
            </a:p>
          </p:txBody>
        </p:sp>
      </p:grpSp>
      <p:grpSp>
        <p:nvGrpSpPr>
          <p:cNvPr id="24" name="Group 23">
            <a:extLst>
              <a:ext uri="{FF2B5EF4-FFF2-40B4-BE49-F238E27FC236}">
                <a16:creationId xmlns:a16="http://schemas.microsoft.com/office/drawing/2014/main" id="{6397C192-1A80-1117-96B7-11AAAFB625F1}"/>
              </a:ext>
            </a:extLst>
          </p:cNvPr>
          <p:cNvGrpSpPr/>
          <p:nvPr/>
        </p:nvGrpSpPr>
        <p:grpSpPr>
          <a:xfrm>
            <a:off x="4381500" y="2095500"/>
            <a:ext cx="3429000" cy="2095500"/>
            <a:chOff x="4381500" y="2095500"/>
            <a:chExt cx="3429000" cy="2095500"/>
          </a:xfrm>
        </p:grpSpPr>
        <p:sp>
          <p:nvSpPr>
            <p:cNvPr id="8" name="Rounded Rectangle 7"/>
            <p:cNvSpPr/>
            <p:nvPr/>
          </p:nvSpPr>
          <p:spPr>
            <a:xfrm>
              <a:off x="4381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622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22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dirty="0">
                  <a:solidFill>
                    <a:srgbClr val="17211D"/>
                  </a:solidFill>
                  <a:latin typeface="Arial"/>
                </a:rPr>
                <a:t>Deterministic solver</a:t>
              </a:r>
              <a:endParaRPr sz="2000" b="1" i="0" dirty="0">
                <a:solidFill>
                  <a:srgbClr val="17211D"/>
                </a:solidFill>
                <a:latin typeface="Arial"/>
              </a:endParaRPr>
            </a:p>
          </p:txBody>
        </p:sp>
        <p:sp>
          <p:nvSpPr>
            <p:cNvPr id="11" name="TextBox 10"/>
            <p:cNvSpPr txBox="1"/>
            <p:nvPr/>
          </p:nvSpPr>
          <p:spPr>
            <a:xfrm>
              <a:off x="4622800" y="3048000"/>
              <a:ext cx="2952750" cy="510909"/>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a deterministic straight-shot heuristic.</a:t>
              </a:r>
            </a:p>
          </p:txBody>
        </p:sp>
      </p:grpSp>
      <p:grpSp>
        <p:nvGrpSpPr>
          <p:cNvPr id="23" name="Group 22">
            <a:extLst>
              <a:ext uri="{FF2B5EF4-FFF2-40B4-BE49-F238E27FC236}">
                <a16:creationId xmlns:a16="http://schemas.microsoft.com/office/drawing/2014/main" id="{6663DFEC-92F9-3C38-CA82-500AE93F7FB2}"/>
              </a:ext>
            </a:extLst>
          </p:cNvPr>
          <p:cNvGrpSpPr/>
          <p:nvPr/>
        </p:nvGrpSpPr>
        <p:grpSpPr>
          <a:xfrm>
            <a:off x="508000" y="2095500"/>
            <a:ext cx="3429000" cy="2095500"/>
            <a:chOff x="-330200" y="5655564"/>
            <a:chExt cx="3429000" cy="2095500"/>
          </a:xfrm>
        </p:grpSpPr>
        <p:sp>
          <p:nvSpPr>
            <p:cNvPr id="12" name="Rounded Rectangle 11"/>
            <p:cNvSpPr/>
            <p:nvPr/>
          </p:nvSpPr>
          <p:spPr>
            <a:xfrm>
              <a:off x="-330200" y="5655564"/>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8900" y="5922264"/>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900" y="6163564"/>
              <a:ext cx="2952750" cy="317500"/>
            </a:xfrm>
            <a:prstGeom prst="rect">
              <a:avLst/>
            </a:prstGeom>
            <a:noFill/>
          </p:spPr>
          <p:txBody>
            <a:bodyPr wrap="square" lIns="0" tIns="0" rIns="0" bIns="0" anchor="t">
              <a:spAutoFit/>
            </a:bodyPr>
            <a:lstStyle/>
            <a:p>
              <a:pPr algn="l">
                <a:lnSpc>
                  <a:spcPct val="112000"/>
                </a:lnSpc>
                <a:spcAft>
                  <a:spcPts val="0"/>
                </a:spcAft>
              </a:pPr>
              <a:r>
                <a:rPr sz="2000" b="1" i="0">
                  <a:solidFill>
                    <a:srgbClr val="17211D"/>
                  </a:solidFill>
                  <a:latin typeface="Arial"/>
                </a:rPr>
                <a:t>Manual mode</a:t>
              </a:r>
            </a:p>
          </p:txBody>
        </p:sp>
        <p:sp>
          <p:nvSpPr>
            <p:cNvPr id="15" name="TextBox 14"/>
            <p:cNvSpPr txBox="1"/>
            <p:nvPr/>
          </p:nvSpPr>
          <p:spPr>
            <a:xfrm>
              <a:off x="-88900" y="6608064"/>
              <a:ext cx="2952750" cy="1079500"/>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Hold </a:t>
              </a:r>
              <a:r>
                <a:rPr sz="1450" b="1" i="0" dirty="0">
                  <a:solidFill>
                    <a:srgbClr val="5D6963"/>
                  </a:solidFill>
                  <a:latin typeface="Courier New"/>
                </a:rPr>
                <a:t>M</a:t>
              </a:r>
              <a:r>
                <a:rPr sz="1450" b="0" i="0" dirty="0">
                  <a:solidFill>
                    <a:srgbClr val="5D6963"/>
                  </a:solidFill>
                  <a:latin typeface="Arial"/>
                </a:rPr>
                <a:t>, drag the furniture yourself. The app tells you when you collide.</a:t>
              </a:r>
            </a:p>
          </p:txBody>
        </p:sp>
      </p:grpSp>
      <p:sp>
        <p:nvSpPr>
          <p:cNvPr id="16" name="Rounded Rectangle 15"/>
          <p:cNvSpPr/>
          <p:nvPr/>
        </p:nvSpPr>
        <p:spPr>
          <a:xfrm>
            <a:off x="69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1  Build</a:t>
            </a:r>
          </a:p>
        </p:txBody>
      </p:sp>
      <p:sp>
        <p:nvSpPr>
          <p:cNvPr id="17" name="Right Arrow 16"/>
          <p:cNvSpPr/>
          <p:nvPr/>
        </p:nvSpPr>
        <p:spPr>
          <a:xfrm>
            <a:off x="208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413000" y="4826000"/>
            <a:ext cx="1714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2  Entrance &amp; exit</a:t>
            </a:r>
          </a:p>
        </p:txBody>
      </p:sp>
      <p:sp>
        <p:nvSpPr>
          <p:cNvPr id="19" name="Right Arrow 18"/>
          <p:cNvSpPr/>
          <p:nvPr/>
        </p:nvSpPr>
        <p:spPr>
          <a:xfrm>
            <a:off x="41783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0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3  Furniture</a:t>
            </a:r>
          </a:p>
        </p:txBody>
      </p:sp>
      <p:sp>
        <p:nvSpPr>
          <p:cNvPr id="21" name="Right Arrow 20"/>
          <p:cNvSpPr/>
          <p:nvPr/>
        </p:nvSpPr>
        <p:spPr>
          <a:xfrm>
            <a:off x="589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30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4  Solve</a:t>
            </a:r>
          </a:p>
        </p:txBody>
      </p:sp>
      <p:pic>
        <p:nvPicPr>
          <p:cNvPr id="104" name="Audio 103">
            <a:extLst>
              <a:ext uri="{FF2B5EF4-FFF2-40B4-BE49-F238E27FC236}">
                <a16:creationId xmlns:a16="http://schemas.microsoft.com/office/drawing/2014/main" id="{7D285E8D-20C1-D9EC-A818-95B43006E65C}"/>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300"/>
    </mc:Choice>
    <mc:Fallback xmlns="">
      <p:transition spd="slow" advTm="33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104"/>
                </p:tgtEl>
              </p:cMediaNode>
            </p:audio>
          </p:childTnLst>
        </p:cTn>
      </p:par>
    </p:tnLst>
    <p:bldLst>
      <p:bldP spid="16" grpId="0" animBg="1"/>
      <p:bldP spid="17" grpId="0" animBg="1"/>
      <p:bldP spid="18" grpId="0" animBg="1"/>
      <p:bldP spid="19" grpId="0" animBg="1"/>
      <p:bldP spid="20" grpId="0" animBg="1"/>
      <p:bldP spid="21"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Build the room</a:t>
            </a:r>
          </a:p>
        </p:txBody>
      </p:sp>
      <p:sp>
        <p:nvSpPr>
          <p:cNvPr id="4" name="TextBox 3"/>
          <p:cNvSpPr txBox="1"/>
          <p:nvPr/>
        </p:nvSpPr>
        <p:spPr>
          <a:xfrm>
            <a:off x="698500" y="2032000"/>
            <a:ext cx="4064000" cy="3175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Drag the </a:t>
            </a:r>
            <a:r>
              <a:rPr sz="1600" b="1" i="0">
                <a:solidFill>
                  <a:srgbClr val="17211D"/>
                </a:solidFill>
                <a:latin typeface="Arial"/>
              </a:rPr>
              <a:t>A / B / C length</a:t>
            </a:r>
            <a:r>
              <a:rPr sz="1600" b="0" i="0">
                <a:solidFill>
                  <a:srgbClr val="17211D"/>
                </a:solidFill>
                <a:latin typeface="Arial"/>
              </a:rPr>
              <a:t> sliders. Try </a:t>
            </a:r>
            <a:r>
              <a:rPr sz="1600" b="1" i="0">
                <a:solidFill>
                  <a:srgbClr val="17211D"/>
                </a:solidFill>
                <a:latin typeface="Courier New"/>
              </a:rPr>
              <a:t>8 · 2.4 · 2.4</a:t>
            </a:r>
            <a:r>
              <a:rPr sz="1600" b="0" i="0">
                <a:solidFill>
                  <a:srgbClr val="17211D"/>
                </a:solidFill>
                <a:latin typeface="Arial"/>
              </a:rPr>
              <a:t> — instant hallway.</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Change the </a:t>
            </a:r>
            <a:r>
              <a:rPr sz="1600" b="1" i="0">
                <a:solidFill>
                  <a:srgbClr val="17211D"/>
                </a:solidFill>
                <a:latin typeface="Arial"/>
              </a:rPr>
              <a:t>angles</a:t>
            </a:r>
            <a:r>
              <a:rPr sz="1600" b="0" i="0">
                <a:solidFill>
                  <a:srgbClr val="17211D"/>
                </a:solidFill>
                <a:latin typeface="Arial"/>
              </a:rPr>
              <a:t> to skew it, or hit the </a:t>
            </a:r>
            <a:r>
              <a:rPr sz="1600" b="1" i="0">
                <a:solidFill>
                  <a:srgbClr val="17211D"/>
                </a:solidFill>
                <a:latin typeface="Arial"/>
              </a:rPr>
              <a:t>45° two-face box</a:t>
            </a:r>
            <a:r>
              <a:rPr sz="1600" b="0" i="0">
                <a:solidFill>
                  <a:srgbClr val="17211D"/>
                </a:solidFill>
                <a:latin typeface="Arial"/>
              </a:rPr>
              <a:t> template.</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Need a turn? </a:t>
            </a:r>
            <a:r>
              <a:rPr sz="1600" b="1" i="0">
                <a:solidFill>
                  <a:srgbClr val="17211D"/>
                </a:solidFill>
                <a:latin typeface="Arial"/>
              </a:rPr>
              <a:t>+ Add object</a:t>
            </a:r>
            <a:r>
              <a:rPr sz="1600" b="0" i="0">
                <a:solidFill>
                  <a:srgbClr val="17211D"/>
                </a:solidFill>
                <a:latin typeface="Arial"/>
              </a:rPr>
              <a:t> → </a:t>
            </a:r>
            <a:r>
              <a:rPr sz="1600" b="1" i="0">
                <a:solidFill>
                  <a:srgbClr val="17211D"/>
                </a:solidFill>
                <a:latin typeface="Arial"/>
              </a:rPr>
              <a:t>Connect two objects</a:t>
            </a:r>
            <a:r>
              <a:rPr sz="1600" b="0" i="0">
                <a:solidFill>
                  <a:srgbClr val="17211D"/>
                </a:solidFill>
                <a:latin typeface="Arial"/>
              </a:rPr>
              <a:t> → click a face on each.</a:t>
            </a:r>
          </a:p>
        </p:txBody>
      </p:sp>
      <p:sp>
        <p:nvSpPr>
          <p:cNvPr id="5" name="Rounded Rectangle 4"/>
          <p:cNvSpPr/>
          <p:nvPr/>
        </p:nvSpPr>
        <p:spPr>
          <a:xfrm>
            <a:off x="698500" y="4699000"/>
            <a:ext cx="4064000" cy="952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Every room is a box: </a:t>
            </a:r>
            <a:r>
              <a:rPr sz="1400" b="1" i="0">
                <a:solidFill>
                  <a:srgbClr val="D6EF5B"/>
                </a:solidFill>
                <a:latin typeface="Arial"/>
              </a:rPr>
              <a:t>O + s·A + t·B + u·C</a:t>
            </a:r>
            <a:r>
              <a:rPr sz="1400" b="0" i="0">
                <a:solidFill>
                  <a:srgbClr val="EAF5EE"/>
                </a:solidFill>
                <a:latin typeface="Arial"/>
              </a:rPr>
              <a:t>, with s, t, u from 0 to 1. Turn on </a:t>
            </a:r>
            <a:r>
              <a:rPr sz="1400" b="1" i="0">
                <a:solidFill>
                  <a:srgbClr val="D6EF5B"/>
                </a:solidFill>
                <a:latin typeface="Arial"/>
              </a:rPr>
              <a:t>vector labels</a:t>
            </a:r>
            <a:r>
              <a:rPr sz="1400" b="0" i="0">
                <a:solidFill>
                  <a:srgbClr val="EAF5EE"/>
                </a:solidFill>
                <a:latin typeface="Arial"/>
              </a:rPr>
              <a:t> to see A, B, C.</a:t>
            </a:r>
          </a:p>
        </p:txBody>
      </p:sp>
      <p:pic>
        <p:nvPicPr>
          <p:cNvPr id="6" name="Picture 5" descr="s1b-labels.jpg"/>
          <p:cNvPicPr>
            <a:picLocks noChangeAspect="1"/>
          </p:cNvPicPr>
          <p:nvPr/>
        </p:nvPicPr>
        <p:blipFill>
          <a:blip r:embed="rId3"/>
          <a:stretch>
            <a:fillRect/>
          </a:stretch>
        </p:blipFill>
        <p:spPr>
          <a:xfrm>
            <a:off x="5080000" y="1905000"/>
            <a:ext cx="6413500" cy="4008438"/>
          </a:xfrm>
          <a:prstGeom prst="rect">
            <a:avLst/>
          </a:prstGeom>
          <a:ln w="12700">
            <a:solidFill>
              <a:srgbClr val="CFD8D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2</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Choose the entrance &amp; exit</a:t>
            </a:r>
          </a:p>
        </p:txBody>
      </p:sp>
      <p:sp>
        <p:nvSpPr>
          <p:cNvPr id="4" name="TextBox 3"/>
          <p:cNvSpPr txBox="1"/>
          <p:nvPr/>
        </p:nvSpPr>
        <p:spPr>
          <a:xfrm>
            <a:off x="698500" y="2032000"/>
            <a:ext cx="4064000" cy="3175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Press </a:t>
            </a:r>
            <a:r>
              <a:rPr sz="1600" b="1" i="0">
                <a:solidFill>
                  <a:srgbClr val="17211D"/>
                </a:solidFill>
                <a:latin typeface="Arial"/>
              </a:rPr>
              <a:t>Pick faces in 3D view</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Click an outside wall: first the </a:t>
            </a:r>
            <a:r>
              <a:rPr sz="1600" b="1" i="0">
                <a:solidFill>
                  <a:srgbClr val="2F9A5E"/>
                </a:solidFill>
                <a:latin typeface="Arial"/>
              </a:rPr>
              <a:t>entrance</a:t>
            </a:r>
            <a:r>
              <a:rPr sz="1600" b="0" i="0">
                <a:solidFill>
                  <a:srgbClr val="17211D"/>
                </a:solidFill>
                <a:latin typeface="Arial"/>
              </a:rPr>
              <a:t>, then the </a:t>
            </a:r>
            <a:r>
              <a:rPr sz="1600" b="1" i="0">
                <a:solidFill>
                  <a:srgbClr val="D97F1A"/>
                </a:solidFill>
                <a:latin typeface="Arial"/>
              </a:rPr>
              <a:t>exit</a:t>
            </a:r>
            <a:r>
              <a:rPr sz="1600" b="0" i="0">
                <a:solidFill>
                  <a:srgbClr val="17211D"/>
                </a:solidFill>
                <a:latin typeface="Arial"/>
              </a:rPr>
              <a:t>. (Or use the dropdowns.)</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Press </a:t>
            </a:r>
            <a:r>
              <a:rPr sz="1600" b="1" i="0">
                <a:solidFill>
                  <a:srgbClr val="17211D"/>
                </a:solidFill>
                <a:latin typeface="Arial"/>
              </a:rPr>
              <a:t>Confirm 3D model</a:t>
            </a:r>
            <a:r>
              <a:rPr sz="1600" b="0" i="0">
                <a:solidFill>
                  <a:srgbClr val="17211D"/>
                </a:solidFill>
                <a:latin typeface="Arial"/>
              </a:rPr>
              <a:t> — the room locks.</a:t>
            </a:r>
          </a:p>
        </p:txBody>
      </p:sp>
      <p:sp>
        <p:nvSpPr>
          <p:cNvPr id="5" name="Rounded Rectangle 4"/>
          <p:cNvSpPr/>
          <p:nvPr/>
        </p:nvSpPr>
        <p:spPr>
          <a:xfrm>
            <a:off x="698500" y="4445000"/>
            <a:ext cx="4064000" cy="1206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a:solidFill>
                  <a:srgbClr val="D6EF5B"/>
                </a:solidFill>
                <a:latin typeface="Arial"/>
              </a:rPr>
              <a:t>Only these two faces are doorways.</a:t>
            </a:r>
            <a:r>
              <a:rPr sz="1400" b="0" i="0">
                <a:solidFill>
                  <a:srgbClr val="EAF5EE"/>
                </a:solidFill>
                <a:latin typeface="Arial"/>
              </a:rPr>
              <a:t> Every other wall stays solid — the furniture can't cheat through them.</a:t>
            </a:r>
          </a:p>
        </p:txBody>
      </p:sp>
      <p:pic>
        <p:nvPicPr>
          <p:cNvPr id="6" name="Picture 5" descr="s2-openings.jpg"/>
          <p:cNvPicPr>
            <a:picLocks noChangeAspect="1"/>
          </p:cNvPicPr>
          <p:nvPr/>
        </p:nvPicPr>
        <p:blipFill>
          <a:blip r:embed="rId3"/>
          <a:stretch>
            <a:fillRect/>
          </a:stretch>
        </p:blipFill>
        <p:spPr>
          <a:xfrm>
            <a:off x="5080000" y="1905000"/>
            <a:ext cx="6413500" cy="4008438"/>
          </a:xfrm>
          <a:prstGeom prst="rect">
            <a:avLst/>
          </a:prstGeom>
          <a:ln w="12700">
            <a:solidFill>
              <a:srgbClr val="CFD8D1"/>
            </a:solidFill>
          </a:ln>
        </p:spPr>
      </p:pic>
      <p:pic>
        <p:nvPicPr>
          <p:cNvPr id="7" name="Picture 6" descr="s2-openings.jpg"/>
          <p:cNvPicPr>
            <a:picLocks noChangeAspect="1"/>
          </p:cNvPicPr>
          <p:nvPr/>
        </p:nvPicPr>
        <p:blipFill>
          <a:blip r:embed="rId3"/>
          <a:srcRect l="74074" t="35556" r="463" b="25185"/>
          <a:stretch>
            <a:fillRect/>
          </a:stretch>
        </p:blipFill>
        <p:spPr>
          <a:xfrm>
            <a:off x="9048750" y="3551237"/>
            <a:ext cx="2305050" cy="2222500"/>
          </a:xfrm>
          <a:prstGeom prst="rect">
            <a:avLst/>
          </a:prstGeom>
          <a:ln w="28575">
            <a:solidFill>
              <a:srgbClr val="166B50"/>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Describe the furniture</a:t>
            </a:r>
          </a:p>
        </p:txBody>
      </p:sp>
      <p:sp>
        <p:nvSpPr>
          <p:cNvPr id="4" name="TextBox 3"/>
          <p:cNvSpPr txBox="1"/>
          <p:nvPr/>
        </p:nvSpPr>
        <p:spPr>
          <a:xfrm>
            <a:off x="698500" y="2032000"/>
            <a:ext cx="4064000" cy="3175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Enter </a:t>
            </a:r>
            <a:r>
              <a:rPr sz="1600" b="1" i="0">
                <a:solidFill>
                  <a:srgbClr val="17211D"/>
                </a:solidFill>
                <a:latin typeface="Arial"/>
              </a:rPr>
              <a:t>Length · Width · Height</a:t>
            </a:r>
            <a:r>
              <a:rPr sz="1600" b="0" i="0">
                <a:solidFill>
                  <a:srgbClr val="17211D"/>
                </a:solidFill>
                <a:latin typeface="Arial"/>
              </a:rPr>
              <a:t>. Try </a:t>
            </a:r>
            <a:r>
              <a:rPr sz="1600" b="1" i="0">
                <a:solidFill>
                  <a:srgbClr val="17211D"/>
                </a:solidFill>
                <a:latin typeface="Courier New"/>
              </a:rPr>
              <a:t>2.5 · 1.2 · 1.2</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The </a:t>
            </a:r>
            <a:r>
              <a:rPr sz="1600" b="1" i="0">
                <a:solidFill>
                  <a:srgbClr val="2F9A5E"/>
                </a:solidFill>
                <a:latin typeface="Arial"/>
              </a:rPr>
              <a:t>green box</a:t>
            </a:r>
            <a:r>
              <a:rPr sz="1600" b="0" i="0">
                <a:solidFill>
                  <a:srgbClr val="17211D"/>
                </a:solidFill>
                <a:latin typeface="Arial"/>
              </a:rPr>
              <a:t> is your furniture, parked beside the room. </a:t>
            </a:r>
            <a:r>
              <a:rPr sz="1600" b="1" i="0">
                <a:solidFill>
                  <a:srgbClr val="17211D"/>
                </a:solidFill>
                <a:latin typeface="Arial"/>
              </a:rPr>
              <a:t>Show furniture in 3D view</a:t>
            </a:r>
            <a:r>
              <a:rPr sz="1600" b="0" i="0">
                <a:solidFill>
                  <a:srgbClr val="17211D"/>
                </a:solidFill>
                <a:latin typeface="Arial"/>
              </a:rPr>
              <a:t> to focus it.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Set </a:t>
            </a:r>
            <a:r>
              <a:rPr sz="1600" b="1" i="0">
                <a:solidFill>
                  <a:srgbClr val="17211D"/>
                </a:solidFill>
                <a:latin typeface="Arial"/>
              </a:rPr>
              <a:t>Clearance</a:t>
            </a:r>
            <a:r>
              <a:rPr sz="1600" b="0" i="0">
                <a:solidFill>
                  <a:srgbClr val="17211D"/>
                </a:solidFill>
                <a:latin typeface="Arial"/>
              </a:rPr>
              <a:t> (</a:t>
            </a:r>
            <a:r>
              <a:rPr sz="1600" b="1" i="0">
                <a:solidFill>
                  <a:srgbClr val="17211D"/>
                </a:solidFill>
                <a:latin typeface="Courier New"/>
              </a:rPr>
              <a:t>0.1</a:t>
            </a:r>
            <a:r>
              <a:rPr sz="1600" b="0" i="0">
                <a:solidFill>
                  <a:srgbClr val="17211D"/>
                </a:solidFill>
                <a:latin typeface="Arial"/>
              </a:rPr>
              <a:t>) — a safety margin around every side.</a:t>
            </a:r>
          </a:p>
        </p:txBody>
      </p:sp>
      <p:sp>
        <p:nvSpPr>
          <p:cNvPr id="5" name="Rounded Rectangle 4"/>
          <p:cNvSpPr/>
          <p:nvPr/>
        </p:nvSpPr>
        <p:spPr>
          <a:xfrm>
            <a:off x="698500" y="4699000"/>
            <a:ext cx="4064000" cy="952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0" i="0">
                <a:solidFill>
                  <a:srgbClr val="EAF5EE"/>
                </a:solidFill>
                <a:latin typeface="Arial"/>
              </a:rPr>
              <a:t>Furniture is one rigid box. Clearance </a:t>
            </a:r>
            <a:r>
              <a:rPr sz="1400" b="1" i="0">
                <a:solidFill>
                  <a:srgbClr val="D6EF5B"/>
                </a:solidFill>
                <a:latin typeface="Arial"/>
              </a:rPr>
              <a:t>grows the box</a:t>
            </a:r>
            <a:r>
              <a:rPr sz="1400" b="0" i="0">
                <a:solidFill>
                  <a:srgbClr val="EAF5EE"/>
                </a:solidFill>
                <a:latin typeface="Arial"/>
              </a:rPr>
              <a:t> in every direction before any collision check.</a:t>
            </a:r>
          </a:p>
        </p:txBody>
      </p:sp>
      <p:pic>
        <p:nvPicPr>
          <p:cNvPr id="6" name="Picture 5" descr="s3-furniture.jpg"/>
          <p:cNvPicPr>
            <a:picLocks noChangeAspect="1"/>
          </p:cNvPicPr>
          <p:nvPr/>
        </p:nvPicPr>
        <p:blipFill>
          <a:blip r:embed="rId3"/>
          <a:stretch>
            <a:fillRect/>
          </a:stretch>
        </p:blipFill>
        <p:spPr>
          <a:xfrm>
            <a:off x="5080000" y="1905000"/>
            <a:ext cx="6413500" cy="4008438"/>
          </a:xfrm>
          <a:prstGeom prst="rect">
            <a:avLst/>
          </a:prstGeom>
          <a:ln w="12700">
            <a:solidFill>
              <a:srgbClr val="CFD8D1"/>
            </a:solidFill>
          </a:ln>
        </p:spPr>
      </p:pic>
      <p:pic>
        <p:nvPicPr>
          <p:cNvPr id="7" name="Picture 6" descr="s3-furniture.jpg"/>
          <p:cNvPicPr>
            <a:picLocks noChangeAspect="1"/>
          </p:cNvPicPr>
          <p:nvPr/>
        </p:nvPicPr>
        <p:blipFill>
          <a:blip r:embed="rId3"/>
          <a:srcRect l="74074" t="37037" r="463" b="35556"/>
          <a:stretch>
            <a:fillRect/>
          </a:stretch>
        </p:blipFill>
        <p:spPr>
          <a:xfrm>
            <a:off x="9048750" y="4224337"/>
            <a:ext cx="2305050" cy="1549400"/>
          </a:xfrm>
          <a:prstGeom prst="rect">
            <a:avLst/>
          </a:prstGeom>
          <a:ln w="28575">
            <a:solidFill>
              <a:srgbClr val="166B50"/>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4A</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Try it yourself first</a:t>
            </a:r>
          </a:p>
        </p:txBody>
      </p:sp>
      <p:sp>
        <p:nvSpPr>
          <p:cNvPr id="4" name="TextBox 3"/>
          <p:cNvSpPr txBox="1"/>
          <p:nvPr/>
        </p:nvSpPr>
        <p:spPr>
          <a:xfrm>
            <a:off x="698500" y="2032000"/>
            <a:ext cx="4064000" cy="3175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600" b="1" i="0">
                <a:solidFill>
                  <a:srgbClr val="17211D"/>
                </a:solidFill>
                <a:latin typeface="Arial"/>
              </a:rPr>
              <a:t>Try manually</a:t>
            </a:r>
            <a:r>
              <a:rPr sz="1600" b="0" i="0">
                <a:solidFill>
                  <a:srgbClr val="17211D"/>
                </a:solidFill>
                <a:latin typeface="Arial"/>
              </a:rPr>
              <a:t> — the furniture starts fully outside the entrance.</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Hold </a:t>
            </a:r>
            <a:r>
              <a:rPr sz="1600" b="1" i="0">
                <a:solidFill>
                  <a:srgbClr val="17211D"/>
                </a:solidFill>
                <a:latin typeface="Courier New"/>
              </a:rPr>
              <a:t>M</a:t>
            </a:r>
            <a:r>
              <a:rPr sz="1600" b="0" i="0">
                <a:solidFill>
                  <a:srgbClr val="17211D"/>
                </a:solidFill>
                <a:latin typeface="Arial"/>
              </a:rPr>
              <a:t> and drag. Use the sliders for </a:t>
            </a:r>
            <a:r>
              <a:rPr sz="1600" b="1" i="0">
                <a:solidFill>
                  <a:srgbClr val="17211D"/>
                </a:solidFill>
                <a:latin typeface="Arial"/>
              </a:rPr>
              <a:t>height</a:t>
            </a:r>
            <a:r>
              <a:rPr sz="1600" b="0" i="0">
                <a:solidFill>
                  <a:srgbClr val="17211D"/>
                </a:solidFill>
                <a:latin typeface="Arial"/>
              </a:rPr>
              <a:t>, </a:t>
            </a:r>
            <a:r>
              <a:rPr sz="1600" b="1" i="0">
                <a:solidFill>
                  <a:srgbClr val="17211D"/>
                </a:solidFill>
                <a:latin typeface="Arial"/>
              </a:rPr>
              <a:t>yaw</a:t>
            </a:r>
            <a:r>
              <a:rPr sz="1600" b="0" i="0">
                <a:solidFill>
                  <a:srgbClr val="17211D"/>
                </a:solidFill>
                <a:latin typeface="Arial"/>
              </a:rPr>
              <a:t>, </a:t>
            </a:r>
            <a:r>
              <a:rPr sz="1600" b="1" i="0">
                <a:solidFill>
                  <a:srgbClr val="17211D"/>
                </a:solidFill>
                <a:latin typeface="Arial"/>
              </a:rPr>
              <a:t>pitch</a:t>
            </a:r>
            <a:r>
              <a:rPr sz="1600" b="0" i="0">
                <a:solidFill>
                  <a:srgbClr val="17211D"/>
                </a:solidFill>
                <a:latin typeface="Arial"/>
              </a:rPr>
              <a:t>, </a:t>
            </a:r>
            <a:r>
              <a:rPr sz="1600" b="1" i="0">
                <a:solidFill>
                  <a:srgbClr val="17211D"/>
                </a:solidFill>
                <a:latin typeface="Arial"/>
              </a:rPr>
              <a:t>roll</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Stuck at a corner? </a:t>
            </a:r>
            <a:r>
              <a:rPr sz="1600" b="1" i="0">
                <a:solidFill>
                  <a:srgbClr val="17211D"/>
                </a:solidFill>
                <a:latin typeface="Arial"/>
              </a:rPr>
              <a:t>Auto Pilot</a:t>
            </a:r>
            <a:r>
              <a:rPr sz="1600" b="0" i="0">
                <a:solidFill>
                  <a:srgbClr val="17211D"/>
                </a:solidFill>
                <a:latin typeface="Arial"/>
              </a:rPr>
              <a:t>: click a furniture edge, then a room edge — they snap parallel.</a:t>
            </a:r>
          </a:p>
        </p:txBody>
      </p:sp>
      <p:sp>
        <p:nvSpPr>
          <p:cNvPr id="5" name="TextBox 4"/>
          <p:cNvSpPr txBox="1"/>
          <p:nvPr/>
        </p:nvSpPr>
        <p:spPr>
          <a:xfrm>
            <a:off x="698500" y="4381500"/>
            <a:ext cx="4064000" cy="254000"/>
          </a:xfrm>
          <a:prstGeom prst="rect">
            <a:avLst/>
          </a:prstGeom>
          <a:noFill/>
        </p:spPr>
        <p:txBody>
          <a:bodyPr wrap="square" lIns="0" tIns="0" rIns="0" bIns="0" anchor="t">
            <a:spAutoFit/>
          </a:bodyPr>
          <a:lstStyle/>
          <a:p>
            <a:pPr algn="l">
              <a:lnSpc>
                <a:spcPct val="112000"/>
              </a:lnSpc>
              <a:spcAft>
                <a:spcPts val="0"/>
              </a:spcAft>
            </a:pPr>
            <a:r>
              <a:rPr sz="1250" b="1" i="0">
                <a:solidFill>
                  <a:srgbClr val="2F9A5E"/>
                </a:solidFill>
                <a:latin typeface="Arial"/>
              </a:rPr>
              <a:t>■ inside, legal</a:t>
            </a:r>
            <a:r>
              <a:rPr sz="1250" b="1" i="0">
                <a:solidFill>
                  <a:srgbClr val="B08A1E"/>
                </a:solidFill>
                <a:latin typeface="Arial"/>
              </a:rPr>
              <a:t>     ■ outside     </a:t>
            </a:r>
            <a:r>
              <a:rPr sz="1250" b="1" i="0">
                <a:solidFill>
                  <a:srgbClr val="D94D45"/>
                </a:solidFill>
                <a:latin typeface="Arial"/>
              </a:rPr>
              <a:t>■ collision</a:t>
            </a:r>
          </a:p>
        </p:txBody>
      </p:sp>
      <p:sp>
        <p:nvSpPr>
          <p:cNvPr id="6" name="Rounded Rectangle 5"/>
          <p:cNvSpPr/>
          <p:nvPr/>
        </p:nvSpPr>
        <p:spPr>
          <a:xfrm>
            <a:off x="698500" y="4762500"/>
            <a:ext cx="4064000" cy="889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a:solidFill>
                  <a:srgbClr val="D6EF5B"/>
                </a:solidFill>
                <a:latin typeface="Arial"/>
              </a:rPr>
              <a:t>You win</a:t>
            </a:r>
            <a:r>
              <a:rPr sz="1400" b="0" i="0">
                <a:solidFill>
                  <a:srgbClr val="EAF5EE"/>
                </a:solidFill>
                <a:latin typeface="Arial"/>
              </a:rPr>
              <a:t> when the furniture passes completely through the exit — a pop-up tells you.</a:t>
            </a:r>
          </a:p>
        </p:txBody>
      </p:sp>
      <p:pic>
        <p:nvPicPr>
          <p:cNvPr id="7" name="Picture 6" descr="s4-manual.jpg"/>
          <p:cNvPicPr>
            <a:picLocks noChangeAspect="1"/>
          </p:cNvPicPr>
          <p:nvPr/>
        </p:nvPicPr>
        <p:blipFill>
          <a:blip r:embed="rId3"/>
          <a:stretch>
            <a:fillRect/>
          </a:stretch>
        </p:blipFill>
        <p:spPr>
          <a:xfrm>
            <a:off x="5080000" y="1905000"/>
            <a:ext cx="6413500" cy="4008438"/>
          </a:xfrm>
          <a:prstGeom prst="rect">
            <a:avLst/>
          </a:prstGeom>
          <a:ln w="12700">
            <a:solidFill>
              <a:srgbClr val="CFD8D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HANDS-ON · STEP 4B</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Now let the solver try</a:t>
            </a:r>
          </a:p>
        </p:txBody>
      </p:sp>
      <p:sp>
        <p:nvSpPr>
          <p:cNvPr id="4" name="TextBox 3"/>
          <p:cNvSpPr txBox="1"/>
          <p:nvPr/>
        </p:nvSpPr>
        <p:spPr>
          <a:xfrm>
            <a:off x="698500" y="2032000"/>
            <a:ext cx="4064000" cy="3175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Pick </a:t>
            </a:r>
            <a:r>
              <a:rPr sz="1600" b="1" i="0">
                <a:solidFill>
                  <a:srgbClr val="17211D"/>
                </a:solidFill>
                <a:latin typeface="Arial"/>
              </a:rPr>
              <a:t>RRT-Connect</a:t>
            </a:r>
            <a:r>
              <a:rPr sz="1600" b="0" i="0">
                <a:solidFill>
                  <a:srgbClr val="17211D"/>
                </a:solidFill>
                <a:latin typeface="Arial"/>
              </a:rPr>
              <a:t> or </a:t>
            </a:r>
            <a:r>
              <a:rPr sz="1600" b="1" i="0">
                <a:solidFill>
                  <a:srgbClr val="17211D"/>
                </a:solidFill>
                <a:latin typeface="Arial"/>
              </a:rPr>
              <a:t>Heuristic</a:t>
            </a:r>
            <a:r>
              <a:rPr sz="1600" b="0" i="0">
                <a:solidFill>
                  <a:srgbClr val="17211D"/>
                </a:solidFill>
                <a:latin typeface="Arial"/>
              </a:rPr>
              <a:t>, then </a:t>
            </a:r>
            <a:r>
              <a:rPr sz="1600" b="1" i="0">
                <a:solidFill>
                  <a:srgbClr val="17211D"/>
                </a:solidFill>
                <a:latin typeface="Arial"/>
              </a:rPr>
              <a:t>Run selected solver</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A pop-up gives the verdict: </a:t>
            </a:r>
            <a:r>
              <a:rPr sz="1600" b="1" i="0">
                <a:solidFill>
                  <a:srgbClr val="2F9A5E"/>
                </a:solidFill>
                <a:latin typeface="Arial"/>
              </a:rPr>
              <a:t>It fits!</a:t>
            </a:r>
            <a:r>
              <a:rPr sz="1600" b="0" i="0">
                <a:solidFill>
                  <a:srgbClr val="17211D"/>
                </a:solidFill>
                <a:latin typeface="Arial"/>
              </a:rPr>
              <a:t> or </a:t>
            </a:r>
            <a:r>
              <a:rPr sz="1600" b="1" i="0">
                <a:solidFill>
                  <a:srgbClr val="D94D45"/>
                </a:solidFill>
                <a:latin typeface="Arial"/>
              </a:rPr>
              <a:t>No route</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Scrub the timeline. Colours: green clear, yellow tight, red collision.</a:t>
            </a:r>
          </a:p>
        </p:txBody>
      </p:sp>
      <p:sp>
        <p:nvSpPr>
          <p:cNvPr id="5" name="Rounded Rectangle 4"/>
          <p:cNvSpPr/>
          <p:nvPr/>
        </p:nvSpPr>
        <p:spPr>
          <a:xfrm>
            <a:off x="698500" y="4699000"/>
            <a:ext cx="4064000" cy="952500"/>
          </a:xfrm>
          <a:prstGeom prst="roundRect">
            <a:avLst>
              <a:gd name="adj" fmla="val 14000"/>
            </a:avLst>
          </a:prstGeom>
          <a:solidFill>
            <a:srgbClr val="3A1F1B"/>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a:solidFill>
                  <a:srgbClr val="FFB4A8"/>
                </a:solidFill>
                <a:latin typeface="Arial"/>
              </a:rPr>
              <a:t>Failed?</a:t>
            </a:r>
            <a:r>
              <a:rPr sz="1400" b="0" i="0">
                <a:solidFill>
                  <a:srgbClr val="EAF5EE"/>
                </a:solidFill>
                <a:latin typeface="Arial"/>
              </a:rPr>
              <a:t> Raise max iterations, allow roll sampling, reshape the room — or go back a step.</a:t>
            </a:r>
          </a:p>
        </p:txBody>
      </p:sp>
      <p:pic>
        <p:nvPicPr>
          <p:cNvPr id="6" name="Picture 5" descr="s4-route.jpg"/>
          <p:cNvPicPr>
            <a:picLocks noChangeAspect="1"/>
          </p:cNvPicPr>
          <p:nvPr/>
        </p:nvPicPr>
        <p:blipFill>
          <a:blip r:embed="rId3"/>
          <a:stretch>
            <a:fillRect/>
          </a:stretch>
        </p:blipFill>
        <p:spPr>
          <a:xfrm>
            <a:off x="5080000" y="1905000"/>
            <a:ext cx="6413500" cy="4008438"/>
          </a:xfrm>
          <a:prstGeom prst="rect">
            <a:avLst/>
          </a:prstGeom>
          <a:ln w="12700">
            <a:solidFill>
              <a:srgbClr val="CFD8D1"/>
            </a:solidFill>
          </a:ln>
        </p:spPr>
      </p:pic>
      <p:pic>
        <p:nvPicPr>
          <p:cNvPr id="7" name="Picture 6" descr="s4-result-dialog.jpg"/>
          <p:cNvPicPr>
            <a:picLocks noChangeAspect="1"/>
          </p:cNvPicPr>
          <p:nvPr/>
        </p:nvPicPr>
        <p:blipFill>
          <a:blip r:embed="rId4"/>
          <a:srcRect l="34722" t="27407" r="34722" b="26667"/>
          <a:stretch>
            <a:fillRect/>
          </a:stretch>
        </p:blipFill>
        <p:spPr>
          <a:xfrm>
            <a:off x="8750300" y="3335337"/>
            <a:ext cx="2603500" cy="2438400"/>
          </a:xfrm>
          <a:prstGeom prst="rect">
            <a:avLst/>
          </a:prstGeom>
          <a:ln w="28575">
            <a:solidFill>
              <a:srgbClr val="166B50"/>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UNDER THE HOOD</a:t>
            </a:r>
          </a:p>
        </p:txBody>
      </p:sp>
      <p:sp>
        <p:nvSpPr>
          <p:cNvPr id="3" name="TextBox 2"/>
          <p:cNvSpPr txBox="1"/>
          <p:nvPr/>
        </p:nvSpPr>
        <p:spPr>
          <a:xfrm>
            <a:off x="698500" y="1587500"/>
            <a:ext cx="10795000" cy="2339102"/>
          </a:xfrm>
          <a:prstGeom prst="rect">
            <a:avLst/>
          </a:prstGeom>
          <a:noFill/>
        </p:spPr>
        <p:txBody>
          <a:bodyPr wrap="square" lIns="0" tIns="0" rIns="0" bIns="0" anchor="t">
            <a:spAutoFit/>
          </a:bodyPr>
          <a:lstStyle/>
          <a:p>
            <a:pPr algn="l">
              <a:lnSpc>
                <a:spcPct val="95000"/>
              </a:lnSpc>
              <a:spcAft>
                <a:spcPts val="0"/>
              </a:spcAft>
            </a:pPr>
            <a:r>
              <a:rPr sz="8000" b="1" i="0" dirty="0">
                <a:solidFill>
                  <a:srgbClr val="EEF5F0"/>
                </a:solidFill>
                <a:latin typeface="Arial"/>
              </a:rPr>
              <a:t>How does it</a:t>
            </a:r>
          </a:p>
          <a:p>
            <a:pPr algn="l">
              <a:lnSpc>
                <a:spcPct val="95000"/>
              </a:lnSpc>
              <a:spcAft>
                <a:spcPts val="0"/>
              </a:spcAft>
            </a:pPr>
            <a:r>
              <a:rPr sz="8000" b="1" i="0" dirty="0">
                <a:solidFill>
                  <a:srgbClr val="D6EF5B"/>
                </a:solidFill>
                <a:latin typeface="Arial"/>
              </a:rPr>
              <a:t>actually </a:t>
            </a:r>
            <a:r>
              <a:rPr lang="en-US" sz="8000" b="1" dirty="0">
                <a:solidFill>
                  <a:srgbClr val="D6EF5B"/>
                </a:solidFill>
                <a:latin typeface="Arial"/>
              </a:rPr>
              <a:t>work</a:t>
            </a:r>
            <a:r>
              <a:rPr sz="8000" b="1" i="0" dirty="0">
                <a:solidFill>
                  <a:srgbClr val="D6EF5B"/>
                </a:solidFill>
                <a:latin typeface="Arial"/>
              </a:rPr>
              <a:t>?</a:t>
            </a:r>
          </a:p>
        </p:txBody>
      </p:sp>
      <p:sp>
        <p:nvSpPr>
          <p:cNvPr id="4" name="Rounded Rectangle 3"/>
          <p:cNvSpPr/>
          <p:nvPr/>
        </p:nvSpPr>
        <p:spPr>
          <a:xfrm>
            <a:off x="698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9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1 · Pose</a:t>
            </a:r>
          </a:p>
        </p:txBody>
      </p:sp>
      <p:sp>
        <p:nvSpPr>
          <p:cNvPr id="6" name="TextBox 5"/>
          <p:cNvSpPr txBox="1"/>
          <p:nvPr/>
        </p:nvSpPr>
        <p:spPr>
          <a:xfrm>
            <a:off x="939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is a position stored?</a:t>
            </a:r>
          </a:p>
        </p:txBody>
      </p:sp>
      <p:sp>
        <p:nvSpPr>
          <p:cNvPr id="7" name="Rounded Rectangle 6"/>
          <p:cNvSpPr/>
          <p:nvPr/>
        </p:nvSpPr>
        <p:spPr>
          <a:xfrm>
            <a:off x="4381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22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2 · Collision</a:t>
            </a:r>
          </a:p>
        </p:txBody>
      </p:sp>
      <p:sp>
        <p:nvSpPr>
          <p:cNvPr id="9" name="TextBox 8"/>
          <p:cNvSpPr txBox="1"/>
          <p:nvPr/>
        </p:nvSpPr>
        <p:spPr>
          <a:xfrm>
            <a:off x="4622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know it's legal?</a:t>
            </a:r>
          </a:p>
        </p:txBody>
      </p:sp>
      <p:sp>
        <p:nvSpPr>
          <p:cNvPr id="10" name="Rounded Rectangle 9"/>
          <p:cNvSpPr/>
          <p:nvPr/>
        </p:nvSpPr>
        <p:spPr>
          <a:xfrm>
            <a:off x="8064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5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3 · Search</a:t>
            </a:r>
          </a:p>
        </p:txBody>
      </p:sp>
      <p:sp>
        <p:nvSpPr>
          <p:cNvPr id="12" name="TextBox 11"/>
          <p:cNvSpPr txBox="1"/>
          <p:nvPr/>
        </p:nvSpPr>
        <p:spPr>
          <a:xfrm>
            <a:off x="8305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find a path?</a:t>
            </a:r>
          </a:p>
        </p:txBody>
      </p:sp>
      <p:pic>
        <p:nvPicPr>
          <p:cNvPr id="21" name="Audio 20">
            <a:extLst>
              <a:ext uri="{FF2B5EF4-FFF2-40B4-BE49-F238E27FC236}">
                <a16:creationId xmlns:a16="http://schemas.microsoft.com/office/drawing/2014/main" id="{7D960516-4E07-9F1E-A81A-A06441009C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6446"/>
    </mc:Choice>
    <mc:Fallback xmlns="">
      <p:transition spd="slow" advTm="164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A position is </a:t>
            </a:r>
            <a:r>
              <a:rPr sz="3800" b="1" i="0">
                <a:solidFill>
                  <a:srgbClr val="166B50"/>
                </a:solidFill>
                <a:latin typeface="Arial"/>
              </a:rPr>
              <a:t>six numbers</a:t>
            </a:r>
          </a:p>
        </p:txBody>
      </p:sp>
      <p:sp>
        <p:nvSpPr>
          <p:cNvPr id="4" name="Rounded Rectangle 3"/>
          <p:cNvSpPr/>
          <p:nvPr/>
        </p:nvSpPr>
        <p:spPr>
          <a:xfrm>
            <a:off x="698500" y="2095500"/>
            <a:ext cx="4445000" cy="1270000"/>
          </a:xfrm>
          <a:prstGeom prst="roundRect">
            <a:avLst>
              <a:gd name="adj" fmla="val 8000"/>
            </a:avLst>
          </a:prstGeom>
          <a:solidFill>
            <a:srgbClr val="0F1C17"/>
          </a:solidFill>
          <a:ln>
            <a:noFill/>
          </a:ln>
          <a:effectLst/>
        </p:spPr>
        <p:style>
          <a:lnRef idx="1">
            <a:schemeClr val="accent1"/>
          </a:lnRef>
          <a:fillRef idx="3">
            <a:schemeClr val="accent1"/>
          </a:fillRef>
          <a:effectRef idx="2">
            <a:schemeClr val="accent1"/>
          </a:effectRef>
          <a:fontRef idx="minor">
            <a:schemeClr val="lt1"/>
          </a:fontRef>
        </p:style>
        <p:txBody>
          <a:bodyPr wrap="square" lIns="279400" rtlCol="0" anchor="ctr"/>
          <a:lstStyle/>
          <a:p>
            <a:pPr algn="l"/>
            <a:r>
              <a:rPr sz="2000" b="0" i="0">
                <a:solidFill>
                  <a:srgbClr val="6F8F80"/>
                </a:solidFill>
                <a:latin typeface="Courier New"/>
              </a:rPr>
              <a:t>// furniture pose</a:t>
            </a:r>
          </a:p>
          <a:p>
            <a:pPr algn="l"/>
            <a:r>
              <a:rPr sz="2000" b="0" i="0">
                <a:solidFill>
                  <a:srgbClr val="D7EFE2"/>
                </a:solidFill>
                <a:latin typeface="Courier New"/>
              </a:rPr>
              <a:t>{ x, y, z,</a:t>
            </a:r>
          </a:p>
          <a:p>
            <a:pPr algn="l"/>
            <a:r>
              <a:rPr sz="2000" b="0" i="0">
                <a:solidFill>
                  <a:srgbClr val="D7EFE2"/>
                </a:solidFill>
                <a:latin typeface="Courier New"/>
              </a:rPr>
              <a:t>  yaw, pitch, roll }</a:t>
            </a:r>
          </a:p>
        </p:txBody>
      </p:sp>
      <p:sp>
        <p:nvSpPr>
          <p:cNvPr id="5" name="TextBox 4"/>
          <p:cNvSpPr txBox="1"/>
          <p:nvPr/>
        </p:nvSpPr>
        <p:spPr>
          <a:xfrm>
            <a:off x="698500" y="3683000"/>
            <a:ext cx="4826000" cy="20955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3 to translate, 3 to rotate</a:t>
            </a:r>
          </a:p>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Rotations use Euler order </a:t>
            </a:r>
            <a:r>
              <a:rPr sz="1600" b="1" i="0" dirty="0">
                <a:solidFill>
                  <a:srgbClr val="17211D"/>
                </a:solidFill>
                <a:latin typeface="Courier New"/>
              </a:rPr>
              <a:t>ZYX</a:t>
            </a:r>
            <a:r>
              <a:rPr sz="1600" b="0" i="0" dirty="0">
                <a:solidFill>
                  <a:srgbClr val="17211D"/>
                </a:solidFill>
                <a:latin typeface="Arial"/>
              </a:rPr>
              <a:t>, converted to a </a:t>
            </a:r>
            <a:r>
              <a:rPr sz="1600" b="1" i="0" dirty="0">
                <a:solidFill>
                  <a:srgbClr val="17211D"/>
                </a:solidFill>
                <a:latin typeface="Arial"/>
              </a:rPr>
              <a:t>quaternion</a:t>
            </a:r>
          </a:p>
          <a:p>
            <a:pPr marL="457200" indent="-457200">
              <a:lnSpc>
                <a:spcPct val="108000"/>
              </a:lnSpc>
              <a:spcAft>
                <a:spcPts val="1400"/>
              </a:spcAft>
              <a:buClr>
                <a:srgbClr val="166B50"/>
              </a:buClr>
              <a:buSzPct val="100000"/>
              <a:buFont typeface="Arial"/>
              <a:buChar char="■"/>
            </a:pPr>
            <a:r>
              <a:rPr sz="1600" b="1" i="0" dirty="0">
                <a:solidFill>
                  <a:srgbClr val="17211D"/>
                </a:solidFill>
                <a:latin typeface="Arial"/>
              </a:rPr>
              <a:t>Allow roll sampling</a:t>
            </a:r>
            <a:r>
              <a:rPr sz="1600" b="0" i="0" dirty="0">
                <a:solidFill>
                  <a:srgbClr val="17211D"/>
                </a:solidFill>
                <a:latin typeface="Arial"/>
              </a:rPr>
              <a:t> off? The search drops to 5-D — faster</a:t>
            </a:r>
          </a:p>
        </p:txBody>
      </p:sp>
      <p:pic>
        <p:nvPicPr>
          <p:cNvPr id="6" name="Picture 5" descr="d10.png"/>
          <p:cNvPicPr>
            <a:picLocks noChangeAspect="1"/>
          </p:cNvPicPr>
          <p:nvPr/>
        </p:nvPicPr>
        <p:blipFill>
          <a:blip r:embed="rId5"/>
          <a:stretch>
            <a:fillRect/>
          </a:stretch>
        </p:blipFill>
        <p:spPr>
          <a:xfrm>
            <a:off x="6096000" y="1905000"/>
            <a:ext cx="5397500" cy="4318000"/>
          </a:xfrm>
          <a:prstGeom prst="rect">
            <a:avLst/>
          </a:prstGeom>
        </p:spPr>
      </p:pic>
      <p:pic>
        <p:nvPicPr>
          <p:cNvPr id="22" name="Audio 21">
            <a:extLst>
              <a:ext uri="{FF2B5EF4-FFF2-40B4-BE49-F238E27FC236}">
                <a16:creationId xmlns:a16="http://schemas.microsoft.com/office/drawing/2014/main" id="{B6472139-475B-E937-AAC7-7087453EEE6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393"/>
    </mc:Choice>
    <mc:Fallback xmlns="">
      <p:transition spd="slow" advTm="403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2</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Is this pose </a:t>
            </a:r>
            <a:r>
              <a:rPr sz="3800" b="1" i="0">
                <a:solidFill>
                  <a:srgbClr val="166B50"/>
                </a:solidFill>
                <a:latin typeface="Arial"/>
              </a:rPr>
              <a:t>legal?</a:t>
            </a:r>
          </a:p>
        </p:txBody>
      </p:sp>
      <p:sp>
        <p:nvSpPr>
          <p:cNvPr id="4" name="TextBox 3"/>
          <p:cNvSpPr txBox="1"/>
          <p:nvPr/>
        </p:nvSpPr>
        <p:spPr>
          <a:xfrm>
            <a:off x="1016000" y="2870752"/>
            <a:ext cx="5080000" cy="1576778"/>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Char char="■"/>
            </a:pPr>
            <a:r>
              <a:rPr sz="1550" b="1" i="0" dirty="0">
                <a:solidFill>
                  <a:srgbClr val="17211D"/>
                </a:solidFill>
                <a:latin typeface="Arial"/>
              </a:rPr>
              <a:t>Every</a:t>
            </a:r>
            <a:r>
              <a:rPr sz="1550" b="0" i="0" dirty="0">
                <a:solidFill>
                  <a:srgbClr val="17211D"/>
                </a:solidFill>
                <a:latin typeface="Arial"/>
              </a:rPr>
              <a:t> point must be inside the room</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Between two poses we </a:t>
            </a:r>
            <a:r>
              <a:rPr sz="1550" b="1" i="0" dirty="0">
                <a:solidFill>
                  <a:srgbClr val="17211D"/>
                </a:solidFill>
                <a:latin typeface="Arial"/>
              </a:rPr>
              <a:t>interpolate</a:t>
            </a:r>
            <a:r>
              <a:rPr sz="1550" b="0" i="0" dirty="0">
                <a:solidFill>
                  <a:srgbClr val="17211D"/>
                </a:solidFill>
                <a:latin typeface="Arial"/>
              </a:rPr>
              <a:t> and check every step</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Crossing a wall is allowed </a:t>
            </a:r>
            <a:r>
              <a:rPr sz="1550" b="1" i="0" dirty="0">
                <a:solidFill>
                  <a:srgbClr val="17211D"/>
                </a:solidFill>
                <a:latin typeface="Arial"/>
              </a:rPr>
              <a:t>only through</a:t>
            </a:r>
            <a:r>
              <a:rPr sz="1550" b="0" i="0" dirty="0">
                <a:solidFill>
                  <a:srgbClr val="17211D"/>
                </a:solidFill>
                <a:latin typeface="Arial"/>
              </a:rPr>
              <a:t> the entrance / exit polygon</a:t>
            </a:r>
          </a:p>
        </p:txBody>
      </p:sp>
      <p:pic>
        <p:nvPicPr>
          <p:cNvPr id="5" name="Picture 4" descr="d11.png"/>
          <p:cNvPicPr>
            <a:picLocks noChangeAspect="1"/>
          </p:cNvPicPr>
          <p:nvPr/>
        </p:nvPicPr>
        <p:blipFill>
          <a:blip r:embed="rId5"/>
          <a:stretch>
            <a:fillRect/>
          </a:stretch>
        </p:blipFill>
        <p:spPr>
          <a:xfrm>
            <a:off x="6096000" y="1905000"/>
            <a:ext cx="5397500" cy="3973620"/>
          </a:xfrm>
          <a:prstGeom prst="rect">
            <a:avLst/>
          </a:prstGeom>
        </p:spPr>
      </p:pic>
      <p:pic>
        <p:nvPicPr>
          <p:cNvPr id="21" name="Audio 20">
            <a:extLst>
              <a:ext uri="{FF2B5EF4-FFF2-40B4-BE49-F238E27FC236}">
                <a16:creationId xmlns:a16="http://schemas.microsoft.com/office/drawing/2014/main" id="{8AEC28EC-114E-E14E-29BA-53F8DA80F3B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8815"/>
    </mc:Choice>
    <mc:Fallback xmlns="">
      <p:transition spd="slow" advTm="288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RRT-Connect: two trees, </a:t>
            </a:r>
            <a:r>
              <a:rPr sz="3800" b="1" i="0">
                <a:solidFill>
                  <a:srgbClr val="166B50"/>
                </a:solidFill>
                <a:latin typeface="Arial"/>
              </a:rPr>
              <a:t>one path</a:t>
            </a:r>
          </a:p>
        </p:txBody>
      </p:sp>
      <p:sp>
        <p:nvSpPr>
          <p:cNvPr id="4" name="TextBox 3"/>
          <p:cNvSpPr txBox="1"/>
          <p:nvPr/>
        </p:nvSpPr>
        <p:spPr>
          <a:xfrm>
            <a:off x="698500" y="2032000"/>
            <a:ext cx="4953000" cy="1319144"/>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One tree grows from the </a:t>
            </a:r>
            <a:r>
              <a:rPr sz="1550" b="1" i="0" dirty="0">
                <a:solidFill>
                  <a:srgbClr val="2F9A5E"/>
                </a:solidFill>
                <a:latin typeface="Arial"/>
              </a:rPr>
              <a:t>start</a:t>
            </a:r>
            <a:r>
              <a:rPr sz="1550" b="0" i="0" dirty="0">
                <a:solidFill>
                  <a:srgbClr val="17211D"/>
                </a:solidFill>
                <a:latin typeface="Arial"/>
              </a:rPr>
              <a:t>, one from the </a:t>
            </a:r>
            <a:r>
              <a:rPr sz="1550" b="1" i="0" dirty="0">
                <a:solidFill>
                  <a:srgbClr val="D97F1A"/>
                </a:solidFill>
                <a:latin typeface="Arial"/>
              </a:rPr>
              <a:t>goal</a:t>
            </a: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Then the </a:t>
            </a:r>
            <a:r>
              <a:rPr sz="1550" b="1" i="0" dirty="0">
                <a:solidFill>
                  <a:srgbClr val="17211D"/>
                </a:solidFill>
                <a:latin typeface="Arial"/>
              </a:rPr>
              <a:t>other tree</a:t>
            </a:r>
            <a:r>
              <a:rPr sz="1550" b="0" i="0" dirty="0">
                <a:solidFill>
                  <a:srgbClr val="17211D"/>
                </a:solidFill>
                <a:latin typeface="Arial"/>
              </a:rPr>
              <a:t> greedily chases that new node</a:t>
            </a:r>
            <a:endParaRPr lang="en-US" sz="1550" b="0" i="0" dirty="0">
              <a:solidFill>
                <a:srgbClr val="17211D"/>
              </a:solidFill>
              <a:latin typeface="Arial"/>
            </a:endParaRP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Trees touch → </a:t>
            </a:r>
            <a:r>
              <a:rPr sz="1550" b="1" i="0" dirty="0">
                <a:solidFill>
                  <a:srgbClr val="17211D"/>
                </a:solidFill>
                <a:latin typeface="Arial"/>
              </a:rPr>
              <a:t>path found</a:t>
            </a:r>
            <a:r>
              <a:rPr sz="1550" b="0" i="0" dirty="0">
                <a:solidFill>
                  <a:srgbClr val="17211D"/>
                </a:solidFill>
                <a:latin typeface="Arial"/>
              </a:rPr>
              <a:t>. Smooth it, resample it, animate it</a:t>
            </a:r>
          </a:p>
        </p:txBody>
      </p:sp>
      <p:sp>
        <p:nvSpPr>
          <p:cNvPr id="6" name="Rounded Rectangle 5"/>
          <p:cNvSpPr/>
          <p:nvPr/>
        </p:nvSpPr>
        <p:spPr>
          <a:xfrm>
            <a:off x="698500" y="5080000"/>
            <a:ext cx="10795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dirty="0">
                <a:solidFill>
                  <a:srgbClr val="D6EF5B"/>
                </a:solidFill>
                <a:latin typeface="Arial"/>
              </a:rPr>
              <a:t>Probabilistic:</a:t>
            </a:r>
            <a:r>
              <a:rPr sz="1400" b="0" i="0" dirty="0">
                <a:solidFill>
                  <a:srgbClr val="EAF5EE"/>
                </a:solidFill>
                <a:latin typeface="Arial"/>
              </a:rPr>
              <a:t> finding a route proves it fits — </a:t>
            </a:r>
            <a:r>
              <a:rPr sz="1400" b="1" i="0" dirty="0">
                <a:solidFill>
                  <a:srgbClr val="D6EF5B"/>
                </a:solidFill>
                <a:latin typeface="Arial"/>
              </a:rPr>
              <a:t>failing doesn't prove it can't</a:t>
            </a:r>
            <a:r>
              <a:rPr sz="1400" b="0" i="0" dirty="0">
                <a:solidFill>
                  <a:srgbClr val="EAF5EE"/>
                </a:solidFill>
                <a:latin typeface="Arial"/>
              </a:rPr>
              <a:t>. Run it again or raise iterations. </a:t>
            </a:r>
            <a:r>
              <a:rPr lang="en-US" sz="1400" b="0" i="0" dirty="0">
                <a:solidFill>
                  <a:srgbClr val="EAF5EE"/>
                </a:solidFill>
                <a:latin typeface="Arial"/>
              </a:rPr>
              <a:t>We never "fix" failures by quietly shrinking clearance.</a:t>
            </a:r>
            <a:endParaRPr sz="1400" b="0" i="0" dirty="0">
              <a:solidFill>
                <a:srgbClr val="EAF5EE"/>
              </a:solidFill>
              <a:latin typeface="Arial"/>
            </a:endParaRPr>
          </a:p>
        </p:txBody>
      </p:sp>
      <p:pic>
        <p:nvPicPr>
          <p:cNvPr id="7" name="Picture 6" descr="Path Planning for Mobile Robots Based on Improved RRT-Connect and DWA Fusion">
            <a:extLst>
              <a:ext uri="{FF2B5EF4-FFF2-40B4-BE49-F238E27FC236}">
                <a16:creationId xmlns:a16="http://schemas.microsoft.com/office/drawing/2014/main" id="{A845819E-B596-3A6E-E541-250DBB4B3FAA}"/>
              </a:ext>
            </a:extLst>
          </p:cNvPr>
          <p:cNvPicPr>
            <a:picLocks noChangeAspect="1"/>
          </p:cNvPicPr>
          <p:nvPr/>
        </p:nvPicPr>
        <p:blipFill>
          <a:blip r:embed="rId5"/>
          <a:stretch>
            <a:fillRect/>
          </a:stretch>
        </p:blipFill>
        <p:spPr>
          <a:xfrm>
            <a:off x="6096000" y="1811683"/>
            <a:ext cx="5745313" cy="3228561"/>
          </a:xfrm>
          <a:prstGeom prst="rect">
            <a:avLst/>
          </a:prstGeom>
        </p:spPr>
      </p:pic>
      <p:pic>
        <p:nvPicPr>
          <p:cNvPr id="10" name="Audio 9">
            <a:extLst>
              <a:ext uri="{FF2B5EF4-FFF2-40B4-BE49-F238E27FC236}">
                <a16:creationId xmlns:a16="http://schemas.microsoft.com/office/drawing/2014/main" id="{00A869D4-29DF-536C-C8F1-B068CAA3FBB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153"/>
    </mc:Choice>
    <mc:Fallback xmlns="">
      <p:transition spd="slow" advTm="501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4</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Smart starts beat </a:t>
            </a:r>
            <a:r>
              <a:rPr sz="3800" b="1" i="0">
                <a:solidFill>
                  <a:srgbClr val="166B50"/>
                </a:solidFill>
                <a:latin typeface="Arial"/>
              </a:rPr>
              <a:t>pure luck</a:t>
            </a:r>
          </a:p>
        </p:txBody>
      </p:sp>
      <p:sp>
        <p:nvSpPr>
          <p:cNvPr id="4" name="TextBox 3"/>
          <p:cNvSpPr txBox="1"/>
          <p:nvPr/>
        </p:nvSpPr>
        <p:spPr>
          <a:xfrm>
            <a:off x="698500" y="1968500"/>
            <a:ext cx="4826000" cy="571500"/>
          </a:xfrm>
          <a:prstGeom prst="rect">
            <a:avLst/>
          </a:prstGeom>
          <a:noFill/>
        </p:spPr>
        <p:txBody>
          <a:bodyPr wrap="square" lIns="0" tIns="0" rIns="0" bIns="0" anchor="t">
            <a:spAutoFit/>
          </a:bodyPr>
          <a:lstStyle/>
          <a:p>
            <a:pPr algn="l">
              <a:lnSpc>
                <a:spcPct val="115000"/>
              </a:lnSpc>
              <a:spcAft>
                <a:spcPts val="0"/>
              </a:spcAft>
            </a:pPr>
            <a:r>
              <a:rPr sz="1550" b="0" i="0">
                <a:solidFill>
                  <a:srgbClr val="5D6963"/>
                </a:solidFill>
                <a:latin typeface="Arial"/>
              </a:rPr>
              <a:t>Random sampling alone rarely threads a tight doorway. So we seed the search:</a:t>
            </a:r>
          </a:p>
        </p:txBody>
      </p:sp>
      <p:sp>
        <p:nvSpPr>
          <p:cNvPr id="5" name="TextBox 4"/>
          <p:cNvSpPr txBox="1"/>
          <p:nvPr/>
        </p:nvSpPr>
        <p:spPr>
          <a:xfrm>
            <a:off x="698500" y="2730500"/>
            <a:ext cx="4953000" cy="3048000"/>
          </a:xfrm>
          <a:prstGeom prst="rect">
            <a:avLst/>
          </a:prstGeom>
          <a:noFill/>
        </p:spPr>
        <p:txBody>
          <a:bodyPr wrap="square" lIns="0" tIns="0" rIns="0" bIns="0">
            <a:spAutoFit/>
          </a:bodyPr>
          <a:lstStyle/>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Sample offsets across the opening × </a:t>
            </a:r>
            <a:r>
              <a:rPr sz="1550" b="1" i="0">
                <a:solidFill>
                  <a:srgbClr val="17211D"/>
                </a:solidFill>
                <a:latin typeface="Arial"/>
              </a:rPr>
              <a:t>15°</a:t>
            </a:r>
            <a:r>
              <a:rPr sz="1550" b="0" i="0">
                <a:solidFill>
                  <a:srgbClr val="17211D"/>
                </a:solidFill>
                <a:latin typeface="Arial"/>
              </a:rPr>
              <a:t> yaw / pitch / roll orientations</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Refine</a:t>
            </a:r>
            <a:r>
              <a:rPr sz="1550" b="0" i="0">
                <a:solidFill>
                  <a:srgbClr val="17211D"/>
                </a:solidFill>
                <a:latin typeface="Arial"/>
              </a:rPr>
              <a:t> the promising ones at 5°</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Probe inward</a:t>
            </a:r>
            <a:r>
              <a:rPr sz="1550" b="0" i="0">
                <a:solidFill>
                  <a:srgbClr val="17211D"/>
                </a:solidFill>
                <a:latin typeface="Arial"/>
              </a:rPr>
              <a:t>: how deep does each candidate get?</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Rank</a:t>
            </a:r>
            <a:r>
              <a:rPr sz="1550" b="0" i="0">
                <a:solidFill>
                  <a:srgbClr val="17211D"/>
                </a:solidFill>
                <a:latin typeface="Arial"/>
              </a:rPr>
              <a:t> by depth, clearance, alignment, offset, tilt</a:t>
            </a:r>
          </a:p>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Feed the top poses as </a:t>
            </a:r>
            <a:r>
              <a:rPr sz="1550" b="1" i="0">
                <a:solidFill>
                  <a:srgbClr val="17211D"/>
                </a:solidFill>
                <a:latin typeface="Arial"/>
              </a:rPr>
              <a:t>many starts and goals</a:t>
            </a:r>
          </a:p>
        </p:txBody>
      </p:sp>
      <p:pic>
        <p:nvPicPr>
          <p:cNvPr id="6" name="Picture 5" descr="d13.png"/>
          <p:cNvPicPr>
            <a:picLocks noChangeAspect="1"/>
          </p:cNvPicPr>
          <p:nvPr/>
        </p:nvPicPr>
        <p:blipFill>
          <a:blip r:embed="rId3"/>
          <a:stretch>
            <a:fillRect/>
          </a:stretch>
        </p:blipFill>
        <p:spPr>
          <a:xfrm>
            <a:off x="6413500" y="1841500"/>
            <a:ext cx="4826000" cy="3860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5</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The straight-shot </a:t>
            </a:r>
            <a:r>
              <a:rPr sz="3800" b="1" i="0">
                <a:solidFill>
                  <a:srgbClr val="166B50"/>
                </a:solidFill>
                <a:latin typeface="Arial"/>
              </a:rPr>
              <a:t>heuristic</a:t>
            </a:r>
          </a:p>
        </p:txBody>
      </p:sp>
      <p:sp>
        <p:nvSpPr>
          <p:cNvPr id="4" name="TextBox 3"/>
          <p:cNvSpPr txBox="1"/>
          <p:nvPr/>
        </p:nvSpPr>
        <p:spPr>
          <a:xfrm>
            <a:off x="698500" y="2032000"/>
            <a:ext cx="4953000" cy="2667000"/>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Travel direction = the block edge </a:t>
            </a:r>
            <a:r>
              <a:rPr sz="1550" b="1" i="0">
                <a:solidFill>
                  <a:srgbClr val="17211D"/>
                </a:solidFill>
                <a:latin typeface="Arial"/>
              </a:rPr>
              <a:t>not</a:t>
            </a:r>
            <a:r>
              <a:rPr sz="1550" b="0" i="0">
                <a:solidFill>
                  <a:srgbClr val="17211D"/>
                </a:solidFill>
                <a:latin typeface="Arial"/>
              </a:rPr>
              <a:t> in the entrance face</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Point the furniture's </a:t>
            </a:r>
            <a:r>
              <a:rPr sz="1550" b="1" i="0">
                <a:solidFill>
                  <a:srgbClr val="17211D"/>
                </a:solidFill>
                <a:latin typeface="Arial"/>
              </a:rPr>
              <a:t>longest axis</a:t>
            </a:r>
            <a:r>
              <a:rPr sz="1550" b="0" i="0">
                <a:solidFill>
                  <a:srgbClr val="17211D"/>
                </a:solidFill>
                <a:latin typeface="Arial"/>
              </a:rPr>
              <a:t> along 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Project the doorway along that direction: does the </a:t>
            </a:r>
            <a:r>
              <a:rPr sz="1550" b="1" i="0">
                <a:solidFill>
                  <a:srgbClr val="17211D"/>
                </a:solidFill>
                <a:latin typeface="Arial"/>
              </a:rPr>
              <a:t>cross-section</a:t>
            </a:r>
            <a:r>
              <a:rPr sz="1550" b="0" i="0">
                <a:solidFill>
                  <a:srgbClr val="17211D"/>
                </a:solidFill>
                <a:latin typeface="Arial"/>
              </a:rPr>
              <a:t> (with clearance) fit?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Centre it, stage it outside, </a:t>
            </a:r>
            <a:r>
              <a:rPr sz="1550" b="1" i="0">
                <a:solidFill>
                  <a:srgbClr val="17211D"/>
                </a:solidFill>
                <a:latin typeface="Arial"/>
              </a:rPr>
              <a:t>slide straight in</a:t>
            </a:r>
          </a:p>
        </p:txBody>
      </p:sp>
      <p:sp>
        <p:nvSpPr>
          <p:cNvPr id="5" name="Rounded Rectangle 4"/>
          <p:cNvSpPr/>
          <p:nvPr/>
        </p:nvSpPr>
        <p:spPr>
          <a:xfrm>
            <a:off x="698500" y="4699000"/>
            <a:ext cx="4953000" cy="1079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350" b="0" i="0">
                <a:solidFill>
                  <a:srgbClr val="EAF5EE"/>
                </a:solidFill>
                <a:latin typeface="Arial"/>
              </a:rPr>
              <a:t>Deterministic, instant, and when it fails it names the </a:t>
            </a:r>
            <a:r>
              <a:rPr sz="1350" b="1" i="0">
                <a:solidFill>
                  <a:srgbClr val="D6EF5B"/>
                </a:solidFill>
                <a:latin typeface="Arial"/>
              </a:rPr>
              <a:t>checkpoint</a:t>
            </a:r>
            <a:r>
              <a:rPr sz="1350" b="0" i="0">
                <a:solidFill>
                  <a:srgbClr val="EAF5EE"/>
                </a:solidFill>
                <a:latin typeface="Arial"/>
              </a:rPr>
              <a:t> where it got stuck. Multi-block rooms hand off between blocks with a short RRT.</a:t>
            </a:r>
          </a:p>
        </p:txBody>
      </p:sp>
      <p:graphicFrame>
        <p:nvGraphicFramePr>
          <p:cNvPr id="6" name="Table 5"/>
          <p:cNvGraphicFramePr>
            <a:graphicFrameLocks noGrp="1"/>
          </p:cNvGraphicFramePr>
          <p:nvPr/>
        </p:nvGraphicFramePr>
        <p:xfrm>
          <a:off x="6096000" y="2095500"/>
          <a:ext cx="5397500" cy="2857500"/>
        </p:xfrm>
        <a:graphic>
          <a:graphicData uri="http://schemas.openxmlformats.org/drawingml/2006/table">
            <a:tbl>
              <a:tblPr>
                <a:tableStyleId>{5C22544A-7EE6-4342-B048-85BDC9FD1C3A}</a:tableStyleId>
              </a:tblPr>
              <a:tblGrid>
                <a:gridCol w="15875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571500">
                <a:tc>
                  <a:txBody>
                    <a:bodyPr/>
                    <a:lstStyle/>
                    <a:p>
                      <a:endParaRPr/>
                    </a:p>
                  </a:txBody>
                  <a:tcPr marL="152400" marR="152400" anchor="ctr">
                    <a:solidFill>
                      <a:srgbClr val="0E2F26"/>
                    </a:solidFill>
                  </a:tcPr>
                </a:tc>
                <a:tc>
                  <a:txBody>
                    <a:bodyPr/>
                    <a:lstStyle/>
                    <a:p>
                      <a:r>
                        <a:rPr sz="1300" b="1" i="0">
                          <a:solidFill>
                            <a:srgbClr val="FFFFFF"/>
                          </a:solidFill>
                          <a:latin typeface="Arial"/>
                        </a:rPr>
                        <a:t>RRT-Connect</a:t>
                      </a:r>
                    </a:p>
                  </a:txBody>
                  <a:tcPr marL="152400" marR="152400" anchor="ctr">
                    <a:solidFill>
                      <a:srgbClr val="0E2F26"/>
                    </a:solidFill>
                  </a:tcPr>
                </a:tc>
                <a:tc>
                  <a:txBody>
                    <a:bodyPr/>
                    <a:lstStyle/>
                    <a:p>
                      <a:r>
                        <a:rPr sz="1300" b="1" i="0">
                          <a:solidFill>
                            <a:srgbClr val="FFFFFF"/>
                          </a:solidFill>
                          <a:latin typeface="Arial"/>
                        </a:rPr>
                        <a:t>Heuristic</a:t>
                      </a:r>
                    </a:p>
                  </a:txBody>
                  <a:tcPr marL="152400" marR="152400" anchor="ctr">
                    <a:solidFill>
                      <a:srgbClr val="0E2F26"/>
                    </a:solidFill>
                  </a:tcPr>
                </a:tc>
                <a:extLst>
                  <a:ext uri="{0D108BD9-81ED-4DB2-BD59-A6C34878D82A}">
                    <a16:rowId xmlns:a16="http://schemas.microsoft.com/office/drawing/2014/main" val="10000"/>
                  </a:ext>
                </a:extLst>
              </a:tr>
              <a:tr h="571500">
                <a:tc>
                  <a:txBody>
                    <a:bodyPr/>
                    <a:lstStyle/>
                    <a:p>
                      <a:r>
                        <a:rPr sz="1450" b="1" i="0">
                          <a:solidFill>
                            <a:srgbClr val="166B50"/>
                          </a:solidFill>
                          <a:latin typeface="Arial"/>
                        </a:rPr>
                        <a:t>Idea</a:t>
                      </a:r>
                    </a:p>
                  </a:txBody>
                  <a:tcPr marL="152400" marR="152400" anchor="ctr">
                    <a:solidFill>
                      <a:srgbClr val="FFFFFF"/>
                    </a:solidFill>
                  </a:tcPr>
                </a:tc>
                <a:tc>
                  <a:txBody>
                    <a:bodyPr/>
                    <a:lstStyle/>
                    <a:p>
                      <a:r>
                        <a:rPr sz="1450" b="0" i="0">
                          <a:solidFill>
                            <a:srgbClr val="17211D"/>
                          </a:solidFill>
                          <a:latin typeface="Arial"/>
                        </a:rPr>
                        <a:t>Random search</a:t>
                      </a:r>
                    </a:p>
                  </a:txBody>
                  <a:tcPr marL="152400" marR="152400" anchor="ctr">
                    <a:solidFill>
                      <a:srgbClr val="FFFFFF"/>
                    </a:solidFill>
                  </a:tcPr>
                </a:tc>
                <a:tc>
                  <a:txBody>
                    <a:bodyPr/>
                    <a:lstStyle/>
                    <a:p>
                      <a:r>
                        <a:rPr sz="1450" b="0" i="0">
                          <a:solidFill>
                            <a:srgbClr val="17211D"/>
                          </a:solidFill>
                          <a:latin typeface="Arial"/>
                        </a:rPr>
                        <a:t>Slide it in straight</a:t>
                      </a:r>
                    </a:p>
                  </a:txBody>
                  <a:tcPr marL="152400" marR="152400" anchor="ctr">
                    <a:solidFill>
                      <a:srgbClr val="FFFFFF"/>
                    </a:solidFill>
                  </a:tcPr>
                </a:tc>
                <a:extLst>
                  <a:ext uri="{0D108BD9-81ED-4DB2-BD59-A6C34878D82A}">
                    <a16:rowId xmlns:a16="http://schemas.microsoft.com/office/drawing/2014/main" val="10001"/>
                  </a:ext>
                </a:extLst>
              </a:tr>
              <a:tr h="571500">
                <a:tc>
                  <a:txBody>
                    <a:bodyPr/>
                    <a:lstStyle/>
                    <a:p>
                      <a:r>
                        <a:rPr sz="1450" b="1" i="0">
                          <a:solidFill>
                            <a:srgbClr val="166B50"/>
                          </a:solidFill>
                          <a:latin typeface="Arial"/>
                        </a:rPr>
                        <a:t>Result</a:t>
                      </a:r>
                    </a:p>
                  </a:txBody>
                  <a:tcPr marL="152400" marR="152400" anchor="ctr">
                    <a:solidFill>
                      <a:srgbClr val="FFFFFF"/>
                    </a:solidFill>
                  </a:tcPr>
                </a:tc>
                <a:tc>
                  <a:txBody>
                    <a:bodyPr/>
                    <a:lstStyle/>
                    <a:p>
                      <a:r>
                        <a:rPr sz="1450" b="0" i="0">
                          <a:solidFill>
                            <a:srgbClr val="17211D"/>
                          </a:solidFill>
                          <a:latin typeface="Arial"/>
                        </a:rPr>
                        <a:t>Different each run</a:t>
                      </a:r>
                    </a:p>
                  </a:txBody>
                  <a:tcPr marL="152400" marR="152400" anchor="ctr">
                    <a:solidFill>
                      <a:srgbClr val="FFFFFF"/>
                    </a:solidFill>
                  </a:tcPr>
                </a:tc>
                <a:tc>
                  <a:txBody>
                    <a:bodyPr/>
                    <a:lstStyle/>
                    <a:p>
                      <a:r>
                        <a:rPr sz="1450" b="0" i="0">
                          <a:solidFill>
                            <a:srgbClr val="17211D"/>
                          </a:solidFill>
                          <a:latin typeface="Arial"/>
                        </a:rPr>
                        <a:t>Same every run</a:t>
                      </a:r>
                    </a:p>
                  </a:txBody>
                  <a:tcPr marL="152400" marR="152400" anchor="ctr">
                    <a:solidFill>
                      <a:srgbClr val="FFFFFF"/>
                    </a:solidFill>
                  </a:tcPr>
                </a:tc>
                <a:extLst>
                  <a:ext uri="{0D108BD9-81ED-4DB2-BD59-A6C34878D82A}">
                    <a16:rowId xmlns:a16="http://schemas.microsoft.com/office/drawing/2014/main" val="10002"/>
                  </a:ext>
                </a:extLst>
              </a:tr>
              <a:tr h="571500">
                <a:tc>
                  <a:txBody>
                    <a:bodyPr/>
                    <a:lstStyle/>
                    <a:p>
                      <a:r>
                        <a:rPr sz="1450" b="1" i="0">
                          <a:solidFill>
                            <a:srgbClr val="166B50"/>
                          </a:solidFill>
                          <a:latin typeface="Arial"/>
                        </a:rPr>
                        <a:t>Handles turns</a:t>
                      </a:r>
                    </a:p>
                  </a:txBody>
                  <a:tcPr marL="152400" marR="152400" anchor="ctr">
                    <a:solidFill>
                      <a:srgbClr val="FFFFFF"/>
                    </a:solidFill>
                  </a:tcPr>
                </a:tc>
                <a:tc>
                  <a:txBody>
                    <a:bodyPr/>
                    <a:lstStyle/>
                    <a:p>
                      <a:r>
                        <a:rPr sz="1450" b="0" i="0">
                          <a:solidFill>
                            <a:srgbClr val="17211D"/>
                          </a:solidFill>
                          <a:latin typeface="Arial"/>
                        </a:rPr>
                        <a:t>Yes</a:t>
                      </a:r>
                    </a:p>
                  </a:txBody>
                  <a:tcPr marL="152400" marR="152400" anchor="ctr">
                    <a:solidFill>
                      <a:srgbClr val="FFFFFF"/>
                    </a:solidFill>
                  </a:tcPr>
                </a:tc>
                <a:tc>
                  <a:txBody>
                    <a:bodyPr/>
                    <a:lstStyle/>
                    <a:p>
                      <a:r>
                        <a:rPr sz="1450" b="0" i="0">
                          <a:solidFill>
                            <a:srgbClr val="17211D"/>
                          </a:solidFill>
                          <a:latin typeface="Arial"/>
                        </a:rPr>
                        <a:t>Via handoffs</a:t>
                      </a:r>
                    </a:p>
                  </a:txBody>
                  <a:tcPr marL="152400" marR="152400" anchor="ctr">
                    <a:solidFill>
                      <a:srgbClr val="FFFFFF"/>
                    </a:solidFill>
                  </a:tcPr>
                </a:tc>
                <a:extLst>
                  <a:ext uri="{0D108BD9-81ED-4DB2-BD59-A6C34878D82A}">
                    <a16:rowId xmlns:a16="http://schemas.microsoft.com/office/drawing/2014/main" val="10003"/>
                  </a:ext>
                </a:extLst>
              </a:tr>
              <a:tr h="571500">
                <a:tc>
                  <a:txBody>
                    <a:bodyPr/>
                    <a:lstStyle/>
                    <a:p>
                      <a:r>
                        <a:rPr sz="1450" b="1" i="0">
                          <a:solidFill>
                            <a:srgbClr val="166B50"/>
                          </a:solidFill>
                          <a:latin typeface="Arial"/>
                        </a:rPr>
                        <a:t>On failure</a:t>
                      </a:r>
                    </a:p>
                  </a:txBody>
                  <a:tcPr marL="152400" marR="152400" anchor="ctr">
                    <a:solidFill>
                      <a:srgbClr val="FFFFFF"/>
                    </a:solidFill>
                  </a:tcPr>
                </a:tc>
                <a:tc>
                  <a:txBody>
                    <a:bodyPr/>
                    <a:lstStyle/>
                    <a:p>
                      <a:r>
                        <a:rPr sz="1450" b="0" i="0">
                          <a:solidFill>
                            <a:srgbClr val="17211D"/>
                          </a:solidFill>
                          <a:latin typeface="Arial"/>
                        </a:rPr>
                        <a:t>Try again</a:t>
                      </a:r>
                    </a:p>
                  </a:txBody>
                  <a:tcPr marL="152400" marR="152400" anchor="ctr">
                    <a:solidFill>
                      <a:srgbClr val="FFFFFF"/>
                    </a:solidFill>
                  </a:tcPr>
                </a:tc>
                <a:tc>
                  <a:txBody>
                    <a:bodyPr/>
                    <a:lstStyle/>
                    <a:p>
                      <a:r>
                        <a:rPr sz="1450" b="0" i="0">
                          <a:solidFill>
                            <a:srgbClr val="17211D"/>
                          </a:solidFill>
                          <a:latin typeface="Arial"/>
                        </a:rPr>
                        <a:t>Shows the stuck spot</a:t>
                      </a:r>
                    </a:p>
                  </a:txBody>
                  <a:tcPr marL="152400" marR="152400" anchor="ctr">
                    <a:solidFill>
                      <a:srgbClr val="FFFFFF"/>
                    </a:solidFill>
                  </a:tcPr>
                </a:tc>
                <a:extLst>
                  <a:ext uri="{0D108BD9-81ED-4DB2-BD59-A6C34878D82A}">
                    <a16:rowId xmlns:a16="http://schemas.microsoft.com/office/drawing/2014/main" val="10004"/>
                  </a:ext>
                </a:extLst>
              </a:tr>
            </a:tbl>
          </a:graphicData>
        </a:graphic>
      </p:graphicFrame>
      <p:pic>
        <p:nvPicPr>
          <p:cNvPr id="21" name="Audio 20">
            <a:extLst>
              <a:ext uri="{FF2B5EF4-FFF2-40B4-BE49-F238E27FC236}">
                <a16:creationId xmlns:a16="http://schemas.microsoft.com/office/drawing/2014/main" id="{1B58BA4A-96FE-C24C-741B-D46BD621CFA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4131"/>
    </mc:Choice>
    <mc:Fallback xmlns="">
      <p:transition spd="slow" advTm="441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3271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YOUR TURN</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Challenge: find the </a:t>
            </a:r>
            <a:r>
              <a:rPr sz="3800" b="1" i="0">
                <a:solidFill>
                  <a:srgbClr val="166B50"/>
                </a:solidFill>
                <a:latin typeface="Arial"/>
              </a:rPr>
              <a:t>tipping point</a:t>
            </a:r>
          </a:p>
        </p:txBody>
      </p:sp>
      <p:sp>
        <p:nvSpPr>
          <p:cNvPr id="4" name="TextBox 3"/>
          <p:cNvSpPr txBox="1"/>
          <p:nvPr/>
        </p:nvSpPr>
        <p:spPr>
          <a:xfrm>
            <a:off x="698500" y="2095500"/>
            <a:ext cx="5080000" cy="2494850"/>
          </a:xfrm>
          <a:prstGeom prst="rect">
            <a:avLst/>
          </a:prstGeom>
          <a:noFill/>
        </p:spPr>
        <p:txBody>
          <a:bodyPr wrap="square" lIns="0" tIns="0" rIns="0" bIns="0">
            <a:spAutoFit/>
          </a:bodyPr>
          <a:lstStyle/>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Build an </a:t>
            </a:r>
            <a:r>
              <a:rPr sz="1700" b="1" i="0" dirty="0">
                <a:solidFill>
                  <a:srgbClr val="17211D"/>
                </a:solidFill>
                <a:latin typeface="Arial"/>
              </a:rPr>
              <a:t>L-shaped hallway</a:t>
            </a:r>
            <a:r>
              <a:rPr sz="1700" b="0" i="0" dirty="0">
                <a:solidFill>
                  <a:srgbClr val="17211D"/>
                </a:solidFill>
                <a:latin typeface="Arial"/>
              </a:rPr>
              <a:t>: two blocks</a:t>
            </a:r>
            <a:r>
              <a:rPr lang="en-US" sz="1700" b="0" i="0" dirty="0">
                <a:solidFill>
                  <a:srgbClr val="17211D"/>
                </a:solidFill>
                <a:latin typeface="Arial"/>
              </a:rPr>
              <a:t> (5 * 2 * 2)</a:t>
            </a:r>
            <a:r>
              <a:rPr sz="1700" b="0" i="0" dirty="0">
                <a:solidFill>
                  <a:srgbClr val="17211D"/>
                </a:solidFill>
                <a:latin typeface="Arial"/>
              </a:rPr>
              <a:t>, connected end to end</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Furniture </a:t>
            </a:r>
            <a:r>
              <a:rPr lang="en-US" sz="1700" b="0" i="0" dirty="0">
                <a:solidFill>
                  <a:srgbClr val="17211D"/>
                </a:solidFill>
                <a:latin typeface="Arial"/>
              </a:rPr>
              <a:t>(</a:t>
            </a:r>
            <a:r>
              <a:rPr lang="en-US" sz="1700" b="1" dirty="0">
                <a:solidFill>
                  <a:srgbClr val="17211D"/>
                </a:solidFill>
                <a:latin typeface="Courier New"/>
              </a:rPr>
              <a:t>1</a:t>
            </a:r>
            <a:r>
              <a:rPr sz="1700" b="1" i="0" dirty="0">
                <a:solidFill>
                  <a:srgbClr val="17211D"/>
                </a:solidFill>
                <a:latin typeface="Courier New"/>
              </a:rPr>
              <a:t>.5</a:t>
            </a:r>
            <a:r>
              <a:rPr lang="en-US" sz="1700" b="1" i="0" dirty="0">
                <a:solidFill>
                  <a:srgbClr val="17211D"/>
                </a:solidFill>
                <a:latin typeface="Courier New"/>
              </a:rPr>
              <a:t> * </a:t>
            </a:r>
            <a:r>
              <a:rPr sz="1700" b="1" i="0" dirty="0">
                <a:solidFill>
                  <a:srgbClr val="17211D"/>
                </a:solidFill>
                <a:latin typeface="Courier New"/>
              </a:rPr>
              <a:t>1.2 </a:t>
            </a:r>
            <a:r>
              <a:rPr lang="en-US" sz="1700" b="1" i="0" dirty="0">
                <a:solidFill>
                  <a:srgbClr val="17211D"/>
                </a:solidFill>
                <a:latin typeface="Courier New"/>
              </a:rPr>
              <a:t>* </a:t>
            </a:r>
            <a:r>
              <a:rPr sz="1700" b="1" i="0" dirty="0">
                <a:solidFill>
                  <a:srgbClr val="17211D"/>
                </a:solidFill>
                <a:latin typeface="Courier New"/>
              </a:rPr>
              <a:t>1.2</a:t>
            </a:r>
            <a:r>
              <a:rPr lang="en-US" sz="1700" b="1" i="0" dirty="0">
                <a:solidFill>
                  <a:srgbClr val="17211D"/>
                </a:solidFill>
                <a:latin typeface="Courier New"/>
              </a:rPr>
              <a:t>)</a:t>
            </a:r>
            <a:r>
              <a:rPr sz="1700" b="0" i="0" dirty="0">
                <a:solidFill>
                  <a:srgbClr val="17211D"/>
                </a:solidFill>
                <a:latin typeface="Arial"/>
              </a:rPr>
              <a:t>, clearance </a:t>
            </a:r>
            <a:r>
              <a:rPr sz="1700" b="1" i="0" dirty="0">
                <a:solidFill>
                  <a:srgbClr val="17211D"/>
                </a:solidFill>
                <a:latin typeface="Courier New"/>
              </a:rPr>
              <a:t>0.1</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Try it </a:t>
            </a:r>
            <a:r>
              <a:rPr sz="1700" b="1" i="0" dirty="0">
                <a:solidFill>
                  <a:srgbClr val="17211D"/>
                </a:solidFill>
                <a:latin typeface="Arial"/>
              </a:rPr>
              <a:t>manually</a:t>
            </a:r>
            <a:r>
              <a:rPr sz="1700" b="0" i="0" dirty="0">
                <a:solidFill>
                  <a:srgbClr val="17211D"/>
                </a:solidFill>
                <a:latin typeface="Arial"/>
              </a:rPr>
              <a:t>, then run </a:t>
            </a:r>
            <a:r>
              <a:rPr sz="1700" b="1" i="0" dirty="0">
                <a:solidFill>
                  <a:srgbClr val="17211D"/>
                </a:solidFill>
                <a:latin typeface="Arial"/>
              </a:rPr>
              <a:t>both solvers</a:t>
            </a:r>
          </a:p>
          <a:p>
            <a:pPr marL="457200" indent="-457200">
              <a:lnSpc>
                <a:spcPct val="108000"/>
              </a:lnSpc>
              <a:spcAft>
                <a:spcPts val="1600"/>
              </a:spcAft>
              <a:buClr>
                <a:srgbClr val="166B50"/>
              </a:buClr>
              <a:buSzPct val="100000"/>
              <a:buFont typeface="Arial"/>
              <a:buAutoNum type="arabicPeriod"/>
            </a:pPr>
            <a:r>
              <a:rPr lang="en-US" sz="1700" b="0" i="0" dirty="0">
                <a:solidFill>
                  <a:srgbClr val="17211D"/>
                </a:solidFill>
                <a:latin typeface="Arial"/>
              </a:rPr>
              <a:t>Increase the furniture size</a:t>
            </a:r>
            <a:r>
              <a:rPr sz="1700" b="0" i="0" dirty="0">
                <a:solidFill>
                  <a:srgbClr val="17211D"/>
                </a:solidFill>
                <a:latin typeface="Arial"/>
              </a:rPr>
              <a:t> until it </a:t>
            </a:r>
            <a:r>
              <a:rPr sz="1700" b="1" i="0" dirty="0">
                <a:solidFill>
                  <a:srgbClr val="17211D"/>
                </a:solidFill>
                <a:latin typeface="Arial"/>
              </a:rPr>
              <a:t>stops fitting</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Does </a:t>
            </a:r>
            <a:r>
              <a:rPr sz="1700" b="1" i="0" dirty="0">
                <a:solidFill>
                  <a:srgbClr val="17211D"/>
                </a:solidFill>
                <a:latin typeface="Arial"/>
              </a:rPr>
              <a:t>roll sampling</a:t>
            </a:r>
            <a:r>
              <a:rPr sz="1700" b="0" i="0" dirty="0">
                <a:solidFill>
                  <a:srgbClr val="17211D"/>
                </a:solidFill>
                <a:latin typeface="Arial"/>
              </a:rPr>
              <a:t> rescue it?</a:t>
            </a:r>
          </a:p>
        </p:txBody>
      </p:sp>
      <p:sp>
        <p:nvSpPr>
          <p:cNvPr id="5" name="Rounded Rectangle 4"/>
          <p:cNvSpPr/>
          <p:nvPr/>
        </p:nvSpPr>
        <p:spPr>
          <a:xfrm>
            <a:off x="6350000" y="2159000"/>
            <a:ext cx="5143500" cy="2794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0" y="2476500"/>
            <a:ext cx="5143500" cy="952500"/>
          </a:xfrm>
          <a:prstGeom prst="rect">
            <a:avLst/>
          </a:prstGeom>
          <a:noFill/>
        </p:spPr>
        <p:txBody>
          <a:bodyPr wrap="square" lIns="0" tIns="0" rIns="0" bIns="0" anchor="t">
            <a:spAutoFit/>
          </a:bodyPr>
          <a:lstStyle/>
          <a:p>
            <a:pPr algn="ctr">
              <a:lnSpc>
                <a:spcPct val="112000"/>
              </a:lnSpc>
              <a:spcAft>
                <a:spcPts val="0"/>
              </a:spcAft>
            </a:pPr>
            <a:r>
              <a:rPr sz="6000" b="0" i="0">
                <a:solidFill>
                  <a:srgbClr val="17211D"/>
                </a:solidFill>
                <a:latin typeface="Arial"/>
              </a:rPr>
              <a:t>🛋️</a:t>
            </a:r>
          </a:p>
        </p:txBody>
      </p:sp>
      <p:sp>
        <p:nvSpPr>
          <p:cNvPr id="7" name="TextBox 6"/>
          <p:cNvSpPr txBox="1"/>
          <p:nvPr/>
        </p:nvSpPr>
        <p:spPr>
          <a:xfrm>
            <a:off x="6731000" y="3556000"/>
            <a:ext cx="4381500" cy="745525"/>
          </a:xfrm>
          <a:prstGeom prst="rect">
            <a:avLst/>
          </a:prstGeom>
          <a:noFill/>
        </p:spPr>
        <p:txBody>
          <a:bodyPr wrap="square" lIns="0" tIns="0" rIns="0" bIns="0" anchor="t">
            <a:spAutoFit/>
          </a:bodyPr>
          <a:lstStyle/>
          <a:p>
            <a:pPr algn="ctr">
              <a:lnSpc>
                <a:spcPct val="115000"/>
              </a:lnSpc>
              <a:spcAft>
                <a:spcPts val="0"/>
              </a:spcAft>
            </a:pPr>
            <a:r>
              <a:rPr sz="2200" b="1" i="0" dirty="0">
                <a:solidFill>
                  <a:srgbClr val="17211D"/>
                </a:solidFill>
                <a:latin typeface="Arial"/>
              </a:rPr>
              <a:t>What's the </a:t>
            </a:r>
            <a:r>
              <a:rPr lang="en-US" sz="2200" b="1" i="0" dirty="0">
                <a:solidFill>
                  <a:srgbClr val="17211D"/>
                </a:solidFill>
                <a:latin typeface="Arial"/>
              </a:rPr>
              <a:t>largest sofa that fits your hallway</a:t>
            </a:r>
            <a:r>
              <a:rPr sz="2200" b="1" i="0" dirty="0">
                <a:solidFill>
                  <a:srgbClr val="17211D"/>
                </a:solidFill>
                <a:latin typeface="Arial"/>
              </a:rPr>
              <a:t>?</a:t>
            </a:r>
          </a:p>
        </p:txBody>
      </p:sp>
      <p:sp>
        <p:nvSpPr>
          <p:cNvPr id="8" name="TextBox 7"/>
          <p:cNvSpPr txBox="1"/>
          <p:nvPr/>
        </p:nvSpPr>
        <p:spPr>
          <a:xfrm>
            <a:off x="6731000" y="4381500"/>
            <a:ext cx="4381500" cy="317500"/>
          </a:xfrm>
          <a:prstGeom prst="rect">
            <a:avLst/>
          </a:prstGeom>
          <a:noFill/>
        </p:spPr>
        <p:txBody>
          <a:bodyPr wrap="square" lIns="0" tIns="0" rIns="0" bIns="0" anchor="t">
            <a:spAutoFit/>
          </a:bodyPr>
          <a:lstStyle/>
          <a:p>
            <a:pPr algn="ctr">
              <a:lnSpc>
                <a:spcPct val="112000"/>
              </a:lnSpc>
              <a:spcAft>
                <a:spcPts val="0"/>
              </a:spcAft>
            </a:pPr>
            <a:r>
              <a:rPr sz="1500" b="0" i="0" dirty="0">
                <a:solidFill>
                  <a:srgbClr val="5D6963"/>
                </a:solidFill>
                <a:latin typeface="Arial"/>
              </a:rPr>
              <a:t>Share your number in the comments.</a:t>
            </a:r>
          </a:p>
        </p:txBody>
      </p:sp>
      <p:pic>
        <p:nvPicPr>
          <p:cNvPr id="10" name="Picture 9">
            <a:extLst>
              <a:ext uri="{FF2B5EF4-FFF2-40B4-BE49-F238E27FC236}">
                <a16:creationId xmlns:a16="http://schemas.microsoft.com/office/drawing/2014/main" id="{9052F4E8-DAE5-BD11-0FE5-AADE50D7AF0D}"/>
              </a:ext>
            </a:extLst>
          </p:cNvPr>
          <p:cNvPicPr>
            <a:picLocks noChangeAspect="1"/>
          </p:cNvPicPr>
          <p:nvPr/>
        </p:nvPicPr>
        <p:blipFill>
          <a:blip r:embed="rId5"/>
          <a:stretch>
            <a:fillRect/>
          </a:stretch>
        </p:blipFill>
        <p:spPr>
          <a:xfrm>
            <a:off x="1742696" y="4699000"/>
            <a:ext cx="1991306" cy="1933447"/>
          </a:xfrm>
          <a:prstGeom prst="rect">
            <a:avLst/>
          </a:prstGeom>
        </p:spPr>
      </p:pic>
      <p:cxnSp>
        <p:nvCxnSpPr>
          <p:cNvPr id="12" name="Straight Arrow Connector 11">
            <a:extLst>
              <a:ext uri="{FF2B5EF4-FFF2-40B4-BE49-F238E27FC236}">
                <a16:creationId xmlns:a16="http://schemas.microsoft.com/office/drawing/2014/main" id="{8A8EC915-34A4-8D52-7BB7-92C6FD63FE32}"/>
              </a:ext>
            </a:extLst>
          </p:cNvPr>
          <p:cNvCxnSpPr/>
          <p:nvPr/>
        </p:nvCxnSpPr>
        <p:spPr>
          <a:xfrm flipH="1">
            <a:off x="3467819" y="495300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1D9A6F3-C46D-A38F-8F5D-E2B5F340021C}"/>
              </a:ext>
            </a:extLst>
          </p:cNvPr>
          <p:cNvCxnSpPr/>
          <p:nvPr/>
        </p:nvCxnSpPr>
        <p:spPr>
          <a:xfrm flipH="1">
            <a:off x="1777202" y="652893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52F06BB-3C43-321D-839B-F08688EFA4C5}"/>
              </a:ext>
            </a:extLst>
          </p:cNvPr>
          <p:cNvSpPr txBox="1"/>
          <p:nvPr/>
        </p:nvSpPr>
        <p:spPr>
          <a:xfrm>
            <a:off x="4106174" y="4836626"/>
            <a:ext cx="1016625" cy="369332"/>
          </a:xfrm>
          <a:prstGeom prst="rect">
            <a:avLst/>
          </a:prstGeom>
          <a:noFill/>
        </p:spPr>
        <p:txBody>
          <a:bodyPr wrap="none" rtlCol="0">
            <a:spAutoFit/>
          </a:bodyPr>
          <a:lstStyle/>
          <a:p>
            <a:r>
              <a:rPr lang="en-US" dirty="0"/>
              <a:t>entrance</a:t>
            </a:r>
          </a:p>
        </p:txBody>
      </p:sp>
      <p:sp>
        <p:nvSpPr>
          <p:cNvPr id="15" name="TextBox 14">
            <a:extLst>
              <a:ext uri="{FF2B5EF4-FFF2-40B4-BE49-F238E27FC236}">
                <a16:creationId xmlns:a16="http://schemas.microsoft.com/office/drawing/2014/main" id="{9E8B4FFB-1F16-2042-7C57-59A2D3BE8135}"/>
              </a:ext>
            </a:extLst>
          </p:cNvPr>
          <p:cNvSpPr txBox="1"/>
          <p:nvPr/>
        </p:nvSpPr>
        <p:spPr>
          <a:xfrm>
            <a:off x="1157568" y="6447781"/>
            <a:ext cx="524503" cy="369332"/>
          </a:xfrm>
          <a:prstGeom prst="rect">
            <a:avLst/>
          </a:prstGeom>
          <a:noFill/>
        </p:spPr>
        <p:txBody>
          <a:bodyPr wrap="none" rtlCol="0">
            <a:spAutoFit/>
          </a:bodyPr>
          <a:lstStyle/>
          <a:p>
            <a:r>
              <a:rPr lang="en-US" dirty="0"/>
              <a:t>exit</a:t>
            </a:r>
          </a:p>
        </p:txBody>
      </p:sp>
      <p:pic>
        <p:nvPicPr>
          <p:cNvPr id="27" name="Audio 26">
            <a:extLst>
              <a:ext uri="{FF2B5EF4-FFF2-40B4-BE49-F238E27FC236}">
                <a16:creationId xmlns:a16="http://schemas.microsoft.com/office/drawing/2014/main" id="{AE815F0D-F97D-EB68-0E5A-A7F7EBAB76A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5465"/>
    </mc:Choice>
    <mc:Fallback xmlns="">
      <p:transition spd="slow" advTm="354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435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TRY IT NOW</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4400" b="1" i="0">
                <a:solidFill>
                  <a:srgbClr val="EEF5F0"/>
                </a:solidFill>
                <a:latin typeface="Arial"/>
              </a:rPr>
              <a:t>Open it in your browser</a:t>
            </a:r>
          </a:p>
        </p:txBody>
      </p:sp>
      <p:sp>
        <p:nvSpPr>
          <p:cNvPr id="4" name="Rounded Rectangle 3">
            <a:hlinkClick r:id="rId5"/>
          </p:cNvPr>
          <p:cNvSpPr/>
          <p:nvPr/>
        </p:nvSpPr>
        <p:spPr>
          <a:xfrm>
            <a:off x="698500" y="2095500"/>
            <a:ext cx="6604000" cy="1206500"/>
          </a:xfrm>
          <a:prstGeom prst="roundRect">
            <a:avLst>
              <a:gd name="adj" fmla="val 14000"/>
            </a:avLst>
          </a:prstGeom>
          <a:solidFill>
            <a:srgbClr val="D6EF5B"/>
          </a:solidFill>
          <a:ln>
            <a:no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dirty="0">
                <a:solidFill>
                  <a:srgbClr val="0E2F26"/>
                </a:solidFill>
                <a:latin typeface="Arial"/>
              </a:rPr>
              <a:t>LAUNCH THE APP  —  NO INSTALL</a:t>
            </a:r>
          </a:p>
          <a:p>
            <a:pPr algn="l">
              <a:spcBef>
                <a:spcPts val="400"/>
              </a:spcBef>
            </a:pPr>
            <a:r>
              <a:rPr sz="2600" b="1" i="0" dirty="0">
                <a:solidFill>
                  <a:srgbClr val="0E2F26"/>
                </a:solidFill>
                <a:latin typeface="Arial"/>
              </a:rPr>
              <a:t>volcano1998.github.io/FurnitureSim_3D</a:t>
            </a:r>
          </a:p>
        </p:txBody>
      </p:sp>
      <p:sp>
        <p:nvSpPr>
          <p:cNvPr id="5" name="Rounded Rectangle 4">
            <a:hlinkClick r:id="rId6"/>
          </p:cNvPr>
          <p:cNvSpPr/>
          <p:nvPr/>
        </p:nvSpPr>
        <p:spPr>
          <a:xfrm>
            <a:off x="698500" y="3492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SLIDES + POWERPOINT</a:t>
            </a:r>
          </a:p>
          <a:p>
            <a:pPr algn="l">
              <a:spcBef>
                <a:spcPts val="400"/>
              </a:spcBef>
            </a:pPr>
            <a:r>
              <a:rPr sz="1800" b="1" i="0">
                <a:solidFill>
                  <a:srgbClr val="EEF5F0"/>
                </a:solidFill>
                <a:latin typeface="Arial"/>
              </a:rPr>
              <a:t>volcano1998.github.io/FurnitureSim_3D/slides</a:t>
            </a:r>
          </a:p>
        </p:txBody>
      </p:sp>
      <p:sp>
        <p:nvSpPr>
          <p:cNvPr id="6" name="Rounded Rectangle 5">
            <a:hlinkClick r:id="rId7"/>
          </p:cNvPr>
          <p:cNvSpPr/>
          <p:nvPr/>
        </p:nvSpPr>
        <p:spPr>
          <a:xfrm>
            <a:off x="698500" y="4381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SOURCE CODE ON GITHUB</a:t>
            </a:r>
          </a:p>
          <a:p>
            <a:pPr algn="l">
              <a:spcBef>
                <a:spcPts val="400"/>
              </a:spcBef>
            </a:pPr>
            <a:r>
              <a:rPr sz="1800" b="1" i="0">
                <a:solidFill>
                  <a:srgbClr val="EEF5F0"/>
                </a:solidFill>
                <a:latin typeface="Arial"/>
              </a:rPr>
              <a:t>github.com/volcano1998/FurnitureSim_3D</a:t>
            </a:r>
          </a:p>
        </p:txBody>
      </p:sp>
      <p:pic>
        <p:nvPicPr>
          <p:cNvPr id="7" name="Picture 6" descr="s4-route.jpg">
            <a:hlinkClick r:id="rId5"/>
          </p:cNvPr>
          <p:cNvPicPr>
            <a:picLocks noChangeAspect="1"/>
          </p:cNvPicPr>
          <p:nvPr/>
        </p:nvPicPr>
        <p:blipFill>
          <a:blip r:embed="rId8"/>
          <a:stretch>
            <a:fillRect/>
          </a:stretch>
        </p:blipFill>
        <p:spPr>
          <a:xfrm>
            <a:off x="7747000" y="2095500"/>
            <a:ext cx="3746500" cy="2341562"/>
          </a:xfrm>
          <a:prstGeom prst="rect">
            <a:avLst/>
          </a:prstGeom>
        </p:spPr>
      </p:pic>
      <p:sp>
        <p:nvSpPr>
          <p:cNvPr id="8" name="TextBox 7"/>
          <p:cNvSpPr txBox="1"/>
          <p:nvPr/>
        </p:nvSpPr>
        <p:spPr>
          <a:xfrm>
            <a:off x="7747000" y="4445000"/>
            <a:ext cx="3746500" cy="254000"/>
          </a:xfrm>
          <a:prstGeom prst="rect">
            <a:avLst/>
          </a:prstGeom>
          <a:noFill/>
        </p:spPr>
        <p:txBody>
          <a:bodyPr wrap="square" lIns="0" tIns="0" rIns="0" bIns="0" anchor="t">
            <a:spAutoFit/>
          </a:bodyPr>
          <a:lstStyle/>
          <a:p>
            <a:pPr algn="ctr">
              <a:lnSpc>
                <a:spcPct val="112000"/>
              </a:lnSpc>
              <a:spcAft>
                <a:spcPts val="0"/>
              </a:spcAft>
            </a:pPr>
            <a:r>
              <a:rPr sz="1200" b="0" i="0">
                <a:solidFill>
                  <a:srgbClr val="9DB5AA"/>
                </a:solidFill>
                <a:latin typeface="Arial"/>
              </a:rPr>
              <a:t>Click any card to open it</a:t>
            </a:r>
          </a:p>
        </p:txBody>
      </p:sp>
      <p:sp>
        <p:nvSpPr>
          <p:cNvPr id="9" name="TextBox 8"/>
          <p:cNvSpPr txBox="1"/>
          <p:nvPr/>
        </p:nvSpPr>
        <p:spPr>
          <a:xfrm>
            <a:off x="698500" y="5397500"/>
            <a:ext cx="6604000" cy="254000"/>
          </a:xfrm>
          <a:prstGeom prst="rect">
            <a:avLst/>
          </a:prstGeom>
          <a:noFill/>
        </p:spPr>
        <p:txBody>
          <a:bodyPr wrap="square" lIns="0" tIns="0" rIns="0" bIns="0" anchor="t">
            <a:spAutoFit/>
          </a:bodyPr>
          <a:lstStyle/>
          <a:p>
            <a:pPr algn="l">
              <a:lnSpc>
                <a:spcPct val="112000"/>
              </a:lnSpc>
              <a:spcAft>
                <a:spcPts val="0"/>
              </a:spcAft>
            </a:pPr>
            <a:r>
              <a:rPr sz="1300" b="0" i="0">
                <a:solidFill>
                  <a:srgbClr val="9DB5AA"/>
                </a:solidFill>
                <a:latin typeface="Arial"/>
              </a:rPr>
              <a:t>Prefer to run it locally? One command: </a:t>
            </a:r>
            <a:r>
              <a:rPr sz="1300" b="1" i="0">
                <a:solidFill>
                  <a:srgbClr val="D7EFE2"/>
                </a:solidFill>
                <a:latin typeface="Courier New"/>
              </a:rPr>
              <a:t>python3 -m http.server 8000</a:t>
            </a:r>
            <a:r>
              <a:rPr sz="1300" b="0" i="0">
                <a:solidFill>
                  <a:srgbClr val="9DB5AA"/>
                </a:solidFill>
                <a:latin typeface="Arial"/>
              </a:rPr>
              <a:t> — see the README.</a:t>
            </a:r>
          </a:p>
        </p:txBody>
      </p:sp>
      <p:sp>
        <p:nvSpPr>
          <p:cNvPr id="10" name="TextBox 9"/>
          <p:cNvSpPr txBox="1"/>
          <p:nvPr/>
        </p:nvSpPr>
        <p:spPr>
          <a:xfrm>
            <a:off x="698500" y="5842000"/>
            <a:ext cx="10795000" cy="571500"/>
          </a:xfrm>
          <a:prstGeom prst="rect">
            <a:avLst/>
          </a:prstGeom>
          <a:noFill/>
        </p:spPr>
        <p:txBody>
          <a:bodyPr wrap="square" lIns="0" tIns="0" rIns="0" bIns="0" anchor="t">
            <a:spAutoFit/>
          </a:bodyPr>
          <a:lstStyle/>
          <a:p>
            <a:pPr algn="ctr">
              <a:lnSpc>
                <a:spcPct val="112000"/>
              </a:lnSpc>
              <a:spcAft>
                <a:spcPts val="0"/>
              </a:spcAft>
            </a:pPr>
            <a:r>
              <a:rPr sz="3400" b="1" i="0">
                <a:solidFill>
                  <a:srgbClr val="EEF5F0"/>
                </a:solidFill>
                <a:latin typeface="Arial"/>
              </a:rPr>
              <a:t>Thanks for watching — </a:t>
            </a:r>
            <a:r>
              <a:rPr sz="3400" b="1" i="0">
                <a:solidFill>
                  <a:srgbClr val="D6EF5B"/>
                </a:solidFill>
                <a:latin typeface="Arial"/>
              </a:rPr>
              <a:t>go move some couches.</a:t>
            </a:r>
          </a:p>
        </p:txBody>
      </p:sp>
      <p:pic>
        <p:nvPicPr>
          <p:cNvPr id="18" name="Audio 17">
            <a:extLst>
              <a:ext uri="{FF2B5EF4-FFF2-40B4-BE49-F238E27FC236}">
                <a16:creationId xmlns:a16="http://schemas.microsoft.com/office/drawing/2014/main" id="{28A8BAC5-D357-9E07-A61D-C0A204D04CB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3146"/>
    </mc:Choice>
    <mc:Fallback xmlns="">
      <p:transition spd="slow" advTm="231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4|2.1|6.1|3.5|6.3"/>
</p:tagLst>
</file>

<file path=ppt/tags/tag2.xml><?xml version="1.0" encoding="utf-8"?>
<p:tagLst xmlns:a="http://schemas.openxmlformats.org/drawingml/2006/main" xmlns:r="http://schemas.openxmlformats.org/officeDocument/2006/relationships" xmlns:p="http://schemas.openxmlformats.org/presentationml/2006/main">
  <p:tag name="TIMING" val="|5.1|5|4.2|5.6|6.5|1.6|1.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TotalTime>
  <Words>2766</Words>
  <Application>Microsoft Macintosh PowerPoint</Application>
  <PresentationFormat>Widescreen</PresentationFormat>
  <Paragraphs>280</Paragraphs>
  <Slides>16</Slides>
  <Notes>16</Notes>
  <HiddenSlides>1</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Can Luo</cp:lastModifiedBy>
  <cp:revision>6</cp:revision>
  <dcterms:created xsi:type="dcterms:W3CDTF">2013-01-27T09:14:16Z</dcterms:created>
  <dcterms:modified xsi:type="dcterms:W3CDTF">2026-10-24T15:50:10Z</dcterms:modified>
  <cp:category/>
</cp:coreProperties>
</file>