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4a" ContentType="audio/mp4"/>
  <Override PartName="/ppt/media/media10.m4a" ContentType="audio/mp4"/>
  <Override PartName="/ppt/media/media2.m4a" ContentType="audio/mp4"/>
  <Override PartName="/ppt/media/media3.m4a" ContentType="audio/mp4"/>
  <Override PartName="/ppt/media/media4.m4a" ContentType="audio/mp4"/>
  <Override PartName="/ppt/media/media5.m4a" ContentType="audio/mp4"/>
  <Override PartName="/ppt/media/media6.m4a" ContentType="audio/mp4"/>
  <Override PartName="/ppt/media/media7.m4a" ContentType="audio/mp4"/>
  <Override PartName="/ppt/media/media9.m4a" ContentType="audi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82" r:id="rId24"/>
    <p:sldId id="279" r:id="rId5"/>
    <p:sldId id="280" r:id="rId6"/>
    <p:sldId id="281" r:id="rId7"/>
    <p:sldId id="276" r:id="rId8"/>
    <p:sldId id="277" r:id="rId9"/>
    <p:sldId id="278" r:id="rId10"/>
    <p:sldId id="264" r:id="rId11"/>
    <p:sldId id="265" r:id="rId12"/>
    <p:sldId id="266" r:id="rId13"/>
    <p:sldId id="267" r:id="rId14"/>
    <p:sldId id="268" r:id="rId15"/>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09"/>
    <p:restoredTop sz="68963"/>
  </p:normalViewPr>
  <p:slideViewPr>
    <p:cSldViewPr snapToGrid="0" snapToObjects="1">
      <p:cViewPr varScale="1">
        <p:scale>
          <a:sx n="75" d="100"/>
          <a:sy n="75" d="100"/>
        </p:scale>
        <p:origin x="952"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 gives you two ways to answer the question.</a:t>
            </a:r>
          </a:p>
          <a:p/>
          <a:p>
            <a:r>
              <a:t>First, manual mode, where you grab the furniture yourself and try it virtually.</a:t>
            </a:r>
          </a:p>
          <a:p/>
          <a:p>
            <a:r>
              <a:t>Second, an automatic solver that uses a motion planning algorithm called RRT-Connect, and I'll show you how it thinks later on.</a:t>
            </a:r>
          </a:p>
          <a:p/>
          <a:p>
            <a:r>
              <a:t>Either way, the workflow is the same four steps: build the room, choose the entrance and exit, describe the furniture, and solve.</a:t>
            </a:r>
          </a:p>
          <a:p/>
          <a:p>
            <a:r>
              <a:t>That's plenty of talking, so let's open the app and walk through those four steps together.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app. The big window on the left is the 3D view, and that's where everything you build will appear. On the right is the control panel, and at the top of it you can see the four steps, one through four, with a progress bar that follows you along.</a:t>
            </a:r>
          </a:p>
          <a:p/>
          <a:p>
            <a:r>
              <a:t>You never have to hunt for the next button, because the app always tells you what to do next.</a:t>
            </a:r>
          </a:p>
          <a:p/>
          <a:p>
            <a:r>
              <a:t>We'll start with step one, building the room.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is the fun part: building the place your furniture has to travel through.</a:t>
            </a:r>
          </a:p>
          <a:p/>
          <a:p>
            <a:r>
              <a:t>And here's the best thing about this app: you're not stuck with one shape. Look at these five models. An L-shaped hallway, a zig-zag hallway, U-shaped, S-shaped staircase, and a post-modern super twisted staircase.  They're all made from simple blocks. The only difference is how the blocks are shaped and connected.</a:t>
            </a:r>
          </a:p>
          <a:p/>
          <a:p>
            <a:r>
              <a:t>The recipe is always the same. You shape some blocks, you connect them together, and then you test your furniture inside.</a:t>
            </a:r>
          </a:p>
          <a:p/>
          <a:p>
            <a:r>
              <a:t>So whatever your own home looks like, a narrow stair, a tight corner, a crooked hallway, you can build it. Let me show you how.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shape your blocks. There are just three things to learn.</a:t>
            </a:r>
          </a:p>
          <a:p>
            <a:endParaRPr/>
          </a:p>
          <a:p>
            <a:r>
              <a:t>First, stretch. Every block has length sliders. Drag one and the block gets longer, wider or taller. Here's a short block, and here's the same block stretched out into a long hallway.</a:t>
            </a:r>
          </a:p>
          <a:p>
            <a:endParaRPr/>
          </a:p>
          <a:p>
            <a:r>
              <a:t>Second, tilt. The angle sliders lean the block over. A box with right angles is a plain hallway, but pull one angle down to sixty degrees and you get a slanted block. That's how you make a ramp, or the slope of a staircase.</a:t>
            </a:r>
          </a:p>
          <a:p>
            <a:endParaRPr/>
          </a:p>
          <a:p>
            <a:r>
              <a:t>And third, add more. Press "Add object" and another block appears. Add as many as you need.</a:t>
            </a:r>
          </a:p>
          <a:p>
            <a:endParaRPr/>
          </a:p>
          <a:p>
            <a:r>
              <a:t>That's the whole toolbox: stretch, tilt, add. The next step is gluing them together.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two: connect the blocks. Press "Connect two objects", then click one face on each block you want to join.</a:t>
            </a:r>
          </a:p>
          <a:p>
            <a:endParaRPr/>
          </a:p>
          <a:p>
            <a:r>
              <a:t>A small preview window opens with three sliders. When two blocks first snap together, they can stick out the wrong way, like on the left.</a:t>
            </a:r>
          </a:p>
          <a:p>
            <a:endParaRPr/>
          </a:p>
          <a:p>
            <a:r>
              <a:t>So you drag the sliders. One rotates the block around the surface it's attached to, and the other two slide it along that surface. Rotating changes the angle between the two surfaces, and that's the trick that bends a hallway, or turns a flat block into stairs.</a:t>
            </a:r>
          </a:p>
          <a:p>
            <a:endParaRPr/>
          </a:p>
          <a:p>
            <a:r>
              <a:t>Watch the right-hand picture: the same two blocks, now lined up into one continuous staircase. When it looks right, press Apply, then repeat for the next joint.</a:t>
            </a:r>
          </a:p>
          <a:p>
            <a:endParaRPr/>
          </a:p>
          <a:p>
            <a:r>
              <a:t>Shape, connect, adjust. With those three moves you can build whatever your own home looks like.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two and three are quick.</a:t>
            </a:r>
          </a:p>
          <a:p/>
          <a:p>
            <a:r>
              <a:t>First, tell the app where the furniture comes in and where it has to come out. Click the end of the top hallway for the entrance, and it turns green. Then click the end of the bottom hallway for the exit, and it turns orange. Press "Confirm 3D model" and the walls turn see-through.</a:t>
            </a:r>
          </a:p>
          <a:p/>
          <a:p>
            <a:r>
              <a:t>Those two faces are the only doorways. Every other wall is solid, so the furniture can't cheat by walking through one.</a:t>
            </a:r>
          </a:p>
          <a:p/>
          <a:p>
            <a:r>
              <a:t>Then type in the size of your furniture: length, width and height. The green box next to the building is a preview of it. I'll start with a big sofa, two and a half by one point two by one point two.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let the computer try, try it yourself. Press "Try manually" and the furniture starts just outside the entrance.</a:t>
            </a:r>
          </a:p>
          <a:p>
            <a:endParaRPr/>
          </a:p>
          <a:p>
            <a:r>
              <a:t>Hold the M key and drag it into the building. The box turns green when it's legal, yellow when it's outside, and red when it hits a wall. Use the sliders to tilt and lift it.</a:t>
            </a:r>
          </a:p>
          <a:p>
            <a:endParaRPr/>
          </a:p>
          <a:p>
            <a:r>
              <a:t>If you get stuck, Auto Pilot lines the furniture up with a wall for you. Reach the exit and you win.</a:t>
            </a:r>
          </a:p>
          <a:p>
            <a:endParaRPr/>
          </a:p>
          <a:p>
            <a:r>
              <a:t>It's trickier than it looks, which is exactly why a planner is so useful.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the computer try. Press "Run selected solver", and the planner searches for a path.</a:t>
            </a:r>
          </a:p>
          <a:p/>
          <a:p>
            <a:r>
              <a:t>There's one setting worth knowing about, and it's already switched on for you: "Allow roll sampling". It lets the planner roll the sofa onto its side, as well as tilt it and turn it. In a tight stairwell, that's exactly the extra move that makes the difference.</a:t>
            </a:r>
          </a:p>
          <a:p/>
          <a:p>
            <a:r>
              <a:t>To see why, I turned it off. Our big sofa, two and a half by one point two by one point two, comes back with: "No route found". Now, be careful how you read that. The search is random, so it can't prove that no route exists. It just didn't find one.</a:t>
            </a:r>
          </a:p>
          <a:p/>
          <a:p>
            <a:r>
              <a:t>With roll sampling on, the way it is by default, the same sofa comes back with: "It fits!" A hundred and forty-two collision-free frames. Drag the timeline and you can watch the sofa roll its way up through the stairs.</a:t>
            </a:r>
          </a:p>
          <a:p/>
          <a:p>
            <a:r>
              <a:t>Same building, same sofa, one checkbox. That's the whole point of the tool: you can test a move before you ever lift a couch.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one: how do you describe where a couch is?</a:t>
            </a:r>
          </a:p>
          <a:p/>
          <a:p>
            <a:r>
              <a:t>With six numbers. X, Y and Z for position, and yaw, pitch and roll for rotation.</a:t>
            </a:r>
          </a:p>
          <a:p/>
          <a:p>
            <a:r>
              <a:t>The code stores that as a simple object, and converts the three angles into a quaternion, using Z-Y-X Euler order. We use the same convention everywhere, so rendering, collision checking and saving always agree.</a:t>
            </a:r>
          </a:p>
          <a:p/>
          <a:p>
            <a:r>
              <a:t>And here's a neat trick: "Allow roll sampling" is on by default, so the search uses all six dimensions. Turn it off and it drops to five, which is faster, but as you saw on the solver slide, some tight spots, like our staircase, can only be solved by rolling the furniture.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two: given a pose, is it legal?</a:t>
            </a:r>
          </a:p>
          <a:p/>
          <a:p>
            <a:r>
              <a:t>If every boundary point of the furniture is inside the room, the pose is legal.</a:t>
            </a:r>
          </a:p>
          <a:p/>
          <a:p>
            <a:r>
              <a:t>To check a move between two poses, we interpolate and test every little step along the way.</a:t>
            </a:r>
          </a:p>
          <a:p/>
          <a:p>
            <a:r>
              <a:t>And crossing a wall? That's only allowed through the entrance or exit.</a:t>
            </a:r>
          </a:p>
          <a:p/>
          <a:p>
            <a:r>
              <a:t>It's the exact same check for manual mode and for the solver.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it's your turn.</a:t>
            </a:r>
          </a:p>
          <a:p/>
          <a:p>
            <a:r>
              <a:t>Build an L-shaped hallway out of two connected blocks. You can make furniture and clearance of this size</a:t>
            </a:r>
          </a:p>
          <a:p/>
          <a:p>
            <a:r>
              <a:t>Try it manually first. Then run the solver.</a:t>
            </a:r>
          </a:p>
          <a:p/>
          <a:p>
            <a:r>
              <a:t>Then increase the furniture size until it stops fitting, and then turn roll sampling off and see what changes.</a:t>
            </a:r>
          </a:p>
          <a:p/>
          <a:p>
            <a:r>
              <a:t>So here's the question: what's the largest sofa that fits your hallway?</a:t>
            </a:r>
          </a:p>
          <a:p/>
          <a:p>
            <a:r>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4a"/><Relationship Id="rId2" Type="http://schemas.openxmlformats.org/officeDocument/2006/relationships/audio" Target="../media/media1.m4a"/><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jpe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microsoft.com/office/2007/relationships/media" Target="../media/media2.m4a"/><Relationship Id="rId3" Type="http://schemas.openxmlformats.org/officeDocument/2006/relationships/audio" Target="../media/media2.m4a"/><Relationship Id="rId4" Type="http://schemas.openxmlformats.org/officeDocument/2006/relationships/slideLayout" Target="../slideLayouts/slideLayout7.xml"/><Relationship Id="rId5" Type="http://schemas.openxmlformats.org/officeDocument/2006/relationships/notesSlide" Target="../notesSlides/notesSlide2.xml"/><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microsoft.com/office/2007/relationships/media" Target="../media/media3.m4a"/><Relationship Id="rId3" Type="http://schemas.openxmlformats.org/officeDocument/2006/relationships/audio" Target="../media/media3.m4a"/><Relationship Id="rId4" Type="http://schemas.openxmlformats.org/officeDocument/2006/relationships/slideLayout" Target="../slideLayouts/slideLayout7.xml"/><Relationship Id="rId5" Type="http://schemas.openxmlformats.org/officeDocument/2006/relationships/notesSlide" Target="../notesSlides/notesSlide3.xml"/><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2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jpg"/><Relationship Id="rId4" Type="http://schemas.openxmlformats.org/officeDocument/2006/relationships/image" Target="../media/image29.jpg"/><Relationship Id="rId5" Type="http://schemas.openxmlformats.org/officeDocument/2006/relationships/image" Target="../media/image33.jpg"/><Relationship Id="rId6" Type="http://schemas.openxmlformats.org/officeDocument/2006/relationships/image" Target="../media/image3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30.jpg"/><Relationship Id="rId6" Type="http://schemas.openxmlformats.org/officeDocument/2006/relationships/image" Target="../media/image31.jpg"/><Relationship Id="rId7" Type="http://schemas.openxmlformats.org/officeDocument/2006/relationships/image" Target="../media/image32.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image" Target="../media/image38.jpg"/></Relationships>
</file>

<file path=ppt/slides/_rels/slide11.xml.rels><?xml version='1.0' encoding='UTF-8' standalone='yes'?>
<Relationships xmlns="http://schemas.openxmlformats.org/package/2006/relationships"><Relationship Id="rId1" Type="http://schemas.microsoft.com/office/2007/relationships/media" Target="../media/media4.m4a"/><Relationship Id="rId2" Type="http://schemas.openxmlformats.org/officeDocument/2006/relationships/audio" Target="../media/media4.m4a"/><Relationship Id="rId3" Type="http://schemas.openxmlformats.org/officeDocument/2006/relationships/slideLayout" Target="../slideLayouts/slideLayout7.xml"/><Relationship Id="rId4" Type="http://schemas.openxmlformats.org/officeDocument/2006/relationships/notesSlide" Target="../notesSlides/notesSlide11.xml"/><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microsoft.com/office/2007/relationships/media" Target="../media/media5.m4a"/><Relationship Id="rId2" Type="http://schemas.openxmlformats.org/officeDocument/2006/relationships/audio" Target="../media/media5.m4a"/><Relationship Id="rId3"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22.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microsoft.com/office/2007/relationships/media" Target="../media/media6.m4a"/><Relationship Id="rId2" Type="http://schemas.openxmlformats.org/officeDocument/2006/relationships/audio" Target="../media/media6.m4a"/><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23.pn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microsoft.com/office/2007/relationships/media" Target="../media/media7.m4a"/><Relationship Id="rId2" Type="http://schemas.openxmlformats.org/officeDocument/2006/relationships/audio" Target="../media/media7.m4a"/><Relationship Id="rId3" Type="http://schemas.openxmlformats.org/officeDocument/2006/relationships/slideLayout" Target="../slideLayouts/slideLayout7.xml"/><Relationship Id="rId4" Type="http://schemas.openxmlformats.org/officeDocument/2006/relationships/notesSlide" Target="../notesSlides/notesSlide14.xml"/><Relationship Id="rId5" Type="http://schemas.openxmlformats.org/officeDocument/2006/relationships/image" Target="../media/image24.jpg"/><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microsoft.com/office/2007/relationships/media" Target="../media/media9.m4a"/><Relationship Id="rId2" Type="http://schemas.openxmlformats.org/officeDocument/2006/relationships/audio" Target="../media/media9.m4a"/><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26.png"/><Relationship Id="rId6"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microsoft.com/office/2007/relationships/media" Target="../media/media10.m4a"/><Relationship Id="rId2" Type="http://schemas.openxmlformats.org/officeDocument/2006/relationships/audio" Target="../media/media10.m4a"/><Relationship Id="rId3" Type="http://schemas.openxmlformats.org/officeDocument/2006/relationships/slideLayout" Target="../slideLayouts/slideLayout7.xml"/><Relationship Id="rId4" Type="http://schemas.openxmlformats.org/officeDocument/2006/relationships/notesSlide" Target="../notesSlides/notesSlide17.xml"/><Relationship Id="rId5" Type="http://schemas.openxmlformats.org/officeDocument/2006/relationships/hyperlink" Target="https://volcano1998.github.io/FurnitureSim_3D/" TargetMode="External"/><Relationship Id="rId6" Type="http://schemas.openxmlformats.org/officeDocument/2006/relationships/hyperlink" Target="https://volcano1998.github.io/FurnitureSim_3D/slides/" TargetMode="External"/><Relationship Id="rId7" Type="http://schemas.openxmlformats.org/officeDocument/2006/relationships/hyperlink" Target="https://github.com/volcano1998/FurnitureSim_3D" TargetMode="External"/><Relationship Id="rId8" Type="http://schemas.openxmlformats.org/officeDocument/2006/relationships/image" Target="../media/image27.jp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
        <p:nvSpPr>
          <p:cNvPr id="6" name="L-Shape 5">
            <a:extLst>
              <a:ext uri="{FF2B5EF4-FFF2-40B4-BE49-F238E27FC236}">
                <a16:creationId xmlns:a16="http://schemas.microsoft.com/office/drawing/2014/main" id="{9ED8F876-85F2-C418-91F1-8238F7236E55}"/>
              </a:ext>
            </a:extLst>
          </p:cNvPr>
          <p:cNvSpPr/>
          <p:nvPr/>
        </p:nvSpPr>
        <p:spPr>
          <a:xfrm>
            <a:off x="7037502" y="2566036"/>
            <a:ext cx="3191774" cy="2878587"/>
          </a:xfrm>
          <a:prstGeom prst="corner">
            <a:avLst>
              <a:gd name="adj1" fmla="val 35016"/>
              <a:gd name="adj2" fmla="val 38613"/>
            </a:avLst>
          </a:prstGeom>
          <a:solidFill>
            <a:schemeClr val="accent3">
              <a:lumMod val="60000"/>
              <a:lumOff val="4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59F54195-285E-3EBA-5D7D-F00E62A7733C}"/>
              </a:ext>
            </a:extLst>
          </p:cNvPr>
          <p:cNvSpPr/>
          <p:nvPr/>
        </p:nvSpPr>
        <p:spPr>
          <a:xfrm rot="20348982">
            <a:off x="7282254" y="310172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C883E7C-7BAF-3D7E-30C3-C252AC893848}"/>
              </a:ext>
            </a:extLst>
          </p:cNvPr>
          <p:cNvSpPr/>
          <p:nvPr/>
        </p:nvSpPr>
        <p:spPr>
          <a:xfrm rot="20348982">
            <a:off x="7425972" y="3896470"/>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C4D6DD2-5CCB-7C79-D544-9D72E1CE1D3D}"/>
              </a:ext>
            </a:extLst>
          </p:cNvPr>
          <p:cNvSpPr/>
          <p:nvPr/>
        </p:nvSpPr>
        <p:spPr>
          <a:xfrm rot="17993297">
            <a:off x="7849032" y="408133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1B1D2DC-B852-4AB7-FAAA-AA83B8C09DA4}"/>
              </a:ext>
            </a:extLst>
          </p:cNvPr>
          <p:cNvSpPr/>
          <p:nvPr/>
        </p:nvSpPr>
        <p:spPr>
          <a:xfrm rot="16200000">
            <a:off x="8950000" y="4218135"/>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6457021B-3C88-8307-5080-9A8A9ABEB78C}"/>
              </a:ext>
            </a:extLst>
          </p:cNvPr>
          <p:cNvSpPr/>
          <p:nvPr/>
        </p:nvSpPr>
        <p:spPr>
          <a:xfrm>
            <a:off x="7309558" y="223434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2DE73CA-9E96-E294-4DBA-9FABC9141F53}"/>
              </a:ext>
            </a:extLst>
          </p:cNvPr>
          <p:cNvSpPr/>
          <p:nvPr/>
        </p:nvSpPr>
        <p:spPr>
          <a:xfrm>
            <a:off x="7226686" y="1778000"/>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7355B772-AAA4-E7F7-B16F-176B37F5980B}"/>
              </a:ext>
            </a:extLst>
          </p:cNvPr>
          <p:cNvSpPr/>
          <p:nvPr/>
        </p:nvSpPr>
        <p:spPr>
          <a:xfrm rot="16200000">
            <a:off x="10350427" y="4804428"/>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two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666750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20955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LET'S OPEN THE APP</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Four steps, one screen</a:t>
            </a:r>
          </a:p>
        </p:txBody>
      </p:sp>
      <p:pic>
        <p:nvPicPr>
          <p:cNvPr id="4" name="Picture 3" descr="r_overview.jpg"/>
          <p:cNvPicPr>
            <a:picLocks noChangeAspect="1"/>
          </p:cNvPicPr>
          <p:nvPr/>
        </p:nvPicPr>
        <p:blipFill>
          <a:blip r:embed="rId2"/>
          <a:stretch>
            <a:fillRect/>
          </a:stretch>
        </p:blipFill>
        <p:spPr>
          <a:xfrm>
            <a:off x="698500" y="1587500"/>
            <a:ext cx="7747000" cy="4841875"/>
          </a:xfrm>
          <a:prstGeom prst="rect">
            <a:avLst/>
          </a:prstGeom>
          <a:ln w="12700">
            <a:solidFill>
              <a:srgbClr val="CFD8D1"/>
            </a:solidFill>
          </a:ln>
        </p:spPr>
      </p:pic>
      <p:sp>
        <p:nvSpPr>
          <p:cNvPr id="5" name="Rounded Rectangle 4"/>
          <p:cNvSpPr/>
          <p:nvPr/>
        </p:nvSpPr>
        <p:spPr>
          <a:xfrm>
            <a:off x="8699500" y="1663699"/>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0" y="1778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1</a:t>
            </a:r>
          </a:p>
        </p:txBody>
      </p:sp>
      <p:sp>
        <p:nvSpPr>
          <p:cNvPr id="7" name="TextBox 6"/>
          <p:cNvSpPr txBox="1"/>
          <p:nvPr/>
        </p:nvSpPr>
        <p:spPr>
          <a:xfrm>
            <a:off x="9271000" y="1790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Build</a:t>
            </a:r>
          </a:p>
        </p:txBody>
      </p:sp>
      <p:sp>
        <p:nvSpPr>
          <p:cNvPr id="8" name="TextBox 7"/>
          <p:cNvSpPr txBox="1"/>
          <p:nvPr/>
        </p:nvSpPr>
        <p:spPr>
          <a:xfrm>
            <a:off x="9271000" y="2070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Shape blocks and connect them</a:t>
            </a:r>
          </a:p>
        </p:txBody>
      </p:sp>
      <p:sp>
        <p:nvSpPr>
          <p:cNvPr id="9" name="Rounded Rectangle 8"/>
          <p:cNvSpPr/>
          <p:nvPr/>
        </p:nvSpPr>
        <p:spPr>
          <a:xfrm>
            <a:off x="8699500" y="2679700"/>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90000" y="2794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2</a:t>
            </a:r>
          </a:p>
        </p:txBody>
      </p:sp>
      <p:sp>
        <p:nvSpPr>
          <p:cNvPr id="11" name="TextBox 10"/>
          <p:cNvSpPr txBox="1"/>
          <p:nvPr/>
        </p:nvSpPr>
        <p:spPr>
          <a:xfrm>
            <a:off x="9271000" y="2806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Openings</a:t>
            </a:r>
          </a:p>
        </p:txBody>
      </p:sp>
      <p:sp>
        <p:nvSpPr>
          <p:cNvPr id="12" name="TextBox 11"/>
          <p:cNvSpPr txBox="1"/>
          <p:nvPr/>
        </p:nvSpPr>
        <p:spPr>
          <a:xfrm>
            <a:off x="9271000" y="3086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Pick where the furniture goes in and out</a:t>
            </a:r>
          </a:p>
        </p:txBody>
      </p:sp>
      <p:sp>
        <p:nvSpPr>
          <p:cNvPr id="13" name="Rounded Rectangle 12"/>
          <p:cNvSpPr/>
          <p:nvPr/>
        </p:nvSpPr>
        <p:spPr>
          <a:xfrm>
            <a:off x="8699500" y="3695699"/>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0" y="3810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3</a:t>
            </a:r>
          </a:p>
        </p:txBody>
      </p:sp>
      <p:sp>
        <p:nvSpPr>
          <p:cNvPr id="15" name="TextBox 14"/>
          <p:cNvSpPr txBox="1"/>
          <p:nvPr/>
        </p:nvSpPr>
        <p:spPr>
          <a:xfrm>
            <a:off x="9271000" y="3822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Furniture</a:t>
            </a:r>
          </a:p>
        </p:txBody>
      </p:sp>
      <p:sp>
        <p:nvSpPr>
          <p:cNvPr id="16" name="TextBox 15"/>
          <p:cNvSpPr txBox="1"/>
          <p:nvPr/>
        </p:nvSpPr>
        <p:spPr>
          <a:xfrm>
            <a:off x="9271000" y="4102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Set the size</a:t>
            </a:r>
          </a:p>
        </p:txBody>
      </p:sp>
      <p:sp>
        <p:nvSpPr>
          <p:cNvPr id="17" name="Rounded Rectangle 16"/>
          <p:cNvSpPr/>
          <p:nvPr/>
        </p:nvSpPr>
        <p:spPr>
          <a:xfrm>
            <a:off x="8699500" y="4711700"/>
            <a:ext cx="2794000" cy="889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90000" y="4826000"/>
            <a:ext cx="381000" cy="317500"/>
          </a:xfrm>
          <a:prstGeom prst="rect">
            <a:avLst/>
          </a:prstGeom>
          <a:noFill/>
        </p:spPr>
        <p:txBody>
          <a:bodyPr wrap="square" lIns="0" rIns="0" tIns="0" bIns="0" anchor="t">
            <a:spAutoFit/>
          </a:bodyPr>
          <a:lstStyle/>
          <a:p>
            <a:pPr algn="l">
              <a:lnSpc>
                <a:spcPct val="112000"/>
              </a:lnSpc>
              <a:spcAft>
                <a:spcPts val="0"/>
              </a:spcAft>
            </a:pPr>
            <a:r>
              <a:rPr sz="2400" b="1" i="0">
                <a:solidFill>
                  <a:srgbClr val="166B50"/>
                </a:solidFill>
                <a:latin typeface="Arial"/>
              </a:rPr>
              <a:t>4</a:t>
            </a:r>
          </a:p>
        </p:txBody>
      </p:sp>
      <p:sp>
        <p:nvSpPr>
          <p:cNvPr id="19" name="TextBox 18"/>
          <p:cNvSpPr txBox="1"/>
          <p:nvPr/>
        </p:nvSpPr>
        <p:spPr>
          <a:xfrm>
            <a:off x="9271000" y="4838700"/>
            <a:ext cx="2095500" cy="254000"/>
          </a:xfrm>
          <a:prstGeom prst="rect">
            <a:avLst/>
          </a:prstGeom>
          <a:noFill/>
        </p:spPr>
        <p:txBody>
          <a:bodyPr wrap="square" lIns="0" rIns="0" tIns="0" bIns="0" anchor="t">
            <a:spAutoFit/>
          </a:bodyPr>
          <a:lstStyle/>
          <a:p>
            <a:pPr algn="l">
              <a:lnSpc>
                <a:spcPct val="112000"/>
              </a:lnSpc>
              <a:spcAft>
                <a:spcPts val="0"/>
              </a:spcAft>
            </a:pPr>
            <a:r>
              <a:rPr sz="1900" b="1" i="0">
                <a:solidFill>
                  <a:srgbClr val="17211D"/>
                </a:solidFill>
                <a:latin typeface="Arial"/>
              </a:rPr>
              <a:t>Solve</a:t>
            </a:r>
          </a:p>
        </p:txBody>
      </p:sp>
      <p:sp>
        <p:nvSpPr>
          <p:cNvPr id="20" name="TextBox 19"/>
          <p:cNvSpPr txBox="1"/>
          <p:nvPr/>
        </p:nvSpPr>
        <p:spPr>
          <a:xfrm>
            <a:off x="9271000" y="5118100"/>
            <a:ext cx="2095500" cy="444500"/>
          </a:xfrm>
          <a:prstGeom prst="rect">
            <a:avLst/>
          </a:prstGeom>
          <a:noFill/>
        </p:spPr>
        <p:txBody>
          <a:bodyPr wrap="square" lIns="0" rIns="0" tIns="0" bIns="0" anchor="t">
            <a:spAutoFit/>
          </a:bodyPr>
          <a:lstStyle/>
          <a:p>
            <a:pPr algn="l">
              <a:lnSpc>
                <a:spcPct val="115000"/>
              </a:lnSpc>
              <a:spcAft>
                <a:spcPts val="0"/>
              </a:spcAft>
            </a:pPr>
            <a:r>
              <a:rPr sz="1350" b="0" i="0">
                <a:solidFill>
                  <a:srgbClr val="5D6963"/>
                </a:solidFill>
                <a:latin typeface="Arial"/>
              </a:rPr>
              <a:t>Try it yourself or let the planner 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Build any shape you can imagine</a:t>
            </a:r>
          </a:p>
        </p:txBody>
      </p:sp>
      <p:sp>
        <p:nvSpPr>
          <p:cNvPr id="4" name="TextBox 3"/>
          <p:cNvSpPr txBox="1"/>
          <p:nvPr/>
        </p:nvSpPr>
        <p:spPr>
          <a:xfrm>
            <a:off x="698500" y="1619250"/>
            <a:ext cx="10795000" cy="285271"/>
          </a:xfrm>
          <a:prstGeom prst="rect">
            <a:avLst/>
          </a:prstGeom>
          <a:noFill/>
        </p:spPr>
        <p:txBody>
          <a:bodyPr wrap="square" lIns="0" tIns="0" rIns="0" bIns="0" anchor="t">
            <a:spAutoFit/>
          </a:bodyPr>
          <a:lstStyle/>
          <a:p>
            <a:pPr algn="l">
              <a:lnSpc>
                <a:spcPct val="112000"/>
              </a:lnSpc>
              <a:spcAft>
                <a:spcPts val="0"/>
              </a:spcAft>
            </a:pPr>
            <a:r>
              <a:rPr lang="en-US" sz="1800" b="0" i="0" dirty="0">
                <a:solidFill>
                  <a:srgbClr val="5D6963"/>
                </a:solidFill>
                <a:latin typeface="Arial"/>
              </a:rPr>
              <a:t>They are all built in my app!</a:t>
            </a:r>
            <a:endParaRPr sz="1800" b="0" i="0" dirty="0">
              <a:solidFill>
                <a:srgbClr val="5D6963"/>
              </a:solidFill>
              <a:latin typeface="Arial"/>
            </a:endParaRPr>
          </a:p>
        </p:txBody>
      </p:sp>
      <p:sp>
        <p:nvSpPr>
          <p:cNvPr id="7" name="TextBox 6"/>
          <p:cNvSpPr txBox="1"/>
          <p:nvPr/>
        </p:nvSpPr>
        <p:spPr>
          <a:xfrm>
            <a:off x="698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L-shaped hallway</a:t>
            </a:r>
            <a:endParaRPr sz="1600" b="1" i="0" dirty="0">
              <a:solidFill>
                <a:srgbClr val="17211D"/>
              </a:solidFill>
              <a:latin typeface="Arial"/>
            </a:endParaRPr>
          </a:p>
        </p:txBody>
      </p:sp>
      <p:sp>
        <p:nvSpPr>
          <p:cNvPr id="10" name="TextBox 9"/>
          <p:cNvSpPr txBox="1"/>
          <p:nvPr/>
        </p:nvSpPr>
        <p:spPr>
          <a:xfrm>
            <a:off x="2889250" y="4241800"/>
            <a:ext cx="2032000" cy="253531"/>
          </a:xfrm>
          <a:prstGeom prst="rect">
            <a:avLst/>
          </a:prstGeom>
          <a:noFill/>
        </p:spPr>
        <p:txBody>
          <a:bodyPr wrap="square" lIns="0" tIns="0" rIns="0" bIns="0" anchor="t">
            <a:spAutoFit/>
          </a:bodyPr>
          <a:lstStyle/>
          <a:p>
            <a:pPr algn="ctr">
              <a:lnSpc>
                <a:spcPct val="112000"/>
              </a:lnSpc>
              <a:spcAft>
                <a:spcPts val="0"/>
              </a:spcAft>
            </a:pPr>
            <a:r>
              <a:rPr sz="1600" b="1" i="0" dirty="0">
                <a:solidFill>
                  <a:srgbClr val="17211D"/>
                </a:solidFill>
                <a:latin typeface="Arial"/>
              </a:rPr>
              <a:t>Zig-zag</a:t>
            </a:r>
            <a:r>
              <a:rPr lang="en-US" sz="1600" b="1" i="0" dirty="0">
                <a:solidFill>
                  <a:srgbClr val="17211D"/>
                </a:solidFill>
                <a:latin typeface="Arial"/>
              </a:rPr>
              <a:t> hallway</a:t>
            </a:r>
            <a:endParaRPr sz="1600" b="1" i="0" dirty="0">
              <a:solidFill>
                <a:srgbClr val="17211D"/>
              </a:solidFill>
              <a:latin typeface="Arial"/>
            </a:endParaRPr>
          </a:p>
        </p:txBody>
      </p:sp>
      <p:sp>
        <p:nvSpPr>
          <p:cNvPr id="13" name="TextBox 12"/>
          <p:cNvSpPr txBox="1"/>
          <p:nvPr/>
        </p:nvSpPr>
        <p:spPr>
          <a:xfrm>
            <a:off x="50800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U shaped staircase</a:t>
            </a:r>
            <a:endParaRPr sz="1600" b="1" i="0" dirty="0">
              <a:solidFill>
                <a:srgbClr val="17211D"/>
              </a:solidFill>
              <a:latin typeface="Arial"/>
            </a:endParaRPr>
          </a:p>
        </p:txBody>
      </p:sp>
      <p:sp>
        <p:nvSpPr>
          <p:cNvPr id="16" name="TextBox 15"/>
          <p:cNvSpPr txBox="1"/>
          <p:nvPr/>
        </p:nvSpPr>
        <p:spPr>
          <a:xfrm>
            <a:off x="727075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 shaped staircase</a:t>
            </a:r>
            <a:endParaRPr sz="1600" b="1" i="0" dirty="0">
              <a:solidFill>
                <a:srgbClr val="17211D"/>
              </a:solidFill>
              <a:latin typeface="Arial"/>
            </a:endParaRPr>
          </a:p>
        </p:txBody>
      </p:sp>
      <p:sp>
        <p:nvSpPr>
          <p:cNvPr id="19" name="TextBox 18"/>
          <p:cNvSpPr txBox="1"/>
          <p:nvPr/>
        </p:nvSpPr>
        <p:spPr>
          <a:xfrm>
            <a:off x="9461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Super twisty</a:t>
            </a:r>
            <a:endParaRPr sz="1600" b="1" i="0" dirty="0">
              <a:solidFill>
                <a:srgbClr val="17211D"/>
              </a:solidFill>
              <a:latin typeface="Arial"/>
            </a:endParaRPr>
          </a:p>
        </p:txBody>
      </p:sp>
      <p:sp>
        <p:nvSpPr>
          <p:cNvPr id="20" name="Rounded Rectangle 19"/>
          <p:cNvSpPr/>
          <p:nvPr/>
        </p:nvSpPr>
        <p:spPr>
          <a:xfrm>
            <a:off x="6985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1  Shape blocks</a:t>
            </a:r>
          </a:p>
        </p:txBody>
      </p:sp>
      <p:sp>
        <p:nvSpPr>
          <p:cNvPr id="21" name="Right Arrow 20"/>
          <p:cNvSpPr/>
          <p:nvPr/>
        </p:nvSpPr>
        <p:spPr>
          <a:xfrm>
            <a:off x="28448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1750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2  Connect them</a:t>
            </a:r>
          </a:p>
        </p:txBody>
      </p:sp>
      <p:sp>
        <p:nvSpPr>
          <p:cNvPr id="23" name="Right Arrow 22"/>
          <p:cNvSpPr/>
          <p:nvPr/>
        </p:nvSpPr>
        <p:spPr>
          <a:xfrm>
            <a:off x="53213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1500" y="4889500"/>
            <a:ext cx="25400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3  Test your furniture</a:t>
            </a:r>
          </a:p>
        </p:txBody>
      </p:sp>
      <p:sp>
        <p:nvSpPr>
          <p:cNvPr id="25" name="Rounded Rectangle 24"/>
          <p:cNvSpPr/>
          <p:nvPr/>
        </p:nvSpPr>
        <p:spPr>
          <a:xfrm>
            <a:off x="698500" y="5588000"/>
            <a:ext cx="10795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600" b="0" i="0" dirty="0">
                <a:solidFill>
                  <a:srgbClr val="EAF5EE"/>
                </a:solidFill>
                <a:latin typeface="Arial"/>
              </a:rPr>
              <a:t>Each of these </a:t>
            </a:r>
            <a:r>
              <a:rPr lang="en-US" sz="1600" dirty="0">
                <a:solidFill>
                  <a:srgbClr val="EAF5EE"/>
                </a:solidFill>
                <a:latin typeface="Arial"/>
              </a:rPr>
              <a:t>are built from simple blocks</a:t>
            </a:r>
            <a:r>
              <a:rPr sz="1600" b="0" i="0" dirty="0">
                <a:solidFill>
                  <a:srgbClr val="EAF5EE"/>
                </a:solidFill>
                <a:latin typeface="Arial"/>
              </a:rPr>
              <a:t>. Change how the blocks are shaped or connected, and you get a different building.</a:t>
            </a:r>
          </a:p>
        </p:txBody>
      </p:sp>
      <p:pic>
        <p:nvPicPr>
          <p:cNvPr id="27" name="Picture 26">
            <a:extLst>
              <a:ext uri="{FF2B5EF4-FFF2-40B4-BE49-F238E27FC236}">
                <a16:creationId xmlns:a16="http://schemas.microsoft.com/office/drawing/2014/main" id="{540886F5-DB66-AC12-9517-47691BA66946}"/>
              </a:ext>
            </a:extLst>
          </p:cNvPr>
          <p:cNvPicPr>
            <a:picLocks noChangeAspect="1"/>
          </p:cNvPicPr>
          <p:nvPr/>
        </p:nvPicPr>
        <p:blipFill>
          <a:blip r:embed="rId3"/>
          <a:stretch>
            <a:fillRect/>
          </a:stretch>
        </p:blipFill>
        <p:spPr>
          <a:xfrm>
            <a:off x="968904" y="2152650"/>
            <a:ext cx="1649942" cy="1850442"/>
          </a:xfrm>
          <a:prstGeom prst="rect">
            <a:avLst/>
          </a:prstGeom>
        </p:spPr>
      </p:pic>
      <p:pic>
        <p:nvPicPr>
          <p:cNvPr id="29" name="Picture 28">
            <a:extLst>
              <a:ext uri="{FF2B5EF4-FFF2-40B4-BE49-F238E27FC236}">
                <a16:creationId xmlns:a16="http://schemas.microsoft.com/office/drawing/2014/main" id="{9A03F0B2-BCAE-C436-35CA-1A80F8685145}"/>
              </a:ext>
            </a:extLst>
          </p:cNvPr>
          <p:cNvPicPr>
            <a:picLocks noChangeAspect="1"/>
          </p:cNvPicPr>
          <p:nvPr/>
        </p:nvPicPr>
        <p:blipFill>
          <a:blip r:embed="rId4"/>
          <a:stretch>
            <a:fillRect/>
          </a:stretch>
        </p:blipFill>
        <p:spPr>
          <a:xfrm>
            <a:off x="3034164" y="2603500"/>
            <a:ext cx="1746113" cy="1234492"/>
          </a:xfrm>
          <a:prstGeom prst="rect">
            <a:avLst/>
          </a:prstGeom>
        </p:spPr>
      </p:pic>
      <p:pic>
        <p:nvPicPr>
          <p:cNvPr id="31" name="Picture 30">
            <a:extLst>
              <a:ext uri="{FF2B5EF4-FFF2-40B4-BE49-F238E27FC236}">
                <a16:creationId xmlns:a16="http://schemas.microsoft.com/office/drawing/2014/main" id="{BEA655C2-8092-4637-6169-9086FC28B095}"/>
              </a:ext>
            </a:extLst>
          </p:cNvPr>
          <p:cNvPicPr>
            <a:picLocks noChangeAspect="1"/>
          </p:cNvPicPr>
          <p:nvPr/>
        </p:nvPicPr>
        <p:blipFill>
          <a:blip r:embed="rId5"/>
          <a:stretch>
            <a:fillRect/>
          </a:stretch>
        </p:blipFill>
        <p:spPr>
          <a:xfrm>
            <a:off x="5001683" y="2234379"/>
            <a:ext cx="2054888" cy="1621367"/>
          </a:xfrm>
          <a:prstGeom prst="rect">
            <a:avLst/>
          </a:prstGeom>
        </p:spPr>
      </p:pic>
      <p:pic>
        <p:nvPicPr>
          <p:cNvPr id="33" name="Picture 32">
            <a:extLst>
              <a:ext uri="{FF2B5EF4-FFF2-40B4-BE49-F238E27FC236}">
                <a16:creationId xmlns:a16="http://schemas.microsoft.com/office/drawing/2014/main" id="{433082D9-4226-858A-D81D-36DE938A2CBD}"/>
              </a:ext>
            </a:extLst>
          </p:cNvPr>
          <p:cNvPicPr>
            <a:picLocks noChangeAspect="1"/>
          </p:cNvPicPr>
          <p:nvPr/>
        </p:nvPicPr>
        <p:blipFill>
          <a:blip r:embed="rId6"/>
          <a:stretch>
            <a:fillRect/>
          </a:stretch>
        </p:blipFill>
        <p:spPr>
          <a:xfrm>
            <a:off x="7425267" y="2355850"/>
            <a:ext cx="1459887" cy="1670050"/>
          </a:xfrm>
          <a:prstGeom prst="rect">
            <a:avLst/>
          </a:prstGeom>
        </p:spPr>
      </p:pic>
      <p:pic>
        <p:nvPicPr>
          <p:cNvPr id="35" name="Picture 34">
            <a:extLst>
              <a:ext uri="{FF2B5EF4-FFF2-40B4-BE49-F238E27FC236}">
                <a16:creationId xmlns:a16="http://schemas.microsoft.com/office/drawing/2014/main" id="{1B642F22-8159-182C-C23E-B75D7AE4BA1B}"/>
              </a:ext>
            </a:extLst>
          </p:cNvPr>
          <p:cNvPicPr>
            <a:picLocks noChangeAspect="1"/>
          </p:cNvPicPr>
          <p:nvPr/>
        </p:nvPicPr>
        <p:blipFill>
          <a:blip r:embed="rId7"/>
          <a:stretch>
            <a:fillRect/>
          </a:stretch>
        </p:blipFill>
        <p:spPr>
          <a:xfrm>
            <a:off x="9353550" y="2156095"/>
            <a:ext cx="2015596" cy="17965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SHAPE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Shape the blocks</a:t>
            </a:r>
          </a:p>
        </p:txBody>
      </p:sp>
      <p:sp>
        <p:nvSpPr>
          <p:cNvPr id="4" name="TextBox 3"/>
          <p:cNvSpPr txBox="1"/>
          <p:nvPr/>
        </p:nvSpPr>
        <p:spPr>
          <a:xfrm>
            <a:off x="698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Stretch it</a:t>
            </a:r>
          </a:p>
        </p:txBody>
      </p:sp>
      <p:sp>
        <p:nvSpPr>
          <p:cNvPr id="5" name="TextBox 4"/>
          <p:cNvSpPr txBox="1"/>
          <p:nvPr/>
        </p:nvSpPr>
        <p:spPr>
          <a:xfrm>
            <a:off x="698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length sliders to make a block longer, wider or taller.</a:t>
            </a:r>
          </a:p>
        </p:txBody>
      </p:sp>
      <p:pic>
        <p:nvPicPr>
          <p:cNvPr id="6" name="Picture 5" descr="s5_st_a.jpg"/>
          <p:cNvPicPr>
            <a:picLocks noChangeAspect="1"/>
          </p:cNvPicPr>
          <p:nvPr/>
        </p:nvPicPr>
        <p:blipFill>
          <a:blip r:embed="rId3"/>
          <a:srcRect l="15278" t="14815" r="42130" b="17037"/>
          <a:stretch>
            <a:fillRect/>
          </a:stretch>
        </p:blipFill>
        <p:spPr>
          <a:xfrm>
            <a:off x="698500" y="2571750"/>
            <a:ext cx="1524000" cy="1524000"/>
          </a:xfrm>
          <a:prstGeom prst="rect">
            <a:avLst/>
          </a:prstGeom>
          <a:ln w="12700">
            <a:solidFill>
              <a:srgbClr val="CFD8D1"/>
            </a:solidFill>
          </a:ln>
        </p:spPr>
      </p:pic>
      <p:pic>
        <p:nvPicPr>
          <p:cNvPr id="7" name="Picture 6" descr="s5_st_b.jpg"/>
          <p:cNvPicPr>
            <a:picLocks noChangeAspect="1"/>
          </p:cNvPicPr>
          <p:nvPr/>
        </p:nvPicPr>
        <p:blipFill>
          <a:blip r:embed="rId4"/>
          <a:srcRect l="15278" t="14815" r="42130" b="17037"/>
          <a:stretch>
            <a:fillRect/>
          </a:stretch>
        </p:blipFill>
        <p:spPr>
          <a:xfrm>
            <a:off x="2349500" y="2571750"/>
            <a:ext cx="1524000" cy="1524000"/>
          </a:xfrm>
          <a:prstGeom prst="rect">
            <a:avLst/>
          </a:prstGeom>
          <a:ln w="12700">
            <a:solidFill>
              <a:srgbClr val="CFD8D1"/>
            </a:solidFill>
          </a:ln>
        </p:spPr>
      </p:pic>
      <p:sp>
        <p:nvSpPr>
          <p:cNvPr id="8" name="TextBox 7"/>
          <p:cNvSpPr txBox="1"/>
          <p:nvPr/>
        </p:nvSpPr>
        <p:spPr>
          <a:xfrm>
            <a:off x="698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Length 3.0</a:t>
            </a:r>
          </a:p>
        </p:txBody>
      </p:sp>
      <p:sp>
        <p:nvSpPr>
          <p:cNvPr id="9" name="TextBox 8"/>
          <p:cNvSpPr txBox="1"/>
          <p:nvPr/>
        </p:nvSpPr>
        <p:spPr>
          <a:xfrm>
            <a:off x="2349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Length 7.0</a:t>
            </a:r>
          </a:p>
        </p:txBody>
      </p:sp>
      <p:pic>
        <p:nvPicPr>
          <p:cNvPr id="10" name="Picture 9" descr="s5_st_b.jpg"/>
          <p:cNvPicPr>
            <a:picLocks noChangeAspect="1"/>
          </p:cNvPicPr>
          <p:nvPr/>
        </p:nvPicPr>
        <p:blipFill>
          <a:blip r:embed="rId4"/>
          <a:srcRect l="74537" t="57778" r="1389" b="14815"/>
          <a:stretch>
            <a:fillRect/>
          </a:stretch>
        </p:blipFill>
        <p:spPr>
          <a:xfrm>
            <a:off x="698500" y="4476750"/>
            <a:ext cx="2921000" cy="2078403"/>
          </a:xfrm>
          <a:prstGeom prst="rect">
            <a:avLst/>
          </a:prstGeom>
          <a:ln w="12700">
            <a:solidFill>
              <a:srgbClr val="CFD8D1"/>
            </a:solidFill>
          </a:ln>
        </p:spPr>
      </p:pic>
      <p:sp>
        <p:nvSpPr>
          <p:cNvPr id="11" name="TextBox 10"/>
          <p:cNvSpPr txBox="1"/>
          <p:nvPr/>
        </p:nvSpPr>
        <p:spPr>
          <a:xfrm>
            <a:off x="44450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Tilt it</a:t>
            </a:r>
          </a:p>
        </p:txBody>
      </p:sp>
      <p:sp>
        <p:nvSpPr>
          <p:cNvPr id="12" name="TextBox 11"/>
          <p:cNvSpPr txBox="1"/>
          <p:nvPr/>
        </p:nvSpPr>
        <p:spPr>
          <a:xfrm>
            <a:off x="44450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angle sliders. A tilted block becomes a ramp or stairs.</a:t>
            </a:r>
          </a:p>
        </p:txBody>
      </p:sp>
      <p:pic>
        <p:nvPicPr>
          <p:cNvPr id="13" name="Picture 12" descr="s5_ti_a.jpg"/>
          <p:cNvPicPr>
            <a:picLocks noChangeAspect="1"/>
          </p:cNvPicPr>
          <p:nvPr/>
        </p:nvPicPr>
        <p:blipFill>
          <a:blip r:embed="rId5"/>
          <a:srcRect l="15278" t="14815" r="42130" b="17037"/>
          <a:stretch>
            <a:fillRect/>
          </a:stretch>
        </p:blipFill>
        <p:spPr>
          <a:xfrm>
            <a:off x="4445000" y="2571750"/>
            <a:ext cx="1524000" cy="1524000"/>
          </a:xfrm>
          <a:prstGeom prst="rect">
            <a:avLst/>
          </a:prstGeom>
          <a:ln w="12700">
            <a:solidFill>
              <a:srgbClr val="CFD8D1"/>
            </a:solidFill>
          </a:ln>
        </p:spPr>
      </p:pic>
      <p:pic>
        <p:nvPicPr>
          <p:cNvPr id="14" name="Picture 13" descr="s5_ti_b.jpg"/>
          <p:cNvPicPr>
            <a:picLocks noChangeAspect="1"/>
          </p:cNvPicPr>
          <p:nvPr/>
        </p:nvPicPr>
        <p:blipFill>
          <a:blip r:embed="rId6"/>
          <a:srcRect l="15278" t="14815" r="42130" b="17037"/>
          <a:stretch>
            <a:fillRect/>
          </a:stretch>
        </p:blipFill>
        <p:spPr>
          <a:xfrm>
            <a:off x="6096000" y="2571750"/>
            <a:ext cx="1524000" cy="1524000"/>
          </a:xfrm>
          <a:prstGeom prst="rect">
            <a:avLst/>
          </a:prstGeom>
          <a:ln w="12700">
            <a:solidFill>
              <a:srgbClr val="CFD8D1"/>
            </a:solidFill>
          </a:ln>
        </p:spPr>
      </p:pic>
      <p:sp>
        <p:nvSpPr>
          <p:cNvPr id="15" name="TextBox 14"/>
          <p:cNvSpPr txBox="1"/>
          <p:nvPr/>
        </p:nvSpPr>
        <p:spPr>
          <a:xfrm>
            <a:off x="4445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Angle 90°</a:t>
            </a:r>
          </a:p>
        </p:txBody>
      </p:sp>
      <p:sp>
        <p:nvSpPr>
          <p:cNvPr id="16" name="TextBox 15"/>
          <p:cNvSpPr txBox="1"/>
          <p:nvPr/>
        </p:nvSpPr>
        <p:spPr>
          <a:xfrm>
            <a:off x="6096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Angle 60°</a:t>
            </a:r>
          </a:p>
        </p:txBody>
      </p:sp>
      <p:pic>
        <p:nvPicPr>
          <p:cNvPr id="17" name="Picture 16" descr="s5_ti_b_scroll.jpg"/>
          <p:cNvPicPr>
            <a:picLocks noChangeAspect="1"/>
          </p:cNvPicPr>
          <p:nvPr/>
        </p:nvPicPr>
        <p:blipFill>
          <a:blip r:embed="rId7"/>
          <a:srcRect l="74537" t="20741" r="1389" b="50370"/>
          <a:stretch>
            <a:fillRect/>
          </a:stretch>
        </p:blipFill>
        <p:spPr>
          <a:xfrm>
            <a:off x="4445000" y="4476750"/>
            <a:ext cx="2921000" cy="2190750"/>
          </a:xfrm>
          <a:prstGeom prst="rect">
            <a:avLst/>
          </a:prstGeom>
          <a:ln w="12700">
            <a:solidFill>
              <a:srgbClr val="CFD8D1"/>
            </a:solidFill>
          </a:ln>
        </p:spPr>
      </p:pic>
      <p:sp>
        <p:nvSpPr>
          <p:cNvPr id="18" name="TextBox 17"/>
          <p:cNvSpPr txBox="1"/>
          <p:nvPr/>
        </p:nvSpPr>
        <p:spPr>
          <a:xfrm>
            <a:off x="8191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Add more</a:t>
            </a:r>
          </a:p>
        </p:txBody>
      </p:sp>
      <p:sp>
        <p:nvSpPr>
          <p:cNvPr id="19" name="TextBox 18"/>
          <p:cNvSpPr txBox="1"/>
          <p:nvPr/>
        </p:nvSpPr>
        <p:spPr>
          <a:xfrm>
            <a:off x="8191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Press + Add object for another block. Build as many as you need.</a:t>
            </a:r>
          </a:p>
        </p:txBody>
      </p:sp>
      <p:pic>
        <p:nvPicPr>
          <p:cNvPr id="20" name="Picture 19" descr="s5_ti_a.jpg"/>
          <p:cNvPicPr>
            <a:picLocks noChangeAspect="1"/>
          </p:cNvPicPr>
          <p:nvPr/>
        </p:nvPicPr>
        <p:blipFill>
          <a:blip r:embed="rId5"/>
          <a:srcRect l="15278" t="14815" r="42130" b="17037"/>
          <a:stretch>
            <a:fillRect/>
          </a:stretch>
        </p:blipFill>
        <p:spPr>
          <a:xfrm>
            <a:off x="8191500" y="2571750"/>
            <a:ext cx="1524000" cy="1524000"/>
          </a:xfrm>
          <a:prstGeom prst="rect">
            <a:avLst/>
          </a:prstGeom>
          <a:ln w="12700">
            <a:solidFill>
              <a:srgbClr val="CFD8D1"/>
            </a:solidFill>
          </a:ln>
        </p:spPr>
      </p:pic>
      <p:pic>
        <p:nvPicPr>
          <p:cNvPr id="21" name="Picture 20" descr="s5_ad_b.jpg"/>
          <p:cNvPicPr>
            <a:picLocks noChangeAspect="1"/>
          </p:cNvPicPr>
          <p:nvPr/>
        </p:nvPicPr>
        <p:blipFill>
          <a:blip r:embed="rId8"/>
          <a:srcRect l="15278" t="14815" r="42130" b="17037"/>
          <a:stretch>
            <a:fillRect/>
          </a:stretch>
        </p:blipFill>
        <p:spPr>
          <a:xfrm>
            <a:off x="9842500" y="2571750"/>
            <a:ext cx="1524000" cy="1524000"/>
          </a:xfrm>
          <a:prstGeom prst="rect">
            <a:avLst/>
          </a:prstGeom>
          <a:ln w="12700">
            <a:solidFill>
              <a:srgbClr val="CFD8D1"/>
            </a:solidFill>
          </a:ln>
        </p:spPr>
      </p:pic>
      <p:sp>
        <p:nvSpPr>
          <p:cNvPr id="22" name="TextBox 21"/>
          <p:cNvSpPr txBox="1"/>
          <p:nvPr/>
        </p:nvSpPr>
        <p:spPr>
          <a:xfrm>
            <a:off x="8191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1 block</a:t>
            </a:r>
          </a:p>
        </p:txBody>
      </p:sp>
      <p:sp>
        <p:nvSpPr>
          <p:cNvPr id="23" name="TextBox 22"/>
          <p:cNvSpPr txBox="1"/>
          <p:nvPr/>
        </p:nvSpPr>
        <p:spPr>
          <a:xfrm>
            <a:off x="9842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3 blocks</a:t>
            </a:r>
          </a:p>
        </p:txBody>
      </p:sp>
      <p:pic>
        <p:nvPicPr>
          <p:cNvPr id="24" name="Picture 23" descr="s5_ad_b.jpg"/>
          <p:cNvPicPr>
            <a:picLocks noChangeAspect="1"/>
          </p:cNvPicPr>
          <p:nvPr/>
        </p:nvPicPr>
        <p:blipFill>
          <a:blip r:embed="rId8"/>
          <a:srcRect l="74537" t="34815" r="1389" b="48148"/>
          <a:stretch>
            <a:fillRect/>
          </a:stretch>
        </p:blipFill>
        <p:spPr>
          <a:xfrm>
            <a:off x="8191500" y="4476750"/>
            <a:ext cx="2921000" cy="1291980"/>
          </a:xfrm>
          <a:prstGeom prst="rect">
            <a:avLst/>
          </a:prstGeom>
          <a:ln w="12700">
            <a:solidFill>
              <a:srgbClr val="CFD8D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0828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CONNECT</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Connect them together</a:t>
            </a:r>
          </a:p>
        </p:txBody>
      </p:sp>
      <p:sp>
        <p:nvSpPr>
          <p:cNvPr id="4" name="TextBox 3"/>
          <p:cNvSpPr txBox="1"/>
          <p:nvPr/>
        </p:nvSpPr>
        <p:spPr>
          <a:xfrm>
            <a:off x="698500" y="2032000"/>
            <a:ext cx="4064000" cy="2794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Connect two objects</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one face on each block.</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Drag the sliders to </a:t>
            </a:r>
            <a:r>
              <a:rPr sz="1700" b="1" i="0">
                <a:solidFill>
                  <a:srgbClr val="17211D"/>
                </a:solidFill>
                <a:latin typeface="Arial"/>
              </a:rPr>
              <a:t>rotate</a:t>
            </a:r>
            <a:r>
              <a:rPr sz="1700" b="0" i="0">
                <a:solidFill>
                  <a:srgbClr val="17211D"/>
                </a:solidFill>
                <a:latin typeface="Arial"/>
              </a:rPr>
              <a:t> and </a:t>
            </a:r>
            <a:r>
              <a:rPr sz="1700" b="1" i="0">
                <a:solidFill>
                  <a:srgbClr val="17211D"/>
                </a:solidFill>
                <a:latin typeface="Arial"/>
              </a:rPr>
              <a:t>slide</a:t>
            </a:r>
            <a:r>
              <a:rPr sz="1700" b="0" i="0">
                <a:solidFill>
                  <a:srgbClr val="17211D"/>
                </a:solidFill>
                <a:latin typeface="Arial"/>
              </a:rPr>
              <a:t> them until they line up.</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Apply</a:t>
            </a:r>
            <a:r>
              <a:rPr sz="1700" b="0" i="0">
                <a:solidFill>
                  <a:srgbClr val="17211D"/>
                </a:solidFill>
                <a:latin typeface="Arial"/>
              </a:rPr>
              <a:t>. Repeat for every joint.</a:t>
            </a:r>
          </a:p>
        </p:txBody>
      </p:sp>
      <p:sp>
        <p:nvSpPr>
          <p:cNvPr id="5" name="Rounded Rectangle 4"/>
          <p:cNvSpPr/>
          <p:nvPr/>
        </p:nvSpPr>
        <p:spPr>
          <a:xfrm>
            <a:off x="698500" y="5143500"/>
            <a:ext cx="4064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Rotating one block against the other changes the angle between the two surfaces. That's how you bend a hallway.</a:t>
            </a:r>
          </a:p>
        </p:txBody>
      </p:sp>
      <p:pic>
        <p:nvPicPr>
          <p:cNvPr id="6" name="Picture 5" descr="j_before.jpg"/>
          <p:cNvPicPr>
            <a:picLocks noChangeAspect="1"/>
          </p:cNvPicPr>
          <p:nvPr/>
        </p:nvPicPr>
        <p:blipFill>
          <a:blip r:embed="rId3"/>
          <a:srcRect t="2222" r="49074" b="19259"/>
          <a:stretch>
            <a:fillRect/>
          </a:stretch>
        </p:blipFill>
        <p:spPr>
          <a:xfrm>
            <a:off x="5080000" y="1841500"/>
            <a:ext cx="3175000" cy="3059545"/>
          </a:xfrm>
          <a:prstGeom prst="rect">
            <a:avLst/>
          </a:prstGeom>
          <a:ln w="12700">
            <a:solidFill>
              <a:srgbClr val="CFD8D1"/>
            </a:solidFill>
          </a:ln>
        </p:spPr>
      </p:pic>
      <p:pic>
        <p:nvPicPr>
          <p:cNvPr id="7" name="Picture 6" descr="j_after.jpg"/>
          <p:cNvPicPr>
            <a:picLocks noChangeAspect="1"/>
          </p:cNvPicPr>
          <p:nvPr/>
        </p:nvPicPr>
        <p:blipFill>
          <a:blip r:embed="rId4"/>
          <a:srcRect t="2222" r="49074" b="19259"/>
          <a:stretch>
            <a:fillRect/>
          </a:stretch>
        </p:blipFill>
        <p:spPr>
          <a:xfrm>
            <a:off x="8382000" y="1841500"/>
            <a:ext cx="3175000" cy="3059545"/>
          </a:xfrm>
          <a:prstGeom prst="rect">
            <a:avLst/>
          </a:prstGeom>
          <a:ln w="12700">
            <a:solidFill>
              <a:srgbClr val="CFD8D1"/>
            </a:solidFill>
          </a:ln>
        </p:spPr>
      </p:pic>
      <p:sp>
        <p:nvSpPr>
          <p:cNvPr id="8" name="TextBox 7"/>
          <p:cNvSpPr txBox="1"/>
          <p:nvPr/>
        </p:nvSpPr>
        <p:spPr>
          <a:xfrm>
            <a:off x="5080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Just attached</a:t>
            </a:r>
          </a:p>
        </p:txBody>
      </p:sp>
      <p:sp>
        <p:nvSpPr>
          <p:cNvPr id="9" name="TextBox 8"/>
          <p:cNvSpPr txBox="1"/>
          <p:nvPr/>
        </p:nvSpPr>
        <p:spPr>
          <a:xfrm>
            <a:off x="8382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After rotating and sliding</a:t>
            </a:r>
          </a:p>
        </p:txBody>
      </p:sp>
      <p:sp>
        <p:nvSpPr>
          <p:cNvPr id="10" name="TextBox 9"/>
          <p:cNvSpPr txBox="1"/>
          <p:nvPr/>
        </p:nvSpPr>
        <p:spPr>
          <a:xfrm>
            <a:off x="5080000" y="5282045"/>
            <a:ext cx="6477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a:t>
            </a:r>
            <a:r>
              <a:rPr sz="1400" b="1" i="0">
                <a:solidFill>
                  <a:srgbClr val="17211D"/>
                </a:solidFill>
                <a:latin typeface="Arial"/>
              </a:rPr>
              <a:t>Rotate moving surface</a:t>
            </a:r>
            <a:r>
              <a:rPr sz="1400" b="0" i="0">
                <a:solidFill>
                  <a:srgbClr val="5D6963"/>
                </a:solidFill>
                <a:latin typeface="Arial"/>
              </a:rPr>
              <a:t> and </a:t>
            </a:r>
            <a:r>
              <a:rPr sz="1400" b="1" i="0">
                <a:solidFill>
                  <a:srgbClr val="17211D"/>
                </a:solidFill>
                <a:latin typeface="Arial"/>
              </a:rPr>
              <a:t>Move horizontally / vertically</a:t>
            </a:r>
            <a:r>
              <a:rPr sz="1400" b="0" i="0">
                <a:solidFill>
                  <a:srgbClr val="5D6963"/>
                </a:solidFill>
                <a:latin typeface="Arial"/>
              </a:rPr>
              <a:t> in the preview, and watch the blocks line 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7305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STEPS 2 &amp;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Pick the doors, set the furniture</a:t>
            </a:r>
          </a:p>
        </p:txBody>
      </p:sp>
      <p:sp>
        <p:nvSpPr>
          <p:cNvPr id="4" name="TextBox 3"/>
          <p:cNvSpPr txBox="1"/>
          <p:nvPr/>
        </p:nvSpPr>
        <p:spPr>
          <a:xfrm>
            <a:off x="698500" y="2032000"/>
            <a:ext cx="4064000" cy="2667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where the furniture goes </a:t>
            </a:r>
            <a:r>
              <a:rPr sz="1700" b="1" i="0">
                <a:solidFill>
                  <a:srgbClr val="17211D"/>
                </a:solidFill>
                <a:latin typeface="Arial"/>
              </a:rPr>
              <a:t>in</a:t>
            </a:r>
            <a:r>
              <a:rPr sz="1700" b="0" i="0">
                <a:solidFill>
                  <a:srgbClr val="17211D"/>
                </a:solidFill>
                <a:latin typeface="Arial"/>
              </a:rPr>
              <a:t> (</a:t>
            </a:r>
            <a:r>
              <a:rPr sz="1700" b="1" i="0">
                <a:solidFill>
                  <a:srgbClr val="2F9A5E"/>
                </a:solidFill>
                <a:latin typeface="Arial"/>
              </a:rPr>
              <a:t>green</a:t>
            </a:r>
            <a:r>
              <a:rPr sz="1700" b="0" i="0">
                <a:solidFill>
                  <a:srgbClr val="17211D"/>
                </a:solidFill>
                <a:latin typeface="Arial"/>
              </a:rPr>
              <a:t>) and </a:t>
            </a:r>
            <a:r>
              <a:rPr sz="1700" b="1" i="0">
                <a:solidFill>
                  <a:srgbClr val="17211D"/>
                </a:solidFill>
                <a:latin typeface="Arial"/>
              </a:rPr>
              <a:t>out</a:t>
            </a:r>
            <a:r>
              <a:rPr sz="1700" b="0" i="0">
                <a:solidFill>
                  <a:srgbClr val="17211D"/>
                </a:solidFill>
                <a:latin typeface="Arial"/>
              </a:rPr>
              <a:t> (</a:t>
            </a:r>
            <a:r>
              <a:rPr sz="1700" b="1" i="0">
                <a:solidFill>
                  <a:srgbClr val="D97F1A"/>
                </a:solidFill>
                <a:latin typeface="Arial"/>
              </a:rPr>
              <a:t>orange</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Confirm 3D model</a:t>
            </a:r>
            <a:r>
              <a:rPr sz="1700" b="0" i="0">
                <a:solidFill>
                  <a:srgbClr val="17211D"/>
                </a:solidFill>
                <a:latin typeface="Arial"/>
              </a:rPr>
              <a:t>. The walls turn see-through.</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Type the furniture's </a:t>
            </a:r>
            <a:r>
              <a:rPr sz="1700" b="1" i="0">
                <a:solidFill>
                  <a:srgbClr val="17211D"/>
                </a:solidFill>
                <a:latin typeface="Arial"/>
              </a:rPr>
              <a:t>length, width and height</a:t>
            </a:r>
            <a:r>
              <a:rPr sz="1700" b="0" i="0">
                <a:solidFill>
                  <a:srgbClr val="17211D"/>
                </a:solidFill>
                <a:latin typeface="Arial"/>
              </a:rPr>
              <a:t>. The </a:t>
            </a:r>
            <a:r>
              <a:rPr sz="1700" b="1" i="0">
                <a:solidFill>
                  <a:srgbClr val="2F9A5E"/>
                </a:solidFill>
                <a:latin typeface="Arial"/>
              </a:rPr>
              <a:t>green box</a:t>
            </a:r>
            <a:r>
              <a:rPr sz="1700" b="0" i="0">
                <a:solidFill>
                  <a:srgbClr val="17211D"/>
                </a:solidFill>
                <a:latin typeface="Arial"/>
              </a:rPr>
              <a:t> previews it.</a:t>
            </a:r>
          </a:p>
        </p:txBody>
      </p:sp>
      <p:sp>
        <p:nvSpPr>
          <p:cNvPr id="5" name="Rounded Rectangle 4"/>
          <p:cNvSpPr/>
          <p:nvPr/>
        </p:nvSpPr>
        <p:spPr>
          <a:xfrm>
            <a:off x="698500" y="4635500"/>
            <a:ext cx="4064000" cy="1016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Only those two faces are doorways. Every other wall stays solid, so the furniture can't cheat.</a:t>
            </a:r>
          </a:p>
        </p:txBody>
      </p:sp>
      <p:sp>
        <p:nvSpPr>
          <p:cNvPr id="8" name="TextBox 7"/>
          <p:cNvSpPr txBox="1"/>
          <p:nvPr/>
        </p:nvSpPr>
        <p:spPr>
          <a:xfrm>
            <a:off x="5080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Entrance and exit</a:t>
            </a:r>
          </a:p>
        </p:txBody>
      </p:sp>
      <p:sp>
        <p:nvSpPr>
          <p:cNvPr id="9" name="TextBox 8"/>
          <p:cNvSpPr txBox="1"/>
          <p:nvPr/>
        </p:nvSpPr>
        <p:spPr>
          <a:xfrm>
            <a:off x="8382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Furniture preview</a:t>
            </a:r>
          </a:p>
        </p:txBody>
      </p:sp>
      <p:pic>
        <p:nvPicPr>
          <p:cNvPr id="10" name="Picture 9" descr="r_s7_open.jpg"/>
          <p:cNvPicPr>
            <a:picLocks noChangeAspect="1"/>
          </p:cNvPicPr>
          <p:nvPr/>
        </p:nvPicPr>
        <p:blipFill>
          <a:blip r:embed="rId5"/>
          <a:srcRect r="27037"/>
          <a:stretch>
            <a:fillRect/>
          </a:stretch>
        </p:blipFill>
        <p:spPr>
          <a:xfrm>
            <a:off x="5080000" y="2032000"/>
            <a:ext cx="3111500" cy="2665307"/>
          </a:xfrm>
          <a:prstGeom prst="rect">
            <a:avLst/>
          </a:prstGeom>
          <a:ln w="12700">
            <a:solidFill>
              <a:srgbClr val="CFD8D1"/>
            </a:solidFill>
          </a:ln>
        </p:spPr>
      </p:pic>
      <p:pic>
        <p:nvPicPr>
          <p:cNvPr id="11" name="Picture 10" descr="r_s7_open.jpg"/>
          <p:cNvPicPr>
            <a:picLocks noChangeAspect="1"/>
          </p:cNvPicPr>
          <p:nvPr/>
        </p:nvPicPr>
        <p:blipFill>
          <a:blip r:embed="rId5"/>
          <a:srcRect r="27037"/>
          <a:stretch>
            <a:fillRect/>
          </a:stretch>
        </p:blipFill>
        <p:spPr>
          <a:xfrm>
            <a:off x="8382000" y="2032000"/>
            <a:ext cx="3111500" cy="2665307"/>
          </a:xfrm>
          <a:prstGeom prst="rect">
            <a:avLst/>
          </a:prstGeom>
          <a:ln w="12700">
            <a:solidFill>
              <a:srgbClr val="CFD8D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2413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Try manually</a:t>
            </a:r>
            <a:r>
              <a:rPr sz="1700" b="0" i="0">
                <a:solidFill>
                  <a:srgbClr val="17211D"/>
                </a:solidFill>
                <a:latin typeface="Arial"/>
              </a:rPr>
              <a:t>. The furniture starts outside the entrance.</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Hold </a:t>
            </a:r>
            <a:r>
              <a:rPr sz="1700" b="1" i="0">
                <a:solidFill>
                  <a:srgbClr val="17211D"/>
                </a:solidFill>
                <a:latin typeface="Courier New"/>
              </a:rPr>
              <a:t>M</a:t>
            </a:r>
            <a:r>
              <a:rPr sz="1700" b="0" i="0">
                <a:solidFill>
                  <a:srgbClr val="17211D"/>
                </a:solidFill>
                <a:latin typeface="Arial"/>
              </a:rPr>
              <a:t> and drag it through. Sliders tilt and lift it.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Stuck? </a:t>
            </a:r>
            <a:r>
              <a:rPr sz="1700" b="1" i="0">
                <a:solidFill>
                  <a:srgbClr val="17211D"/>
                </a:solidFill>
                <a:latin typeface="Arial"/>
              </a:rPr>
              <a:t>Auto Pilot</a:t>
            </a:r>
            <a:r>
              <a:rPr sz="1700" b="0" i="0">
                <a:solidFill>
                  <a:srgbClr val="17211D"/>
                </a:solidFill>
                <a:latin typeface="Arial"/>
              </a:rPr>
              <a:t> lines it up for you.</a:t>
            </a:r>
          </a:p>
        </p:txBody>
      </p:sp>
      <p:sp>
        <p:nvSpPr>
          <p:cNvPr id="5" name="TextBox 4"/>
          <p:cNvSpPr txBox="1"/>
          <p:nvPr/>
        </p:nvSpPr>
        <p:spPr>
          <a:xfrm>
            <a:off x="698500" y="4699000"/>
            <a:ext cx="4064000" cy="254000"/>
          </a:xfrm>
          <a:prstGeom prst="rect">
            <a:avLst/>
          </a:prstGeom>
          <a:noFill/>
        </p:spPr>
        <p:txBody>
          <a:bodyPr wrap="square" lIns="0" tIns="0" rIns="0" bIns="0" anchor="t">
            <a:spAutoFit/>
          </a:bodyPr>
          <a:lstStyle/>
          <a:p>
            <a:pPr algn="l">
              <a:lnSpc>
                <a:spcPct val="112000"/>
              </a:lnSpc>
              <a:spcAft>
                <a:spcPts val="0"/>
              </a:spcAft>
            </a:pPr>
            <a:r>
              <a:rPr sz="1300" b="1" i="0">
                <a:solidFill>
                  <a:srgbClr val="2F9A5E"/>
                </a:solidFill>
                <a:latin typeface="Arial"/>
              </a:rPr>
              <a:t>■ legal</a:t>
            </a:r>
            <a:r>
              <a:rPr sz="1300" b="1" i="0">
                <a:solidFill>
                  <a:srgbClr val="B08A1E"/>
                </a:solidFill>
                <a:latin typeface="Arial"/>
              </a:rPr>
              <a:t>     ■ outside     </a:t>
            </a:r>
            <a:r>
              <a:rPr sz="1300" b="1" i="0">
                <a:solidFill>
                  <a:srgbClr val="D94D45"/>
                </a:solidFill>
                <a:latin typeface="Arial"/>
              </a:rPr>
              <a:t>■ collision</a:t>
            </a:r>
          </a:p>
        </p:txBody>
      </p:sp>
      <p:sp>
        <p:nvSpPr>
          <p:cNvPr id="6" name="Rounded Rectangle 5"/>
          <p:cNvSpPr/>
          <p:nvPr/>
        </p:nvSpPr>
        <p:spPr>
          <a:xfrm>
            <a:off x="698500" y="5080000"/>
            <a:ext cx="4064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Reach the exit and </a:t>
            </a:r>
            <a:r>
              <a:rPr sz="1400" b="1" i="0">
                <a:solidFill>
                  <a:srgbClr val="D6EF5B"/>
                </a:solidFill>
                <a:latin typeface="Arial"/>
              </a:rPr>
              <a:t>you win</a:t>
            </a:r>
            <a:r>
              <a:rPr sz="1400" b="0" i="0">
                <a:solidFill>
                  <a:srgbClr val="EAF5EE"/>
                </a:solidFill>
                <a:latin typeface="Arial"/>
              </a:rPr>
              <a:t>. A pop-up tells you.</a:t>
            </a:r>
          </a:p>
        </p:txBody>
      </p:sp>
      <p:pic>
        <p:nvPicPr>
          <p:cNvPr id="7" name="Picture 6" descr="r_n_manual.jpg"/>
          <p:cNvPicPr>
            <a:picLocks noChangeAspect="1"/>
          </p:cNvPicPr>
          <p:nvPr/>
        </p:nvPicPr>
        <p:blipFill>
          <a:blip r:embed="rId6"/>
          <a:srcRect/>
          <a:stretch>
            <a:fillRect/>
          </a:stretch>
        </p:blipFill>
        <p:spPr>
          <a:xfrm>
            <a:off x="5080000" y="1841500"/>
            <a:ext cx="6413500" cy="4008437"/>
          </a:xfrm>
          <a:prstGeom prst="rect">
            <a:avLst/>
          </a:prstGeom>
          <a:ln w="12700">
            <a:solidFill>
              <a:srgbClr val="CFD8D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Now let the solver try</a:t>
            </a:r>
          </a:p>
        </p:txBody>
      </p:sp>
      <p:sp>
        <p:nvSpPr>
          <p:cNvPr id="5" name="TextBox 4"/>
          <p:cNvSpPr txBox="1"/>
          <p:nvPr/>
        </p:nvSpPr>
        <p:spPr>
          <a:xfrm>
            <a:off x="698500"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D94D45"/>
                </a:solidFill>
                <a:latin typeface="Arial"/>
              </a:rPr>
              <a:t>Roll sampling OFF:  No route found</a:t>
            </a:r>
          </a:p>
        </p:txBody>
      </p:sp>
      <p:sp>
        <p:nvSpPr>
          <p:cNvPr id="7" name="TextBox 6"/>
          <p:cNvSpPr txBox="1"/>
          <p:nvPr/>
        </p:nvSpPr>
        <p:spPr>
          <a:xfrm>
            <a:off x="4761653"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2F9A5E"/>
                </a:solidFill>
                <a:latin typeface="Arial"/>
              </a:rPr>
              <a:t>Roll sampling ON (default):  It fits!</a:t>
            </a:r>
          </a:p>
        </p:txBody>
      </p:sp>
      <p:sp>
        <p:nvSpPr>
          <p:cNvPr id="9" name="TextBox 8"/>
          <p:cNvSpPr txBox="1"/>
          <p:nvPr/>
        </p:nvSpPr>
        <p:spPr>
          <a:xfrm>
            <a:off x="8824806" y="4216400"/>
            <a:ext cx="2668693"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17211D"/>
                </a:solidFill>
                <a:latin typeface="Arial"/>
              </a:rPr>
              <a:t>The sofa rolls through the stairs</a:t>
            </a:r>
          </a:p>
        </p:txBody>
      </p:sp>
      <p:sp>
        <p:nvSpPr>
          <p:cNvPr id="10" name="Rounded Rectangle 9"/>
          <p:cNvSpPr/>
          <p:nvPr/>
        </p:nvSpPr>
        <p:spPr>
          <a:xfrm>
            <a:off x="698500" y="4889500"/>
            <a:ext cx="6731000" cy="1270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500" b="0" i="0">
                <a:solidFill>
                  <a:srgbClr val="EAF5EE"/>
                </a:solidFill>
                <a:latin typeface="Arial"/>
              </a:rPr>
              <a:t>Same building, same sofa, one checkbox. Allow roll sampling is on by default. It lets the planner roll the sofa as well as tilt and turn it, and in tight stairs that's what finds the way. Turn it off and the search fails. "No route found" never proves it's impossible, so change a setting and try again.</a:t>
            </a:r>
            <a:r>
              <a:rPr sz="1500" b="1" i="0">
                <a:solidFill>
                  <a:srgbClr val="D6EF5B"/>
                </a:solidFill>
                <a:latin typeface="Arial"/>
              </a:rPr>
              <a:t/>
            </a:r>
            <a:r>
              <a:rPr sz="1500" b="0" i="0">
                <a:solidFill>
                  <a:srgbClr val="EAF5EE"/>
                </a:solidFill>
                <a:latin typeface="Arial"/>
              </a:rPr>
              <a:t/>
            </a:r>
            <a:r>
              <a:rPr sz="1500" b="1" i="0">
                <a:solidFill>
                  <a:srgbClr val="D6EF5B"/>
                </a:solidFill>
                <a:latin typeface="Arial"/>
              </a:rPr>
              <a:t/>
            </a:r>
            <a:r>
              <a:rPr sz="1500" b="0" i="0">
                <a:solidFill>
                  <a:srgbClr val="EAF5EE"/>
                </a:solidFill>
                <a:latin typeface="Arial"/>
              </a:rPr>
              <a:t/>
            </a:r>
          </a:p>
        </p:txBody>
      </p:sp>
      <p:sp>
        <p:nvSpPr>
          <p:cNvPr id="12" name="TextBox 11"/>
          <p:cNvSpPr txBox="1"/>
          <p:nvPr/>
        </p:nvSpPr>
        <p:spPr>
          <a:xfrm>
            <a:off x="7937500" y="6332415"/>
            <a:ext cx="2413000" cy="190500"/>
          </a:xfrm>
          <a:prstGeom prst="rect">
            <a:avLst/>
          </a:prstGeom>
          <a:noFill/>
        </p:spPr>
        <p:txBody>
          <a:bodyPr wrap="square" lIns="0" rIns="0" tIns="0" bIns="0" anchor="t">
            <a:spAutoFit/>
          </a:bodyPr>
          <a:lstStyle/>
          <a:p>
            <a:pPr algn="ctr">
              <a:lnSpc>
                <a:spcPct val="112000"/>
              </a:lnSpc>
              <a:spcAft>
                <a:spcPts val="0"/>
              </a:spcAft>
            </a:pPr>
            <a:r>
              <a:rPr sz="1200" b="1" i="0">
                <a:solidFill>
                  <a:srgbClr val="5D6963"/>
                </a:solidFill>
                <a:latin typeface="Arial"/>
              </a:rPr>
              <a:t>Solve settings in the app</a:t>
            </a:r>
          </a:p>
        </p:txBody>
      </p:sp>
      <p:pic>
        <p:nvPicPr>
          <p:cNvPr id="13" name="Picture 12" descr="r_n_fail.jpg"/>
          <p:cNvPicPr>
            <a:picLocks noChangeAspect="1"/>
          </p:cNvPicPr>
          <p:nvPr/>
        </p:nvPicPr>
        <p:blipFill>
          <a:blip r:embed="rId8"/>
          <a:srcRect/>
          <a:stretch>
            <a:fillRect/>
          </a:stretch>
        </p:blipFill>
        <p:spPr>
          <a:xfrm>
            <a:off x="698500" y="1841500"/>
            <a:ext cx="3657600" cy="2286000"/>
          </a:xfrm>
          <a:prstGeom prst="rect">
            <a:avLst/>
          </a:prstGeom>
          <a:ln w="12700">
            <a:solidFill>
              <a:srgbClr val="CFD8D1"/>
            </a:solidFill>
          </a:ln>
        </p:spPr>
      </p:pic>
      <p:pic>
        <p:nvPicPr>
          <p:cNvPr id="14" name="Picture 13" descr="r_n_ok.jpg"/>
          <p:cNvPicPr>
            <a:picLocks noChangeAspect="1"/>
          </p:cNvPicPr>
          <p:nvPr/>
        </p:nvPicPr>
        <p:blipFill>
          <a:blip r:embed="rId9"/>
          <a:srcRect/>
          <a:stretch>
            <a:fillRect/>
          </a:stretch>
        </p:blipFill>
        <p:spPr>
          <a:xfrm>
            <a:off x="4761653" y="1841500"/>
            <a:ext cx="3657600" cy="2286000"/>
          </a:xfrm>
          <a:prstGeom prst="rect">
            <a:avLst/>
          </a:prstGeom>
          <a:ln w="12700">
            <a:solidFill>
              <a:srgbClr val="CFD8D1"/>
            </a:solidFill>
          </a:ln>
        </p:spPr>
      </p:pic>
      <p:pic>
        <p:nvPicPr>
          <p:cNvPr id="15" name="Picture 14" descr="r_n_f80.jpg"/>
          <p:cNvPicPr>
            <a:picLocks noChangeAspect="1"/>
          </p:cNvPicPr>
          <p:nvPr/>
        </p:nvPicPr>
        <p:blipFill>
          <a:blip r:embed="rId10"/>
          <a:srcRect r="27037"/>
          <a:stretch>
            <a:fillRect/>
          </a:stretch>
        </p:blipFill>
        <p:spPr>
          <a:xfrm>
            <a:off x="8824806" y="1841500"/>
            <a:ext cx="2668693" cy="2286000"/>
          </a:xfrm>
          <a:prstGeom prst="rect">
            <a:avLst/>
          </a:prstGeom>
          <a:ln w="12700">
            <a:solidFill>
              <a:srgbClr val="CFD8D1"/>
            </a:solidFill>
          </a:ln>
        </p:spPr>
      </p:pic>
      <p:pic>
        <p:nvPicPr>
          <p:cNvPr id="16" name="Picture 15" descr="r_n_f80.jpg"/>
          <p:cNvPicPr>
            <a:picLocks noChangeAspect="1"/>
          </p:cNvPicPr>
          <p:nvPr/>
        </p:nvPicPr>
        <p:blipFill>
          <a:blip r:embed="rId10"/>
          <a:srcRect l="74537" t="59259" r="1389" b="18519"/>
          <a:stretch>
            <a:fillRect/>
          </a:stretch>
        </p:blipFill>
        <p:spPr>
          <a:xfrm>
            <a:off x="7937500" y="4889500"/>
            <a:ext cx="2413000" cy="1392115"/>
          </a:xfrm>
          <a:prstGeom prst="rect">
            <a:avLst/>
          </a:prstGeom>
          <a:ln w="12700">
            <a:solidFill>
              <a:srgbClr val="CFD8D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the solver</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What happens when you try </a:t>
            </a:r>
            <a:r>
              <a:rPr sz="1700" b="1" i="0" dirty="0">
                <a:solidFill>
                  <a:srgbClr val="17211D"/>
                </a:solidFill>
                <a:latin typeface="Arial"/>
              </a:rPr>
              <a:t>turning roll sampling off</a:t>
            </a:r>
            <a:r>
              <a:rPr sz="1700" b="0" i="0" dirty="0">
                <a:solidFill>
                  <a:srgbClr val="17211D"/>
                </a:solidFill>
                <a:latin typeface="Arial"/>
              </a:rPr>
              <a: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3020</Words>
  <Application>Microsoft Macintosh PowerPoint</Application>
  <PresentationFormat>Widescreen</PresentationFormat>
  <Paragraphs>299</Paragraphs>
  <Slides>17</Slides>
  <Notes>17</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8</cp:revision>
  <dcterms:created xsi:type="dcterms:W3CDTF">2013-01-27T09:14:16Z</dcterms:created>
  <dcterms:modified xsi:type="dcterms:W3CDTF">2026-10-24T17:12:16Z</dcterms:modified>
  <cp:category/>
</cp:coreProperties>
</file>