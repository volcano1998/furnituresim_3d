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media1.m4a" ContentType="audio/mp4"/>
  <Override PartName="/ppt/media/media10.m4a" ContentType="audio/mp4"/>
  <Override PartName="/ppt/media/media2.m4a" ContentType="audio/mp4"/>
  <Override PartName="/ppt/media/media3.m4a" ContentType="audio/mp4"/>
  <Override PartName="/ppt/media/media4.m4a" ContentType="audio/mp4"/>
  <Override PartName="/ppt/media/media5.m4a" ContentType="audio/mp4"/>
  <Override PartName="/ppt/media/media6.m4a" ContentType="audio/mp4"/>
  <Override PartName="/ppt/media/media7.m4a" ContentType="audio/mp4"/>
  <Override PartName="/ppt/media/media8.m4a" ContentType="audio/mp4"/>
  <Override PartName="/ppt/media/media9.m4a" ContentType="audio/mp4"/>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2.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8"/>
  </p:notesMasterIdLst>
  <p:sldIdLst>
    <p:sldId id="256" r:id="rId2"/>
    <p:sldId id="257" r:id="rId3"/>
    <p:sldId id="258" r:id="rId4"/>
    <p:sldId id="273" r:id="rId9"/>
    <p:sldId id="274" r:id="rId8"/>
    <p:sldId id="275" r:id="rId7"/>
    <p:sldId id="276" r:id="rId6"/>
    <p:sldId id="277" r:id="rId5"/>
    <p:sldId id="278" r:id="rId23"/>
    <p:sldId id="279" r:id="rId24"/>
    <p:sldId id="280" r:id="rId25"/>
    <p:sldId id="281" r:id="rId26"/>
    <p:sldId id="282" r:id="rId27"/>
    <p:sldId id="283" r:id="rId28"/>
    <p:sldId id="284" r:id="rId29"/>
    <p:sldId id="285" r:id="rId30"/>
    <p:sldId id="264" r:id="rId10"/>
    <p:sldId id="265" r:id="rId11"/>
    <p:sldId id="266" r:id="rId12"/>
    <p:sldId id="267" r:id="rId13"/>
    <p:sldId id="268" r:id="rId14"/>
    <p:sldId id="269" r:id="rId15"/>
    <p:sldId id="271" r:id="rId16"/>
    <p:sldId id="272" r:id="rId17"/>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7367"/>
    <p:restoredTop sz="68963"/>
  </p:normalViewPr>
  <p:slideViewPr>
    <p:cSldViewPr snapToGrid="0" snapToObjects="1">
      <p:cViewPr varScale="1">
        <p:scale>
          <a:sx n="75" d="100"/>
          <a:sy n="75" d="100"/>
        </p:scale>
        <p:origin x="1752" y="160"/>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8.xml"/><Relationship Id="rId6" Type="http://schemas.openxmlformats.org/officeDocument/2006/relationships/slide" Target="slides/slide7.xml"/><Relationship Id="rId7" Type="http://schemas.openxmlformats.org/officeDocument/2006/relationships/slide" Target="slides/slide6.xml"/><Relationship Id="rId8" Type="http://schemas.openxmlformats.org/officeDocument/2006/relationships/slide" Target="slides/slide5.xml"/><Relationship Id="rId9" Type="http://schemas.openxmlformats.org/officeDocument/2006/relationships/slide" Target="slides/slide4.xml"/><Relationship Id="rId10" Type="http://schemas.openxmlformats.org/officeDocument/2006/relationships/slide" Target="slides/slide17.xml"/><Relationship Id="rId11" Type="http://schemas.openxmlformats.org/officeDocument/2006/relationships/slide" Target="slides/slide18.xml"/><Relationship Id="rId12" Type="http://schemas.openxmlformats.org/officeDocument/2006/relationships/slide" Target="slides/slide19.xml"/><Relationship Id="rId13" Type="http://schemas.openxmlformats.org/officeDocument/2006/relationships/slide" Target="slides/slide20.xml"/><Relationship Id="rId14" Type="http://schemas.openxmlformats.org/officeDocument/2006/relationships/slide" Target="slides/slide21.xml"/><Relationship Id="rId15" Type="http://schemas.openxmlformats.org/officeDocument/2006/relationships/slide" Target="slides/slide22.xml"/><Relationship Id="rId16" Type="http://schemas.openxmlformats.org/officeDocument/2006/relationships/slide" Target="slides/slide23.xml"/><Relationship Id="rId17" Type="http://schemas.openxmlformats.org/officeDocument/2006/relationships/slide" Target="slides/slide24.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 Id="rId23" Type="http://schemas.openxmlformats.org/officeDocument/2006/relationships/slide" Target="slides/slide9.xml"/><Relationship Id="rId24" Type="http://schemas.openxmlformats.org/officeDocument/2006/relationships/slide" Target="slides/slide10.xml"/><Relationship Id="rId25" Type="http://schemas.openxmlformats.org/officeDocument/2006/relationships/slide" Target="slides/slide11.xml"/><Relationship Id="rId26" Type="http://schemas.openxmlformats.org/officeDocument/2006/relationships/slide" Target="slides/slide12.xml"/><Relationship Id="rId27" Type="http://schemas.openxmlformats.org/officeDocument/2006/relationships/slide" Target="slides/slide13.xml"/><Relationship Id="rId28" Type="http://schemas.openxmlformats.org/officeDocument/2006/relationships/slide" Target="slides/slide14.xml"/><Relationship Id="rId29" Type="http://schemas.openxmlformats.org/officeDocument/2006/relationships/slide" Target="slides/slide15.xml"/><Relationship Id="rId30"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89986957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Hi Everyone, I'm Can! </a:t>
            </a:r>
            <a:r>
              <a:rPr dirty="0"/>
              <a:t>Have you ever been stuck on a staircase, holding one end of a couch, thinking: "there is no way this fits"?</a:t>
            </a:r>
          </a:p>
          <a:p>
            <a:endParaRPr dirty="0"/>
          </a:p>
          <a:p>
            <a:r>
              <a:rPr dirty="0"/>
              <a:t>Today we're going to settle that argument with math.</a:t>
            </a:r>
          </a:p>
          <a:p>
            <a:endParaRPr dirty="0"/>
          </a:p>
          <a:p>
            <a:r>
              <a:rPr dirty="0"/>
              <a:t>I built a browser app called Can It Fit</a:t>
            </a:r>
            <a:r>
              <a:rPr lang="en-US" dirty="0"/>
              <a:t>, where y</a:t>
            </a:r>
            <a:r>
              <a:rPr dirty="0"/>
              <a:t>ou </a:t>
            </a:r>
            <a:r>
              <a:rPr lang="en-US" dirty="0"/>
              <a:t>can </a:t>
            </a:r>
            <a:r>
              <a:rPr dirty="0"/>
              <a:t>design a room in 3D, drop in a piece of furniture, and a motion planner</a:t>
            </a:r>
            <a:r>
              <a:rPr lang="en-US" dirty="0"/>
              <a:t> will</a:t>
            </a:r>
            <a:r>
              <a:rPr dirty="0"/>
              <a:t> figure out whether it can actually get through.</a:t>
            </a:r>
          </a:p>
          <a:p>
            <a:endParaRPr dirty="0"/>
          </a:p>
          <a:p>
            <a:r>
              <a:rPr dirty="0"/>
              <a:t>In the next few minutes I'll show you how to use it, and then, the fun part, how the planner really </a:t>
            </a:r>
            <a:r>
              <a:rPr lang="en-US" dirty="0"/>
              <a:t>solve the problem</a:t>
            </a:r>
            <a:r>
              <a:rPr dirty="0"/>
              <a:t>. No installs. No build step. Just a browser.</a:t>
            </a:r>
          </a:p>
          <a:p>
            <a:endParaRPr dirty="0"/>
          </a:p>
          <a:p>
            <a:r>
              <a:rPr dirty="0"/>
              <a:t>Let's go.</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Here's why this is harder than it looks.</a:t>
            </a:r>
          </a:p>
          <a:p>
            <a:endParaRPr dirty="0"/>
          </a:p>
          <a:p>
            <a:r>
              <a:rPr dirty="0"/>
              <a:t>A couch isn't just sliding along a hallway. It can move in three directions, and it can rotate in three ways: yaw, pitch and roll. That's six degrees of freedom.</a:t>
            </a:r>
          </a:p>
          <a:p>
            <a:endParaRPr dirty="0"/>
          </a:p>
          <a:p>
            <a:r>
              <a:rPr dirty="0"/>
              <a:t>So "does it fit?" is secretly a question about finding a path through six-dimensional space, where every single pose along the way has to avoid every wall.</a:t>
            </a:r>
          </a:p>
          <a:p>
            <a:endParaRPr dirty="0"/>
          </a:p>
          <a:p>
            <a:r>
              <a:rPr dirty="0"/>
              <a:t>Look at this corner. The sofa can't just slide through. It has to turn, at exactly the right moment, by exactly the right amount.</a:t>
            </a:r>
          </a:p>
          <a:p>
            <a:endParaRPr dirty="0"/>
          </a:p>
          <a:p>
            <a:r>
              <a:rPr dirty="0"/>
              <a:t>That turning is what makes this problem interesting.</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Th</a:t>
            </a:r>
            <a:r>
              <a:rPr lang="en-US" dirty="0"/>
              <a:t>is</a:t>
            </a:r>
            <a:r>
              <a:rPr dirty="0"/>
              <a:t> app gives you three ways to answer the question.</a:t>
            </a:r>
          </a:p>
          <a:p>
            <a:endParaRPr dirty="0"/>
          </a:p>
          <a:p>
            <a:pPr marL="0" marR="0" lvl="0" indent="0" algn="l" defTabSz="914400" rtl="0" eaLnBrk="1" fontAlgn="auto" latinLnBrk="0" hangingPunct="1">
              <a:lnSpc>
                <a:spcPct val="100000"/>
              </a:lnSpc>
              <a:spcBef>
                <a:spcPts val="0"/>
              </a:spcBef>
              <a:spcAft>
                <a:spcPts val="0"/>
              </a:spcAft>
              <a:buClrTx/>
              <a:buSzTx/>
              <a:buFontTx/>
              <a:buNone/>
              <a:tabLst/>
              <a:defRPr/>
            </a:pPr>
            <a:r>
              <a:rPr dirty="0"/>
              <a:t>First, </a:t>
            </a:r>
            <a:r>
              <a:rPr lang="en-US" dirty="0"/>
              <a:t>manual mode, where you grab the furniture yourself and try it virtually.</a:t>
            </a:r>
          </a:p>
          <a:p>
            <a:endParaRPr dirty="0"/>
          </a:p>
          <a:p>
            <a:r>
              <a:rPr dirty="0"/>
              <a:t>Second, a deterministic straight-shot heuristic.</a:t>
            </a:r>
          </a:p>
          <a:p>
            <a:endParaRPr dirty="0"/>
          </a:p>
          <a:p>
            <a:r>
              <a:rPr dirty="0"/>
              <a:t>Third, </a:t>
            </a:r>
            <a:r>
              <a:rPr lang="en-US" dirty="0"/>
              <a:t>a probabilistic solver using motion planning algorithm called RRT-Connect, </a:t>
            </a:r>
          </a:p>
          <a:p>
            <a:endParaRPr lang="en-US" dirty="0"/>
          </a:p>
          <a:p>
            <a:r>
              <a:rPr lang="en-US" dirty="0"/>
              <a:t>and </a:t>
            </a:r>
            <a:r>
              <a:rPr dirty="0"/>
              <a:t>Everything follows four simple steps: build the room, choose the entrance and exit, describe the furniture, and solve. Let's walk through each one.</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Let's make this concrete. Instead of a plain box, we're going to build something you could actually get stuck in: a hallway, a flight of stairs, and another hallway above it.</a:t>
            </a:r>
          </a:p>
          <a:p/>
          <a:p>
            <a:r>
              <a:t>It's just three boxes. Two ordinary ones for the hallways, and one skewed box that becomes the stairs. Then two connections glue them together.</a:t>
            </a:r>
          </a:p>
          <a:p/>
          <a:p>
            <a:r>
              <a:t>Over the next few slides I'll show you exactly how to make each piece, and the one trick that makes the whole thing work: adjusting the angle between two surfaces. By the end you'll have this staircase on screen, and you'll be able to build your own.</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Step one is the hallway. Every block in the app has three edge lengths, A, B and C, and three angles between them.</a:t>
            </a:r>
          </a:p>
          <a:p/>
          <a:p>
            <a:r>
              <a:t>I'll set A to five point three, B to two point eight, and C to two point nine. Think of A as the length of the hallway, and B and C as its width and height.</a:t>
            </a:r>
          </a:p>
          <a:p/>
          <a:p>
            <a:r>
              <a:t>Leave all three angles at ninety degrees and you get a perfectly regular box. That's our hallway. Simple.</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Step two: the stairs. Press "Add object" and a copy of the hallway appears next to the first one.</a:t>
            </a:r>
          </a:p>
          <a:p/>
          <a:p>
            <a:r>
              <a:t>Now scroll down to Orientation. Those three sliders are the angles between the edges. Set the angle between A and B to seventy-eight degrees, between A and C to fifty-eight, and leave B to C at ninety.</a:t>
            </a:r>
          </a:p>
          <a:p/>
          <a:p>
            <a:r>
              <a:t>Watch what happens: the box leans over into a parallelogram-shaped block. That slanted block is our stairs.</a:t>
            </a:r>
          </a:p>
          <a:p/>
          <a:p>
            <a:r>
              <a:t>Any angle other than ninety degrees tilts the box, so this one trick gives you ramps, staircases and slopes, all from the same simple building block.</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Step three: the second hallway. Click the first hallway to select it, then press "Add object" again. You get another identical hallway.</a:t>
            </a:r>
          </a:p>
          <a:p/>
          <a:p>
            <a:r>
              <a:t>Now we have three loose blocks: a hallway, our skewed stairs, and a second hallway.</a:t>
            </a:r>
          </a:p>
          <a:p/>
          <a:p>
            <a:r>
              <a:t>Don't worry about where they sit. Blocks can't overlap, so the app just places each new one beside the others. Connecting them is what snaps everything into position, and that's next.</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Now the magic: connecting. Press "Connect two objects". First click the hallway, that one stays fixed. Then click the stairs, that one will move.</a:t>
            </a:r>
          </a:p>
          <a:p/>
          <a:p>
            <a:r>
              <a:t>Now click one face on each block. On the hallway I'll pick its long side face, and on the stairs I'll pick one end. The moment you pick both, a Join preview opens, and the stairs jump over to attach to the hallway.</a:t>
            </a:r>
          </a:p>
          <a:p/>
          <a:p>
            <a:r>
              <a:t>Right now they're stuck on in the wrong direction, sticking out sideways. That's perfectly normal, because the app attaches the two faces flat together and leaves the rest to you. Fixing it is the next slide, and it's my favourite part.</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key trick, so I want you to really see it.</a:t>
            </a:r>
          </a:p>
          <a:p/>
          <a:p>
            <a:r>
              <a:t>The Join preview has three sliders. "Rotate moving surface" spins the block around the face it's glued to. "Move horizontally" and "Move vertically" slide it along that face.</a:t>
            </a:r>
          </a:p>
          <a:p/>
          <a:p>
            <a:r>
              <a:t>Here's the stairs at zero degrees: sticking out sideways. Drag the rotation to minus forty-five and watch it swing round. At minus ninety, the lean points straight up, so the sideways skew becomes a climb. That's what turns a slanted box into stairs.</a:t>
            </a:r>
          </a:p>
          <a:p/>
          <a:p>
            <a:r>
              <a:t>Then I nudge "Move horizontally" to one point three so the walls line up with the hallway, and press Apply connection.</a:t>
            </a:r>
          </a:p>
          <a:p/>
          <a:p>
            <a:r>
              <a:t>That's all there is to it: rotate to set the angle between the two surfaces, slide to line them up.</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Now we repeat the recipe for the top of the stairs. Press "Connect two objects" again. Click the top hallway, then the stairs.</a:t>
            </a:r>
          </a:p>
          <a:p/>
          <a:p>
            <a:r>
              <a:t>This time I pick the hallway's side face again, and the stairs' other end, the one that's still free. The preview opens, and this time the rotation can stay at zero. I just slide it horizontally to one point two so the top hallway sits flush with the end of the stairs, and press Apply.</a:t>
            </a:r>
          </a:p>
          <a:p/>
          <a:p>
            <a:r>
              <a:t>Notice it's exactly the same recipe every time: pick two faces, rotate, slide, apply. Once you've done one junction you can build anything.</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And there it is: a staircase between two hallways, built from three boxes and two connections.</a:t>
            </a:r>
          </a:p>
          <a:p/>
          <a:p>
            <a:r>
              <a:t>It's not locked in. Press "Edit attachment" to reopen the join sliders on any connection, or use "Rotate attached group" to tilt the whole building in fifteen degree steps.</a:t>
            </a:r>
          </a:p>
          <a:p/>
          <a:p>
            <a:r>
              <a:t>When you're happy, Save project stores it as a small JSON file. And if you'd rather skip the building, I've put this exact model in the repo, in the examples folder. Press Load, pick the file, and you're looking at the same staircase.</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With the building done, step two: tell the planner where the furniture goes in and where it has to come out.</a:t>
            </a:r>
          </a:p>
          <a:p/>
          <a:p>
            <a:r>
              <a:t>Press "Pick faces in 3D view". Click the end of the bottom hallway, that's the entrance, and it turns green. Then click the end of the top hallway, that's the exit, and it turns orange. You can also use the dropdowns.</a:t>
            </a:r>
          </a:p>
          <a:p/>
          <a:p>
            <a:r>
              <a:t>Press "Confirm 3D model" and the walls turn see-through so you can watch the action inside.</a:t>
            </a:r>
          </a:p>
          <a:p/>
          <a:p>
            <a:r>
              <a:t>Remember the rule: these two faces are the only doorways. Every other wall is solid, so the furniture has to climb the stairs the hard way.</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Step three: the furniture. Enter its length, width and height. I'll start with a big sofa: two point five by one point two by one point two.</a:t>
            </a:r>
          </a:p>
          <a:p/>
          <a:p>
            <a:r>
              <a:t>That green box next to the building is the sofa. And clearance is a safety margin: it inflates the box on every side before any collision check, so the planner treats the sofa as slightly fatter than it really is.</a:t>
            </a:r>
          </a:p>
          <a:p/>
          <a:p>
            <a:r>
              <a:t>This sofa is big. Will it make it up our stairs? Let's find out.</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Before we ask the computer, try it yourself. Press "Try manually". The furniture starts just outside the entrance.</a:t>
            </a:r>
          </a:p>
          <a:p/>
          <a:p>
            <a:r>
              <a:t>[DEMO: hold M and drag the furniture into the bottom hallway]</a:t>
            </a:r>
          </a:p>
          <a:p/>
          <a:p>
            <a:r>
              <a:t>Hold M and drag. Use the sliders for height and for yaw, pitch and roll. The box turns green when it's legal, yellow when it's outside, and red when it hits a wall.</a:t>
            </a:r>
          </a:p>
          <a:p/>
          <a:p>
            <a:r>
              <a:t>Around the stairs you'll feel it: you have to tilt the sofa to follow the slope. If you get stuck, Auto Pilot snaps a furniture edge parallel to a room edge for you. Reach the exit and you win. It's genuinely tricky, which is why the planner is so handy.</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Now let the planner try. I'll pick RRT-Connect and press "Run selected solver". It searches for up to a hundred and fifty thousand steps, and you can watch the progress as it goes.</a:t>
            </a:r>
          </a:p>
          <a:p/>
          <a:p>
            <a:r>
              <a:t>And for this big sofa the verdict is: "No route found".</a:t>
            </a:r>
          </a:p>
          <a:p/>
          <a:p>
            <a:r>
              <a:t>Now, be careful how you read that. RRT-Connect is a random search, so it can't prove that no route exists. What this tells us is that within a hundred and fifty thousand tries, it couldn't squeeze a two-and-a-half unit sofa up our stairs. That's strong evidence, but not a guarantee.</a:t>
            </a:r>
          </a:p>
          <a:p/>
          <a:p>
            <a:r>
              <a:t>So what do we do? Change something. And the pop-up has buttons to do exactly that.</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So let's change the furniture. Click "Change furniture and settings" and shrink the box to one point six by point nine by point nine.</a:t>
            </a:r>
          </a:p>
          <a:p/>
          <a:p>
            <a:r>
              <a:t>Run the solver again, and this time: "It fits!" The solver found a route of a hundred and six collision-free frames, from the bottom entrance, up the stairs, to the top exit.</a:t>
            </a:r>
          </a:p>
          <a:p/>
          <a:p>
            <a:r>
              <a:t>Close the pop-up and drag the timeline to watch the box travel. It tilts to follow the slope, slides through the stairs, and comes out at the top.</a:t>
            </a:r>
          </a:p>
          <a:p/>
          <a:p>
            <a:r>
              <a:t>Same building, same solver. The only thing that changed was the size of the furniture. That's the whole point of the tool: you can test a plan before you ever lift a couch.</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So far you've seen what it does. Now let's open the hood.</a:t>
            </a:r>
          </a:p>
          <a:p>
            <a:endParaRPr dirty="0"/>
          </a:p>
          <a:p>
            <a:r>
              <a:rPr dirty="0"/>
              <a:t>Three questions. How is a position stored? How do we know a position is legal? And how do we search for a path?</a:t>
            </a:r>
          </a:p>
          <a:p>
            <a:endParaRPr dirty="0"/>
          </a:p>
          <a:p>
            <a:r>
              <a:rPr lang="en-US" dirty="0"/>
              <a:t>By a</a:t>
            </a:r>
            <a:r>
              <a:rPr dirty="0"/>
              <a:t>nswer</a:t>
            </a:r>
            <a:r>
              <a:rPr lang="en-US" dirty="0"/>
              <a:t>ing</a:t>
            </a:r>
            <a:r>
              <a:rPr dirty="0"/>
              <a:t> those three</a:t>
            </a:r>
            <a:r>
              <a:rPr lang="en-US" dirty="0"/>
              <a:t> questions</a:t>
            </a:r>
            <a:r>
              <a:rPr dirty="0"/>
              <a:t>, </a:t>
            </a:r>
            <a:r>
              <a:rPr lang="en-US" dirty="0"/>
              <a:t>y</a:t>
            </a:r>
            <a:r>
              <a:rPr dirty="0"/>
              <a:t>ou </a:t>
            </a:r>
            <a:r>
              <a:rPr lang="en-US" dirty="0"/>
              <a:t>will </a:t>
            </a:r>
            <a:r>
              <a:rPr dirty="0"/>
              <a:t>understand the whole planner.</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Question one: how do you describe where a couch is?</a:t>
            </a:r>
          </a:p>
          <a:p>
            <a:endParaRPr dirty="0"/>
          </a:p>
          <a:p>
            <a:r>
              <a:rPr dirty="0"/>
              <a:t>With six numbers. X, Y and Z for position, and yaw, pitch and roll for rotation.</a:t>
            </a:r>
          </a:p>
          <a:p>
            <a:endParaRPr dirty="0"/>
          </a:p>
          <a:p>
            <a:r>
              <a:rPr dirty="0"/>
              <a:t>The code stores that as a simple object, and converts the three angles into a quaternion, using Z-Y-X Euler order. We use the same convention everywhere, so rendering, collision checking and saving always agree.</a:t>
            </a:r>
          </a:p>
          <a:p>
            <a:endParaRPr dirty="0"/>
          </a:p>
          <a:p>
            <a:r>
              <a:rPr dirty="0"/>
              <a:t>And here's a neat trick: turn off "Allow roll sampling" and the search drops from six dimensions to five. That makes it faster, and most furniture never needs to barrel-roll anyway.</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Question two: given a pose, is it legal?</a:t>
            </a:r>
          </a:p>
          <a:p>
            <a:endParaRPr dirty="0"/>
          </a:p>
          <a:p>
            <a:r>
              <a:rPr dirty="0"/>
              <a:t>If every </a:t>
            </a:r>
            <a:r>
              <a:rPr lang="en-US" dirty="0"/>
              <a:t>boundary point of the furniture </a:t>
            </a:r>
            <a:r>
              <a:rPr dirty="0"/>
              <a:t>is inside the room, the pose is legal.</a:t>
            </a:r>
          </a:p>
          <a:p>
            <a:endParaRPr dirty="0"/>
          </a:p>
          <a:p>
            <a:r>
              <a:rPr dirty="0"/>
              <a:t>To check a move between two poses, we interpolate and test every little step along the way.</a:t>
            </a:r>
          </a:p>
          <a:p>
            <a:endParaRPr dirty="0"/>
          </a:p>
          <a:p>
            <a:r>
              <a:rPr dirty="0"/>
              <a:t>And crossing a wall? That's only allowed through the entrance or exit.</a:t>
            </a:r>
          </a:p>
          <a:p>
            <a:endParaRPr dirty="0"/>
          </a:p>
          <a:p>
            <a:r>
              <a:rPr dirty="0"/>
              <a:t>It's the exact same check for manual mode and for both solvers. Nobody gets special treatment.</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Question three: how do we find a path through six-dimensional space?</a:t>
            </a:r>
          </a:p>
          <a:p>
            <a:endParaRPr dirty="0"/>
          </a:p>
          <a:p>
            <a:r>
              <a:rPr dirty="0"/>
              <a:t>With an algorithm called RRT-Connect. RRT stands for Rapidly-exploring Random Tree.</a:t>
            </a:r>
          </a:p>
          <a:p>
            <a:endParaRPr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Specifically, RRT-Connect grows two trees, one from the start and one from the goal.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It randomly samples new nodes in each iteration, attempting to connect the two trees while avoiding the obstacles.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r>
              <a:rPr dirty="0"/>
              <a:t>When the two trees touch, we have a path. We smooth it, resample it, and animate it.</a:t>
            </a:r>
          </a:p>
          <a:p>
            <a:endParaRPr dirty="0"/>
          </a:p>
          <a:p>
            <a:r>
              <a:rPr dirty="0"/>
              <a:t>One honest caveat. It's probabilistic.</a:t>
            </a:r>
            <a:r>
              <a:rPr lang="en-US" dirty="0"/>
              <a:t> So</a:t>
            </a:r>
            <a:r>
              <a:rPr dirty="0"/>
              <a:t> Finding a route proves the </a:t>
            </a:r>
            <a:r>
              <a:rPr lang="en-US" dirty="0"/>
              <a:t>furniture</a:t>
            </a:r>
            <a:r>
              <a:rPr dirty="0"/>
              <a:t> fits. </a:t>
            </a:r>
            <a:endParaRPr lang="en-US" dirty="0"/>
          </a:p>
          <a:p>
            <a:endParaRPr lang="en-US" dirty="0"/>
          </a:p>
          <a:p>
            <a:r>
              <a:rPr lang="en-US" dirty="0"/>
              <a:t>But f</a:t>
            </a:r>
            <a:r>
              <a:rPr dirty="0"/>
              <a:t>ailing to find one does not prove it can't. </a:t>
            </a:r>
            <a:r>
              <a:rPr lang="en-US" dirty="0"/>
              <a:t>You may try</a:t>
            </a:r>
            <a:r>
              <a:rPr dirty="0"/>
              <a:t> run it again,  raise the iterations</a:t>
            </a:r>
            <a:r>
              <a:rPr lang="en-US" dirty="0"/>
              <a:t>, or use the manual solver.</a:t>
            </a:r>
            <a:endParaRPr dirty="0"/>
          </a:p>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Pure random sampling struggles with a tight doorway. The chance of randomly guessing a good entrance pose is tiny.</a:t>
            </a:r>
          </a:p>
          <a:p>
            <a:endParaRPr dirty="0"/>
          </a:p>
          <a:p>
            <a:r>
              <a:rPr dirty="0"/>
              <a:t>So we don't start blind. We sample offsets across the opening, combined with fifteen-degree yaw, pitch and roll orientations. We refine the promising ones at five degrees. Then we probe each candidate inward, to see how deep it gets.</a:t>
            </a:r>
          </a:p>
          <a:p>
            <a:endParaRPr dirty="0"/>
          </a:p>
          <a:p>
            <a:r>
              <a:rPr dirty="0"/>
              <a:t>We rank them by depth, clearance, alignment, offset and tilt, and feed the best ones to the planner as</a:t>
            </a:r>
            <a:r>
              <a:rPr lang="en-US" dirty="0"/>
              <a:t> candidate starting poses</a:t>
            </a:r>
            <a:r>
              <a:rPr dirty="0"/>
              <a:t>.</a:t>
            </a:r>
          </a:p>
          <a:p>
            <a:endParaRPr lang="en-US" dirty="0"/>
          </a:p>
          <a:p>
            <a:r>
              <a:rPr lang="en-US" dirty="0"/>
              <a:t>And this will increase the chance of successfully finding a path.</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The second solver is the straight-shot heuristic, and it's the opposite of random.</a:t>
            </a:r>
          </a:p>
          <a:p>
            <a:endParaRPr dirty="0"/>
          </a:p>
          <a:p>
            <a:r>
              <a:rPr dirty="0"/>
              <a:t>The travel direction is the room edge that isn't part of the entrance face. We line up the furniture's longest axis with it, project the doorway along that direction, and check whether the furniture's cross-section, with clearance, fits through.</a:t>
            </a:r>
          </a:p>
          <a:p>
            <a:endParaRPr dirty="0"/>
          </a:p>
          <a:p>
            <a:r>
              <a:rPr dirty="0"/>
              <a:t>If it does, we </a:t>
            </a:r>
            <a:r>
              <a:rPr dirty="0" err="1"/>
              <a:t>centre</a:t>
            </a:r>
            <a:r>
              <a:rPr dirty="0"/>
              <a:t> it, park it outside, and slide it straight in.</a:t>
            </a:r>
          </a:p>
          <a:p>
            <a:endParaRPr dirty="0"/>
          </a:p>
          <a:p>
            <a:r>
              <a:rPr dirty="0"/>
              <a:t>For rooms made of several blocks, it hands off between blocks using a short RRT.</a:t>
            </a:r>
          </a:p>
          <a:p>
            <a:endParaRPr dirty="0"/>
          </a:p>
          <a:p>
            <a:r>
              <a:rPr dirty="0"/>
              <a:t>My rule of thumb: use the heuristic for a fast yes on </a:t>
            </a:r>
            <a:r>
              <a:rPr lang="en-US" dirty="0"/>
              <a:t>simple straight room</a:t>
            </a:r>
            <a:r>
              <a:rPr dirty="0"/>
              <a:t>, and RRT-Connect when you need real </a:t>
            </a:r>
            <a:r>
              <a:rPr dirty="0" err="1"/>
              <a:t>manoeuvring</a:t>
            </a:r>
            <a:r>
              <a:rPr dirty="0"/>
              <a:t>.</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Now it's your turn.</a:t>
            </a:r>
          </a:p>
          <a:p>
            <a:endParaRPr dirty="0"/>
          </a:p>
          <a:p>
            <a:r>
              <a:rPr dirty="0"/>
              <a:t>Build an L-shaped hallway out of two connected blocks. </a:t>
            </a:r>
            <a:r>
              <a:rPr lang="en-US" dirty="0"/>
              <a:t>You can make</a:t>
            </a:r>
            <a:r>
              <a:rPr dirty="0"/>
              <a:t> furniture </a:t>
            </a:r>
            <a:r>
              <a:rPr lang="en-US" dirty="0"/>
              <a:t>and clearance </a:t>
            </a:r>
            <a:r>
              <a:rPr dirty="0"/>
              <a:t>of</a:t>
            </a:r>
            <a:r>
              <a:rPr lang="en-US" dirty="0"/>
              <a:t> this size</a:t>
            </a:r>
          </a:p>
          <a:p>
            <a:endParaRPr dirty="0"/>
          </a:p>
          <a:p>
            <a:r>
              <a:rPr dirty="0"/>
              <a:t>Try it manually first. Then run both solvers.</a:t>
            </a:r>
          </a:p>
          <a:p>
            <a:endParaRPr dirty="0"/>
          </a:p>
          <a:p>
            <a:r>
              <a:rPr dirty="0"/>
              <a:t>Then </a:t>
            </a:r>
            <a:r>
              <a:rPr lang="en-US" dirty="0"/>
              <a:t>increase the furniture size </a:t>
            </a:r>
            <a:r>
              <a:rPr dirty="0"/>
              <a:t>until it stops fitting, and see whether roll sampling rescues it.</a:t>
            </a:r>
          </a:p>
          <a:p>
            <a:endParaRPr dirty="0"/>
          </a:p>
          <a:p>
            <a:r>
              <a:rPr dirty="0"/>
              <a:t>So here's the question: what's the</a:t>
            </a:r>
            <a:r>
              <a:rPr lang="en-US" dirty="0"/>
              <a:t> </a:t>
            </a:r>
            <a:r>
              <a:rPr lang="en-US" sz="1200" b="1" i="0" dirty="0">
                <a:solidFill>
                  <a:srgbClr val="17211D"/>
                </a:solidFill>
                <a:latin typeface="Arial"/>
              </a:rPr>
              <a:t>largest sofa that fits your hallway</a:t>
            </a:r>
            <a:r>
              <a:rPr dirty="0"/>
              <a:t>?</a:t>
            </a:r>
          </a:p>
          <a:p>
            <a:endParaRPr dirty="0"/>
          </a:p>
          <a:p>
            <a:r>
              <a:rPr dirty="0"/>
              <a:t>Pause the video, give it a go, and drop your number in the comments. I'm really curious what you find.</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That's everything. And the best part: you can try it right now.</a:t>
            </a:r>
          </a:p>
          <a:p>
            <a:endParaRPr dirty="0"/>
          </a:p>
          <a:p>
            <a:r>
              <a:rPr dirty="0"/>
              <a:t>The app is live in your browser. No install, no account. The link is on screen and in the description</a:t>
            </a:r>
            <a:r>
              <a:rPr lang="en-US" dirty="0"/>
              <a:t>.</a:t>
            </a:r>
          </a:p>
          <a:p>
            <a:endParaRPr dirty="0"/>
          </a:p>
          <a:p>
            <a:r>
              <a:rPr lang="en-US" dirty="0"/>
              <a:t>T</a:t>
            </a:r>
            <a:r>
              <a:rPr dirty="0"/>
              <a:t>he full source code is on GitHub, so you can read the planner, change it, or even add your own solver.</a:t>
            </a:r>
          </a:p>
          <a:p>
            <a:endParaRPr dirty="0"/>
          </a:p>
          <a:p>
            <a:r>
              <a:rPr dirty="0"/>
              <a:t>Thanks so much for watching. Now go move some couches.</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10/24/26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10/24/26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10/24/26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10/24/26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10/24/26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10/24/26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10/24/26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10/24/26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10/24/26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10/24/26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10/24/26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10/24/26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microsoft.com/office/2007/relationships/media" Target="../media/media1.m4a"/><Relationship Id="rId2" Type="http://schemas.openxmlformats.org/officeDocument/2006/relationships/audio" Target="../media/media1.m4a"/><Relationship Id="rId3" Type="http://schemas.openxmlformats.org/officeDocument/2006/relationships/slideLayout" Target="../slideLayouts/slideLayout7.xml"/><Relationship Id="rId4" Type="http://schemas.openxmlformats.org/officeDocument/2006/relationships/notesSlide" Target="../notesSlides/notesSlide1.xml"/><Relationship Id="rId5" Type="http://schemas.openxmlformats.org/officeDocument/2006/relationships/image" Target="../media/image1.png"/><Relationship Id="rId6" Type="http://schemas.openxmlformats.org/officeDocument/2006/relationships/image" Target="../media/image2.jpeg"/><Relationship Id="rId7"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tags" Target="../tags/tag1.xml"/><Relationship Id="rId2" Type="http://schemas.microsoft.com/office/2007/relationships/media" Target="../media/media2.m4a"/><Relationship Id="rId3" Type="http://schemas.openxmlformats.org/officeDocument/2006/relationships/audio" Target="../media/media2.m4a"/><Relationship Id="rId4" Type="http://schemas.openxmlformats.org/officeDocument/2006/relationships/slideLayout" Target="../slideLayouts/slideLayout7.xml"/><Relationship Id="rId5" Type="http://schemas.openxmlformats.org/officeDocument/2006/relationships/notesSlide" Target="../notesSlides/notesSlide2.xml"/><Relationship Id="rId6" Type="http://schemas.openxmlformats.org/officeDocument/2006/relationships/image" Target="../media/image4.png"/><Relationship Id="rId7"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tags" Target="../tags/tag2.xml"/><Relationship Id="rId2" Type="http://schemas.microsoft.com/office/2007/relationships/media" Target="../media/media3.m4a"/><Relationship Id="rId3" Type="http://schemas.openxmlformats.org/officeDocument/2006/relationships/audio" Target="../media/media3.m4a"/><Relationship Id="rId4" Type="http://schemas.openxmlformats.org/officeDocument/2006/relationships/slideLayout" Target="../slideLayouts/slideLayout7.xml"/><Relationship Id="rId5" Type="http://schemas.openxmlformats.org/officeDocument/2006/relationships/notesSlide" Target="../notesSlides/notesSlide3.xml"/><Relationship Id="rId6"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image" Target="../media/image16.jpg"/><Relationship Id="rId4" Type="http://schemas.openxmlformats.org/officeDocument/2006/relationships/image" Target="../media/image17.jpg"/><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jp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jp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jp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jp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jp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jpg"/><Relationship Id="rId3" Type="http://schemas.openxmlformats.org/officeDocument/2006/relationships/image" Target="../media/image24.jp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microsoft.com/office/2007/relationships/media" Target="../media/media4.m4a"/><Relationship Id="rId2" Type="http://schemas.openxmlformats.org/officeDocument/2006/relationships/audio" Target="../media/media4.m4a"/><Relationship Id="rId3" Type="http://schemas.openxmlformats.org/officeDocument/2006/relationships/slideLayout" Target="../slideLayouts/slideLayout7.xml"/><Relationship Id="rId4" Type="http://schemas.openxmlformats.org/officeDocument/2006/relationships/notesSlide" Target="../notesSlides/notesSlide17.xml"/><Relationship Id="rId5" Type="http://schemas.openxmlformats.org/officeDocument/2006/relationships/image" Target="../media/image3.png"/></Relationships>
</file>

<file path=ppt/slides/_rels/slide18.xml.rels><?xml version='1.0' encoding='UTF-8' standalone='yes'?>
<Relationships xmlns="http://schemas.openxmlformats.org/package/2006/relationships"><Relationship Id="rId1" Type="http://schemas.microsoft.com/office/2007/relationships/media" Target="../media/media5.m4a"/><Relationship Id="rId2" Type="http://schemas.openxmlformats.org/officeDocument/2006/relationships/audio" Target="../media/media5.m4a"/><Relationship Id="rId3" Type="http://schemas.openxmlformats.org/officeDocument/2006/relationships/slideLayout" Target="../slideLayouts/slideLayout7.xml"/><Relationship Id="rId4" Type="http://schemas.openxmlformats.org/officeDocument/2006/relationships/notesSlide" Target="../notesSlides/notesSlide18.xml"/><Relationship Id="rId5" Type="http://schemas.openxmlformats.org/officeDocument/2006/relationships/image" Target="../media/image11.png"/><Relationship Id="rId6" Type="http://schemas.openxmlformats.org/officeDocument/2006/relationships/image" Target="../media/image3.png"/></Relationships>
</file>

<file path=ppt/slides/_rels/slide19.xml.rels><?xml version='1.0' encoding='UTF-8' standalone='yes'?>
<Relationships xmlns="http://schemas.openxmlformats.org/package/2006/relationships"><Relationship Id="rId1" Type="http://schemas.microsoft.com/office/2007/relationships/media" Target="../media/media6.m4a"/><Relationship Id="rId2" Type="http://schemas.openxmlformats.org/officeDocument/2006/relationships/audio" Target="../media/media6.m4a"/><Relationship Id="rId3" Type="http://schemas.openxmlformats.org/officeDocument/2006/relationships/slideLayout" Target="../slideLayouts/slideLayout7.xml"/><Relationship Id="rId4" Type="http://schemas.openxmlformats.org/officeDocument/2006/relationships/notesSlide" Target="../notesSlides/notesSlide19.xml"/><Relationship Id="rId5" Type="http://schemas.openxmlformats.org/officeDocument/2006/relationships/image" Target="../media/image12.png"/><Relationship Id="rId6" Type="http://schemas.openxmlformats.org/officeDocument/2006/relationships/image" Target="../media/image3.png"/></Relationships>
</file>

<file path=ppt/slides/_rels/slide20.xml.rels><?xml version='1.0' encoding='UTF-8' standalone='yes'?>
<Relationships xmlns="http://schemas.openxmlformats.org/package/2006/relationships"><Relationship Id="rId1" Type="http://schemas.microsoft.com/office/2007/relationships/media" Target="../media/media7.m4a"/><Relationship Id="rId2" Type="http://schemas.openxmlformats.org/officeDocument/2006/relationships/audio" Target="../media/media7.m4a"/><Relationship Id="rId3" Type="http://schemas.openxmlformats.org/officeDocument/2006/relationships/slideLayout" Target="../slideLayouts/slideLayout7.xml"/><Relationship Id="rId4" Type="http://schemas.openxmlformats.org/officeDocument/2006/relationships/notesSlide" Target="../notesSlides/notesSlide20.xml"/><Relationship Id="rId5" Type="http://schemas.openxmlformats.org/officeDocument/2006/relationships/image" Target="../media/image13.jpg"/><Relationship Id="rId6" Type="http://schemas.openxmlformats.org/officeDocument/2006/relationships/image" Target="../media/image3.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14.png"/></Relationships>
</file>

<file path=ppt/slides/_rels/slide22.xml.rels><?xml version='1.0' encoding='UTF-8' standalone='yes'?>
<Relationships xmlns="http://schemas.openxmlformats.org/package/2006/relationships"><Relationship Id="rId1" Type="http://schemas.microsoft.com/office/2007/relationships/media" Target="../media/media8.m4a"/><Relationship Id="rId2" Type="http://schemas.openxmlformats.org/officeDocument/2006/relationships/audio" Target="../media/media8.m4a"/><Relationship Id="rId3" Type="http://schemas.openxmlformats.org/officeDocument/2006/relationships/slideLayout" Target="../slideLayouts/slideLayout7.xml"/><Relationship Id="rId4" Type="http://schemas.openxmlformats.org/officeDocument/2006/relationships/notesSlide" Target="../notesSlides/notesSlide22.xml"/><Relationship Id="rId5" Type="http://schemas.openxmlformats.org/officeDocument/2006/relationships/image" Target="../media/image3.png"/></Relationships>
</file>

<file path=ppt/slides/_rels/slide23.xml.rels><?xml version='1.0' encoding='UTF-8' standalone='yes'?>
<Relationships xmlns="http://schemas.openxmlformats.org/package/2006/relationships"><Relationship Id="rId1" Type="http://schemas.microsoft.com/office/2007/relationships/media" Target="../media/media9.m4a"/><Relationship Id="rId2" Type="http://schemas.openxmlformats.org/officeDocument/2006/relationships/audio" Target="../media/media9.m4a"/><Relationship Id="rId3" Type="http://schemas.openxmlformats.org/officeDocument/2006/relationships/slideLayout" Target="../slideLayouts/slideLayout7.xml"/><Relationship Id="rId4" Type="http://schemas.openxmlformats.org/officeDocument/2006/relationships/notesSlide" Target="../notesSlides/notesSlide23.xml"/><Relationship Id="rId5" Type="http://schemas.openxmlformats.org/officeDocument/2006/relationships/image" Target="../media/image15.png"/><Relationship Id="rId6" Type="http://schemas.openxmlformats.org/officeDocument/2006/relationships/image" Target="../media/image3.png"/></Relationships>
</file>

<file path=ppt/slides/_rels/slide24.xml.rels><?xml version='1.0' encoding='UTF-8' standalone='yes'?>
<Relationships xmlns="http://schemas.openxmlformats.org/package/2006/relationships"><Relationship Id="rId1" Type="http://schemas.microsoft.com/office/2007/relationships/media" Target="../media/media10.m4a"/><Relationship Id="rId2" Type="http://schemas.openxmlformats.org/officeDocument/2006/relationships/audio" Target="../media/media10.m4a"/><Relationship Id="rId3" Type="http://schemas.openxmlformats.org/officeDocument/2006/relationships/slideLayout" Target="../slideLayouts/slideLayout7.xml"/><Relationship Id="rId4" Type="http://schemas.openxmlformats.org/officeDocument/2006/relationships/notesSlide" Target="../notesSlides/notesSlide24.xml"/><Relationship Id="rId5" Type="http://schemas.openxmlformats.org/officeDocument/2006/relationships/hyperlink" Target="https://volcano1998.github.io/FurnitureSim_3D/" TargetMode="External"/><Relationship Id="rId6" Type="http://schemas.openxmlformats.org/officeDocument/2006/relationships/hyperlink" Target="https://volcano1998.github.io/FurnitureSim_3D/slides/" TargetMode="External"/><Relationship Id="rId7" Type="http://schemas.openxmlformats.org/officeDocument/2006/relationships/hyperlink" Target="https://github.com/volcano1998/FurnitureSim_3D" TargetMode="External"/><Relationship Id="rId8" Type="http://schemas.openxmlformats.org/officeDocument/2006/relationships/image" Target="../media/image9.jpg"/><Relationship Id="rId9" Type="http://schemas.openxmlformats.org/officeDocument/2006/relationships/image" Target="../media/image3.png"/></Relationships>
</file>

<file path=ppt/slides/slide1.xml><?xml version="1.0" encoding="utf-8"?>
<p:sld xmlns:a="http://schemas.openxmlformats.org/drawingml/2006/main" xmlns:r="http://schemas.openxmlformats.org/officeDocument/2006/relationships" xmlns:p="http://schemas.openxmlformats.org/presentationml/2006/main">
  <p:cSld>
    <p:bg>
      <p:bgPr>
        <a:gradFill rotWithShape="1">
          <a:gsLst>
            <a:gs pos="0">
              <a:srgbClr val="1B5A45"/>
            </a:gs>
            <a:gs pos="100000">
              <a:srgbClr val="08140F"/>
            </a:gs>
          </a:gsLst>
          <a:lin ang="19500000" scaled="0"/>
        </a:gradFill>
        <a:effectLst/>
      </p:bgPr>
    </p:bg>
    <p:spTree>
      <p:nvGrpSpPr>
        <p:cNvPr id="1" name=""/>
        <p:cNvGrpSpPr/>
        <p:nvPr/>
      </p:nvGrpSpPr>
      <p:grpSpPr>
        <a:xfrm>
          <a:off x="0" y="0"/>
          <a:ext cx="0" cy="0"/>
          <a:chOff x="0" y="0"/>
          <a:chExt cx="0" cy="0"/>
        </a:xfrm>
      </p:grpSpPr>
      <p:sp>
        <p:nvSpPr>
          <p:cNvPr id="2" name="Rounded Rectangle 1"/>
          <p:cNvSpPr/>
          <p:nvPr/>
        </p:nvSpPr>
        <p:spPr>
          <a:xfrm>
            <a:off x="698500" y="533400"/>
            <a:ext cx="3594100" cy="292100"/>
          </a:xfrm>
          <a:prstGeom prst="roundRect">
            <a:avLst>
              <a:gd name="adj" fmla="val 50000"/>
            </a:avLst>
          </a:prstGeom>
          <a:solidFill>
            <a:srgbClr val="2F4A3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100" b="1" i="0" spc="150">
                <a:solidFill>
                  <a:srgbClr val="D6EF5B"/>
                </a:solidFill>
                <a:latin typeface="Arial"/>
              </a:rPr>
              <a:t>MOTION PLANNING IN THE BROWSER</a:t>
            </a:r>
          </a:p>
        </p:txBody>
      </p:sp>
      <p:sp>
        <p:nvSpPr>
          <p:cNvPr id="3" name="TextBox 2"/>
          <p:cNvSpPr txBox="1"/>
          <p:nvPr/>
        </p:nvSpPr>
        <p:spPr>
          <a:xfrm>
            <a:off x="698500" y="1524000"/>
            <a:ext cx="6350000" cy="2413000"/>
          </a:xfrm>
          <a:prstGeom prst="rect">
            <a:avLst/>
          </a:prstGeom>
          <a:noFill/>
        </p:spPr>
        <p:txBody>
          <a:bodyPr wrap="square" lIns="0" tIns="0" rIns="0" bIns="0" anchor="t">
            <a:spAutoFit/>
          </a:bodyPr>
          <a:lstStyle/>
          <a:p>
            <a:pPr algn="l">
              <a:lnSpc>
                <a:spcPct val="90000"/>
              </a:lnSpc>
              <a:spcAft>
                <a:spcPts val="0"/>
              </a:spcAft>
            </a:pPr>
            <a:r>
              <a:rPr sz="8800" b="1" i="0">
                <a:solidFill>
                  <a:srgbClr val="EEF5F0"/>
                </a:solidFill>
                <a:latin typeface="Arial"/>
              </a:rPr>
              <a:t>Can It</a:t>
            </a:r>
          </a:p>
          <a:p>
            <a:pPr algn="l">
              <a:lnSpc>
                <a:spcPct val="90000"/>
              </a:lnSpc>
              <a:spcAft>
                <a:spcPts val="0"/>
              </a:spcAft>
            </a:pPr>
            <a:r>
              <a:rPr sz="8800" b="1" i="0">
                <a:solidFill>
                  <a:srgbClr val="D6EF5B"/>
                </a:solidFill>
                <a:latin typeface="Arial"/>
              </a:rPr>
              <a:t>Fit?</a:t>
            </a:r>
          </a:p>
        </p:txBody>
      </p:sp>
      <p:sp>
        <p:nvSpPr>
          <p:cNvPr id="4" name="TextBox 3"/>
          <p:cNvSpPr txBox="1"/>
          <p:nvPr/>
        </p:nvSpPr>
        <p:spPr>
          <a:xfrm>
            <a:off x="698500" y="4191000"/>
            <a:ext cx="5969000" cy="1397000"/>
          </a:xfrm>
          <a:prstGeom prst="rect">
            <a:avLst/>
          </a:prstGeom>
          <a:noFill/>
        </p:spPr>
        <p:txBody>
          <a:bodyPr wrap="square" lIns="0" tIns="0" rIns="0" bIns="0" anchor="t">
            <a:spAutoFit/>
          </a:bodyPr>
          <a:lstStyle/>
          <a:p>
            <a:pPr algn="l">
              <a:lnSpc>
                <a:spcPct val="120000"/>
              </a:lnSpc>
              <a:spcAft>
                <a:spcPts val="0"/>
              </a:spcAft>
            </a:pPr>
            <a:r>
              <a:rPr sz="1900" b="0" i="0" dirty="0">
                <a:solidFill>
                  <a:srgbClr val="B7CBC1"/>
                </a:solidFill>
                <a:latin typeface="Arial"/>
              </a:rPr>
              <a:t>Will the sofa make it through the hallway? Let's build the room, then let a robot-style planner figure it out — and learn how it thinks.</a:t>
            </a:r>
          </a:p>
        </p:txBody>
      </p:sp>
      <p:pic>
        <p:nvPicPr>
          <p:cNvPr id="8" name="Picture 7" descr="d1.png"/>
          <p:cNvPicPr>
            <a:picLocks noChangeAspect="1"/>
          </p:cNvPicPr>
          <p:nvPr/>
        </p:nvPicPr>
        <p:blipFill>
          <a:blip r:embed="rId5"/>
          <a:stretch>
            <a:fillRect/>
          </a:stretch>
        </p:blipFill>
        <p:spPr>
          <a:xfrm>
            <a:off x="6667500" y="1206500"/>
            <a:ext cx="4572000" cy="4572000"/>
          </a:xfrm>
          <a:prstGeom prst="rect">
            <a:avLst/>
          </a:prstGeom>
        </p:spPr>
      </p:pic>
      <p:pic>
        <p:nvPicPr>
          <p:cNvPr id="9" name="Picture 8" descr="When the couch looks at the staircase and realizes what’s about to happen.  😅, Narrow stairs, tight turns, and oversized furniture can turn moving day  into a challenge—but that’s exactly where ...">
            <a:extLst>
              <a:ext uri="{FF2B5EF4-FFF2-40B4-BE49-F238E27FC236}">
                <a16:creationId xmlns:a16="http://schemas.microsoft.com/office/drawing/2014/main" id="{60F272D0-55AF-F3CD-13B3-B80AD81D58D8}"/>
              </a:ext>
            </a:extLst>
          </p:cNvPr>
          <p:cNvPicPr>
            <a:picLocks noChangeAspect="1"/>
          </p:cNvPicPr>
          <p:nvPr/>
        </p:nvPicPr>
        <p:blipFill>
          <a:blip r:embed="rId6"/>
          <a:stretch>
            <a:fillRect/>
          </a:stretch>
        </p:blipFill>
        <p:spPr>
          <a:xfrm>
            <a:off x="7048500" y="0"/>
            <a:ext cx="3797780" cy="6769956"/>
          </a:xfrm>
          <a:prstGeom prst="rect">
            <a:avLst/>
          </a:prstGeom>
        </p:spPr>
      </p:pic>
      <p:pic>
        <p:nvPicPr>
          <p:cNvPr id="49" name="Audio 48">
            <a:extLst>
              <a:ext uri="{FF2B5EF4-FFF2-40B4-BE49-F238E27FC236}">
                <a16:creationId xmlns:a16="http://schemas.microsoft.com/office/drawing/2014/main" id="{572FA9DF-4DF6-79A5-23FC-0F7B24756117}"/>
              </a:ext>
            </a:extLst>
          </p:cNvPr>
          <p:cNvPicPr>
            <a:picLocks noChangeAspect="1"/>
          </p:cNvPicPr>
          <p:nvPr>
            <a:audioFile r:link="rId2"/>
            <p:extLst>
              <p:ext uri="{DAA4B4D4-6D71-4841-9C94-3DE7FCFB9230}">
                <p14:media xmlns:p14="http://schemas.microsoft.com/office/powerpoint/2010/main" r:embed="rId1"/>
              </p:ext>
            </p:extLst>
          </p:nvPr>
        </p:nvPicPr>
        <p:blipFill>
          <a:blip r:embed="rId7"/>
          <a:stretch>
            <a:fillRect/>
          </a:stretch>
        </p:blipFill>
        <p:spPr>
          <a:xfrm>
            <a:off x="11226800" y="5892800"/>
            <a:ext cx="812800" cy="812800"/>
          </a:xfrm>
          <a:prstGeom prst="rect">
            <a:avLst/>
          </a:prstGeom>
        </p:spPr>
      </p:pic>
    </p:spTree>
  </p:cSld>
  <p:clrMapOvr>
    <a:masterClrMapping/>
  </p:clrMapOvr>
  <mc:AlternateContent xmlns:mc="http://schemas.openxmlformats.org/markup-compatibility/2006" xmlns:p14="http://schemas.microsoft.com/office/powerpoint/2010/main">
    <mc:Choice Requires="p14">
      <p:transition spd="slow" p14:dur="2000" advTm="34566"/>
    </mc:Choice>
    <mc:Fallback xmlns="">
      <p:transition spd="slow" advTm="34566"/>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1" fill="hold"/>
                                        <p:tgtEl>
                                          <p:spTgt spid="49"/>
                                        </p:tgtEl>
                                      </p:cBhvr>
                                    </p:cmd>
                                  </p:childTnLst>
                                </p:cTn>
                              </p:par>
                            </p:childTnLst>
                          </p:cTn>
                        </p:par>
                      </p:childTnLst>
                    </p:cTn>
                  </p:par>
                </p:childTnLst>
              </p:cTn>
              <p:prevCondLst>
                <p:cond evt="onPrev" delay="0">
                  <p:tgtEl>
                    <p:sldTgt/>
                  </p:tgtEl>
                </p:cond>
              </p:prevCondLst>
              <p:nextCondLst>
                <p:cond evt="onNext" delay="0">
                  <p:tgtEl>
                    <p:sldTgt/>
                  </p:tgtEl>
                </p:cond>
              </p:nextCondLst>
            </p:seq>
            <p:audio isNarration="1">
              <p:cMediaNode vol="80000" showWhenStopped="0">
                <p:cTn id="7" fill="hold" display="0">
                  <p:stCondLst>
                    <p:cond delay="indefinite"/>
                  </p:stCondLst>
                  <p:endCondLst>
                    <p:cond evt="onStopAudio" delay="0">
                      <p:tgtEl>
                        <p:sldTgt/>
                      </p:tgtEl>
                    </p:cond>
                  </p:endCondLst>
                </p:cTn>
                <p:tgtEl>
                  <p:spTgt spid="49"/>
                </p:tgtEl>
              </p:cMediaNode>
            </p:audio>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4F6F2"/>
        </a:solidFill>
        <a:effectLst/>
      </p:bgPr>
    </p:bg>
    <p:spTree>
      <p:nvGrpSpPr>
        <p:cNvPr id="1" name=""/>
        <p:cNvGrpSpPr/>
        <p:nvPr/>
      </p:nvGrpSpPr>
      <p:grpSpPr>
        <a:xfrm>
          <a:off x="0" y="0"/>
          <a:ext cx="0" cy="0"/>
          <a:chOff x="0" y="0"/>
          <a:chExt cx="0" cy="0"/>
        </a:xfrm>
      </p:grpSpPr>
      <p:sp>
        <p:nvSpPr>
          <p:cNvPr id="2" name="Rounded Rectangle 1"/>
          <p:cNvSpPr/>
          <p:nvPr/>
        </p:nvSpPr>
        <p:spPr>
          <a:xfrm>
            <a:off x="698500" y="533400"/>
            <a:ext cx="1543050" cy="292100"/>
          </a:xfrm>
          <a:prstGeom prst="roundRect">
            <a:avLst>
              <a:gd name="adj" fmla="val 50000"/>
            </a:avLst>
          </a:prstGeom>
          <a:solidFill>
            <a:srgbClr val="E3F2EA"/>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100" b="1" i="0" spc="150">
                <a:solidFill>
                  <a:srgbClr val="166B50"/>
                </a:solidFill>
                <a:latin typeface="Arial"/>
              </a:rPr>
              <a:t>THE PROBLEM</a:t>
            </a:r>
          </a:p>
        </p:txBody>
      </p:sp>
      <p:sp>
        <p:nvSpPr>
          <p:cNvPr id="3" name="TextBox 2"/>
          <p:cNvSpPr txBox="1"/>
          <p:nvPr/>
        </p:nvSpPr>
        <p:spPr>
          <a:xfrm>
            <a:off x="698500" y="952500"/>
            <a:ext cx="10795000" cy="825500"/>
          </a:xfrm>
          <a:prstGeom prst="rect">
            <a:avLst/>
          </a:prstGeom>
          <a:noFill/>
        </p:spPr>
        <p:txBody>
          <a:bodyPr wrap="square" lIns="0" tIns="0" rIns="0" bIns="0" anchor="t">
            <a:spAutoFit/>
          </a:bodyPr>
          <a:lstStyle/>
          <a:p>
            <a:pPr algn="l">
              <a:lnSpc>
                <a:spcPct val="100000"/>
              </a:lnSpc>
              <a:spcAft>
                <a:spcPts val="0"/>
              </a:spcAft>
            </a:pPr>
            <a:r>
              <a:rPr sz="3800" b="1" i="0">
                <a:solidFill>
                  <a:srgbClr val="17211D"/>
                </a:solidFill>
                <a:latin typeface="Arial"/>
              </a:rPr>
              <a:t>Moving a couch is a </a:t>
            </a:r>
            <a:r>
              <a:rPr sz="3800" b="1" i="0">
                <a:solidFill>
                  <a:srgbClr val="166B50"/>
                </a:solidFill>
                <a:latin typeface="Arial"/>
              </a:rPr>
              <a:t>6-dimensional</a:t>
            </a:r>
            <a:r>
              <a:rPr sz="3800" b="1" i="0">
                <a:solidFill>
                  <a:srgbClr val="17211D"/>
                </a:solidFill>
                <a:latin typeface="Arial"/>
              </a:rPr>
              <a:t> puzzle</a:t>
            </a:r>
          </a:p>
        </p:txBody>
      </p:sp>
      <p:sp>
        <p:nvSpPr>
          <p:cNvPr id="4" name="TextBox 3"/>
          <p:cNvSpPr txBox="1"/>
          <p:nvPr/>
        </p:nvSpPr>
        <p:spPr>
          <a:xfrm>
            <a:off x="698500" y="2095500"/>
            <a:ext cx="5080000" cy="3302000"/>
          </a:xfrm>
          <a:prstGeom prst="rect">
            <a:avLst/>
          </a:prstGeom>
          <a:noFill/>
        </p:spPr>
        <p:txBody>
          <a:bodyPr wrap="square" lIns="0" tIns="0" rIns="0" bIns="0">
            <a:spAutoFit/>
          </a:bodyPr>
          <a:lstStyle/>
          <a:p>
            <a:pPr marL="457200" indent="-457200">
              <a:lnSpc>
                <a:spcPct val="108000"/>
              </a:lnSpc>
              <a:spcAft>
                <a:spcPts val="1400"/>
              </a:spcAft>
              <a:buClr>
                <a:srgbClr val="166B50"/>
              </a:buClr>
              <a:buSzPct val="100000"/>
              <a:buFont typeface="Arial"/>
              <a:buChar char="■"/>
            </a:pPr>
            <a:r>
              <a:rPr sz="1700" b="0" i="0" dirty="0">
                <a:solidFill>
                  <a:srgbClr val="17211D"/>
                </a:solidFill>
                <a:latin typeface="Arial"/>
              </a:rPr>
              <a:t>It slides in </a:t>
            </a:r>
            <a:r>
              <a:rPr sz="1700" b="1" i="0" dirty="0">
                <a:solidFill>
                  <a:srgbClr val="17211D"/>
                </a:solidFill>
                <a:latin typeface="Arial"/>
              </a:rPr>
              <a:t>3</a:t>
            </a:r>
            <a:r>
              <a:rPr sz="1700" b="0" i="0" dirty="0">
                <a:solidFill>
                  <a:srgbClr val="17211D"/>
                </a:solidFill>
                <a:latin typeface="Arial"/>
              </a:rPr>
              <a:t> directions: x, y, z</a:t>
            </a:r>
          </a:p>
          <a:p>
            <a:pPr marL="457200" indent="-457200">
              <a:lnSpc>
                <a:spcPct val="108000"/>
              </a:lnSpc>
              <a:spcAft>
                <a:spcPts val="1400"/>
              </a:spcAft>
              <a:buClr>
                <a:srgbClr val="166B50"/>
              </a:buClr>
              <a:buSzPct val="100000"/>
              <a:buFont typeface="Arial"/>
              <a:buChar char="■"/>
            </a:pPr>
            <a:r>
              <a:rPr sz="1700" b="0" i="0" dirty="0">
                <a:solidFill>
                  <a:srgbClr val="17211D"/>
                </a:solidFill>
                <a:latin typeface="Arial"/>
              </a:rPr>
              <a:t>It spins in </a:t>
            </a:r>
            <a:r>
              <a:rPr sz="1700" b="1" i="0" dirty="0">
                <a:solidFill>
                  <a:srgbClr val="17211D"/>
                </a:solidFill>
                <a:latin typeface="Arial"/>
              </a:rPr>
              <a:t>3</a:t>
            </a:r>
            <a:r>
              <a:rPr sz="1700" b="0" i="0" dirty="0">
                <a:solidFill>
                  <a:srgbClr val="17211D"/>
                </a:solidFill>
                <a:latin typeface="Arial"/>
              </a:rPr>
              <a:t> ways: yaw, pitch, roll</a:t>
            </a:r>
          </a:p>
          <a:p>
            <a:pPr marL="457200" indent="-457200">
              <a:lnSpc>
                <a:spcPct val="108000"/>
              </a:lnSpc>
              <a:spcAft>
                <a:spcPts val="1400"/>
              </a:spcAft>
              <a:buClr>
                <a:srgbClr val="166B50"/>
              </a:buClr>
              <a:buSzPct val="100000"/>
              <a:buFont typeface="Arial"/>
              <a:buChar char="■"/>
            </a:pPr>
            <a:r>
              <a:rPr sz="1700" b="0" i="0" dirty="0">
                <a:solidFill>
                  <a:srgbClr val="17211D"/>
                </a:solidFill>
                <a:latin typeface="Arial"/>
              </a:rPr>
              <a:t>Walls, corners and doorways don't care how clever you are</a:t>
            </a:r>
          </a:p>
          <a:p>
            <a:pPr marL="457200" indent="-457200">
              <a:lnSpc>
                <a:spcPct val="108000"/>
              </a:lnSpc>
              <a:spcAft>
                <a:spcPts val="1400"/>
              </a:spcAft>
              <a:buClr>
                <a:srgbClr val="166B50"/>
              </a:buClr>
              <a:buSzPct val="100000"/>
              <a:buFont typeface="Arial"/>
              <a:buChar char="■"/>
            </a:pPr>
            <a:r>
              <a:rPr sz="1700" b="0" i="0" dirty="0">
                <a:solidFill>
                  <a:srgbClr val="17211D"/>
                </a:solidFill>
                <a:latin typeface="Arial"/>
              </a:rPr>
              <a:t>"Does it fit?" really means: </a:t>
            </a:r>
            <a:r>
              <a:rPr sz="1700" b="1" i="0" dirty="0">
                <a:solidFill>
                  <a:srgbClr val="17211D"/>
                </a:solidFill>
                <a:latin typeface="Arial"/>
              </a:rPr>
              <a:t>is there a collision-free path through 6-D space?</a:t>
            </a:r>
          </a:p>
        </p:txBody>
      </p:sp>
      <p:pic>
        <p:nvPicPr>
          <p:cNvPr id="5" name="Picture 4" descr="d2.png"/>
          <p:cNvPicPr>
            <a:picLocks noChangeAspect="1"/>
          </p:cNvPicPr>
          <p:nvPr/>
        </p:nvPicPr>
        <p:blipFill>
          <a:blip r:embed="rId6"/>
          <a:stretch>
            <a:fillRect/>
          </a:stretch>
        </p:blipFill>
        <p:spPr>
          <a:xfrm>
            <a:off x="6096000" y="1905000"/>
            <a:ext cx="5397500" cy="3774939"/>
          </a:xfrm>
          <a:prstGeom prst="rect">
            <a:avLst/>
          </a:prstGeom>
        </p:spPr>
      </p:pic>
      <p:pic>
        <p:nvPicPr>
          <p:cNvPr id="77" name="Audio 76">
            <a:extLst>
              <a:ext uri="{FF2B5EF4-FFF2-40B4-BE49-F238E27FC236}">
                <a16:creationId xmlns:a16="http://schemas.microsoft.com/office/drawing/2014/main" id="{6AB69DEA-1D1E-4C37-85AF-6F87EEFAA331}"/>
              </a:ext>
            </a:extLst>
          </p:cNvPr>
          <p:cNvPicPr>
            <a:picLocks noChangeAspect="1"/>
          </p:cNvPicPr>
          <p:nvPr>
            <a:audioFile r:link="rId3"/>
            <p:extLst>
              <p:ext uri="{DAA4B4D4-6D71-4841-9C94-3DE7FCFB9230}">
                <p14:media xmlns:p14="http://schemas.microsoft.com/office/powerpoint/2010/main" r:embed="rId2"/>
              </p:ext>
            </p:extLst>
          </p:nvPr>
        </p:nvPicPr>
        <p:blipFill>
          <a:blip r:embed="rId7"/>
          <a:stretch>
            <a:fillRect/>
          </a:stretch>
        </p:blipFill>
        <p:spPr>
          <a:xfrm>
            <a:off x="11226800" y="5892800"/>
            <a:ext cx="812800" cy="812800"/>
          </a:xfrm>
          <a:prstGeom prst="rect">
            <a:avLst/>
          </a:prstGeom>
        </p:spPr>
      </p:pic>
    </p:spTree>
    <p:custDataLst>
      <p:tags r:id="rId1"/>
    </p:custDataLst>
  </p:cSld>
  <p:clrMapOvr>
    <a:masterClrMapping/>
  </p:clrMapOvr>
  <mc:AlternateContent xmlns:mc="http://schemas.openxmlformats.org/markup-compatibility/2006" xmlns:p14="http://schemas.microsoft.com/office/powerpoint/2010/main">
    <mc:Choice Requires="p14">
      <p:transition spd="slow" p14:dur="2000" advTm="37737"/>
    </mc:Choice>
    <mc:Fallback xmlns="">
      <p:transition spd="slow" advTm="37737"/>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1" fill="hold"/>
                                        <p:tgtEl>
                                          <p:spTgt spid="77"/>
                                        </p:tgtEl>
                                      </p:cBhvr>
                                    </p:cmd>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audio isNarration="1">
              <p:cMediaNode vol="80000" showWhenStopped="0">
                <p:cTn id="27" fill="hold" display="0">
                  <p:stCondLst>
                    <p:cond delay="indefinite"/>
                  </p:stCondLst>
                  <p:endCondLst>
                    <p:cond evt="onStopAudio" delay="0">
                      <p:tgtEl>
                        <p:sldTgt/>
                      </p:tgtEl>
                    </p:cond>
                  </p:endCondLst>
                </p:cTn>
                <p:tgtEl>
                  <p:spTgt spid="77"/>
                </p:tgtEl>
              </p:cMediaNode>
            </p:audio>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4F6F2"/>
        </a:solidFill>
        <a:effectLst/>
      </p:bgPr>
    </p:bg>
    <p:spTree>
      <p:nvGrpSpPr>
        <p:cNvPr id="1" name=""/>
        <p:cNvGrpSpPr/>
        <p:nvPr/>
      </p:nvGrpSpPr>
      <p:grpSpPr>
        <a:xfrm>
          <a:off x="0" y="0"/>
          <a:ext cx="0" cy="0"/>
          <a:chOff x="0" y="0"/>
          <a:chExt cx="0" cy="0"/>
        </a:xfrm>
      </p:grpSpPr>
      <p:sp>
        <p:nvSpPr>
          <p:cNvPr id="2" name="Rounded Rectangle 1"/>
          <p:cNvSpPr/>
          <p:nvPr/>
        </p:nvSpPr>
        <p:spPr>
          <a:xfrm>
            <a:off x="698500" y="533400"/>
            <a:ext cx="1974850" cy="292100"/>
          </a:xfrm>
          <a:prstGeom prst="roundRect">
            <a:avLst>
              <a:gd name="adj" fmla="val 50000"/>
            </a:avLst>
          </a:prstGeom>
          <a:solidFill>
            <a:srgbClr val="E3F2EA"/>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100" b="1" i="0" spc="150">
                <a:solidFill>
                  <a:srgbClr val="166B50"/>
                </a:solidFill>
                <a:latin typeface="Arial"/>
              </a:rPr>
              <a:t>WHAT YOU'LL SEE</a:t>
            </a:r>
          </a:p>
        </p:txBody>
      </p:sp>
      <p:sp>
        <p:nvSpPr>
          <p:cNvPr id="3" name="TextBox 2"/>
          <p:cNvSpPr txBox="1"/>
          <p:nvPr/>
        </p:nvSpPr>
        <p:spPr>
          <a:xfrm>
            <a:off x="698500" y="952500"/>
            <a:ext cx="10795000" cy="825500"/>
          </a:xfrm>
          <a:prstGeom prst="rect">
            <a:avLst/>
          </a:prstGeom>
          <a:noFill/>
        </p:spPr>
        <p:txBody>
          <a:bodyPr wrap="square" lIns="0" tIns="0" rIns="0" bIns="0" anchor="t">
            <a:spAutoFit/>
          </a:bodyPr>
          <a:lstStyle/>
          <a:p>
            <a:pPr algn="l">
              <a:lnSpc>
                <a:spcPct val="100000"/>
              </a:lnSpc>
              <a:spcAft>
                <a:spcPts val="0"/>
              </a:spcAft>
            </a:pPr>
            <a:r>
              <a:rPr sz="3800" b="1" i="0">
                <a:solidFill>
                  <a:srgbClr val="17211D"/>
                </a:solidFill>
                <a:latin typeface="Arial"/>
              </a:rPr>
              <a:t>One app, three ways to answer it</a:t>
            </a:r>
          </a:p>
        </p:txBody>
      </p:sp>
      <p:grpSp>
        <p:nvGrpSpPr>
          <p:cNvPr id="25" name="Group 24">
            <a:extLst>
              <a:ext uri="{FF2B5EF4-FFF2-40B4-BE49-F238E27FC236}">
                <a16:creationId xmlns:a16="http://schemas.microsoft.com/office/drawing/2014/main" id="{DA1D2B47-0F27-6219-F843-7778037EEA42}"/>
              </a:ext>
            </a:extLst>
          </p:cNvPr>
          <p:cNvGrpSpPr/>
          <p:nvPr/>
        </p:nvGrpSpPr>
        <p:grpSpPr>
          <a:xfrm>
            <a:off x="8196580" y="2095500"/>
            <a:ext cx="3429000" cy="2095500"/>
            <a:chOff x="698500" y="2095500"/>
            <a:chExt cx="3429000" cy="2095500"/>
          </a:xfrm>
        </p:grpSpPr>
        <p:sp>
          <p:nvSpPr>
            <p:cNvPr id="4" name="Rounded Rectangle 3"/>
            <p:cNvSpPr/>
            <p:nvPr/>
          </p:nvSpPr>
          <p:spPr>
            <a:xfrm>
              <a:off x="698500" y="2095500"/>
              <a:ext cx="3429000" cy="2095500"/>
            </a:xfrm>
            <a:prstGeom prst="roundRect">
              <a:avLst>
                <a:gd name="adj" fmla="val 7000"/>
              </a:avLst>
            </a:prstGeom>
            <a:solidFill>
              <a:srgbClr val="FFFFFF"/>
            </a:solidFill>
            <a:ln w="12700">
              <a:solidFill>
                <a:srgbClr val="DCE2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939800" y="2362200"/>
              <a:ext cx="444500" cy="63500"/>
            </a:xfrm>
            <a:prstGeom prst="rect">
              <a:avLst/>
            </a:prstGeom>
            <a:solidFill>
              <a:srgbClr val="166B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939800" y="2603500"/>
              <a:ext cx="2952750" cy="317500"/>
            </a:xfrm>
            <a:prstGeom prst="rect">
              <a:avLst/>
            </a:prstGeom>
            <a:noFill/>
          </p:spPr>
          <p:txBody>
            <a:bodyPr wrap="square" lIns="0" tIns="0" rIns="0" bIns="0" anchor="t">
              <a:spAutoFit/>
            </a:bodyPr>
            <a:lstStyle/>
            <a:p>
              <a:pPr algn="l">
                <a:lnSpc>
                  <a:spcPct val="112000"/>
                </a:lnSpc>
                <a:spcAft>
                  <a:spcPts val="0"/>
                </a:spcAft>
              </a:pPr>
              <a:r>
                <a:rPr lang="en-US" sz="2000" b="1" i="0" dirty="0">
                  <a:solidFill>
                    <a:srgbClr val="17211D"/>
                  </a:solidFill>
                  <a:latin typeface="Arial"/>
                </a:rPr>
                <a:t>Probabilistic solver</a:t>
              </a:r>
              <a:endParaRPr sz="2000" b="1" i="0" dirty="0">
                <a:solidFill>
                  <a:srgbClr val="17211D"/>
                </a:solidFill>
                <a:latin typeface="Arial"/>
              </a:endParaRPr>
            </a:p>
          </p:txBody>
        </p:sp>
        <p:sp>
          <p:nvSpPr>
            <p:cNvPr id="7" name="TextBox 6"/>
            <p:cNvSpPr txBox="1"/>
            <p:nvPr/>
          </p:nvSpPr>
          <p:spPr>
            <a:xfrm>
              <a:off x="939800" y="3048000"/>
              <a:ext cx="2952750" cy="243143"/>
            </a:xfrm>
            <a:prstGeom prst="rect">
              <a:avLst/>
            </a:prstGeom>
            <a:noFill/>
          </p:spPr>
          <p:txBody>
            <a:bodyPr wrap="square" lIns="0" tIns="0" rIns="0" bIns="0" anchor="t">
              <a:spAutoFit/>
            </a:bodyPr>
            <a:lstStyle/>
            <a:p>
              <a:pPr>
                <a:lnSpc>
                  <a:spcPct val="120000"/>
                </a:lnSpc>
              </a:pPr>
              <a:r>
                <a:rPr lang="en-US" sz="1450" dirty="0">
                  <a:solidFill>
                    <a:srgbClr val="5D6963"/>
                  </a:solidFill>
                  <a:latin typeface="Arial"/>
                </a:rPr>
                <a:t>RRT-Connect.</a:t>
              </a:r>
              <a:endParaRPr sz="1450" b="0" i="0" dirty="0">
                <a:solidFill>
                  <a:srgbClr val="5D6963"/>
                </a:solidFill>
                <a:latin typeface="Arial"/>
              </a:endParaRPr>
            </a:p>
          </p:txBody>
        </p:sp>
      </p:grpSp>
      <p:grpSp>
        <p:nvGrpSpPr>
          <p:cNvPr id="24" name="Group 23">
            <a:extLst>
              <a:ext uri="{FF2B5EF4-FFF2-40B4-BE49-F238E27FC236}">
                <a16:creationId xmlns:a16="http://schemas.microsoft.com/office/drawing/2014/main" id="{6397C192-1A80-1117-96B7-11AAAFB625F1}"/>
              </a:ext>
            </a:extLst>
          </p:cNvPr>
          <p:cNvGrpSpPr/>
          <p:nvPr/>
        </p:nvGrpSpPr>
        <p:grpSpPr>
          <a:xfrm>
            <a:off x="4381500" y="2095500"/>
            <a:ext cx="3429000" cy="2095500"/>
            <a:chOff x="4381500" y="2095500"/>
            <a:chExt cx="3429000" cy="2095500"/>
          </a:xfrm>
        </p:grpSpPr>
        <p:sp>
          <p:nvSpPr>
            <p:cNvPr id="8" name="Rounded Rectangle 7"/>
            <p:cNvSpPr/>
            <p:nvPr/>
          </p:nvSpPr>
          <p:spPr>
            <a:xfrm>
              <a:off x="4381500" y="2095500"/>
              <a:ext cx="3429000" cy="2095500"/>
            </a:xfrm>
            <a:prstGeom prst="roundRect">
              <a:avLst>
                <a:gd name="adj" fmla="val 7000"/>
              </a:avLst>
            </a:prstGeom>
            <a:solidFill>
              <a:srgbClr val="FFFFFF"/>
            </a:solidFill>
            <a:ln w="12700">
              <a:solidFill>
                <a:srgbClr val="DCE2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4622800" y="2362200"/>
              <a:ext cx="444500" cy="63500"/>
            </a:xfrm>
            <a:prstGeom prst="rect">
              <a:avLst/>
            </a:prstGeom>
            <a:solidFill>
              <a:srgbClr val="166B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622800" y="2603500"/>
              <a:ext cx="2952750" cy="317500"/>
            </a:xfrm>
            <a:prstGeom prst="rect">
              <a:avLst/>
            </a:prstGeom>
            <a:noFill/>
          </p:spPr>
          <p:txBody>
            <a:bodyPr wrap="square" lIns="0" tIns="0" rIns="0" bIns="0" anchor="t">
              <a:spAutoFit/>
            </a:bodyPr>
            <a:lstStyle/>
            <a:p>
              <a:pPr algn="l">
                <a:lnSpc>
                  <a:spcPct val="112000"/>
                </a:lnSpc>
                <a:spcAft>
                  <a:spcPts val="0"/>
                </a:spcAft>
              </a:pPr>
              <a:r>
                <a:rPr lang="en-US" sz="2000" b="1" dirty="0">
                  <a:solidFill>
                    <a:srgbClr val="17211D"/>
                  </a:solidFill>
                  <a:latin typeface="Arial"/>
                </a:rPr>
                <a:t>Deterministic solver</a:t>
              </a:r>
              <a:endParaRPr sz="2000" b="1" i="0" dirty="0">
                <a:solidFill>
                  <a:srgbClr val="17211D"/>
                </a:solidFill>
                <a:latin typeface="Arial"/>
              </a:endParaRPr>
            </a:p>
          </p:txBody>
        </p:sp>
        <p:sp>
          <p:nvSpPr>
            <p:cNvPr id="11" name="TextBox 10"/>
            <p:cNvSpPr txBox="1"/>
            <p:nvPr/>
          </p:nvSpPr>
          <p:spPr>
            <a:xfrm>
              <a:off x="4622800" y="3048000"/>
              <a:ext cx="2952750" cy="510909"/>
            </a:xfrm>
            <a:prstGeom prst="rect">
              <a:avLst/>
            </a:prstGeom>
            <a:noFill/>
          </p:spPr>
          <p:txBody>
            <a:bodyPr wrap="square" lIns="0" tIns="0" rIns="0" bIns="0" anchor="t">
              <a:spAutoFit/>
            </a:bodyPr>
            <a:lstStyle/>
            <a:p>
              <a:pPr algn="l">
                <a:lnSpc>
                  <a:spcPct val="120000"/>
                </a:lnSpc>
                <a:spcAft>
                  <a:spcPts val="0"/>
                </a:spcAft>
              </a:pPr>
              <a:r>
                <a:rPr sz="1450" b="0" i="0" dirty="0">
                  <a:solidFill>
                    <a:srgbClr val="5D6963"/>
                  </a:solidFill>
                  <a:latin typeface="Arial"/>
                </a:rPr>
                <a:t>a deterministic straight-shot heuristic.</a:t>
              </a:r>
            </a:p>
          </p:txBody>
        </p:sp>
      </p:grpSp>
      <p:grpSp>
        <p:nvGrpSpPr>
          <p:cNvPr id="23" name="Group 22">
            <a:extLst>
              <a:ext uri="{FF2B5EF4-FFF2-40B4-BE49-F238E27FC236}">
                <a16:creationId xmlns:a16="http://schemas.microsoft.com/office/drawing/2014/main" id="{6663DFEC-92F9-3C38-CA82-500AE93F7FB2}"/>
              </a:ext>
            </a:extLst>
          </p:cNvPr>
          <p:cNvGrpSpPr/>
          <p:nvPr/>
        </p:nvGrpSpPr>
        <p:grpSpPr>
          <a:xfrm>
            <a:off x="508000" y="2095500"/>
            <a:ext cx="3429000" cy="2095500"/>
            <a:chOff x="-330200" y="5655564"/>
            <a:chExt cx="3429000" cy="2095500"/>
          </a:xfrm>
        </p:grpSpPr>
        <p:sp>
          <p:nvSpPr>
            <p:cNvPr id="12" name="Rounded Rectangle 11"/>
            <p:cNvSpPr/>
            <p:nvPr/>
          </p:nvSpPr>
          <p:spPr>
            <a:xfrm>
              <a:off x="-330200" y="5655564"/>
              <a:ext cx="3429000" cy="2095500"/>
            </a:xfrm>
            <a:prstGeom prst="roundRect">
              <a:avLst>
                <a:gd name="adj" fmla="val 7000"/>
              </a:avLst>
            </a:prstGeom>
            <a:solidFill>
              <a:srgbClr val="FFFFFF"/>
            </a:solidFill>
            <a:ln w="12700">
              <a:solidFill>
                <a:srgbClr val="DCE2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88900" y="5922264"/>
              <a:ext cx="444500" cy="63500"/>
            </a:xfrm>
            <a:prstGeom prst="rect">
              <a:avLst/>
            </a:prstGeom>
            <a:solidFill>
              <a:srgbClr val="166B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88900" y="6163564"/>
              <a:ext cx="2952750" cy="317500"/>
            </a:xfrm>
            <a:prstGeom prst="rect">
              <a:avLst/>
            </a:prstGeom>
            <a:noFill/>
          </p:spPr>
          <p:txBody>
            <a:bodyPr wrap="square" lIns="0" tIns="0" rIns="0" bIns="0" anchor="t">
              <a:spAutoFit/>
            </a:bodyPr>
            <a:lstStyle/>
            <a:p>
              <a:pPr algn="l">
                <a:lnSpc>
                  <a:spcPct val="112000"/>
                </a:lnSpc>
                <a:spcAft>
                  <a:spcPts val="0"/>
                </a:spcAft>
              </a:pPr>
              <a:r>
                <a:rPr sz="2000" b="1" i="0">
                  <a:solidFill>
                    <a:srgbClr val="17211D"/>
                  </a:solidFill>
                  <a:latin typeface="Arial"/>
                </a:rPr>
                <a:t>Manual mode</a:t>
              </a:r>
            </a:p>
          </p:txBody>
        </p:sp>
        <p:sp>
          <p:nvSpPr>
            <p:cNvPr id="15" name="TextBox 14"/>
            <p:cNvSpPr txBox="1"/>
            <p:nvPr/>
          </p:nvSpPr>
          <p:spPr>
            <a:xfrm>
              <a:off x="-88900" y="6608064"/>
              <a:ext cx="2952750" cy="1079500"/>
            </a:xfrm>
            <a:prstGeom prst="rect">
              <a:avLst/>
            </a:prstGeom>
            <a:noFill/>
          </p:spPr>
          <p:txBody>
            <a:bodyPr wrap="square" lIns="0" tIns="0" rIns="0" bIns="0" anchor="t">
              <a:spAutoFit/>
            </a:bodyPr>
            <a:lstStyle/>
            <a:p>
              <a:pPr algn="l">
                <a:lnSpc>
                  <a:spcPct val="120000"/>
                </a:lnSpc>
                <a:spcAft>
                  <a:spcPts val="0"/>
                </a:spcAft>
              </a:pPr>
              <a:r>
                <a:rPr sz="1450" b="0" i="0" dirty="0">
                  <a:solidFill>
                    <a:srgbClr val="5D6963"/>
                  </a:solidFill>
                  <a:latin typeface="Arial"/>
                </a:rPr>
                <a:t>Hold </a:t>
              </a:r>
              <a:r>
                <a:rPr sz="1450" b="1" i="0" dirty="0">
                  <a:solidFill>
                    <a:srgbClr val="5D6963"/>
                  </a:solidFill>
                  <a:latin typeface="Courier New"/>
                </a:rPr>
                <a:t>M</a:t>
              </a:r>
              <a:r>
                <a:rPr sz="1450" b="0" i="0" dirty="0">
                  <a:solidFill>
                    <a:srgbClr val="5D6963"/>
                  </a:solidFill>
                  <a:latin typeface="Arial"/>
                </a:rPr>
                <a:t>, drag the furniture yourself. The app tells you when you collide.</a:t>
              </a:r>
            </a:p>
          </p:txBody>
        </p:sp>
      </p:grpSp>
      <p:sp>
        <p:nvSpPr>
          <p:cNvPr id="16" name="Rounded Rectangle 15"/>
          <p:cNvSpPr/>
          <p:nvPr/>
        </p:nvSpPr>
        <p:spPr>
          <a:xfrm>
            <a:off x="698500" y="4826000"/>
            <a:ext cx="1333500" cy="508000"/>
          </a:xfrm>
          <a:prstGeom prst="roundRect">
            <a:avLst>
              <a:gd name="adj" fmla="val 30000"/>
            </a:avLst>
          </a:prstGeom>
          <a:solidFill>
            <a:srgbClr val="FFFFFF"/>
          </a:solidFill>
          <a:ln w="12700">
            <a:solidFill>
              <a:srgbClr val="DCE2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500" b="1" i="0">
                <a:solidFill>
                  <a:srgbClr val="17211D"/>
                </a:solidFill>
                <a:latin typeface="Arial"/>
              </a:rPr>
              <a:t>1  Build</a:t>
            </a:r>
          </a:p>
        </p:txBody>
      </p:sp>
      <p:sp>
        <p:nvSpPr>
          <p:cNvPr id="17" name="Right Arrow 16"/>
          <p:cNvSpPr/>
          <p:nvPr/>
        </p:nvSpPr>
        <p:spPr>
          <a:xfrm>
            <a:off x="2082800" y="4972050"/>
            <a:ext cx="279400" cy="215900"/>
          </a:xfrm>
          <a:prstGeom prst="rightArrow">
            <a:avLst/>
          </a:prstGeom>
          <a:solidFill>
            <a:srgbClr val="166B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2413000" y="4826000"/>
            <a:ext cx="1714500" cy="508000"/>
          </a:xfrm>
          <a:prstGeom prst="roundRect">
            <a:avLst>
              <a:gd name="adj" fmla="val 30000"/>
            </a:avLst>
          </a:prstGeom>
          <a:solidFill>
            <a:srgbClr val="FFFFFF"/>
          </a:solidFill>
          <a:ln w="12700">
            <a:solidFill>
              <a:srgbClr val="DCE2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500" b="1" i="0">
                <a:solidFill>
                  <a:srgbClr val="17211D"/>
                </a:solidFill>
                <a:latin typeface="Arial"/>
              </a:rPr>
              <a:t>2  Entrance &amp; exit</a:t>
            </a:r>
          </a:p>
        </p:txBody>
      </p:sp>
      <p:sp>
        <p:nvSpPr>
          <p:cNvPr id="19" name="Right Arrow 18"/>
          <p:cNvSpPr/>
          <p:nvPr/>
        </p:nvSpPr>
        <p:spPr>
          <a:xfrm>
            <a:off x="4178300" y="4972050"/>
            <a:ext cx="279400" cy="215900"/>
          </a:xfrm>
          <a:prstGeom prst="rightArrow">
            <a:avLst/>
          </a:prstGeom>
          <a:solidFill>
            <a:srgbClr val="166B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ounded Rectangle 19"/>
          <p:cNvSpPr/>
          <p:nvPr/>
        </p:nvSpPr>
        <p:spPr>
          <a:xfrm>
            <a:off x="4508500" y="4826000"/>
            <a:ext cx="1333500" cy="508000"/>
          </a:xfrm>
          <a:prstGeom prst="roundRect">
            <a:avLst>
              <a:gd name="adj" fmla="val 30000"/>
            </a:avLst>
          </a:prstGeom>
          <a:solidFill>
            <a:srgbClr val="FFFFFF"/>
          </a:solidFill>
          <a:ln w="12700">
            <a:solidFill>
              <a:srgbClr val="DCE2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500" b="1" i="0">
                <a:solidFill>
                  <a:srgbClr val="17211D"/>
                </a:solidFill>
                <a:latin typeface="Arial"/>
              </a:rPr>
              <a:t>3  Furniture</a:t>
            </a:r>
          </a:p>
        </p:txBody>
      </p:sp>
      <p:sp>
        <p:nvSpPr>
          <p:cNvPr id="21" name="Right Arrow 20"/>
          <p:cNvSpPr/>
          <p:nvPr/>
        </p:nvSpPr>
        <p:spPr>
          <a:xfrm>
            <a:off x="5892800" y="4972050"/>
            <a:ext cx="279400" cy="215900"/>
          </a:xfrm>
          <a:prstGeom prst="rightArrow">
            <a:avLst/>
          </a:prstGeom>
          <a:solidFill>
            <a:srgbClr val="166B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ounded Rectangle 21"/>
          <p:cNvSpPr/>
          <p:nvPr/>
        </p:nvSpPr>
        <p:spPr>
          <a:xfrm>
            <a:off x="6223000" y="4826000"/>
            <a:ext cx="1333500" cy="508000"/>
          </a:xfrm>
          <a:prstGeom prst="roundRect">
            <a:avLst>
              <a:gd name="adj" fmla="val 30000"/>
            </a:avLst>
          </a:prstGeom>
          <a:solidFill>
            <a:srgbClr val="FFFFFF"/>
          </a:solidFill>
          <a:ln w="12700">
            <a:solidFill>
              <a:srgbClr val="DCE2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500" b="1" i="0">
                <a:solidFill>
                  <a:srgbClr val="17211D"/>
                </a:solidFill>
                <a:latin typeface="Arial"/>
              </a:rPr>
              <a:t>4  Solve</a:t>
            </a:r>
          </a:p>
        </p:txBody>
      </p:sp>
      <p:pic>
        <p:nvPicPr>
          <p:cNvPr id="104" name="Audio 103">
            <a:extLst>
              <a:ext uri="{FF2B5EF4-FFF2-40B4-BE49-F238E27FC236}">
                <a16:creationId xmlns:a16="http://schemas.microsoft.com/office/drawing/2014/main" id="{7D285E8D-20C1-D9EC-A818-95B43006E65C}"/>
              </a:ext>
            </a:extLst>
          </p:cNvPr>
          <p:cNvPicPr>
            <a:picLocks noChangeAspect="1"/>
          </p:cNvPicPr>
          <p:nvPr>
            <a:audioFile r:link="rId3"/>
            <p:extLst>
              <p:ext uri="{DAA4B4D4-6D71-4841-9C94-3DE7FCFB9230}">
                <p14:media xmlns:p14="http://schemas.microsoft.com/office/powerpoint/2010/main" r:embed="rId2"/>
              </p:ext>
            </p:extLst>
          </p:nvPr>
        </p:nvPicPr>
        <p:blipFill>
          <a:blip r:embed="rId6"/>
          <a:stretch>
            <a:fillRect/>
          </a:stretch>
        </p:blipFill>
        <p:spPr>
          <a:xfrm>
            <a:off x="11226800" y="5892800"/>
            <a:ext cx="812800" cy="812800"/>
          </a:xfrm>
          <a:prstGeom prst="rect">
            <a:avLst/>
          </a:prstGeom>
        </p:spPr>
      </p:pic>
    </p:spTree>
    <p:custDataLst>
      <p:tags r:id="rId1"/>
    </p:custDataLst>
  </p:cSld>
  <p:clrMapOvr>
    <a:masterClrMapping/>
  </p:clrMapOvr>
  <mc:AlternateContent xmlns:mc="http://schemas.openxmlformats.org/markup-compatibility/2006" xmlns:p14="http://schemas.microsoft.com/office/powerpoint/2010/main">
    <mc:Choice Requires="p14">
      <p:transition spd="slow" p14:dur="2000" advTm="33300"/>
    </mc:Choice>
    <mc:Fallback xmlns="">
      <p:transition spd="slow" advTm="333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1" fill="hold"/>
                                        <p:tgtEl>
                                          <p:spTgt spid="104"/>
                                        </p:tgtEl>
                                      </p:cBhvr>
                                    </p:cmd>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5"/>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6"/>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7"/>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8"/>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19"/>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20"/>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21"/>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2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audio isNarration="1">
              <p:cMediaNode vol="80000" showWhenStopped="0">
                <p:cTn id="41" fill="hold" display="0">
                  <p:stCondLst>
                    <p:cond delay="indefinite"/>
                  </p:stCondLst>
                  <p:endCondLst>
                    <p:cond evt="onStopAudio" delay="0">
                      <p:tgtEl>
                        <p:sldTgt/>
                      </p:tgtEl>
                    </p:cond>
                  </p:endCondLst>
                </p:cTn>
                <p:tgtEl>
                  <p:spTgt spid="104"/>
                </p:tgtEl>
              </p:cMediaNode>
            </p:audio>
          </p:childTnLst>
        </p:cTn>
      </p:par>
    </p:tnLst>
    <p:bldLst>
      <p:bldP spid="16" grpId="0" animBg="1"/>
      <p:bldP spid="17" grpId="0" animBg="1"/>
      <p:bldP spid="18" grpId="0" animBg="1"/>
      <p:bldP spid="19" grpId="0" animBg="1"/>
      <p:bldP spid="20" grpId="0" animBg="1"/>
      <p:bldP spid="21" grpId="0" animBg="1"/>
      <p:bldP spid="22" grpId="0" animBg="1"/>
    </p:bldLst>
  </p:timing>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4F6F2"/>
        </a:solidFill>
        <a:effectLst/>
      </p:bgPr>
    </p:bg>
    <p:spTree>
      <p:nvGrpSpPr>
        <p:cNvPr id="1" name=""/>
        <p:cNvGrpSpPr/>
        <p:nvPr/>
      </p:nvGrpSpPr>
      <p:grpSpPr/>
      <p:sp>
        <p:nvSpPr>
          <p:cNvPr id="2" name="Rounded Rectangle 1"/>
          <p:cNvSpPr/>
          <p:nvPr/>
        </p:nvSpPr>
        <p:spPr>
          <a:xfrm>
            <a:off x="698500" y="533400"/>
            <a:ext cx="2190750" cy="292100"/>
          </a:xfrm>
          <a:prstGeom prst="roundRect">
            <a:avLst>
              <a:gd name="adj" fmla="val 50000"/>
            </a:avLst>
          </a:prstGeom>
          <a:solidFill>
            <a:srgbClr val="E3F2E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i="0" spc="150">
                <a:solidFill>
                  <a:srgbClr val="166B50"/>
                </a:solidFill>
                <a:latin typeface="Arial"/>
              </a:rPr>
              <a:t>HANDS-ON · STEP 1</a:t>
            </a:r>
          </a:p>
        </p:txBody>
      </p:sp>
      <p:sp>
        <p:nvSpPr>
          <p:cNvPr id="3" name="TextBox 2"/>
          <p:cNvSpPr txBox="1"/>
          <p:nvPr/>
        </p:nvSpPr>
        <p:spPr>
          <a:xfrm>
            <a:off x="698500" y="952500"/>
            <a:ext cx="10795000" cy="825500"/>
          </a:xfrm>
          <a:prstGeom prst="rect">
            <a:avLst/>
          </a:prstGeom>
          <a:noFill/>
        </p:spPr>
        <p:txBody>
          <a:bodyPr wrap="square" lIns="0" rIns="0" tIns="0" bIns="0" anchor="t">
            <a:spAutoFit/>
          </a:bodyPr>
          <a:lstStyle/>
          <a:p>
            <a:pPr algn="l">
              <a:lnSpc>
                <a:spcPct val="100000"/>
              </a:lnSpc>
              <a:spcAft>
                <a:spcPts val="0"/>
              </a:spcAft>
            </a:pPr>
            <a:r>
              <a:rPr sz="3800" b="1" i="0">
                <a:solidFill>
                  <a:srgbClr val="17211D"/>
                </a:solidFill>
                <a:latin typeface="Arial"/>
              </a:rPr>
              <a:t>Build a staircase and a hallway</a:t>
            </a:r>
          </a:p>
        </p:txBody>
      </p:sp>
      <p:sp>
        <p:nvSpPr>
          <p:cNvPr id="4" name="TextBox 3"/>
          <p:cNvSpPr txBox="1"/>
          <p:nvPr/>
        </p:nvSpPr>
        <p:spPr>
          <a:xfrm>
            <a:off x="698500" y="1905000"/>
            <a:ext cx="4127500" cy="762000"/>
          </a:xfrm>
          <a:prstGeom prst="rect">
            <a:avLst/>
          </a:prstGeom>
          <a:noFill/>
        </p:spPr>
        <p:txBody>
          <a:bodyPr wrap="square" lIns="0" rIns="0" tIns="0" bIns="0" anchor="t">
            <a:spAutoFit/>
          </a:bodyPr>
          <a:lstStyle/>
          <a:p>
            <a:pPr algn="l">
              <a:lnSpc>
                <a:spcPct val="120000"/>
              </a:lnSpc>
              <a:spcAft>
                <a:spcPts val="0"/>
              </a:spcAft>
            </a:pPr>
            <a:r>
              <a:rPr sz="1600" b="0" i="0">
                <a:solidFill>
                  <a:srgbClr val="5D6963"/>
                </a:solidFill>
                <a:latin typeface="Arial"/>
              </a:rPr>
              <a:t>Let's build something real: a hallway, a flight of stairs, and a second hallway above.</a:t>
            </a:r>
          </a:p>
        </p:txBody>
      </p:sp>
      <p:sp>
        <p:nvSpPr>
          <p:cNvPr id="5" name="TextBox 4"/>
          <p:cNvSpPr txBox="1"/>
          <p:nvPr/>
        </p:nvSpPr>
        <p:spPr>
          <a:xfrm>
            <a:off x="698500" y="2984500"/>
            <a:ext cx="4127500" cy="1587500"/>
          </a:xfrm>
          <a:prstGeom prst="rect">
            <a:avLst/>
          </a:prstGeom>
          <a:noFill/>
        </p:spPr>
        <p:txBody>
          <a:bodyPr wrap="square" lIns="0" rIns="0" tIns="0" bIns="0">
            <a:spAutoFit/>
          </a:bodyPr>
          <a:lstStyle/>
          <a:p>
            <a:pPr marL="457200" indent="-457200">
              <a:lnSpc>
                <a:spcPct val="108000"/>
              </a:lnSpc>
              <a:spcAft>
                <a:spcPts val="1400"/>
              </a:spcAft>
              <a:buClr>
                <a:srgbClr val="166B50"/>
              </a:buClr>
              <a:buSzPct val="100000"/>
              <a:buFont typeface="Arial"/>
              <a:buChar char="■"/>
            </a:pPr>
            <a:r>
              <a:rPr sz="1700" b="1" i="0">
                <a:solidFill>
                  <a:srgbClr val="17211D"/>
                </a:solidFill>
                <a:latin typeface="Arial"/>
              </a:rPr>
              <a:t>Hallway</a:t>
            </a:r>
            <a:r>
              <a:rPr sz="1700" b="0" i="0">
                <a:solidFill>
                  <a:srgbClr val="17211D"/>
                </a:solidFill>
                <a:latin typeface="Arial"/>
              </a:rPr>
              <a:t> — a normal box</a:t>
            </a:r>
          </a:p>
          <a:p>
            <a:pPr marL="457200" indent="-457200">
              <a:lnSpc>
                <a:spcPct val="108000"/>
              </a:lnSpc>
              <a:spcAft>
                <a:spcPts val="1400"/>
              </a:spcAft>
              <a:buClr>
                <a:srgbClr val="166B50"/>
              </a:buClr>
              <a:buSzPct val="100000"/>
              <a:buFont typeface="Arial"/>
              <a:buChar char="■"/>
            </a:pPr>
            <a:r>
              <a:rPr sz="1700" b="1" i="0">
                <a:solidFill>
                  <a:srgbClr val="17211D"/>
                </a:solidFill>
                <a:latin typeface="Arial"/>
              </a:rPr>
              <a:t>Stairs</a:t>
            </a:r>
            <a:r>
              <a:rPr sz="1700" b="0" i="0">
                <a:solidFill>
                  <a:srgbClr val="17211D"/>
                </a:solidFill>
                <a:latin typeface="Arial"/>
              </a:rPr>
              <a:t> — a skewed box</a:t>
            </a:r>
          </a:p>
          <a:p>
            <a:pPr marL="457200" indent="-457200">
              <a:lnSpc>
                <a:spcPct val="108000"/>
              </a:lnSpc>
              <a:spcAft>
                <a:spcPts val="1400"/>
              </a:spcAft>
              <a:buClr>
                <a:srgbClr val="166B50"/>
              </a:buClr>
              <a:buSzPct val="100000"/>
              <a:buFont typeface="Arial"/>
              <a:buChar char="■"/>
            </a:pPr>
            <a:r>
              <a:rPr sz="1700" b="1" i="0">
                <a:solidFill>
                  <a:srgbClr val="17211D"/>
                </a:solidFill>
                <a:latin typeface="Arial"/>
              </a:rPr>
              <a:t>Hallway</a:t>
            </a:r>
            <a:r>
              <a:rPr sz="1700" b="0" i="0">
                <a:solidFill>
                  <a:srgbClr val="17211D"/>
                </a:solidFill>
                <a:latin typeface="Arial"/>
              </a:rPr>
              <a:t> — another normal box</a:t>
            </a:r>
          </a:p>
        </p:txBody>
      </p:sp>
      <p:sp>
        <p:nvSpPr>
          <p:cNvPr id="6" name="Rounded Rectangle 5"/>
          <p:cNvSpPr/>
          <p:nvPr/>
        </p:nvSpPr>
        <p:spPr>
          <a:xfrm>
            <a:off x="698500" y="4635500"/>
            <a:ext cx="4127500" cy="1079500"/>
          </a:xfrm>
          <a:prstGeom prst="roundRect">
            <a:avLst>
              <a:gd name="adj" fmla="val 14000"/>
            </a:avLst>
          </a:prstGeom>
          <a:solidFill>
            <a:srgbClr val="0E2F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77800" rIns="177800" tIns="101600" bIns="101600"/>
          <a:lstStyle/>
          <a:p>
            <a:pPr algn="l">
              <a:lnSpc>
                <a:spcPct val="110000"/>
              </a:lnSpc>
            </a:pPr>
            <a:r>
              <a:rPr sz="1400" b="1" i="0">
                <a:solidFill>
                  <a:srgbClr val="D6EF5B"/>
                </a:solidFill>
                <a:latin typeface="Arial"/>
              </a:rPr>
              <a:t>Three boxes, two connections.</a:t>
            </a:r>
            <a:r>
              <a:rPr sz="1400" b="0" i="0">
                <a:solidFill>
                  <a:srgbClr val="EAF5EE"/>
                </a:solidFill>
                <a:latin typeface="Arial"/>
              </a:rPr>
              <a:t> That's the whole building — and it takes about a minute.</a:t>
            </a:r>
          </a:p>
        </p:txBody>
      </p:sp>
      <p:pic>
        <p:nvPicPr>
          <p:cNvPr id="7" name="Picture 6" descr="final_build.jpg"/>
          <p:cNvPicPr>
            <a:picLocks noChangeAspect="1"/>
          </p:cNvPicPr>
          <p:nvPr/>
        </p:nvPicPr>
        <p:blipFill>
          <a:blip r:embed="rId2"/>
          <a:srcRect r="27037"/>
          <a:stretch>
            <a:fillRect/>
          </a:stretch>
        </p:blipFill>
        <p:spPr>
          <a:xfrm>
            <a:off x="5143500" y="1714500"/>
            <a:ext cx="5461000" cy="4677887"/>
          </a:xfrm>
          <a:prstGeom prst="rect">
            <a:avLst/>
          </a:prstGeom>
          <a:ln w="12700">
            <a:solidFill>
              <a:srgbClr val="CFD8D1"/>
            </a:solidFill>
          </a:ln>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4F6F2"/>
        </a:solidFill>
        <a:effectLst/>
      </p:bgPr>
    </p:bg>
    <p:spTree>
      <p:nvGrpSpPr>
        <p:cNvPr id="1" name=""/>
        <p:cNvGrpSpPr/>
        <p:nvPr/>
      </p:nvGrpSpPr>
      <p:grpSpPr/>
      <p:sp>
        <p:nvSpPr>
          <p:cNvPr id="2" name="Rounded Rectangle 1"/>
          <p:cNvSpPr/>
          <p:nvPr/>
        </p:nvSpPr>
        <p:spPr>
          <a:xfrm>
            <a:off x="698500" y="533400"/>
            <a:ext cx="2082800" cy="292100"/>
          </a:xfrm>
          <a:prstGeom prst="roundRect">
            <a:avLst>
              <a:gd name="adj" fmla="val 50000"/>
            </a:avLst>
          </a:prstGeom>
          <a:solidFill>
            <a:srgbClr val="E3F2E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i="0" spc="150">
                <a:solidFill>
                  <a:srgbClr val="166B50"/>
                </a:solidFill>
                <a:latin typeface="Arial"/>
              </a:rPr>
              <a:t>STEP 1 · BLOCK A</a:t>
            </a:r>
          </a:p>
        </p:txBody>
      </p:sp>
      <p:sp>
        <p:nvSpPr>
          <p:cNvPr id="3" name="TextBox 2"/>
          <p:cNvSpPr txBox="1"/>
          <p:nvPr/>
        </p:nvSpPr>
        <p:spPr>
          <a:xfrm>
            <a:off x="698500" y="952500"/>
            <a:ext cx="10795000" cy="825500"/>
          </a:xfrm>
          <a:prstGeom prst="rect">
            <a:avLst/>
          </a:prstGeom>
          <a:noFill/>
        </p:spPr>
        <p:txBody>
          <a:bodyPr wrap="square" lIns="0" rIns="0" tIns="0" bIns="0" anchor="t">
            <a:spAutoFit/>
          </a:bodyPr>
          <a:lstStyle/>
          <a:p>
            <a:pPr algn="l">
              <a:lnSpc>
                <a:spcPct val="100000"/>
              </a:lnSpc>
              <a:spcAft>
                <a:spcPts val="0"/>
              </a:spcAft>
            </a:pPr>
            <a:r>
              <a:rPr sz="3800" b="1" i="0">
                <a:solidFill>
                  <a:srgbClr val="17211D"/>
                </a:solidFill>
                <a:latin typeface="Arial"/>
              </a:rPr>
              <a:t>Make the hallway</a:t>
            </a:r>
          </a:p>
        </p:txBody>
      </p:sp>
      <p:sp>
        <p:nvSpPr>
          <p:cNvPr id="4" name="TextBox 3"/>
          <p:cNvSpPr txBox="1"/>
          <p:nvPr/>
        </p:nvSpPr>
        <p:spPr>
          <a:xfrm>
            <a:off x="698500" y="2032000"/>
            <a:ext cx="4064000" cy="3175000"/>
          </a:xfrm>
          <a:prstGeom prst="rect">
            <a:avLst/>
          </a:prstGeom>
          <a:noFill/>
        </p:spPr>
        <p:txBody>
          <a:bodyPr wrap="square" lIns="0" rIns="0" tIns="0" bIns="0">
            <a:spAutoFit/>
          </a:bodyPr>
          <a:lstStyle/>
          <a:p>
            <a:pPr marL="457200" indent="-457200">
              <a:lnSpc>
                <a:spcPct val="108000"/>
              </a:lnSpc>
              <a:spcAft>
                <a:spcPts val="1400"/>
              </a:spcAft>
              <a:buClr>
                <a:srgbClr val="166B50"/>
              </a:buClr>
              <a:buSzPct val="100000"/>
              <a:buFont typeface="Arial"/>
              <a:buAutoNum type="arabicPeriod"/>
            </a:pPr>
            <a:r>
              <a:rPr sz="1700" b="0" i="0">
                <a:solidFill>
                  <a:srgbClr val="17211D"/>
                </a:solidFill>
                <a:latin typeface="Arial"/>
              </a:rPr>
              <a:t>Set the three lengths: </a:t>
            </a:r>
            <a:r>
              <a:rPr sz="1700" b="1" i="0">
                <a:solidFill>
                  <a:srgbClr val="17211D"/>
                </a:solidFill>
                <a:latin typeface="Arial"/>
              </a:rPr>
              <a:t>A = 5.3</a:t>
            </a:r>
            <a:r>
              <a:rPr sz="1700" b="0" i="0">
                <a:solidFill>
                  <a:srgbClr val="17211D"/>
                </a:solidFill>
                <a:latin typeface="Arial"/>
              </a:rPr>
              <a:t>, </a:t>
            </a:r>
            <a:r>
              <a:rPr sz="1700" b="1" i="0">
                <a:solidFill>
                  <a:srgbClr val="17211D"/>
                </a:solidFill>
                <a:latin typeface="Arial"/>
              </a:rPr>
              <a:t>B = 2.8</a:t>
            </a:r>
            <a:r>
              <a:rPr sz="1700" b="0" i="0">
                <a:solidFill>
                  <a:srgbClr val="17211D"/>
                </a:solidFill>
                <a:latin typeface="Arial"/>
              </a:rPr>
              <a:t>, </a:t>
            </a:r>
            <a:r>
              <a:rPr sz="1700" b="1" i="0">
                <a:solidFill>
                  <a:srgbClr val="17211D"/>
                </a:solidFill>
                <a:latin typeface="Arial"/>
              </a:rPr>
              <a:t>C = 2.9</a:t>
            </a:r>
            <a:r>
              <a:rPr sz="1700" b="0" i="0">
                <a:solidFill>
                  <a:srgbClr val="17211D"/>
                </a:solidFill>
                <a:latin typeface="Arial"/>
              </a:rPr>
              <a:t>.</a:t>
            </a:r>
          </a:p>
          <a:p>
            <a:pPr marL="457200" indent="-457200">
              <a:lnSpc>
                <a:spcPct val="108000"/>
              </a:lnSpc>
              <a:spcAft>
                <a:spcPts val="1400"/>
              </a:spcAft>
              <a:buClr>
                <a:srgbClr val="166B50"/>
              </a:buClr>
              <a:buSzPct val="100000"/>
              <a:buFont typeface="Arial"/>
              <a:buAutoNum type="arabicPeriod"/>
            </a:pPr>
            <a:r>
              <a:rPr sz="1700" b="0" i="0">
                <a:solidFill>
                  <a:srgbClr val="17211D"/>
                </a:solidFill>
                <a:latin typeface="Arial"/>
              </a:rPr>
              <a:t>Leave all three angles at </a:t>
            </a:r>
            <a:r>
              <a:rPr sz="1700" b="1" i="0">
                <a:solidFill>
                  <a:srgbClr val="17211D"/>
                </a:solidFill>
                <a:latin typeface="Arial"/>
              </a:rPr>
              <a:t>90°</a:t>
            </a:r>
            <a:r>
              <a:rPr sz="1700" b="0" i="0">
                <a:solidFill>
                  <a:srgbClr val="17211D"/>
                </a:solidFill>
                <a:latin typeface="Arial"/>
              </a:rPr>
              <a:t>.</a:t>
            </a:r>
          </a:p>
          <a:p>
            <a:pPr marL="457200" indent="-457200">
              <a:lnSpc>
                <a:spcPct val="108000"/>
              </a:lnSpc>
              <a:spcAft>
                <a:spcPts val="1400"/>
              </a:spcAft>
              <a:buClr>
                <a:srgbClr val="166B50"/>
              </a:buClr>
              <a:buSzPct val="100000"/>
              <a:buFont typeface="Arial"/>
              <a:buAutoNum type="arabicPeriod"/>
            </a:pPr>
            <a:r>
              <a:rPr sz="1700" b="0" i="0">
                <a:solidFill>
                  <a:srgbClr val="17211D"/>
                </a:solidFill>
                <a:latin typeface="Arial"/>
              </a:rPr>
              <a:t>That's a regular box — your first hallway.</a:t>
            </a:r>
          </a:p>
        </p:txBody>
      </p:sp>
      <p:sp>
        <p:nvSpPr>
          <p:cNvPr id="5" name="Rounded Rectangle 4"/>
          <p:cNvSpPr/>
          <p:nvPr/>
        </p:nvSpPr>
        <p:spPr>
          <a:xfrm>
            <a:off x="698500" y="4381500"/>
            <a:ext cx="4064000" cy="1206500"/>
          </a:xfrm>
          <a:prstGeom prst="roundRect">
            <a:avLst>
              <a:gd name="adj" fmla="val 14000"/>
            </a:avLst>
          </a:prstGeom>
          <a:solidFill>
            <a:srgbClr val="0E2F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77800" rIns="177800" tIns="101600" bIns="101600"/>
          <a:lstStyle/>
          <a:p>
            <a:pPr algn="l">
              <a:lnSpc>
                <a:spcPct val="110000"/>
              </a:lnSpc>
            </a:pPr>
            <a:r>
              <a:rPr sz="1400" b="1" i="0">
                <a:solidFill>
                  <a:srgbClr val="D6EF5B"/>
                </a:solidFill>
                <a:latin typeface="Arial"/>
              </a:rPr>
              <a:t>A</a:t>
            </a:r>
            <a:r>
              <a:rPr sz="1400" b="0" i="0">
                <a:solidFill>
                  <a:srgbClr val="EAF5EE"/>
                </a:solidFill>
                <a:latin typeface="Arial"/>
              </a:rPr>
              <a:t> is how long the hallway runs. </a:t>
            </a:r>
            <a:r>
              <a:rPr sz="1400" b="1" i="0">
                <a:solidFill>
                  <a:srgbClr val="D6EF5B"/>
                </a:solidFill>
                <a:latin typeface="Arial"/>
              </a:rPr>
              <a:t>B</a:t>
            </a:r>
            <a:r>
              <a:rPr sz="1400" b="0" i="0">
                <a:solidFill>
                  <a:srgbClr val="EAF5EE"/>
                </a:solidFill>
                <a:latin typeface="Arial"/>
              </a:rPr>
              <a:t> and </a:t>
            </a:r>
            <a:r>
              <a:rPr sz="1400" b="1" i="0">
                <a:solidFill>
                  <a:srgbClr val="D6EF5B"/>
                </a:solidFill>
                <a:latin typeface="Arial"/>
              </a:rPr>
              <a:t>C</a:t>
            </a:r>
            <a:r>
              <a:rPr sz="1400" b="0" i="0">
                <a:solidFill>
                  <a:srgbClr val="EAF5EE"/>
                </a:solidFill>
                <a:latin typeface="Arial"/>
              </a:rPr>
              <a:t> are its width and height. Right angles mean no lean.</a:t>
            </a:r>
          </a:p>
        </p:txBody>
      </p:sp>
      <p:pic>
        <p:nvPicPr>
          <p:cNvPr id="6" name="Picture 5" descr="v1.jpg"/>
          <p:cNvPicPr>
            <a:picLocks noChangeAspect="1"/>
          </p:cNvPicPr>
          <p:nvPr/>
        </p:nvPicPr>
        <p:blipFill>
          <a:blip r:embed="rId2"/>
          <a:stretch>
            <a:fillRect/>
          </a:stretch>
        </p:blipFill>
        <p:spPr>
          <a:xfrm>
            <a:off x="5080000" y="1841500"/>
            <a:ext cx="6413500" cy="4008438"/>
          </a:xfrm>
          <a:prstGeom prst="rect">
            <a:avLst/>
          </a:prstGeom>
          <a:ln w="12700">
            <a:solidFill>
              <a:srgbClr val="CFD8D1"/>
            </a:solidFill>
          </a:ln>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4F6F2"/>
        </a:solidFill>
        <a:effectLst/>
      </p:bgPr>
    </p:bg>
    <p:spTree>
      <p:nvGrpSpPr>
        <p:cNvPr id="1" name=""/>
        <p:cNvGrpSpPr/>
        <p:nvPr/>
      </p:nvGrpSpPr>
      <p:grpSpPr/>
      <p:sp>
        <p:nvSpPr>
          <p:cNvPr id="2" name="Rounded Rectangle 1"/>
          <p:cNvSpPr/>
          <p:nvPr/>
        </p:nvSpPr>
        <p:spPr>
          <a:xfrm>
            <a:off x="698500" y="533400"/>
            <a:ext cx="2082800" cy="292100"/>
          </a:xfrm>
          <a:prstGeom prst="roundRect">
            <a:avLst>
              <a:gd name="adj" fmla="val 50000"/>
            </a:avLst>
          </a:prstGeom>
          <a:solidFill>
            <a:srgbClr val="E3F2E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i="0" spc="150">
                <a:solidFill>
                  <a:srgbClr val="166B50"/>
                </a:solidFill>
                <a:latin typeface="Arial"/>
              </a:rPr>
              <a:t>STEP 1 · BLOCK B</a:t>
            </a:r>
          </a:p>
        </p:txBody>
      </p:sp>
      <p:sp>
        <p:nvSpPr>
          <p:cNvPr id="3" name="TextBox 2"/>
          <p:cNvSpPr txBox="1"/>
          <p:nvPr/>
        </p:nvSpPr>
        <p:spPr>
          <a:xfrm>
            <a:off x="698500" y="952500"/>
            <a:ext cx="10795000" cy="825500"/>
          </a:xfrm>
          <a:prstGeom prst="rect">
            <a:avLst/>
          </a:prstGeom>
          <a:noFill/>
        </p:spPr>
        <p:txBody>
          <a:bodyPr wrap="square" lIns="0" rIns="0" tIns="0" bIns="0" anchor="t">
            <a:spAutoFit/>
          </a:bodyPr>
          <a:lstStyle/>
          <a:p>
            <a:pPr algn="l">
              <a:lnSpc>
                <a:spcPct val="100000"/>
              </a:lnSpc>
              <a:spcAft>
                <a:spcPts val="0"/>
              </a:spcAft>
            </a:pPr>
            <a:r>
              <a:rPr sz="3800" b="1" i="0">
                <a:solidFill>
                  <a:srgbClr val="17211D"/>
                </a:solidFill>
                <a:latin typeface="Arial"/>
              </a:rPr>
              <a:t>Make the stairs: skew a box</a:t>
            </a:r>
          </a:p>
        </p:txBody>
      </p:sp>
      <p:sp>
        <p:nvSpPr>
          <p:cNvPr id="4" name="TextBox 3"/>
          <p:cNvSpPr txBox="1"/>
          <p:nvPr/>
        </p:nvSpPr>
        <p:spPr>
          <a:xfrm>
            <a:off x="698500" y="2032000"/>
            <a:ext cx="4064000" cy="3175000"/>
          </a:xfrm>
          <a:prstGeom prst="rect">
            <a:avLst/>
          </a:prstGeom>
          <a:noFill/>
        </p:spPr>
        <p:txBody>
          <a:bodyPr wrap="square" lIns="0" rIns="0" tIns="0" bIns="0">
            <a:spAutoFit/>
          </a:bodyPr>
          <a:lstStyle/>
          <a:p>
            <a:pPr marL="457200" indent="-457200">
              <a:lnSpc>
                <a:spcPct val="108000"/>
              </a:lnSpc>
              <a:spcAft>
                <a:spcPts val="1400"/>
              </a:spcAft>
              <a:buClr>
                <a:srgbClr val="166B50"/>
              </a:buClr>
              <a:buSzPct val="100000"/>
              <a:buFont typeface="Arial"/>
              <a:buAutoNum type="arabicPeriod"/>
            </a:pPr>
            <a:r>
              <a:rPr sz="1700" b="0" i="0">
                <a:solidFill>
                  <a:srgbClr val="17211D"/>
                </a:solidFill>
                <a:latin typeface="Arial"/>
              </a:rPr>
              <a:t>Press </a:t>
            </a:r>
            <a:r>
              <a:rPr sz="1700" b="1" i="0">
                <a:solidFill>
                  <a:srgbClr val="17211D"/>
                </a:solidFill>
                <a:latin typeface="Arial"/>
              </a:rPr>
              <a:t>+ Add object</a:t>
            </a:r>
            <a:r>
              <a:rPr sz="1700" b="0" i="0">
                <a:solidFill>
                  <a:srgbClr val="17211D"/>
                </a:solidFill>
                <a:latin typeface="Arial"/>
              </a:rPr>
              <a:t> — it copies the current block.</a:t>
            </a:r>
          </a:p>
          <a:p>
            <a:pPr marL="457200" indent="-457200">
              <a:lnSpc>
                <a:spcPct val="108000"/>
              </a:lnSpc>
              <a:spcAft>
                <a:spcPts val="1400"/>
              </a:spcAft>
              <a:buClr>
                <a:srgbClr val="166B50"/>
              </a:buClr>
              <a:buSzPct val="100000"/>
              <a:buFont typeface="Arial"/>
              <a:buAutoNum type="arabicPeriod"/>
            </a:pPr>
            <a:r>
              <a:rPr sz="1700" b="0" i="0">
                <a:solidFill>
                  <a:srgbClr val="17211D"/>
                </a:solidFill>
                <a:latin typeface="Arial"/>
              </a:rPr>
              <a:t>Scroll to </a:t>
            </a:r>
            <a:r>
              <a:rPr sz="1700" b="1" i="0">
                <a:solidFill>
                  <a:srgbClr val="17211D"/>
                </a:solidFill>
                <a:latin typeface="Arial"/>
              </a:rPr>
              <a:t>Orientation</a:t>
            </a:r>
            <a:r>
              <a:rPr sz="1700" b="0" i="0">
                <a:solidFill>
                  <a:srgbClr val="17211D"/>
                </a:solidFill>
                <a:latin typeface="Arial"/>
              </a:rPr>
              <a:t> and set </a:t>
            </a:r>
            <a:r>
              <a:rPr sz="1700" b="1" i="0">
                <a:solidFill>
                  <a:srgbClr val="17211D"/>
                </a:solidFill>
                <a:latin typeface="Arial"/>
              </a:rPr>
              <a:t>A–B = 78°</a:t>
            </a:r>
            <a:r>
              <a:rPr sz="1700" b="0" i="0">
                <a:solidFill>
                  <a:srgbClr val="17211D"/>
                </a:solidFill>
                <a:latin typeface="Arial"/>
              </a:rPr>
              <a:t>, </a:t>
            </a:r>
            <a:r>
              <a:rPr sz="1700" b="1" i="0">
                <a:solidFill>
                  <a:srgbClr val="17211D"/>
                </a:solidFill>
                <a:latin typeface="Arial"/>
              </a:rPr>
              <a:t>A–C = 58°</a:t>
            </a:r>
            <a:r>
              <a:rPr sz="1700" b="0" i="0">
                <a:solidFill>
                  <a:srgbClr val="17211D"/>
                </a:solidFill>
                <a:latin typeface="Arial"/>
              </a:rPr>
              <a:t>, </a:t>
            </a:r>
            <a:r>
              <a:rPr sz="1700" b="1" i="0">
                <a:solidFill>
                  <a:srgbClr val="17211D"/>
                </a:solidFill>
                <a:latin typeface="Arial"/>
              </a:rPr>
              <a:t>B–C = 90°</a:t>
            </a:r>
            <a:r>
              <a:rPr sz="1700" b="0" i="0">
                <a:solidFill>
                  <a:srgbClr val="17211D"/>
                </a:solidFill>
                <a:latin typeface="Arial"/>
              </a:rPr>
              <a:t>.</a:t>
            </a:r>
          </a:p>
          <a:p>
            <a:pPr marL="457200" indent="-457200">
              <a:lnSpc>
                <a:spcPct val="108000"/>
              </a:lnSpc>
              <a:spcAft>
                <a:spcPts val="1400"/>
              </a:spcAft>
              <a:buClr>
                <a:srgbClr val="166B50"/>
              </a:buClr>
              <a:buSzPct val="100000"/>
              <a:buFont typeface="Arial"/>
              <a:buAutoNum type="arabicPeriod"/>
            </a:pPr>
            <a:r>
              <a:rPr sz="1700" b="0" i="0">
                <a:solidFill>
                  <a:srgbClr val="17211D"/>
                </a:solidFill>
                <a:latin typeface="Arial"/>
              </a:rPr>
              <a:t>The box leans over into a slanted block — our stairs.</a:t>
            </a:r>
          </a:p>
        </p:txBody>
      </p:sp>
      <p:sp>
        <p:nvSpPr>
          <p:cNvPr id="5" name="Rounded Rectangle 4"/>
          <p:cNvSpPr/>
          <p:nvPr/>
        </p:nvSpPr>
        <p:spPr>
          <a:xfrm>
            <a:off x="698500" y="4445000"/>
            <a:ext cx="4064000" cy="1206500"/>
          </a:xfrm>
          <a:prstGeom prst="roundRect">
            <a:avLst>
              <a:gd name="adj" fmla="val 14000"/>
            </a:avLst>
          </a:prstGeom>
          <a:solidFill>
            <a:srgbClr val="0E2F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77800" rIns="177800" tIns="101600" bIns="101600"/>
          <a:lstStyle/>
          <a:p>
            <a:pPr algn="l">
              <a:lnSpc>
                <a:spcPct val="110000"/>
              </a:lnSpc>
            </a:pPr>
            <a:r>
              <a:rPr sz="1400" b="0" i="0">
                <a:solidFill>
                  <a:srgbClr val="EAF5EE"/>
                </a:solidFill>
                <a:latin typeface="Arial"/>
              </a:rPr>
              <a:t>Any angle other than 90° tilts the box. A skewed block is how you get a </a:t>
            </a:r>
            <a:r>
              <a:rPr sz="1400" b="1" i="0">
                <a:solidFill>
                  <a:srgbClr val="D6EF5B"/>
                </a:solidFill>
                <a:latin typeface="Arial"/>
              </a:rPr>
              <a:t>ramp</a:t>
            </a:r>
            <a:r>
              <a:rPr sz="1400" b="0" i="0">
                <a:solidFill>
                  <a:srgbClr val="EAF5EE"/>
                </a:solidFill>
                <a:latin typeface="Arial"/>
              </a:rPr>
              <a:t> or a staircase.</a:t>
            </a:r>
          </a:p>
        </p:txBody>
      </p:sp>
      <p:pic>
        <p:nvPicPr>
          <p:cNvPr id="6" name="Picture 5" descr="v2b.jpg"/>
          <p:cNvPicPr>
            <a:picLocks noChangeAspect="1"/>
          </p:cNvPicPr>
          <p:nvPr/>
        </p:nvPicPr>
        <p:blipFill>
          <a:blip r:embed="rId2"/>
          <a:stretch>
            <a:fillRect/>
          </a:stretch>
        </p:blipFill>
        <p:spPr>
          <a:xfrm>
            <a:off x="5080000" y="1841500"/>
            <a:ext cx="6413500" cy="4008438"/>
          </a:xfrm>
          <a:prstGeom prst="rect">
            <a:avLst/>
          </a:prstGeom>
          <a:ln w="12700">
            <a:solidFill>
              <a:srgbClr val="CFD8D1"/>
            </a:solidFill>
          </a:ln>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4F6F2"/>
        </a:solidFill>
        <a:effectLst/>
      </p:bgPr>
    </p:bg>
    <p:spTree>
      <p:nvGrpSpPr>
        <p:cNvPr id="1" name=""/>
        <p:cNvGrpSpPr/>
        <p:nvPr/>
      </p:nvGrpSpPr>
      <p:grpSpPr/>
      <p:sp>
        <p:nvSpPr>
          <p:cNvPr id="2" name="Rounded Rectangle 1"/>
          <p:cNvSpPr/>
          <p:nvPr/>
        </p:nvSpPr>
        <p:spPr>
          <a:xfrm>
            <a:off x="698500" y="533400"/>
            <a:ext cx="2082800" cy="292100"/>
          </a:xfrm>
          <a:prstGeom prst="roundRect">
            <a:avLst>
              <a:gd name="adj" fmla="val 50000"/>
            </a:avLst>
          </a:prstGeom>
          <a:solidFill>
            <a:srgbClr val="E3F2E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i="0" spc="150">
                <a:solidFill>
                  <a:srgbClr val="166B50"/>
                </a:solidFill>
                <a:latin typeface="Arial"/>
              </a:rPr>
              <a:t>STEP 1 · BLOCK C</a:t>
            </a:r>
          </a:p>
        </p:txBody>
      </p:sp>
      <p:sp>
        <p:nvSpPr>
          <p:cNvPr id="3" name="TextBox 2"/>
          <p:cNvSpPr txBox="1"/>
          <p:nvPr/>
        </p:nvSpPr>
        <p:spPr>
          <a:xfrm>
            <a:off x="698500" y="952500"/>
            <a:ext cx="10795000" cy="825500"/>
          </a:xfrm>
          <a:prstGeom prst="rect">
            <a:avLst/>
          </a:prstGeom>
          <a:noFill/>
        </p:spPr>
        <p:txBody>
          <a:bodyPr wrap="square" lIns="0" rIns="0" tIns="0" bIns="0" anchor="t">
            <a:spAutoFit/>
          </a:bodyPr>
          <a:lstStyle/>
          <a:p>
            <a:pPr algn="l">
              <a:lnSpc>
                <a:spcPct val="100000"/>
              </a:lnSpc>
              <a:spcAft>
                <a:spcPts val="0"/>
              </a:spcAft>
            </a:pPr>
            <a:r>
              <a:rPr sz="3800" b="1" i="0">
                <a:solidFill>
                  <a:srgbClr val="17211D"/>
                </a:solidFill>
                <a:latin typeface="Arial"/>
              </a:rPr>
              <a:t>Add the second hallway</a:t>
            </a:r>
          </a:p>
        </p:txBody>
      </p:sp>
      <p:sp>
        <p:nvSpPr>
          <p:cNvPr id="4" name="TextBox 3"/>
          <p:cNvSpPr txBox="1"/>
          <p:nvPr/>
        </p:nvSpPr>
        <p:spPr>
          <a:xfrm>
            <a:off x="698500" y="2032000"/>
            <a:ext cx="4064000" cy="3175000"/>
          </a:xfrm>
          <a:prstGeom prst="rect">
            <a:avLst/>
          </a:prstGeom>
          <a:noFill/>
        </p:spPr>
        <p:txBody>
          <a:bodyPr wrap="square" lIns="0" rIns="0" tIns="0" bIns="0">
            <a:spAutoFit/>
          </a:bodyPr>
          <a:lstStyle/>
          <a:p>
            <a:pPr marL="457200" indent="-457200">
              <a:lnSpc>
                <a:spcPct val="108000"/>
              </a:lnSpc>
              <a:spcAft>
                <a:spcPts val="1400"/>
              </a:spcAft>
              <a:buClr>
                <a:srgbClr val="166B50"/>
              </a:buClr>
              <a:buSzPct val="100000"/>
              <a:buFont typeface="Arial"/>
              <a:buAutoNum type="arabicPeriod"/>
            </a:pPr>
            <a:r>
              <a:rPr sz="1700" b="0" i="0">
                <a:solidFill>
                  <a:srgbClr val="17211D"/>
                </a:solidFill>
                <a:latin typeface="Arial"/>
              </a:rPr>
              <a:t>Click the first hallway so it's selected.</a:t>
            </a:r>
          </a:p>
          <a:p>
            <a:pPr marL="457200" indent="-457200">
              <a:lnSpc>
                <a:spcPct val="108000"/>
              </a:lnSpc>
              <a:spcAft>
                <a:spcPts val="1400"/>
              </a:spcAft>
              <a:buClr>
                <a:srgbClr val="166B50"/>
              </a:buClr>
              <a:buSzPct val="100000"/>
              <a:buFont typeface="Arial"/>
              <a:buAutoNum type="arabicPeriod"/>
            </a:pPr>
            <a:r>
              <a:rPr sz="1700" b="0" i="0">
                <a:solidFill>
                  <a:srgbClr val="17211D"/>
                </a:solidFill>
                <a:latin typeface="Arial"/>
              </a:rPr>
              <a:t>Press </a:t>
            </a:r>
            <a:r>
              <a:rPr sz="1700" b="1" i="0">
                <a:solidFill>
                  <a:srgbClr val="17211D"/>
                </a:solidFill>
                <a:latin typeface="Arial"/>
              </a:rPr>
              <a:t>+ Add object</a:t>
            </a:r>
            <a:r>
              <a:rPr sz="1700" b="0" i="0">
                <a:solidFill>
                  <a:srgbClr val="17211D"/>
                </a:solidFill>
                <a:latin typeface="Arial"/>
              </a:rPr>
              <a:t> again — an identical hallway appears.</a:t>
            </a:r>
          </a:p>
          <a:p>
            <a:pPr marL="457200" indent="-457200">
              <a:lnSpc>
                <a:spcPct val="108000"/>
              </a:lnSpc>
              <a:spcAft>
                <a:spcPts val="1400"/>
              </a:spcAft>
              <a:buClr>
                <a:srgbClr val="166B50"/>
              </a:buClr>
              <a:buSzPct val="100000"/>
              <a:buFont typeface="Arial"/>
              <a:buAutoNum type="arabicPeriod"/>
            </a:pPr>
            <a:r>
              <a:rPr sz="1700" b="0" i="0">
                <a:solidFill>
                  <a:srgbClr val="17211D"/>
                </a:solidFill>
                <a:latin typeface="Arial"/>
              </a:rPr>
              <a:t>Now you have three loose blocks: hallway, stairs, hallway.</a:t>
            </a:r>
          </a:p>
        </p:txBody>
      </p:sp>
      <p:sp>
        <p:nvSpPr>
          <p:cNvPr id="5" name="Rounded Rectangle 4"/>
          <p:cNvSpPr/>
          <p:nvPr/>
        </p:nvSpPr>
        <p:spPr>
          <a:xfrm>
            <a:off x="698500" y="4381500"/>
            <a:ext cx="4064000" cy="1206500"/>
          </a:xfrm>
          <a:prstGeom prst="roundRect">
            <a:avLst>
              <a:gd name="adj" fmla="val 14000"/>
            </a:avLst>
          </a:prstGeom>
          <a:solidFill>
            <a:srgbClr val="0E2F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77800" rIns="177800" tIns="101600" bIns="101600"/>
          <a:lstStyle/>
          <a:p>
            <a:pPr algn="l">
              <a:lnSpc>
                <a:spcPct val="110000"/>
              </a:lnSpc>
            </a:pPr>
            <a:r>
              <a:rPr sz="1400" b="0" i="0">
                <a:solidFill>
                  <a:srgbClr val="EAF5EE"/>
                </a:solidFill>
                <a:latin typeface="Arial"/>
              </a:rPr>
              <a:t>Blocks can't overlap, so new ones land beside the old. Don't worry about position — </a:t>
            </a:r>
            <a:r>
              <a:rPr sz="1400" b="1" i="0">
                <a:solidFill>
                  <a:srgbClr val="D6EF5B"/>
                </a:solidFill>
                <a:latin typeface="Arial"/>
              </a:rPr>
              <a:t>connecting</a:t>
            </a:r>
            <a:r>
              <a:rPr sz="1400" b="0" i="0">
                <a:solidFill>
                  <a:srgbClr val="EAF5EE"/>
                </a:solidFill>
                <a:latin typeface="Arial"/>
              </a:rPr>
              <a:t> them will snap them together.</a:t>
            </a:r>
          </a:p>
        </p:txBody>
      </p:sp>
      <p:pic>
        <p:nvPicPr>
          <p:cNvPr id="6" name="Picture 5" descr="v3.jpg"/>
          <p:cNvPicPr>
            <a:picLocks noChangeAspect="1"/>
          </p:cNvPicPr>
          <p:nvPr/>
        </p:nvPicPr>
        <p:blipFill>
          <a:blip r:embed="rId2"/>
          <a:stretch>
            <a:fillRect/>
          </a:stretch>
        </p:blipFill>
        <p:spPr>
          <a:xfrm>
            <a:off x="5080000" y="1841500"/>
            <a:ext cx="6413500" cy="4008438"/>
          </a:xfrm>
          <a:prstGeom prst="rect">
            <a:avLst/>
          </a:prstGeom>
          <a:ln w="12700">
            <a:solidFill>
              <a:srgbClr val="CFD8D1"/>
            </a:solidFill>
          </a:ln>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4F6F2"/>
        </a:solidFill>
        <a:effectLst/>
      </p:bgPr>
    </p:bg>
    <p:spTree>
      <p:nvGrpSpPr>
        <p:cNvPr id="1" name=""/>
        <p:cNvGrpSpPr/>
        <p:nvPr/>
      </p:nvGrpSpPr>
      <p:grpSpPr/>
      <p:sp>
        <p:nvSpPr>
          <p:cNvPr id="2" name="Rounded Rectangle 1"/>
          <p:cNvSpPr/>
          <p:nvPr/>
        </p:nvSpPr>
        <p:spPr>
          <a:xfrm>
            <a:off x="698500" y="533400"/>
            <a:ext cx="2082800" cy="292100"/>
          </a:xfrm>
          <a:prstGeom prst="roundRect">
            <a:avLst>
              <a:gd name="adj" fmla="val 50000"/>
            </a:avLst>
          </a:prstGeom>
          <a:solidFill>
            <a:srgbClr val="E3F2E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i="0" spc="150">
                <a:solidFill>
                  <a:srgbClr val="166B50"/>
                </a:solidFill>
                <a:latin typeface="Arial"/>
              </a:rPr>
              <a:t>STEP 1 · CONNECT</a:t>
            </a:r>
          </a:p>
        </p:txBody>
      </p:sp>
      <p:sp>
        <p:nvSpPr>
          <p:cNvPr id="3" name="TextBox 2"/>
          <p:cNvSpPr txBox="1"/>
          <p:nvPr/>
        </p:nvSpPr>
        <p:spPr>
          <a:xfrm>
            <a:off x="698500" y="952500"/>
            <a:ext cx="10795000" cy="825500"/>
          </a:xfrm>
          <a:prstGeom prst="rect">
            <a:avLst/>
          </a:prstGeom>
          <a:noFill/>
        </p:spPr>
        <p:txBody>
          <a:bodyPr wrap="square" lIns="0" rIns="0" tIns="0" bIns="0" anchor="t">
            <a:spAutoFit/>
          </a:bodyPr>
          <a:lstStyle/>
          <a:p>
            <a:pPr algn="l">
              <a:lnSpc>
                <a:spcPct val="100000"/>
              </a:lnSpc>
              <a:spcAft>
                <a:spcPts val="0"/>
              </a:spcAft>
            </a:pPr>
            <a:r>
              <a:rPr sz="3800" b="1" i="0">
                <a:solidFill>
                  <a:srgbClr val="17211D"/>
                </a:solidFill>
                <a:latin typeface="Arial"/>
              </a:rPr>
              <a:t>Connect the hallway to the stairs</a:t>
            </a:r>
          </a:p>
        </p:txBody>
      </p:sp>
      <p:sp>
        <p:nvSpPr>
          <p:cNvPr id="4" name="TextBox 3"/>
          <p:cNvSpPr txBox="1"/>
          <p:nvPr/>
        </p:nvSpPr>
        <p:spPr>
          <a:xfrm>
            <a:off x="698500" y="2032000"/>
            <a:ext cx="4064000" cy="3175000"/>
          </a:xfrm>
          <a:prstGeom prst="rect">
            <a:avLst/>
          </a:prstGeom>
          <a:noFill/>
        </p:spPr>
        <p:txBody>
          <a:bodyPr wrap="square" lIns="0" rIns="0" tIns="0" bIns="0">
            <a:spAutoFit/>
          </a:bodyPr>
          <a:lstStyle/>
          <a:p>
            <a:pPr marL="457200" indent="-457200">
              <a:lnSpc>
                <a:spcPct val="108000"/>
              </a:lnSpc>
              <a:spcAft>
                <a:spcPts val="1400"/>
              </a:spcAft>
              <a:buClr>
                <a:srgbClr val="166B50"/>
              </a:buClr>
              <a:buSzPct val="100000"/>
              <a:buFont typeface="Arial"/>
              <a:buAutoNum type="arabicPeriod"/>
            </a:pPr>
            <a:r>
              <a:rPr sz="1700" b="0" i="0">
                <a:solidFill>
                  <a:srgbClr val="17211D"/>
                </a:solidFill>
                <a:latin typeface="Arial"/>
              </a:rPr>
              <a:t>Press </a:t>
            </a:r>
            <a:r>
              <a:rPr sz="1700" b="1" i="0">
                <a:solidFill>
                  <a:srgbClr val="17211D"/>
                </a:solidFill>
                <a:latin typeface="Arial"/>
              </a:rPr>
              <a:t>Connect two objects</a:t>
            </a:r>
            <a:r>
              <a:rPr sz="1700" b="0" i="0">
                <a:solidFill>
                  <a:srgbClr val="17211D"/>
                </a:solidFill>
                <a:latin typeface="Arial"/>
              </a:rPr>
              <a:t>.</a:t>
            </a:r>
          </a:p>
          <a:p>
            <a:pPr marL="457200" indent="-457200">
              <a:lnSpc>
                <a:spcPct val="108000"/>
              </a:lnSpc>
              <a:spcAft>
                <a:spcPts val="1400"/>
              </a:spcAft>
              <a:buClr>
                <a:srgbClr val="166B50"/>
              </a:buClr>
              <a:buSzPct val="100000"/>
              <a:buFont typeface="Arial"/>
              <a:buAutoNum type="arabicPeriod"/>
            </a:pPr>
            <a:r>
              <a:rPr sz="1700" b="0" i="0">
                <a:solidFill>
                  <a:srgbClr val="17211D"/>
                </a:solidFill>
                <a:latin typeface="Arial"/>
              </a:rPr>
              <a:t>Click the hallway first (it stays fixed), then the stairs (it moves).</a:t>
            </a:r>
          </a:p>
          <a:p>
            <a:pPr marL="457200" indent="-457200">
              <a:lnSpc>
                <a:spcPct val="108000"/>
              </a:lnSpc>
              <a:spcAft>
                <a:spcPts val="1400"/>
              </a:spcAft>
              <a:buClr>
                <a:srgbClr val="166B50"/>
              </a:buClr>
              <a:buSzPct val="100000"/>
              <a:buFont typeface="Arial"/>
              <a:buAutoNum type="arabicPeriod"/>
            </a:pPr>
            <a:r>
              <a:rPr sz="1700" b="0" i="0">
                <a:solidFill>
                  <a:srgbClr val="17211D"/>
                </a:solidFill>
                <a:latin typeface="Arial"/>
              </a:rPr>
              <a:t>Click one face on each: hallway </a:t>
            </a:r>
            <a:r>
              <a:rPr sz="1700" b="1" i="0">
                <a:solidFill>
                  <a:srgbClr val="17211D"/>
                </a:solidFill>
                <a:latin typeface="Arial"/>
              </a:rPr>
              <a:t>AC (−B)</a:t>
            </a:r>
            <a:r>
              <a:rPr sz="1700" b="0" i="0">
                <a:solidFill>
                  <a:srgbClr val="17211D"/>
                </a:solidFill>
                <a:latin typeface="Arial"/>
              </a:rPr>
              <a:t>, stairs </a:t>
            </a:r>
            <a:r>
              <a:rPr sz="1700" b="1" i="0">
                <a:solidFill>
                  <a:srgbClr val="17211D"/>
                </a:solidFill>
                <a:latin typeface="Arial"/>
              </a:rPr>
              <a:t>BC (−A)</a:t>
            </a:r>
            <a:r>
              <a:rPr sz="1700" b="0" i="0">
                <a:solidFill>
                  <a:srgbClr val="17211D"/>
                </a:solidFill>
                <a:latin typeface="Arial"/>
              </a:rPr>
              <a:t>. The </a:t>
            </a:r>
            <a:r>
              <a:rPr sz="1700" b="1" i="0">
                <a:solidFill>
                  <a:srgbClr val="17211D"/>
                </a:solidFill>
                <a:latin typeface="Arial"/>
              </a:rPr>
              <a:t>Join preview</a:t>
            </a:r>
            <a:r>
              <a:rPr sz="1700" b="0" i="0">
                <a:solidFill>
                  <a:srgbClr val="17211D"/>
                </a:solidFill>
                <a:latin typeface="Arial"/>
              </a:rPr>
              <a:t> opens.</a:t>
            </a:r>
          </a:p>
        </p:txBody>
      </p:sp>
      <p:sp>
        <p:nvSpPr>
          <p:cNvPr id="5" name="Rounded Rectangle 4"/>
          <p:cNvSpPr/>
          <p:nvPr/>
        </p:nvSpPr>
        <p:spPr>
          <a:xfrm>
            <a:off x="698500" y="4699000"/>
            <a:ext cx="4064000" cy="952500"/>
          </a:xfrm>
          <a:prstGeom prst="roundRect">
            <a:avLst>
              <a:gd name="adj" fmla="val 14000"/>
            </a:avLst>
          </a:prstGeom>
          <a:solidFill>
            <a:srgbClr val="0E2F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77800" rIns="177800" tIns="101600" bIns="101600"/>
          <a:lstStyle/>
          <a:p>
            <a:pPr algn="l">
              <a:lnSpc>
                <a:spcPct val="110000"/>
              </a:lnSpc>
            </a:pPr>
            <a:r>
              <a:rPr sz="1400" b="0" i="0">
                <a:solidFill>
                  <a:srgbClr val="EAF5EE"/>
                </a:solidFill>
                <a:latin typeface="Arial"/>
              </a:rPr>
              <a:t>At first the stairs stick out the wrong way. That's normal — we'll fix it with the sliders.</a:t>
            </a:r>
          </a:p>
        </p:txBody>
      </p:sp>
      <p:pic>
        <p:nvPicPr>
          <p:cNvPr id="6" name="Picture 5" descr="join1_rot0.jpg"/>
          <p:cNvPicPr>
            <a:picLocks noChangeAspect="1"/>
          </p:cNvPicPr>
          <p:nvPr/>
        </p:nvPicPr>
        <p:blipFill>
          <a:blip r:embed="rId2"/>
          <a:srcRect/>
          <a:stretch>
            <a:fillRect/>
          </a:stretch>
        </p:blipFill>
        <p:spPr>
          <a:xfrm>
            <a:off x="5080000" y="1841500"/>
            <a:ext cx="6413500" cy="4008437"/>
          </a:xfrm>
          <a:prstGeom prst="rect">
            <a:avLst/>
          </a:prstGeom>
          <a:ln w="12700">
            <a:solidFill>
              <a:srgbClr val="CFD8D1"/>
            </a:solidFill>
          </a:ln>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4F6F2"/>
        </a:solidFill>
        <a:effectLst/>
      </p:bgPr>
    </p:bg>
    <p:spTree>
      <p:nvGrpSpPr>
        <p:cNvPr id="1" name=""/>
        <p:cNvGrpSpPr/>
        <p:nvPr/>
      </p:nvGrpSpPr>
      <p:grpSpPr/>
      <p:sp>
        <p:nvSpPr>
          <p:cNvPr id="2" name="Rounded Rectangle 1"/>
          <p:cNvSpPr/>
          <p:nvPr/>
        </p:nvSpPr>
        <p:spPr>
          <a:xfrm>
            <a:off x="698500" y="533400"/>
            <a:ext cx="2730500" cy="292100"/>
          </a:xfrm>
          <a:prstGeom prst="roundRect">
            <a:avLst>
              <a:gd name="adj" fmla="val 50000"/>
            </a:avLst>
          </a:prstGeom>
          <a:solidFill>
            <a:srgbClr val="E3F2E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i="0" spc="150">
                <a:solidFill>
                  <a:srgbClr val="166B50"/>
                </a:solidFill>
                <a:latin typeface="Arial"/>
              </a:rPr>
              <a:t>STEP 1 · THE KEY TRICK</a:t>
            </a:r>
          </a:p>
        </p:txBody>
      </p:sp>
      <p:sp>
        <p:nvSpPr>
          <p:cNvPr id="3" name="TextBox 2"/>
          <p:cNvSpPr txBox="1"/>
          <p:nvPr/>
        </p:nvSpPr>
        <p:spPr>
          <a:xfrm>
            <a:off x="698500" y="952500"/>
            <a:ext cx="10795000" cy="825500"/>
          </a:xfrm>
          <a:prstGeom prst="rect">
            <a:avLst/>
          </a:prstGeom>
          <a:noFill/>
        </p:spPr>
        <p:txBody>
          <a:bodyPr wrap="square" lIns="0" rIns="0" tIns="0" bIns="0" anchor="t">
            <a:spAutoFit/>
          </a:bodyPr>
          <a:lstStyle/>
          <a:p>
            <a:pPr algn="l">
              <a:lnSpc>
                <a:spcPct val="100000"/>
              </a:lnSpc>
              <a:spcAft>
                <a:spcPts val="0"/>
              </a:spcAft>
            </a:pPr>
            <a:r>
              <a:rPr sz="3800" b="1" i="0">
                <a:solidFill>
                  <a:srgbClr val="17211D"/>
                </a:solidFill>
                <a:latin typeface="Arial"/>
              </a:rPr>
              <a:t>Adjust the angle between two surfaces</a:t>
            </a:r>
          </a:p>
        </p:txBody>
      </p:sp>
      <p:pic>
        <p:nvPicPr>
          <p:cNvPr id="4" name="Picture 3" descr="join1_rot0.jpg"/>
          <p:cNvPicPr>
            <a:picLocks noChangeAspect="1"/>
          </p:cNvPicPr>
          <p:nvPr/>
        </p:nvPicPr>
        <p:blipFill>
          <a:blip r:embed="rId2"/>
          <a:srcRect r="59259" t="2222" b="19259"/>
          <a:stretch>
            <a:fillRect/>
          </a:stretch>
        </p:blipFill>
        <p:spPr>
          <a:xfrm>
            <a:off x="698500" y="1905000"/>
            <a:ext cx="3048000" cy="3671454"/>
          </a:xfrm>
          <a:prstGeom prst="rect">
            <a:avLst/>
          </a:prstGeom>
          <a:ln w="12700">
            <a:solidFill>
              <a:srgbClr val="CFD8D1"/>
            </a:solidFill>
          </a:ln>
        </p:spPr>
      </p:pic>
      <p:sp>
        <p:nvSpPr>
          <p:cNvPr id="5" name="TextBox 4"/>
          <p:cNvSpPr txBox="1"/>
          <p:nvPr/>
        </p:nvSpPr>
        <p:spPr>
          <a:xfrm>
            <a:off x="698500" y="5665354"/>
            <a:ext cx="3048000" cy="254000"/>
          </a:xfrm>
          <a:prstGeom prst="rect">
            <a:avLst/>
          </a:prstGeom>
          <a:noFill/>
        </p:spPr>
        <p:txBody>
          <a:bodyPr wrap="square" lIns="0" rIns="0" tIns="0" bIns="0" anchor="t">
            <a:spAutoFit/>
          </a:bodyPr>
          <a:lstStyle/>
          <a:p>
            <a:pPr algn="ctr">
              <a:lnSpc>
                <a:spcPct val="112000"/>
              </a:lnSpc>
              <a:spcAft>
                <a:spcPts val="0"/>
              </a:spcAft>
            </a:pPr>
            <a:r>
              <a:rPr sz="1500" b="1" i="0">
                <a:solidFill>
                  <a:srgbClr val="17211D"/>
                </a:solidFill>
                <a:latin typeface="Arial"/>
              </a:rPr>
              <a:t>Rotate 0° · offset 0.0</a:t>
            </a:r>
          </a:p>
        </p:txBody>
      </p:sp>
      <p:sp>
        <p:nvSpPr>
          <p:cNvPr id="6" name="TextBox 5"/>
          <p:cNvSpPr txBox="1"/>
          <p:nvPr/>
        </p:nvSpPr>
        <p:spPr>
          <a:xfrm>
            <a:off x="698500" y="5893954"/>
            <a:ext cx="3048000" cy="254000"/>
          </a:xfrm>
          <a:prstGeom prst="rect">
            <a:avLst/>
          </a:prstGeom>
          <a:noFill/>
        </p:spPr>
        <p:txBody>
          <a:bodyPr wrap="square" lIns="0" rIns="0" tIns="0" bIns="0" anchor="t">
            <a:spAutoFit/>
          </a:bodyPr>
          <a:lstStyle/>
          <a:p>
            <a:pPr algn="ctr">
              <a:lnSpc>
                <a:spcPct val="112000"/>
              </a:lnSpc>
              <a:spcAft>
                <a:spcPts val="0"/>
              </a:spcAft>
            </a:pPr>
            <a:r>
              <a:rPr sz="1300" b="0" i="0">
                <a:solidFill>
                  <a:srgbClr val="5D6963"/>
                </a:solidFill>
                <a:latin typeface="Arial"/>
              </a:rPr>
              <a:t>Sticks out sideways</a:t>
            </a:r>
          </a:p>
        </p:txBody>
      </p:sp>
      <p:pic>
        <p:nvPicPr>
          <p:cNvPr id="7" name="Picture 6" descr="join1_rot45.jpg"/>
          <p:cNvPicPr>
            <a:picLocks noChangeAspect="1"/>
          </p:cNvPicPr>
          <p:nvPr/>
        </p:nvPicPr>
        <p:blipFill>
          <a:blip r:embed="rId3"/>
          <a:srcRect r="59259" t="2222" b="19259"/>
          <a:stretch>
            <a:fillRect/>
          </a:stretch>
        </p:blipFill>
        <p:spPr>
          <a:xfrm>
            <a:off x="4000500" y="1905000"/>
            <a:ext cx="3048000" cy="3671454"/>
          </a:xfrm>
          <a:prstGeom prst="rect">
            <a:avLst/>
          </a:prstGeom>
          <a:ln w="12700">
            <a:solidFill>
              <a:srgbClr val="CFD8D1"/>
            </a:solidFill>
          </a:ln>
        </p:spPr>
      </p:pic>
      <p:sp>
        <p:nvSpPr>
          <p:cNvPr id="8" name="TextBox 7"/>
          <p:cNvSpPr txBox="1"/>
          <p:nvPr/>
        </p:nvSpPr>
        <p:spPr>
          <a:xfrm>
            <a:off x="4000500" y="5665354"/>
            <a:ext cx="3048000" cy="254000"/>
          </a:xfrm>
          <a:prstGeom prst="rect">
            <a:avLst/>
          </a:prstGeom>
          <a:noFill/>
        </p:spPr>
        <p:txBody>
          <a:bodyPr wrap="square" lIns="0" rIns="0" tIns="0" bIns="0" anchor="t">
            <a:spAutoFit/>
          </a:bodyPr>
          <a:lstStyle/>
          <a:p>
            <a:pPr algn="ctr">
              <a:lnSpc>
                <a:spcPct val="112000"/>
              </a:lnSpc>
              <a:spcAft>
                <a:spcPts val="0"/>
              </a:spcAft>
            </a:pPr>
            <a:r>
              <a:rPr sz="1500" b="1" i="0">
                <a:solidFill>
                  <a:srgbClr val="17211D"/>
                </a:solidFill>
                <a:latin typeface="Arial"/>
              </a:rPr>
              <a:t>Rotate −45°</a:t>
            </a:r>
          </a:p>
        </p:txBody>
      </p:sp>
      <p:sp>
        <p:nvSpPr>
          <p:cNvPr id="9" name="TextBox 8"/>
          <p:cNvSpPr txBox="1"/>
          <p:nvPr/>
        </p:nvSpPr>
        <p:spPr>
          <a:xfrm>
            <a:off x="4000500" y="5893954"/>
            <a:ext cx="3048000" cy="254000"/>
          </a:xfrm>
          <a:prstGeom prst="rect">
            <a:avLst/>
          </a:prstGeom>
          <a:noFill/>
        </p:spPr>
        <p:txBody>
          <a:bodyPr wrap="square" lIns="0" rIns="0" tIns="0" bIns="0" anchor="t">
            <a:spAutoFit/>
          </a:bodyPr>
          <a:lstStyle/>
          <a:p>
            <a:pPr algn="ctr">
              <a:lnSpc>
                <a:spcPct val="112000"/>
              </a:lnSpc>
              <a:spcAft>
                <a:spcPts val="0"/>
              </a:spcAft>
            </a:pPr>
            <a:r>
              <a:rPr sz="1300" b="0" i="0">
                <a:solidFill>
                  <a:srgbClr val="5D6963"/>
                </a:solidFill>
                <a:latin typeface="Arial"/>
              </a:rPr>
              <a:t>Swinging into place</a:t>
            </a:r>
          </a:p>
        </p:txBody>
      </p:sp>
      <p:pic>
        <p:nvPicPr>
          <p:cNvPr id="10" name="Picture 9" descr="join1_final.jpg"/>
          <p:cNvPicPr>
            <a:picLocks noChangeAspect="1"/>
          </p:cNvPicPr>
          <p:nvPr/>
        </p:nvPicPr>
        <p:blipFill>
          <a:blip r:embed="rId4"/>
          <a:srcRect r="59259" t="2222" b="19259"/>
          <a:stretch>
            <a:fillRect/>
          </a:stretch>
        </p:blipFill>
        <p:spPr>
          <a:xfrm>
            <a:off x="7302500" y="1905000"/>
            <a:ext cx="3048000" cy="3671454"/>
          </a:xfrm>
          <a:prstGeom prst="rect">
            <a:avLst/>
          </a:prstGeom>
          <a:ln w="12700">
            <a:solidFill>
              <a:srgbClr val="CFD8D1"/>
            </a:solidFill>
          </a:ln>
        </p:spPr>
      </p:pic>
      <p:sp>
        <p:nvSpPr>
          <p:cNvPr id="11" name="TextBox 10"/>
          <p:cNvSpPr txBox="1"/>
          <p:nvPr/>
        </p:nvSpPr>
        <p:spPr>
          <a:xfrm>
            <a:off x="7302500" y="5665354"/>
            <a:ext cx="3048000" cy="254000"/>
          </a:xfrm>
          <a:prstGeom prst="rect">
            <a:avLst/>
          </a:prstGeom>
          <a:noFill/>
        </p:spPr>
        <p:txBody>
          <a:bodyPr wrap="square" lIns="0" rIns="0" tIns="0" bIns="0" anchor="t">
            <a:spAutoFit/>
          </a:bodyPr>
          <a:lstStyle/>
          <a:p>
            <a:pPr algn="ctr">
              <a:lnSpc>
                <a:spcPct val="112000"/>
              </a:lnSpc>
              <a:spcAft>
                <a:spcPts val="0"/>
              </a:spcAft>
            </a:pPr>
            <a:r>
              <a:rPr sz="1500" b="1" i="0">
                <a:solidFill>
                  <a:srgbClr val="17211D"/>
                </a:solidFill>
                <a:latin typeface="Arial"/>
              </a:rPr>
              <a:t>Rotate −90° · offset 1.3</a:t>
            </a:r>
          </a:p>
        </p:txBody>
      </p:sp>
      <p:sp>
        <p:nvSpPr>
          <p:cNvPr id="12" name="TextBox 11"/>
          <p:cNvSpPr txBox="1"/>
          <p:nvPr/>
        </p:nvSpPr>
        <p:spPr>
          <a:xfrm>
            <a:off x="7302500" y="5893954"/>
            <a:ext cx="3048000" cy="254000"/>
          </a:xfrm>
          <a:prstGeom prst="rect">
            <a:avLst/>
          </a:prstGeom>
          <a:noFill/>
        </p:spPr>
        <p:txBody>
          <a:bodyPr wrap="square" lIns="0" rIns="0" tIns="0" bIns="0" anchor="t">
            <a:spAutoFit/>
          </a:bodyPr>
          <a:lstStyle/>
          <a:p>
            <a:pPr algn="ctr">
              <a:lnSpc>
                <a:spcPct val="112000"/>
              </a:lnSpc>
              <a:spcAft>
                <a:spcPts val="0"/>
              </a:spcAft>
            </a:pPr>
            <a:r>
              <a:rPr sz="1300" b="0" i="0">
                <a:solidFill>
                  <a:srgbClr val="5D6963"/>
                </a:solidFill>
                <a:latin typeface="Arial"/>
              </a:rPr>
              <a:t>Lined up — apply it</a:t>
            </a:r>
          </a:p>
        </p:txBody>
      </p:sp>
      <p:sp>
        <p:nvSpPr>
          <p:cNvPr id="13" name="TextBox 12"/>
          <p:cNvSpPr txBox="1"/>
          <p:nvPr/>
        </p:nvSpPr>
        <p:spPr>
          <a:xfrm>
            <a:off x="698500" y="5905500"/>
            <a:ext cx="10795000" cy="508000"/>
          </a:xfrm>
          <a:prstGeom prst="rect">
            <a:avLst/>
          </a:prstGeom>
          <a:noFill/>
        </p:spPr>
        <p:txBody>
          <a:bodyPr wrap="square" lIns="0" rIns="0" tIns="0" bIns="0" anchor="t">
            <a:spAutoFit/>
          </a:bodyPr>
          <a:lstStyle/>
          <a:p>
            <a:pPr algn="l">
              <a:lnSpc>
                <a:spcPct val="120000"/>
              </a:lnSpc>
              <a:spcAft>
                <a:spcPts val="0"/>
              </a:spcAft>
            </a:pPr>
            <a:r>
              <a:rPr sz="1500" b="1" i="0">
                <a:solidFill>
                  <a:srgbClr val="17211D"/>
                </a:solidFill>
                <a:latin typeface="Arial"/>
              </a:rPr>
              <a:t>Rotate moving surface</a:t>
            </a:r>
            <a:r>
              <a:rPr sz="1500" b="0" i="0">
                <a:solidFill>
                  <a:srgbClr val="5D6963"/>
                </a:solidFill>
                <a:latin typeface="Arial"/>
              </a:rPr>
              <a:t> spins the block around the face it's stuck to.  </a:t>
            </a:r>
            <a:r>
              <a:rPr sz="1500" b="1" i="0">
                <a:solidFill>
                  <a:srgbClr val="17211D"/>
                </a:solidFill>
                <a:latin typeface="Arial"/>
              </a:rPr>
              <a:t>Move horizontally / vertically</a:t>
            </a:r>
            <a:r>
              <a:rPr sz="1500" b="0" i="0">
                <a:solidFill>
                  <a:srgbClr val="5D6963"/>
                </a:solidFill>
                <a:latin typeface="Arial"/>
              </a:rPr>
              <a:t> slides it along that face.  Then press </a:t>
            </a:r>
            <a:r>
              <a:rPr sz="1500" b="1" i="0">
                <a:solidFill>
                  <a:srgbClr val="17211D"/>
                </a:solidFill>
                <a:latin typeface="Arial"/>
              </a:rPr>
              <a:t>Apply connection</a:t>
            </a:r>
            <a:r>
              <a:rPr sz="1500" b="0" i="0">
                <a:solidFill>
                  <a:srgbClr val="5D6963"/>
                </a:solidFill>
                <a:latin typeface="Arial"/>
              </a:rPr>
              <a: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4F6F2"/>
        </a:solidFill>
        <a:effectLst/>
      </p:bgPr>
    </p:bg>
    <p:spTree>
      <p:nvGrpSpPr>
        <p:cNvPr id="1" name=""/>
        <p:cNvGrpSpPr/>
        <p:nvPr/>
      </p:nvGrpSpPr>
      <p:grpSpPr/>
      <p:sp>
        <p:nvSpPr>
          <p:cNvPr id="2" name="Rounded Rectangle 1"/>
          <p:cNvSpPr/>
          <p:nvPr/>
        </p:nvSpPr>
        <p:spPr>
          <a:xfrm>
            <a:off x="698500" y="533400"/>
            <a:ext cx="2082800" cy="292100"/>
          </a:xfrm>
          <a:prstGeom prst="roundRect">
            <a:avLst>
              <a:gd name="adj" fmla="val 50000"/>
            </a:avLst>
          </a:prstGeom>
          <a:solidFill>
            <a:srgbClr val="E3F2E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i="0" spc="150">
                <a:solidFill>
                  <a:srgbClr val="166B50"/>
                </a:solidFill>
                <a:latin typeface="Arial"/>
              </a:rPr>
              <a:t>STEP 1 · CONNECT</a:t>
            </a:r>
          </a:p>
        </p:txBody>
      </p:sp>
      <p:sp>
        <p:nvSpPr>
          <p:cNvPr id="3" name="TextBox 2"/>
          <p:cNvSpPr txBox="1"/>
          <p:nvPr/>
        </p:nvSpPr>
        <p:spPr>
          <a:xfrm>
            <a:off x="698500" y="952500"/>
            <a:ext cx="10795000" cy="825500"/>
          </a:xfrm>
          <a:prstGeom prst="rect">
            <a:avLst/>
          </a:prstGeom>
          <a:noFill/>
        </p:spPr>
        <p:txBody>
          <a:bodyPr wrap="square" lIns="0" rIns="0" tIns="0" bIns="0" anchor="t">
            <a:spAutoFit/>
          </a:bodyPr>
          <a:lstStyle/>
          <a:p>
            <a:pPr algn="l">
              <a:lnSpc>
                <a:spcPct val="100000"/>
              </a:lnSpc>
              <a:spcAft>
                <a:spcPts val="0"/>
              </a:spcAft>
            </a:pPr>
            <a:r>
              <a:rPr sz="3800" b="1" i="0">
                <a:solidFill>
                  <a:srgbClr val="17211D"/>
                </a:solidFill>
                <a:latin typeface="Arial"/>
              </a:rPr>
              <a:t>Connect the stairs to the top hallway</a:t>
            </a:r>
          </a:p>
        </p:txBody>
      </p:sp>
      <p:sp>
        <p:nvSpPr>
          <p:cNvPr id="4" name="TextBox 3"/>
          <p:cNvSpPr txBox="1"/>
          <p:nvPr/>
        </p:nvSpPr>
        <p:spPr>
          <a:xfrm>
            <a:off x="698500" y="2032000"/>
            <a:ext cx="4064000" cy="3175000"/>
          </a:xfrm>
          <a:prstGeom prst="rect">
            <a:avLst/>
          </a:prstGeom>
          <a:noFill/>
        </p:spPr>
        <p:txBody>
          <a:bodyPr wrap="square" lIns="0" rIns="0" tIns="0" bIns="0">
            <a:spAutoFit/>
          </a:bodyPr>
          <a:lstStyle/>
          <a:p>
            <a:pPr marL="457200" indent="-457200">
              <a:lnSpc>
                <a:spcPct val="108000"/>
              </a:lnSpc>
              <a:spcAft>
                <a:spcPts val="1400"/>
              </a:spcAft>
              <a:buClr>
                <a:srgbClr val="166B50"/>
              </a:buClr>
              <a:buSzPct val="100000"/>
              <a:buFont typeface="Arial"/>
              <a:buAutoNum type="arabicPeriod"/>
            </a:pPr>
            <a:r>
              <a:rPr sz="1700" b="1" i="0">
                <a:solidFill>
                  <a:srgbClr val="17211D"/>
                </a:solidFill>
                <a:latin typeface="Arial"/>
              </a:rPr>
              <a:t>Connect two objects</a:t>
            </a:r>
            <a:r>
              <a:rPr sz="1700" b="0" i="0">
                <a:solidFill>
                  <a:srgbClr val="17211D"/>
                </a:solidFill>
                <a:latin typeface="Arial"/>
              </a:rPr>
              <a:t> again: pick the top hallway, then the stairs.</a:t>
            </a:r>
          </a:p>
          <a:p>
            <a:pPr marL="457200" indent="-457200">
              <a:lnSpc>
                <a:spcPct val="108000"/>
              </a:lnSpc>
              <a:spcAft>
                <a:spcPts val="1400"/>
              </a:spcAft>
              <a:buClr>
                <a:srgbClr val="166B50"/>
              </a:buClr>
              <a:buSzPct val="100000"/>
              <a:buFont typeface="Arial"/>
              <a:buAutoNum type="arabicPeriod"/>
            </a:pPr>
            <a:r>
              <a:rPr sz="1700" b="0" i="0">
                <a:solidFill>
                  <a:srgbClr val="17211D"/>
                </a:solidFill>
                <a:latin typeface="Arial"/>
              </a:rPr>
              <a:t>Faces: hallway </a:t>
            </a:r>
            <a:r>
              <a:rPr sz="1700" b="1" i="0">
                <a:solidFill>
                  <a:srgbClr val="17211D"/>
                </a:solidFill>
                <a:latin typeface="Arial"/>
              </a:rPr>
              <a:t>AC (−B)</a:t>
            </a:r>
            <a:r>
              <a:rPr sz="1700" b="0" i="0">
                <a:solidFill>
                  <a:srgbClr val="17211D"/>
                </a:solidFill>
                <a:latin typeface="Arial"/>
              </a:rPr>
              <a:t> ↔ stairs </a:t>
            </a:r>
            <a:r>
              <a:rPr sz="1700" b="1" i="0">
                <a:solidFill>
                  <a:srgbClr val="17211D"/>
                </a:solidFill>
                <a:latin typeface="Arial"/>
              </a:rPr>
              <a:t>BC (+A)</a:t>
            </a:r>
            <a:r>
              <a:rPr sz="1700" b="0" i="0">
                <a:solidFill>
                  <a:srgbClr val="17211D"/>
                </a:solidFill>
                <a:latin typeface="Arial"/>
              </a:rPr>
              <a:t> — the stairs' other end.</a:t>
            </a:r>
          </a:p>
          <a:p>
            <a:pPr marL="457200" indent="-457200">
              <a:lnSpc>
                <a:spcPct val="108000"/>
              </a:lnSpc>
              <a:spcAft>
                <a:spcPts val="1400"/>
              </a:spcAft>
              <a:buClr>
                <a:srgbClr val="166B50"/>
              </a:buClr>
              <a:buSzPct val="100000"/>
              <a:buFont typeface="Arial"/>
              <a:buAutoNum type="arabicPeriod"/>
            </a:pPr>
            <a:r>
              <a:rPr sz="1700" b="0" i="0">
                <a:solidFill>
                  <a:srgbClr val="17211D"/>
                </a:solidFill>
                <a:latin typeface="Arial"/>
              </a:rPr>
              <a:t>Rotation </a:t>
            </a:r>
            <a:r>
              <a:rPr sz="1700" b="1" i="0">
                <a:solidFill>
                  <a:srgbClr val="17211D"/>
                </a:solidFill>
                <a:latin typeface="Arial"/>
              </a:rPr>
              <a:t>0°</a:t>
            </a:r>
            <a:r>
              <a:rPr sz="1700" b="0" i="0">
                <a:solidFill>
                  <a:srgbClr val="17211D"/>
                </a:solidFill>
                <a:latin typeface="Arial"/>
              </a:rPr>
              <a:t>, </a:t>
            </a:r>
            <a:r>
              <a:rPr sz="1700" b="1" i="0">
                <a:solidFill>
                  <a:srgbClr val="17211D"/>
                </a:solidFill>
                <a:latin typeface="Arial"/>
              </a:rPr>
              <a:t>Move horizontally 1.2</a:t>
            </a:r>
            <a:r>
              <a:rPr sz="1700" b="0" i="0">
                <a:solidFill>
                  <a:srgbClr val="17211D"/>
                </a:solidFill>
                <a:latin typeface="Arial"/>
              </a:rPr>
              <a:t>, then </a:t>
            </a:r>
            <a:r>
              <a:rPr sz="1700" b="1" i="0">
                <a:solidFill>
                  <a:srgbClr val="17211D"/>
                </a:solidFill>
                <a:latin typeface="Arial"/>
              </a:rPr>
              <a:t>Apply connection</a:t>
            </a:r>
            <a:r>
              <a:rPr sz="1700" b="0" i="0">
                <a:solidFill>
                  <a:srgbClr val="17211D"/>
                </a:solidFill>
                <a:latin typeface="Arial"/>
              </a:rPr>
              <a:t>.</a:t>
            </a:r>
          </a:p>
        </p:txBody>
      </p:sp>
      <p:sp>
        <p:nvSpPr>
          <p:cNvPr id="5" name="Rounded Rectangle 4"/>
          <p:cNvSpPr/>
          <p:nvPr/>
        </p:nvSpPr>
        <p:spPr>
          <a:xfrm>
            <a:off x="698500" y="4699000"/>
            <a:ext cx="4064000" cy="952500"/>
          </a:xfrm>
          <a:prstGeom prst="roundRect">
            <a:avLst>
              <a:gd name="adj" fmla="val 14000"/>
            </a:avLst>
          </a:prstGeom>
          <a:solidFill>
            <a:srgbClr val="0E2F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77800" rIns="177800" tIns="101600" bIns="101600"/>
          <a:lstStyle/>
          <a:p>
            <a:pPr algn="l">
              <a:lnSpc>
                <a:spcPct val="110000"/>
              </a:lnSpc>
            </a:pPr>
            <a:r>
              <a:rPr sz="1400" b="0" i="0">
                <a:solidFill>
                  <a:srgbClr val="EAF5EE"/>
                </a:solidFill>
                <a:latin typeface="Arial"/>
              </a:rPr>
              <a:t>Same recipe as before: pick two faces, rotate, slide, apply. Every junction works the same way.</a:t>
            </a:r>
          </a:p>
        </p:txBody>
      </p:sp>
      <p:pic>
        <p:nvPicPr>
          <p:cNvPr id="6" name="Picture 5" descr="join2_final.jpg"/>
          <p:cNvPicPr>
            <a:picLocks noChangeAspect="1"/>
          </p:cNvPicPr>
          <p:nvPr/>
        </p:nvPicPr>
        <p:blipFill>
          <a:blip r:embed="rId2"/>
          <a:srcRect/>
          <a:stretch>
            <a:fillRect/>
          </a:stretch>
        </p:blipFill>
        <p:spPr>
          <a:xfrm>
            <a:off x="5080000" y="1841500"/>
            <a:ext cx="6413500" cy="4008437"/>
          </a:xfrm>
          <a:prstGeom prst="rect">
            <a:avLst/>
          </a:prstGeom>
          <a:ln w="12700">
            <a:solidFill>
              <a:srgbClr val="CFD8D1"/>
            </a:solidFill>
          </a:ln>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4F6F2"/>
        </a:solidFill>
        <a:effectLst/>
      </p:bgPr>
    </p:bg>
    <p:spTree>
      <p:nvGrpSpPr>
        <p:cNvPr id="1" name=""/>
        <p:cNvGrpSpPr/>
        <p:nvPr/>
      </p:nvGrpSpPr>
      <p:grpSpPr/>
      <p:sp>
        <p:nvSpPr>
          <p:cNvPr id="2" name="Rounded Rectangle 1"/>
          <p:cNvSpPr/>
          <p:nvPr/>
        </p:nvSpPr>
        <p:spPr>
          <a:xfrm>
            <a:off x="698500" y="533400"/>
            <a:ext cx="1758949" cy="292100"/>
          </a:xfrm>
          <a:prstGeom prst="roundRect">
            <a:avLst>
              <a:gd name="adj" fmla="val 50000"/>
            </a:avLst>
          </a:prstGeom>
          <a:solidFill>
            <a:srgbClr val="E3F2E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i="0" spc="150">
                <a:solidFill>
                  <a:srgbClr val="166B50"/>
                </a:solidFill>
                <a:latin typeface="Arial"/>
              </a:rPr>
              <a:t>STEP 1 · DONE</a:t>
            </a:r>
          </a:p>
        </p:txBody>
      </p:sp>
      <p:sp>
        <p:nvSpPr>
          <p:cNvPr id="3" name="TextBox 2"/>
          <p:cNvSpPr txBox="1"/>
          <p:nvPr/>
        </p:nvSpPr>
        <p:spPr>
          <a:xfrm>
            <a:off x="698500" y="952500"/>
            <a:ext cx="10795000" cy="825500"/>
          </a:xfrm>
          <a:prstGeom prst="rect">
            <a:avLst/>
          </a:prstGeom>
          <a:noFill/>
        </p:spPr>
        <p:txBody>
          <a:bodyPr wrap="square" lIns="0" rIns="0" tIns="0" bIns="0" anchor="t">
            <a:spAutoFit/>
          </a:bodyPr>
          <a:lstStyle/>
          <a:p>
            <a:pPr algn="l">
              <a:lnSpc>
                <a:spcPct val="100000"/>
              </a:lnSpc>
              <a:spcAft>
                <a:spcPts val="0"/>
              </a:spcAft>
            </a:pPr>
            <a:r>
              <a:rPr sz="3800" b="1" i="0">
                <a:solidFill>
                  <a:srgbClr val="17211D"/>
                </a:solidFill>
                <a:latin typeface="Arial"/>
              </a:rPr>
              <a:t>Built! Tweak it any time</a:t>
            </a:r>
          </a:p>
        </p:txBody>
      </p:sp>
      <p:sp>
        <p:nvSpPr>
          <p:cNvPr id="4" name="TextBox 3"/>
          <p:cNvSpPr txBox="1"/>
          <p:nvPr/>
        </p:nvSpPr>
        <p:spPr>
          <a:xfrm>
            <a:off x="698500" y="2032000"/>
            <a:ext cx="4127500" cy="1905000"/>
          </a:xfrm>
          <a:prstGeom prst="rect">
            <a:avLst/>
          </a:prstGeom>
          <a:noFill/>
        </p:spPr>
        <p:txBody>
          <a:bodyPr wrap="square" lIns="0" rIns="0" tIns="0" bIns="0">
            <a:spAutoFit/>
          </a:bodyPr>
          <a:lstStyle/>
          <a:p>
            <a:pPr marL="457200" indent="-457200">
              <a:lnSpc>
                <a:spcPct val="108000"/>
              </a:lnSpc>
              <a:spcAft>
                <a:spcPts val="1400"/>
              </a:spcAft>
              <a:buClr>
                <a:srgbClr val="166B50"/>
              </a:buClr>
              <a:buSzPct val="100000"/>
              <a:buFont typeface="Arial"/>
              <a:buChar char="■"/>
            </a:pPr>
            <a:r>
              <a:rPr sz="1600" b="1" i="0">
                <a:solidFill>
                  <a:srgbClr val="17211D"/>
                </a:solidFill>
                <a:latin typeface="Arial"/>
              </a:rPr>
              <a:t>Edit attachment</a:t>
            </a:r>
            <a:r>
              <a:rPr sz="1600" b="0" i="0">
                <a:solidFill>
                  <a:srgbClr val="17211D"/>
                </a:solidFill>
                <a:latin typeface="Arial"/>
              </a:rPr>
              <a:t> reopens the join sliders</a:t>
            </a:r>
          </a:p>
          <a:p>
            <a:pPr marL="457200" indent="-457200">
              <a:lnSpc>
                <a:spcPct val="108000"/>
              </a:lnSpc>
              <a:spcAft>
                <a:spcPts val="1400"/>
              </a:spcAft>
              <a:buClr>
                <a:srgbClr val="166B50"/>
              </a:buClr>
              <a:buSzPct val="100000"/>
              <a:buFont typeface="Arial"/>
              <a:buChar char="■"/>
            </a:pPr>
            <a:r>
              <a:rPr sz="1600" b="1" i="0">
                <a:solidFill>
                  <a:srgbClr val="17211D"/>
                </a:solidFill>
                <a:latin typeface="Arial"/>
              </a:rPr>
              <a:t>Rotate attached group</a:t>
            </a:r>
            <a:r>
              <a:rPr sz="1600" b="0" i="0">
                <a:solidFill>
                  <a:srgbClr val="17211D"/>
                </a:solidFill>
                <a:latin typeface="Arial"/>
              </a:rPr>
              <a:t> tilts the whole building in 15° steps</a:t>
            </a:r>
          </a:p>
          <a:p>
            <a:pPr marL="457200" indent="-457200">
              <a:lnSpc>
                <a:spcPct val="108000"/>
              </a:lnSpc>
              <a:spcAft>
                <a:spcPts val="1400"/>
              </a:spcAft>
              <a:buClr>
                <a:srgbClr val="166B50"/>
              </a:buClr>
              <a:buSzPct val="100000"/>
              <a:buFont typeface="Arial"/>
              <a:buChar char="■"/>
            </a:pPr>
            <a:r>
              <a:rPr sz="1600" b="1" i="0">
                <a:solidFill>
                  <a:srgbClr val="17211D"/>
                </a:solidFill>
                <a:latin typeface="Arial"/>
              </a:rPr>
              <a:t>Save project</a:t>
            </a:r>
            <a:r>
              <a:rPr sz="1600" b="0" i="0">
                <a:solidFill>
                  <a:srgbClr val="17211D"/>
                </a:solidFill>
                <a:latin typeface="Arial"/>
              </a:rPr>
              <a:t> keeps it as a JSON file you can reload</a:t>
            </a:r>
          </a:p>
        </p:txBody>
      </p:sp>
      <p:sp>
        <p:nvSpPr>
          <p:cNvPr id="5" name="Rounded Rectangle 4"/>
          <p:cNvSpPr/>
          <p:nvPr/>
        </p:nvSpPr>
        <p:spPr>
          <a:xfrm>
            <a:off x="698500" y="4508500"/>
            <a:ext cx="4127500" cy="1206500"/>
          </a:xfrm>
          <a:prstGeom prst="roundRect">
            <a:avLst>
              <a:gd name="adj" fmla="val 14000"/>
            </a:avLst>
          </a:prstGeom>
          <a:solidFill>
            <a:srgbClr val="0E2F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77800" rIns="177800" tIns="101600" bIns="101600"/>
          <a:lstStyle/>
          <a:p>
            <a:pPr algn="l">
              <a:lnSpc>
                <a:spcPct val="110000"/>
              </a:lnSpc>
            </a:pPr>
            <a:r>
              <a:rPr sz="1400" b="0" i="0">
                <a:solidFill>
                  <a:srgbClr val="EAF5EE"/>
                </a:solidFill>
                <a:latin typeface="Arial"/>
              </a:rPr>
              <a:t>Want to skip the building? Load the finished model from the repo: </a:t>
            </a:r>
            <a:r>
              <a:rPr sz="1400" b="1" i="0">
                <a:solidFill>
                  <a:srgbClr val="D6EF5B"/>
                </a:solidFill>
                <a:latin typeface="Arial"/>
              </a:rPr>
              <a:t>examples/stairs-and-hallway.json</a:t>
            </a:r>
            <a:r>
              <a:rPr sz="1400" b="0" i="0">
                <a:solidFill>
                  <a:srgbClr val="EAF5EE"/>
                </a:solidFill>
                <a:latin typeface="Arial"/>
              </a:rPr>
              <a:t> → </a:t>
            </a:r>
            <a:r>
              <a:rPr sz="1400" b="1" i="0">
                <a:solidFill>
                  <a:srgbClr val="D6EF5B"/>
                </a:solidFill>
                <a:latin typeface="Arial"/>
              </a:rPr>
              <a:t>Load</a:t>
            </a:r>
            <a:r>
              <a:rPr sz="1400" b="0" i="0">
                <a:solidFill>
                  <a:srgbClr val="EAF5EE"/>
                </a:solidFill>
                <a:latin typeface="Arial"/>
              </a:rPr>
              <a:t>.</a:t>
            </a:r>
          </a:p>
        </p:txBody>
      </p:sp>
      <p:pic>
        <p:nvPicPr>
          <p:cNvPr id="6" name="Picture 5" descr="final_build.jpg"/>
          <p:cNvPicPr>
            <a:picLocks noChangeAspect="1"/>
          </p:cNvPicPr>
          <p:nvPr/>
        </p:nvPicPr>
        <p:blipFill>
          <a:blip r:embed="rId2"/>
          <a:stretch>
            <a:fillRect/>
          </a:stretch>
        </p:blipFill>
        <p:spPr>
          <a:xfrm>
            <a:off x="5080000" y="1841500"/>
            <a:ext cx="6413500" cy="4008438"/>
          </a:xfrm>
          <a:prstGeom prst="rect">
            <a:avLst/>
          </a:prstGeom>
          <a:ln w="12700">
            <a:solidFill>
              <a:srgbClr val="CFD8D1"/>
            </a:solidFill>
          </a:ln>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4F6F2"/>
        </a:solidFill>
        <a:effectLst/>
      </p:bgPr>
    </p:bg>
    <p:spTree>
      <p:nvGrpSpPr>
        <p:cNvPr id="1" name=""/>
        <p:cNvGrpSpPr/>
        <p:nvPr/>
      </p:nvGrpSpPr>
      <p:grpSpPr/>
      <p:sp>
        <p:nvSpPr>
          <p:cNvPr id="2" name="Rounded Rectangle 1"/>
          <p:cNvSpPr/>
          <p:nvPr/>
        </p:nvSpPr>
        <p:spPr>
          <a:xfrm>
            <a:off x="698500" y="533400"/>
            <a:ext cx="2190750" cy="292100"/>
          </a:xfrm>
          <a:prstGeom prst="roundRect">
            <a:avLst>
              <a:gd name="adj" fmla="val 50000"/>
            </a:avLst>
          </a:prstGeom>
          <a:solidFill>
            <a:srgbClr val="E3F2E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i="0" spc="150">
                <a:solidFill>
                  <a:srgbClr val="166B50"/>
                </a:solidFill>
                <a:latin typeface="Arial"/>
              </a:rPr>
              <a:t>HANDS-ON · STEP 2</a:t>
            </a:r>
          </a:p>
        </p:txBody>
      </p:sp>
      <p:sp>
        <p:nvSpPr>
          <p:cNvPr id="3" name="TextBox 2"/>
          <p:cNvSpPr txBox="1"/>
          <p:nvPr/>
        </p:nvSpPr>
        <p:spPr>
          <a:xfrm>
            <a:off x="698500" y="952500"/>
            <a:ext cx="10795000" cy="825500"/>
          </a:xfrm>
          <a:prstGeom prst="rect">
            <a:avLst/>
          </a:prstGeom>
          <a:noFill/>
        </p:spPr>
        <p:txBody>
          <a:bodyPr wrap="square" lIns="0" rIns="0" tIns="0" bIns="0" anchor="t">
            <a:spAutoFit/>
          </a:bodyPr>
          <a:lstStyle/>
          <a:p>
            <a:pPr algn="l">
              <a:lnSpc>
                <a:spcPct val="100000"/>
              </a:lnSpc>
              <a:spcAft>
                <a:spcPts val="0"/>
              </a:spcAft>
            </a:pPr>
            <a:r>
              <a:rPr sz="3800" b="1" i="0">
                <a:solidFill>
                  <a:srgbClr val="17211D"/>
                </a:solidFill>
                <a:latin typeface="Arial"/>
              </a:rPr>
              <a:t>Choose the entrance &amp; exit</a:t>
            </a:r>
          </a:p>
        </p:txBody>
      </p:sp>
      <p:sp>
        <p:nvSpPr>
          <p:cNvPr id="4" name="TextBox 3"/>
          <p:cNvSpPr txBox="1"/>
          <p:nvPr/>
        </p:nvSpPr>
        <p:spPr>
          <a:xfrm>
            <a:off x="698500" y="2032000"/>
            <a:ext cx="4064000" cy="3175000"/>
          </a:xfrm>
          <a:prstGeom prst="rect">
            <a:avLst/>
          </a:prstGeom>
          <a:noFill/>
        </p:spPr>
        <p:txBody>
          <a:bodyPr wrap="square" lIns="0" rIns="0" tIns="0" bIns="0">
            <a:spAutoFit/>
          </a:bodyPr>
          <a:lstStyle/>
          <a:p>
            <a:pPr marL="457200" indent="-457200">
              <a:lnSpc>
                <a:spcPct val="108000"/>
              </a:lnSpc>
              <a:spcAft>
                <a:spcPts val="1400"/>
              </a:spcAft>
              <a:buClr>
                <a:srgbClr val="166B50"/>
              </a:buClr>
              <a:buSzPct val="100000"/>
              <a:buFont typeface="Arial"/>
              <a:buAutoNum type="arabicPeriod"/>
            </a:pPr>
            <a:r>
              <a:rPr sz="1600" b="0" i="0">
                <a:solidFill>
                  <a:srgbClr val="17211D"/>
                </a:solidFill>
                <a:latin typeface="Arial"/>
              </a:rPr>
              <a:t>Press </a:t>
            </a:r>
            <a:r>
              <a:rPr sz="1600" b="1" i="0">
                <a:solidFill>
                  <a:srgbClr val="17211D"/>
                </a:solidFill>
                <a:latin typeface="Arial"/>
              </a:rPr>
              <a:t>Pick faces in 3D view</a:t>
            </a:r>
            <a:r>
              <a:rPr sz="1600" b="0" i="0">
                <a:solidFill>
                  <a:srgbClr val="17211D"/>
                </a:solidFill>
                <a:latin typeface="Arial"/>
              </a:rPr>
              <a:t>.</a:t>
            </a:r>
          </a:p>
          <a:p>
            <a:pPr marL="457200" indent="-457200">
              <a:lnSpc>
                <a:spcPct val="108000"/>
              </a:lnSpc>
              <a:spcAft>
                <a:spcPts val="1400"/>
              </a:spcAft>
              <a:buClr>
                <a:srgbClr val="166B50"/>
              </a:buClr>
              <a:buSzPct val="100000"/>
              <a:buFont typeface="Arial"/>
              <a:buAutoNum type="arabicPeriod"/>
            </a:pPr>
            <a:r>
              <a:rPr sz="1600" b="0" i="0">
                <a:solidFill>
                  <a:srgbClr val="17211D"/>
                </a:solidFill>
                <a:latin typeface="Arial"/>
              </a:rPr>
              <a:t>Click the bottom hallway's end: the </a:t>
            </a:r>
            <a:r>
              <a:rPr sz="1600" b="1" i="0">
                <a:solidFill>
                  <a:srgbClr val="2F9A5E"/>
                </a:solidFill>
                <a:latin typeface="Arial"/>
              </a:rPr>
              <a:t>entrance</a:t>
            </a:r>
            <a:r>
              <a:rPr sz="1600" b="0" i="0">
                <a:solidFill>
                  <a:srgbClr val="17211D"/>
                </a:solidFill>
                <a:latin typeface="Arial"/>
              </a:rPr>
              <a:t>. Then the top hallway's end: the </a:t>
            </a:r>
            <a:r>
              <a:rPr sz="1600" b="1" i="0">
                <a:solidFill>
                  <a:srgbClr val="D97F1A"/>
                </a:solidFill>
                <a:latin typeface="Arial"/>
              </a:rPr>
              <a:t>exit</a:t>
            </a:r>
            <a:r>
              <a:rPr sz="1600" b="0" i="0">
                <a:solidFill>
                  <a:srgbClr val="17211D"/>
                </a:solidFill>
                <a:latin typeface="Arial"/>
              </a:rPr>
              <a:t>.</a:t>
            </a:r>
          </a:p>
          <a:p>
            <a:pPr marL="457200" indent="-457200">
              <a:lnSpc>
                <a:spcPct val="108000"/>
              </a:lnSpc>
              <a:spcAft>
                <a:spcPts val="1400"/>
              </a:spcAft>
              <a:buClr>
                <a:srgbClr val="166B50"/>
              </a:buClr>
              <a:buSzPct val="100000"/>
              <a:buFont typeface="Arial"/>
              <a:buAutoNum type="arabicPeriod"/>
            </a:pPr>
            <a:r>
              <a:rPr sz="1600" b="0" i="0">
                <a:solidFill>
                  <a:srgbClr val="17211D"/>
                </a:solidFill>
                <a:latin typeface="Arial"/>
              </a:rPr>
              <a:t>Press </a:t>
            </a:r>
            <a:r>
              <a:rPr sz="1600" b="1" i="0">
                <a:solidFill>
                  <a:srgbClr val="17211D"/>
                </a:solidFill>
                <a:latin typeface="Arial"/>
              </a:rPr>
              <a:t>Confirm 3D model</a:t>
            </a:r>
            <a:r>
              <a:rPr sz="1600" b="0" i="0">
                <a:solidFill>
                  <a:srgbClr val="17211D"/>
                </a:solidFill>
                <a:latin typeface="Arial"/>
              </a:rPr>
              <a:t> — the walls turn see-through.</a:t>
            </a:r>
          </a:p>
        </p:txBody>
      </p:sp>
      <p:sp>
        <p:nvSpPr>
          <p:cNvPr id="5" name="Rounded Rectangle 4"/>
          <p:cNvSpPr/>
          <p:nvPr/>
        </p:nvSpPr>
        <p:spPr>
          <a:xfrm>
            <a:off x="698500" y="4572000"/>
            <a:ext cx="4064000" cy="1079500"/>
          </a:xfrm>
          <a:prstGeom prst="roundRect">
            <a:avLst>
              <a:gd name="adj" fmla="val 14000"/>
            </a:avLst>
          </a:prstGeom>
          <a:solidFill>
            <a:srgbClr val="0E2F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77800" rIns="177800" tIns="101600" bIns="101600"/>
          <a:lstStyle/>
          <a:p>
            <a:pPr algn="l">
              <a:lnSpc>
                <a:spcPct val="110000"/>
              </a:lnSpc>
            </a:pPr>
            <a:r>
              <a:rPr sz="1400" b="1" i="0">
                <a:solidFill>
                  <a:srgbClr val="D6EF5B"/>
                </a:solidFill>
                <a:latin typeface="Arial"/>
              </a:rPr>
              <a:t>Only these two faces are doorways.</a:t>
            </a:r>
            <a:r>
              <a:rPr sz="1400" b="0" i="0">
                <a:solidFill>
                  <a:srgbClr val="EAF5EE"/>
                </a:solidFill>
                <a:latin typeface="Arial"/>
              </a:rPr>
              <a:t> Every other wall stays solid — the furniture can't cheat through them.</a:t>
            </a:r>
          </a:p>
        </p:txBody>
      </p:sp>
      <p:pic>
        <p:nvPicPr>
          <p:cNvPr id="6" name="Picture 5" descr="f_open_try2.jpg"/>
          <p:cNvPicPr>
            <a:picLocks noChangeAspect="1"/>
          </p:cNvPicPr>
          <p:nvPr/>
        </p:nvPicPr>
        <p:blipFill>
          <a:blip r:embed="rId2"/>
          <a:stretch>
            <a:fillRect/>
          </a:stretch>
        </p:blipFill>
        <p:spPr>
          <a:xfrm>
            <a:off x="5080000" y="1841500"/>
            <a:ext cx="6413500" cy="4008438"/>
          </a:xfrm>
          <a:prstGeom prst="rect">
            <a:avLst/>
          </a:prstGeom>
          <a:ln w="12700">
            <a:solidFill>
              <a:srgbClr val="CFD8D1"/>
            </a:solidFill>
          </a:ln>
        </p:spPr>
      </p:pic>
      <p:pic>
        <p:nvPicPr>
          <p:cNvPr id="7" name="Picture 6" descr="f_open_try2.jpg"/>
          <p:cNvPicPr>
            <a:picLocks noChangeAspect="1"/>
          </p:cNvPicPr>
          <p:nvPr/>
        </p:nvPicPr>
        <p:blipFill>
          <a:blip r:embed="rId2"/>
          <a:srcRect l="74074" r="463" t="29259" b="25926"/>
          <a:stretch>
            <a:fillRect/>
          </a:stretch>
        </p:blipFill>
        <p:spPr>
          <a:xfrm>
            <a:off x="9048750" y="3487737"/>
            <a:ext cx="2305050" cy="2222500"/>
          </a:xfrm>
          <a:prstGeom prst="rect">
            <a:avLst/>
          </a:prstGeom>
          <a:ln w="28575">
            <a:solidFill>
              <a:srgbClr val="166B50"/>
            </a:solidFill>
          </a:ln>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4F6F2"/>
        </a:solidFill>
        <a:effectLst/>
      </p:bgPr>
    </p:bg>
    <p:spTree>
      <p:nvGrpSpPr>
        <p:cNvPr id="1" name=""/>
        <p:cNvGrpSpPr/>
        <p:nvPr/>
      </p:nvGrpSpPr>
      <p:grpSpPr/>
      <p:sp>
        <p:nvSpPr>
          <p:cNvPr id="2" name="Rounded Rectangle 1"/>
          <p:cNvSpPr/>
          <p:nvPr/>
        </p:nvSpPr>
        <p:spPr>
          <a:xfrm>
            <a:off x="698500" y="533400"/>
            <a:ext cx="2190750" cy="292100"/>
          </a:xfrm>
          <a:prstGeom prst="roundRect">
            <a:avLst>
              <a:gd name="adj" fmla="val 50000"/>
            </a:avLst>
          </a:prstGeom>
          <a:solidFill>
            <a:srgbClr val="E3F2E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i="0" spc="150">
                <a:solidFill>
                  <a:srgbClr val="166B50"/>
                </a:solidFill>
                <a:latin typeface="Arial"/>
              </a:rPr>
              <a:t>HANDS-ON · STEP 3</a:t>
            </a:r>
          </a:p>
        </p:txBody>
      </p:sp>
      <p:sp>
        <p:nvSpPr>
          <p:cNvPr id="3" name="TextBox 2"/>
          <p:cNvSpPr txBox="1"/>
          <p:nvPr/>
        </p:nvSpPr>
        <p:spPr>
          <a:xfrm>
            <a:off x="698500" y="952500"/>
            <a:ext cx="10795000" cy="825500"/>
          </a:xfrm>
          <a:prstGeom prst="rect">
            <a:avLst/>
          </a:prstGeom>
          <a:noFill/>
        </p:spPr>
        <p:txBody>
          <a:bodyPr wrap="square" lIns="0" rIns="0" tIns="0" bIns="0" anchor="t">
            <a:spAutoFit/>
          </a:bodyPr>
          <a:lstStyle/>
          <a:p>
            <a:pPr algn="l">
              <a:lnSpc>
                <a:spcPct val="100000"/>
              </a:lnSpc>
              <a:spcAft>
                <a:spcPts val="0"/>
              </a:spcAft>
            </a:pPr>
            <a:r>
              <a:rPr sz="3800" b="1" i="0">
                <a:solidFill>
                  <a:srgbClr val="17211D"/>
                </a:solidFill>
                <a:latin typeface="Arial"/>
              </a:rPr>
              <a:t>Describe the furniture</a:t>
            </a:r>
          </a:p>
        </p:txBody>
      </p:sp>
      <p:sp>
        <p:nvSpPr>
          <p:cNvPr id="4" name="TextBox 3"/>
          <p:cNvSpPr txBox="1"/>
          <p:nvPr/>
        </p:nvSpPr>
        <p:spPr>
          <a:xfrm>
            <a:off x="698500" y="2032000"/>
            <a:ext cx="4064000" cy="3175000"/>
          </a:xfrm>
          <a:prstGeom prst="rect">
            <a:avLst/>
          </a:prstGeom>
          <a:noFill/>
        </p:spPr>
        <p:txBody>
          <a:bodyPr wrap="square" lIns="0" rIns="0" tIns="0" bIns="0">
            <a:spAutoFit/>
          </a:bodyPr>
          <a:lstStyle/>
          <a:p>
            <a:pPr marL="457200" indent="-457200">
              <a:lnSpc>
                <a:spcPct val="108000"/>
              </a:lnSpc>
              <a:spcAft>
                <a:spcPts val="1400"/>
              </a:spcAft>
              <a:buClr>
                <a:srgbClr val="166B50"/>
              </a:buClr>
              <a:buSzPct val="100000"/>
              <a:buFont typeface="Arial"/>
              <a:buAutoNum type="arabicPeriod"/>
            </a:pPr>
            <a:r>
              <a:rPr sz="1600" b="0" i="0">
                <a:solidFill>
                  <a:srgbClr val="17211D"/>
                </a:solidFill>
                <a:latin typeface="Arial"/>
              </a:rPr>
              <a:t>Enter </a:t>
            </a:r>
            <a:r>
              <a:rPr sz="1600" b="1" i="0">
                <a:solidFill>
                  <a:srgbClr val="17211D"/>
                </a:solidFill>
                <a:latin typeface="Arial"/>
              </a:rPr>
              <a:t>Length · Width · Height</a:t>
            </a:r>
            <a:r>
              <a:rPr sz="1600" b="0" i="0">
                <a:solidFill>
                  <a:srgbClr val="17211D"/>
                </a:solidFill>
                <a:latin typeface="Arial"/>
              </a:rPr>
              <a:t>. Start with </a:t>
            </a:r>
            <a:r>
              <a:rPr sz="1600" b="1" i="0">
                <a:solidFill>
                  <a:srgbClr val="17211D"/>
                </a:solidFill>
                <a:latin typeface="Courier New"/>
              </a:rPr>
              <a:t>2.5 · 1.2 · 1.2</a:t>
            </a:r>
            <a:r>
              <a:rPr sz="1600" b="0" i="0">
                <a:solidFill>
                  <a:srgbClr val="17211D"/>
                </a:solidFill>
                <a:latin typeface="Arial"/>
              </a:rPr>
              <a:t>.</a:t>
            </a:r>
          </a:p>
          <a:p>
            <a:pPr marL="457200" indent="-457200">
              <a:lnSpc>
                <a:spcPct val="108000"/>
              </a:lnSpc>
              <a:spcAft>
                <a:spcPts val="1400"/>
              </a:spcAft>
              <a:buClr>
                <a:srgbClr val="166B50"/>
              </a:buClr>
              <a:buSzPct val="100000"/>
              <a:buFont typeface="Arial"/>
              <a:buAutoNum type="arabicPeriod"/>
            </a:pPr>
            <a:r>
              <a:rPr sz="1600" b="0" i="0">
                <a:solidFill>
                  <a:srgbClr val="17211D"/>
                </a:solidFill>
                <a:latin typeface="Arial"/>
              </a:rPr>
              <a:t>The </a:t>
            </a:r>
            <a:r>
              <a:rPr sz="1600" b="1" i="0">
                <a:solidFill>
                  <a:srgbClr val="2F9A5E"/>
                </a:solidFill>
                <a:latin typeface="Arial"/>
              </a:rPr>
              <a:t>green box</a:t>
            </a:r>
            <a:r>
              <a:rPr sz="1600" b="0" i="0">
                <a:solidFill>
                  <a:srgbClr val="17211D"/>
                </a:solidFill>
                <a:latin typeface="Arial"/>
              </a:rPr>
              <a:t> beside the model is your furniture.</a:t>
            </a:r>
          </a:p>
          <a:p>
            <a:pPr marL="457200" indent="-457200">
              <a:lnSpc>
                <a:spcPct val="108000"/>
              </a:lnSpc>
              <a:spcAft>
                <a:spcPts val="1400"/>
              </a:spcAft>
              <a:buClr>
                <a:srgbClr val="166B50"/>
              </a:buClr>
              <a:buSzPct val="100000"/>
              <a:buFont typeface="Arial"/>
              <a:buAutoNum type="arabicPeriod"/>
            </a:pPr>
            <a:r>
              <a:rPr sz="1600" b="0" i="0">
                <a:solidFill>
                  <a:srgbClr val="17211D"/>
                </a:solidFill>
                <a:latin typeface="Arial"/>
              </a:rPr>
              <a:t>Set </a:t>
            </a:r>
            <a:r>
              <a:rPr sz="1600" b="1" i="0">
                <a:solidFill>
                  <a:srgbClr val="17211D"/>
                </a:solidFill>
                <a:latin typeface="Arial"/>
              </a:rPr>
              <a:t>Clearance</a:t>
            </a:r>
            <a:r>
              <a:rPr sz="1600" b="0" i="0">
                <a:solidFill>
                  <a:srgbClr val="17211D"/>
                </a:solidFill>
                <a:latin typeface="Arial"/>
              </a:rPr>
              <a:t> (</a:t>
            </a:r>
            <a:r>
              <a:rPr sz="1600" b="1" i="0">
                <a:solidFill>
                  <a:srgbClr val="17211D"/>
                </a:solidFill>
                <a:latin typeface="Courier New"/>
              </a:rPr>
              <a:t>0.1</a:t>
            </a:r>
            <a:r>
              <a:rPr sz="1600" b="0" i="0">
                <a:solidFill>
                  <a:srgbClr val="17211D"/>
                </a:solidFill>
                <a:latin typeface="Arial"/>
              </a:rPr>
              <a:t>) — a safety margin around every side.</a:t>
            </a:r>
          </a:p>
        </p:txBody>
      </p:sp>
      <p:sp>
        <p:nvSpPr>
          <p:cNvPr id="5" name="Rounded Rectangle 4"/>
          <p:cNvSpPr/>
          <p:nvPr/>
        </p:nvSpPr>
        <p:spPr>
          <a:xfrm>
            <a:off x="698500" y="4572000"/>
            <a:ext cx="4064000" cy="1079500"/>
          </a:xfrm>
          <a:prstGeom prst="roundRect">
            <a:avLst>
              <a:gd name="adj" fmla="val 14000"/>
            </a:avLst>
          </a:prstGeom>
          <a:solidFill>
            <a:srgbClr val="0E2F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77800" rIns="177800" tIns="101600" bIns="101600"/>
          <a:lstStyle/>
          <a:p>
            <a:pPr algn="l">
              <a:lnSpc>
                <a:spcPct val="110000"/>
              </a:lnSpc>
            </a:pPr>
            <a:r>
              <a:rPr sz="1400" b="0" i="0">
                <a:solidFill>
                  <a:srgbClr val="EAF5EE"/>
                </a:solidFill>
                <a:latin typeface="Arial"/>
              </a:rPr>
              <a:t>Furniture is one rigid box. Clearance </a:t>
            </a:r>
            <a:r>
              <a:rPr sz="1400" b="1" i="0">
                <a:solidFill>
                  <a:srgbClr val="D6EF5B"/>
                </a:solidFill>
                <a:latin typeface="Arial"/>
              </a:rPr>
              <a:t>grows the box</a:t>
            </a:r>
            <a:r>
              <a:rPr sz="1400" b="0" i="0">
                <a:solidFill>
                  <a:srgbClr val="EAF5EE"/>
                </a:solidFill>
                <a:latin typeface="Arial"/>
              </a:rPr>
              <a:t> in every direction before any collision check.</a:t>
            </a:r>
          </a:p>
        </p:txBody>
      </p:sp>
      <p:pic>
        <p:nvPicPr>
          <p:cNvPr id="6" name="Picture 5" descr="f_furniture.jpg"/>
          <p:cNvPicPr>
            <a:picLocks noChangeAspect="1"/>
          </p:cNvPicPr>
          <p:nvPr/>
        </p:nvPicPr>
        <p:blipFill>
          <a:blip r:embed="rId2"/>
          <a:stretch>
            <a:fillRect/>
          </a:stretch>
        </p:blipFill>
        <p:spPr>
          <a:xfrm>
            <a:off x="5080000" y="1841500"/>
            <a:ext cx="6413500" cy="4008438"/>
          </a:xfrm>
          <a:prstGeom prst="rect">
            <a:avLst/>
          </a:prstGeom>
          <a:ln w="12700">
            <a:solidFill>
              <a:srgbClr val="CFD8D1"/>
            </a:solidFill>
          </a:ln>
        </p:spPr>
      </p:pic>
      <p:pic>
        <p:nvPicPr>
          <p:cNvPr id="7" name="Picture 6" descr="f_furniture.jpg"/>
          <p:cNvPicPr>
            <a:picLocks noChangeAspect="1"/>
          </p:cNvPicPr>
          <p:nvPr/>
        </p:nvPicPr>
        <p:blipFill>
          <a:blip r:embed="rId2"/>
          <a:srcRect l="74074" r="463" t="38000" b="34593"/>
          <a:stretch>
            <a:fillRect/>
          </a:stretch>
        </p:blipFill>
        <p:spPr>
          <a:xfrm>
            <a:off x="9048750" y="4160837"/>
            <a:ext cx="2305050" cy="1549400"/>
          </a:xfrm>
          <a:prstGeom prst="rect">
            <a:avLst/>
          </a:prstGeom>
          <a:ln w="28575">
            <a:solidFill>
              <a:srgbClr val="166B50"/>
            </a:solidFill>
          </a:ln>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4F6F2"/>
        </a:solidFill>
        <a:effectLst/>
      </p:bgPr>
    </p:bg>
    <p:spTree>
      <p:nvGrpSpPr>
        <p:cNvPr id="1" name=""/>
        <p:cNvGrpSpPr/>
        <p:nvPr/>
      </p:nvGrpSpPr>
      <p:grpSpPr/>
      <p:sp>
        <p:nvSpPr>
          <p:cNvPr id="2" name="Rounded Rectangle 1"/>
          <p:cNvSpPr/>
          <p:nvPr/>
        </p:nvSpPr>
        <p:spPr>
          <a:xfrm>
            <a:off x="698500" y="533400"/>
            <a:ext cx="2298700" cy="292100"/>
          </a:xfrm>
          <a:prstGeom prst="roundRect">
            <a:avLst>
              <a:gd name="adj" fmla="val 50000"/>
            </a:avLst>
          </a:prstGeom>
          <a:solidFill>
            <a:srgbClr val="E3F2E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i="0" spc="150">
                <a:solidFill>
                  <a:srgbClr val="166B50"/>
                </a:solidFill>
                <a:latin typeface="Arial"/>
              </a:rPr>
              <a:t>HANDS-ON · STEP 4A</a:t>
            </a:r>
          </a:p>
        </p:txBody>
      </p:sp>
      <p:sp>
        <p:nvSpPr>
          <p:cNvPr id="3" name="TextBox 2"/>
          <p:cNvSpPr txBox="1"/>
          <p:nvPr/>
        </p:nvSpPr>
        <p:spPr>
          <a:xfrm>
            <a:off x="698500" y="952500"/>
            <a:ext cx="10795000" cy="825500"/>
          </a:xfrm>
          <a:prstGeom prst="rect">
            <a:avLst/>
          </a:prstGeom>
          <a:noFill/>
        </p:spPr>
        <p:txBody>
          <a:bodyPr wrap="square" lIns="0" rIns="0" tIns="0" bIns="0" anchor="t">
            <a:spAutoFit/>
          </a:bodyPr>
          <a:lstStyle/>
          <a:p>
            <a:pPr algn="l">
              <a:lnSpc>
                <a:spcPct val="100000"/>
              </a:lnSpc>
              <a:spcAft>
                <a:spcPts val="0"/>
              </a:spcAft>
            </a:pPr>
            <a:r>
              <a:rPr sz="3800" b="1" i="0">
                <a:solidFill>
                  <a:srgbClr val="17211D"/>
                </a:solidFill>
                <a:latin typeface="Arial"/>
              </a:rPr>
              <a:t>Try it yourself first</a:t>
            </a:r>
          </a:p>
        </p:txBody>
      </p:sp>
      <p:sp>
        <p:nvSpPr>
          <p:cNvPr id="4" name="TextBox 3"/>
          <p:cNvSpPr txBox="1"/>
          <p:nvPr/>
        </p:nvSpPr>
        <p:spPr>
          <a:xfrm>
            <a:off x="698500" y="2032000"/>
            <a:ext cx="4064000" cy="3175000"/>
          </a:xfrm>
          <a:prstGeom prst="rect">
            <a:avLst/>
          </a:prstGeom>
          <a:noFill/>
        </p:spPr>
        <p:txBody>
          <a:bodyPr wrap="square" lIns="0" rIns="0" tIns="0" bIns="0">
            <a:spAutoFit/>
          </a:bodyPr>
          <a:lstStyle/>
          <a:p>
            <a:pPr marL="457200" indent="-457200">
              <a:lnSpc>
                <a:spcPct val="108000"/>
              </a:lnSpc>
              <a:spcAft>
                <a:spcPts val="1400"/>
              </a:spcAft>
              <a:buClr>
                <a:srgbClr val="166B50"/>
              </a:buClr>
              <a:buSzPct val="100000"/>
              <a:buFont typeface="Arial"/>
              <a:buAutoNum type="arabicPeriod"/>
            </a:pPr>
            <a:r>
              <a:rPr sz="1600" b="1" i="0">
                <a:solidFill>
                  <a:srgbClr val="17211D"/>
                </a:solidFill>
                <a:latin typeface="Arial"/>
              </a:rPr>
              <a:t>Try manually</a:t>
            </a:r>
            <a:r>
              <a:rPr sz="1600" b="0" i="0">
                <a:solidFill>
                  <a:srgbClr val="17211D"/>
                </a:solidFill>
                <a:latin typeface="Arial"/>
              </a:rPr>
              <a:t> — the furniture starts outside the entrance.</a:t>
            </a:r>
          </a:p>
          <a:p>
            <a:pPr marL="457200" indent="-457200">
              <a:lnSpc>
                <a:spcPct val="108000"/>
              </a:lnSpc>
              <a:spcAft>
                <a:spcPts val="1400"/>
              </a:spcAft>
              <a:buClr>
                <a:srgbClr val="166B50"/>
              </a:buClr>
              <a:buSzPct val="100000"/>
              <a:buFont typeface="Arial"/>
              <a:buAutoNum type="arabicPeriod"/>
            </a:pPr>
            <a:r>
              <a:rPr sz="1600" b="0" i="0">
                <a:solidFill>
                  <a:srgbClr val="17211D"/>
                </a:solidFill>
                <a:latin typeface="Arial"/>
              </a:rPr>
              <a:t>Hold </a:t>
            </a:r>
            <a:r>
              <a:rPr sz="1600" b="1" i="0">
                <a:solidFill>
                  <a:srgbClr val="17211D"/>
                </a:solidFill>
                <a:latin typeface="Courier New"/>
              </a:rPr>
              <a:t>M</a:t>
            </a:r>
            <a:r>
              <a:rPr sz="1600" b="0" i="0">
                <a:solidFill>
                  <a:srgbClr val="17211D"/>
                </a:solidFill>
                <a:latin typeface="Arial"/>
              </a:rPr>
              <a:t> and drag. Sliders control </a:t>
            </a:r>
            <a:r>
              <a:rPr sz="1600" b="1" i="0">
                <a:solidFill>
                  <a:srgbClr val="17211D"/>
                </a:solidFill>
                <a:latin typeface="Arial"/>
              </a:rPr>
              <a:t>height</a:t>
            </a:r>
            <a:r>
              <a:rPr sz="1600" b="0" i="0">
                <a:solidFill>
                  <a:srgbClr val="17211D"/>
                </a:solidFill>
                <a:latin typeface="Arial"/>
              </a:rPr>
              <a:t>, </a:t>
            </a:r>
            <a:r>
              <a:rPr sz="1600" b="1" i="0">
                <a:solidFill>
                  <a:srgbClr val="17211D"/>
                </a:solidFill>
                <a:latin typeface="Arial"/>
              </a:rPr>
              <a:t>yaw</a:t>
            </a:r>
            <a:r>
              <a:rPr sz="1600" b="0" i="0">
                <a:solidFill>
                  <a:srgbClr val="17211D"/>
                </a:solidFill>
                <a:latin typeface="Arial"/>
              </a:rPr>
              <a:t>, </a:t>
            </a:r>
            <a:r>
              <a:rPr sz="1600" b="1" i="0">
                <a:solidFill>
                  <a:srgbClr val="17211D"/>
                </a:solidFill>
                <a:latin typeface="Arial"/>
              </a:rPr>
              <a:t>pitch</a:t>
            </a:r>
            <a:r>
              <a:rPr sz="1600" b="0" i="0">
                <a:solidFill>
                  <a:srgbClr val="17211D"/>
                </a:solidFill>
                <a:latin typeface="Arial"/>
              </a:rPr>
              <a:t>, </a:t>
            </a:r>
            <a:r>
              <a:rPr sz="1600" b="1" i="0">
                <a:solidFill>
                  <a:srgbClr val="17211D"/>
                </a:solidFill>
                <a:latin typeface="Arial"/>
              </a:rPr>
              <a:t>roll</a:t>
            </a:r>
            <a:r>
              <a:rPr sz="1600" b="0" i="0">
                <a:solidFill>
                  <a:srgbClr val="17211D"/>
                </a:solidFill>
                <a:latin typeface="Arial"/>
              </a:rPr>
              <a:t>.</a:t>
            </a:r>
          </a:p>
          <a:p>
            <a:pPr marL="457200" indent="-457200">
              <a:lnSpc>
                <a:spcPct val="108000"/>
              </a:lnSpc>
              <a:spcAft>
                <a:spcPts val="1400"/>
              </a:spcAft>
              <a:buClr>
                <a:srgbClr val="166B50"/>
              </a:buClr>
              <a:buSzPct val="100000"/>
              <a:buFont typeface="Arial"/>
              <a:buAutoNum type="arabicPeriod"/>
            </a:pPr>
            <a:r>
              <a:rPr sz="1600" b="0" i="0">
                <a:solidFill>
                  <a:srgbClr val="17211D"/>
                </a:solidFill>
                <a:latin typeface="Arial"/>
              </a:rPr>
              <a:t>Stuck? </a:t>
            </a:r>
            <a:r>
              <a:rPr sz="1600" b="1" i="0">
                <a:solidFill>
                  <a:srgbClr val="17211D"/>
                </a:solidFill>
                <a:latin typeface="Arial"/>
              </a:rPr>
              <a:t>Auto Pilot</a:t>
            </a:r>
            <a:r>
              <a:rPr sz="1600" b="0" i="0">
                <a:solidFill>
                  <a:srgbClr val="17211D"/>
                </a:solidFill>
                <a:latin typeface="Arial"/>
              </a:rPr>
              <a:t>: click a furniture edge, then a room edge to snap them parallel.</a:t>
            </a:r>
          </a:p>
        </p:txBody>
      </p:sp>
      <p:sp>
        <p:nvSpPr>
          <p:cNvPr id="5" name="TextBox 4"/>
          <p:cNvSpPr txBox="1"/>
          <p:nvPr/>
        </p:nvSpPr>
        <p:spPr>
          <a:xfrm>
            <a:off x="698500" y="4381500"/>
            <a:ext cx="4064000" cy="254000"/>
          </a:xfrm>
          <a:prstGeom prst="rect">
            <a:avLst/>
          </a:prstGeom>
          <a:noFill/>
        </p:spPr>
        <p:txBody>
          <a:bodyPr wrap="square" lIns="0" rIns="0" tIns="0" bIns="0" anchor="t">
            <a:spAutoFit/>
          </a:bodyPr>
          <a:lstStyle/>
          <a:p>
            <a:pPr algn="l">
              <a:lnSpc>
                <a:spcPct val="112000"/>
              </a:lnSpc>
              <a:spcAft>
                <a:spcPts val="0"/>
              </a:spcAft>
            </a:pPr>
            <a:r>
              <a:rPr sz="1250" b="1" i="0">
                <a:solidFill>
                  <a:srgbClr val="2F9A5E"/>
                </a:solidFill>
                <a:latin typeface="Arial"/>
              </a:rPr>
              <a:t>■ inside, legal</a:t>
            </a:r>
            <a:r>
              <a:rPr sz="1250" b="1" i="0">
                <a:solidFill>
                  <a:srgbClr val="B08A1E"/>
                </a:solidFill>
                <a:latin typeface="Arial"/>
              </a:rPr>
              <a:t>     ■ outside     </a:t>
            </a:r>
            <a:r>
              <a:rPr sz="1250" b="1" i="0">
                <a:solidFill>
                  <a:srgbClr val="D94D45"/>
                </a:solidFill>
                <a:latin typeface="Arial"/>
              </a:rPr>
              <a:t>■ collision</a:t>
            </a:r>
          </a:p>
        </p:txBody>
      </p:sp>
      <p:sp>
        <p:nvSpPr>
          <p:cNvPr id="6" name="Rounded Rectangle 5"/>
          <p:cNvSpPr/>
          <p:nvPr/>
        </p:nvSpPr>
        <p:spPr>
          <a:xfrm>
            <a:off x="698500" y="4762500"/>
            <a:ext cx="4064000" cy="889000"/>
          </a:xfrm>
          <a:prstGeom prst="roundRect">
            <a:avLst>
              <a:gd name="adj" fmla="val 14000"/>
            </a:avLst>
          </a:prstGeom>
          <a:solidFill>
            <a:srgbClr val="0E2F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77800" rIns="177800" tIns="101600" bIns="101600"/>
          <a:lstStyle/>
          <a:p>
            <a:pPr algn="l">
              <a:lnSpc>
                <a:spcPct val="110000"/>
              </a:lnSpc>
            </a:pPr>
            <a:r>
              <a:rPr sz="1400" b="1" i="0">
                <a:solidFill>
                  <a:srgbClr val="D6EF5B"/>
                </a:solidFill>
                <a:latin typeface="Arial"/>
              </a:rPr>
              <a:t>You win</a:t>
            </a:r>
            <a:r>
              <a:rPr sz="1400" b="0" i="0">
                <a:solidFill>
                  <a:srgbClr val="EAF5EE"/>
                </a:solidFill>
                <a:latin typeface="Arial"/>
              </a:rPr>
              <a:t> when the furniture passes completely through the exit — a pop-up tells you.</a:t>
            </a:r>
          </a:p>
        </p:txBody>
      </p:sp>
      <p:pic>
        <p:nvPicPr>
          <p:cNvPr id="7" name="Picture 6" descr="f_manual.jpg"/>
          <p:cNvPicPr>
            <a:picLocks noChangeAspect="1"/>
          </p:cNvPicPr>
          <p:nvPr/>
        </p:nvPicPr>
        <p:blipFill>
          <a:blip r:embed="rId2"/>
          <a:stretch>
            <a:fillRect/>
          </a:stretch>
        </p:blipFill>
        <p:spPr>
          <a:xfrm>
            <a:off x="5080000" y="1841500"/>
            <a:ext cx="6413500" cy="4008438"/>
          </a:xfrm>
          <a:prstGeom prst="rect">
            <a:avLst/>
          </a:prstGeom>
          <a:ln w="12700">
            <a:solidFill>
              <a:srgbClr val="CFD8D1"/>
            </a:solidFill>
          </a:ln>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4F6F2"/>
        </a:solidFill>
        <a:effectLst/>
      </p:bgPr>
    </p:bg>
    <p:spTree>
      <p:nvGrpSpPr>
        <p:cNvPr id="1" name=""/>
        <p:cNvGrpSpPr/>
        <p:nvPr/>
      </p:nvGrpSpPr>
      <p:grpSpPr/>
      <p:sp>
        <p:nvSpPr>
          <p:cNvPr id="2" name="Rounded Rectangle 1"/>
          <p:cNvSpPr/>
          <p:nvPr/>
        </p:nvSpPr>
        <p:spPr>
          <a:xfrm>
            <a:off x="698500" y="533400"/>
            <a:ext cx="2298700" cy="292100"/>
          </a:xfrm>
          <a:prstGeom prst="roundRect">
            <a:avLst>
              <a:gd name="adj" fmla="val 50000"/>
            </a:avLst>
          </a:prstGeom>
          <a:solidFill>
            <a:srgbClr val="E3F2E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i="0" spc="150">
                <a:solidFill>
                  <a:srgbClr val="166B50"/>
                </a:solidFill>
                <a:latin typeface="Arial"/>
              </a:rPr>
              <a:t>HANDS-ON · STEP 4B</a:t>
            </a:r>
          </a:p>
        </p:txBody>
      </p:sp>
      <p:sp>
        <p:nvSpPr>
          <p:cNvPr id="3" name="TextBox 2"/>
          <p:cNvSpPr txBox="1"/>
          <p:nvPr/>
        </p:nvSpPr>
        <p:spPr>
          <a:xfrm>
            <a:off x="698500" y="952500"/>
            <a:ext cx="10795000" cy="825500"/>
          </a:xfrm>
          <a:prstGeom prst="rect">
            <a:avLst/>
          </a:prstGeom>
          <a:noFill/>
        </p:spPr>
        <p:txBody>
          <a:bodyPr wrap="square" lIns="0" rIns="0" tIns="0" bIns="0" anchor="t">
            <a:spAutoFit/>
          </a:bodyPr>
          <a:lstStyle/>
          <a:p>
            <a:pPr algn="l">
              <a:lnSpc>
                <a:spcPct val="100000"/>
              </a:lnSpc>
              <a:spcAft>
                <a:spcPts val="0"/>
              </a:spcAft>
            </a:pPr>
            <a:r>
              <a:rPr sz="3800" b="1" i="0">
                <a:solidFill>
                  <a:srgbClr val="17211D"/>
                </a:solidFill>
                <a:latin typeface="Arial"/>
              </a:rPr>
              <a:t>Now let the solver try</a:t>
            </a:r>
          </a:p>
        </p:txBody>
      </p:sp>
      <p:sp>
        <p:nvSpPr>
          <p:cNvPr id="4" name="TextBox 3"/>
          <p:cNvSpPr txBox="1"/>
          <p:nvPr/>
        </p:nvSpPr>
        <p:spPr>
          <a:xfrm>
            <a:off x="698500" y="2032000"/>
            <a:ext cx="4064000" cy="3175000"/>
          </a:xfrm>
          <a:prstGeom prst="rect">
            <a:avLst/>
          </a:prstGeom>
          <a:noFill/>
        </p:spPr>
        <p:txBody>
          <a:bodyPr wrap="square" lIns="0" rIns="0" tIns="0" bIns="0">
            <a:spAutoFit/>
          </a:bodyPr>
          <a:lstStyle/>
          <a:p>
            <a:pPr marL="457200" indent="-457200">
              <a:lnSpc>
                <a:spcPct val="108000"/>
              </a:lnSpc>
              <a:spcAft>
                <a:spcPts val="1400"/>
              </a:spcAft>
              <a:buClr>
                <a:srgbClr val="166B50"/>
              </a:buClr>
              <a:buSzPct val="100000"/>
              <a:buFont typeface="Arial"/>
              <a:buAutoNum type="arabicPeriod"/>
            </a:pPr>
            <a:r>
              <a:rPr sz="1600" b="0" i="0">
                <a:solidFill>
                  <a:srgbClr val="17211D"/>
                </a:solidFill>
                <a:latin typeface="Arial"/>
              </a:rPr>
              <a:t>Pick </a:t>
            </a:r>
            <a:r>
              <a:rPr sz="1600" b="1" i="0">
                <a:solidFill>
                  <a:srgbClr val="17211D"/>
                </a:solidFill>
                <a:latin typeface="Arial"/>
              </a:rPr>
              <a:t>RRT-Connect</a:t>
            </a:r>
            <a:r>
              <a:rPr sz="1600" b="0" i="0">
                <a:solidFill>
                  <a:srgbClr val="17211D"/>
                </a:solidFill>
                <a:latin typeface="Arial"/>
              </a:rPr>
              <a:t> and press </a:t>
            </a:r>
            <a:r>
              <a:rPr sz="1600" b="1" i="0">
                <a:solidFill>
                  <a:srgbClr val="17211D"/>
                </a:solidFill>
                <a:latin typeface="Arial"/>
              </a:rPr>
              <a:t>Run selected solver</a:t>
            </a:r>
            <a:r>
              <a:rPr sz="1600" b="0" i="0">
                <a:solidFill>
                  <a:srgbClr val="17211D"/>
                </a:solidFill>
                <a:latin typeface="Arial"/>
              </a:rPr>
              <a:t>.</a:t>
            </a:r>
          </a:p>
          <a:p>
            <a:pPr marL="457200" indent="-457200">
              <a:lnSpc>
                <a:spcPct val="108000"/>
              </a:lnSpc>
              <a:spcAft>
                <a:spcPts val="1400"/>
              </a:spcAft>
              <a:buClr>
                <a:srgbClr val="166B50"/>
              </a:buClr>
              <a:buSzPct val="100000"/>
              <a:buFont typeface="Arial"/>
              <a:buAutoNum type="arabicPeriod"/>
            </a:pPr>
            <a:r>
              <a:rPr sz="1600" b="0" i="0">
                <a:solidFill>
                  <a:srgbClr val="17211D"/>
                </a:solidFill>
                <a:latin typeface="Arial"/>
              </a:rPr>
              <a:t>The planner searches for up to 150,000 steps.</a:t>
            </a:r>
          </a:p>
          <a:p>
            <a:pPr marL="457200" indent="-457200">
              <a:lnSpc>
                <a:spcPct val="108000"/>
              </a:lnSpc>
              <a:spcAft>
                <a:spcPts val="1400"/>
              </a:spcAft>
              <a:buClr>
                <a:srgbClr val="166B50"/>
              </a:buClr>
              <a:buSzPct val="100000"/>
              <a:buFont typeface="Arial"/>
              <a:buAutoNum type="arabicPeriod"/>
            </a:pPr>
            <a:r>
              <a:rPr sz="1600" b="0" i="0">
                <a:solidFill>
                  <a:srgbClr val="17211D"/>
                </a:solidFill>
                <a:latin typeface="Arial"/>
              </a:rPr>
              <a:t>The sofa </a:t>
            </a:r>
            <a:r>
              <a:rPr sz="1600" b="1" i="0">
                <a:solidFill>
                  <a:srgbClr val="17211D"/>
                </a:solidFill>
                <a:latin typeface="Courier New"/>
              </a:rPr>
              <a:t>2.5 · 1.2 · 1.2</a:t>
            </a:r>
            <a:r>
              <a:rPr sz="1600" b="0" i="0">
                <a:solidFill>
                  <a:srgbClr val="17211D"/>
                </a:solidFill>
                <a:latin typeface="Arial"/>
              </a:rPr>
              <a:t> gets: </a:t>
            </a:r>
            <a:r>
              <a:rPr sz="1600" b="1" i="0">
                <a:solidFill>
                  <a:srgbClr val="D94D45"/>
                </a:solidFill>
                <a:latin typeface="Arial"/>
              </a:rPr>
              <a:t>No route found</a:t>
            </a:r>
            <a:r>
              <a:rPr sz="1600" b="0" i="0">
                <a:solidFill>
                  <a:srgbClr val="17211D"/>
                </a:solidFill>
                <a:latin typeface="Arial"/>
              </a:rPr>
              <a:t>.</a:t>
            </a:r>
          </a:p>
        </p:txBody>
      </p:sp>
      <p:sp>
        <p:nvSpPr>
          <p:cNvPr id="5" name="Rounded Rectangle 4"/>
          <p:cNvSpPr/>
          <p:nvPr/>
        </p:nvSpPr>
        <p:spPr>
          <a:xfrm>
            <a:off x="698500" y="4381500"/>
            <a:ext cx="4064000" cy="1270000"/>
          </a:xfrm>
          <a:prstGeom prst="roundRect">
            <a:avLst>
              <a:gd name="adj" fmla="val 14000"/>
            </a:avLst>
          </a:prstGeom>
          <a:solidFill>
            <a:srgbClr val="3A1F1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77800" rIns="177800" tIns="101600" bIns="101600"/>
          <a:lstStyle/>
          <a:p>
            <a:pPr algn="l">
              <a:lnSpc>
                <a:spcPct val="110000"/>
              </a:lnSpc>
            </a:pPr>
            <a:r>
              <a:rPr sz="1400" b="1" i="0">
                <a:solidFill>
                  <a:srgbClr val="FFB4A8"/>
                </a:solidFill>
                <a:latin typeface="Arial"/>
              </a:rPr>
              <a:t>Careful:</a:t>
            </a:r>
            <a:r>
              <a:rPr sz="1400" b="0" i="0">
                <a:solidFill>
                  <a:srgbClr val="EAF5EE"/>
                </a:solidFill>
                <a:latin typeface="Arial"/>
              </a:rPr>
              <a:t> a random search can't prove it's impossible. "No route found" is strong evidence — not a guarantee. Try again, or change something.</a:t>
            </a:r>
          </a:p>
        </p:txBody>
      </p:sp>
      <p:pic>
        <p:nvPicPr>
          <p:cNvPr id="6" name="Picture 5" descr="f_solver_fail.jpg"/>
          <p:cNvPicPr>
            <a:picLocks noChangeAspect="1"/>
          </p:cNvPicPr>
          <p:nvPr/>
        </p:nvPicPr>
        <p:blipFill>
          <a:blip r:embed="rId2"/>
          <a:stretch>
            <a:fillRect/>
          </a:stretch>
        </p:blipFill>
        <p:spPr>
          <a:xfrm>
            <a:off x="5080000" y="1841500"/>
            <a:ext cx="6413500" cy="4008438"/>
          </a:xfrm>
          <a:prstGeom prst="rect">
            <a:avLst/>
          </a:prstGeom>
          <a:ln w="12700">
            <a:solidFill>
              <a:srgbClr val="CFD8D1"/>
            </a:solidFill>
          </a:ln>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4F6F2"/>
        </a:solidFill>
        <a:effectLst/>
      </p:bgPr>
    </p:bg>
    <p:spTree>
      <p:nvGrpSpPr>
        <p:cNvPr id="1" name=""/>
        <p:cNvGrpSpPr/>
        <p:nvPr/>
      </p:nvGrpSpPr>
      <p:grpSpPr/>
      <p:sp>
        <p:nvSpPr>
          <p:cNvPr id="2" name="Rounded Rectangle 1"/>
          <p:cNvSpPr/>
          <p:nvPr/>
        </p:nvSpPr>
        <p:spPr>
          <a:xfrm>
            <a:off x="698500" y="533400"/>
            <a:ext cx="2298700" cy="292100"/>
          </a:xfrm>
          <a:prstGeom prst="roundRect">
            <a:avLst>
              <a:gd name="adj" fmla="val 50000"/>
            </a:avLst>
          </a:prstGeom>
          <a:solidFill>
            <a:srgbClr val="E3F2E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i="0" spc="150">
                <a:solidFill>
                  <a:srgbClr val="166B50"/>
                </a:solidFill>
                <a:latin typeface="Arial"/>
              </a:rPr>
              <a:t>HANDS-ON · STEP 4B</a:t>
            </a:r>
          </a:p>
        </p:txBody>
      </p:sp>
      <p:sp>
        <p:nvSpPr>
          <p:cNvPr id="3" name="TextBox 2"/>
          <p:cNvSpPr txBox="1"/>
          <p:nvPr/>
        </p:nvSpPr>
        <p:spPr>
          <a:xfrm>
            <a:off x="698500" y="952500"/>
            <a:ext cx="10795000" cy="825500"/>
          </a:xfrm>
          <a:prstGeom prst="rect">
            <a:avLst/>
          </a:prstGeom>
          <a:noFill/>
        </p:spPr>
        <p:txBody>
          <a:bodyPr wrap="square" lIns="0" rIns="0" tIns="0" bIns="0" anchor="t">
            <a:spAutoFit/>
          </a:bodyPr>
          <a:lstStyle/>
          <a:p>
            <a:pPr algn="l">
              <a:lnSpc>
                <a:spcPct val="100000"/>
              </a:lnSpc>
              <a:spcAft>
                <a:spcPts val="0"/>
              </a:spcAft>
            </a:pPr>
            <a:r>
              <a:rPr sz="3800" b="1" i="0">
                <a:solidFill>
                  <a:srgbClr val="17211D"/>
                </a:solidFill>
                <a:latin typeface="Arial"/>
              </a:rPr>
              <a:t>A smaller piece: it fits!</a:t>
            </a:r>
          </a:p>
        </p:txBody>
      </p:sp>
      <p:sp>
        <p:nvSpPr>
          <p:cNvPr id="4" name="TextBox 3"/>
          <p:cNvSpPr txBox="1"/>
          <p:nvPr/>
        </p:nvSpPr>
        <p:spPr>
          <a:xfrm>
            <a:off x="698500" y="2032000"/>
            <a:ext cx="4064000" cy="3175000"/>
          </a:xfrm>
          <a:prstGeom prst="rect">
            <a:avLst/>
          </a:prstGeom>
          <a:noFill/>
        </p:spPr>
        <p:txBody>
          <a:bodyPr wrap="square" lIns="0" rIns="0" tIns="0" bIns="0">
            <a:spAutoFit/>
          </a:bodyPr>
          <a:lstStyle/>
          <a:p>
            <a:pPr marL="457200" indent="-457200">
              <a:lnSpc>
                <a:spcPct val="108000"/>
              </a:lnSpc>
              <a:spcAft>
                <a:spcPts val="1400"/>
              </a:spcAft>
              <a:buClr>
                <a:srgbClr val="166B50"/>
              </a:buClr>
              <a:buSzPct val="100000"/>
              <a:buFont typeface="Arial"/>
              <a:buAutoNum type="arabicPeriod"/>
            </a:pPr>
            <a:r>
              <a:rPr sz="1600" b="0" i="0">
                <a:solidFill>
                  <a:srgbClr val="17211D"/>
                </a:solidFill>
                <a:latin typeface="Arial"/>
              </a:rPr>
              <a:t>Click </a:t>
            </a:r>
            <a:r>
              <a:rPr sz="1600" b="1" i="0">
                <a:solidFill>
                  <a:srgbClr val="17211D"/>
                </a:solidFill>
                <a:latin typeface="Arial"/>
              </a:rPr>
              <a:t>Change furniture &amp; settings</a:t>
            </a:r>
            <a:r>
              <a:rPr sz="1600" b="0" i="0">
                <a:solidFill>
                  <a:srgbClr val="17211D"/>
                </a:solidFill>
                <a:latin typeface="Arial"/>
              </a:rPr>
              <a:t>, then set </a:t>
            </a:r>
            <a:r>
              <a:rPr sz="1600" b="1" i="0">
                <a:solidFill>
                  <a:srgbClr val="17211D"/>
                </a:solidFill>
                <a:latin typeface="Courier New"/>
              </a:rPr>
              <a:t>1.6 · 0.9 · 0.9</a:t>
            </a:r>
            <a:r>
              <a:rPr sz="1600" b="0" i="0">
                <a:solidFill>
                  <a:srgbClr val="17211D"/>
                </a:solidFill>
                <a:latin typeface="Arial"/>
              </a:rPr>
              <a:t>.</a:t>
            </a:r>
          </a:p>
          <a:p>
            <a:pPr marL="457200" indent="-457200">
              <a:lnSpc>
                <a:spcPct val="108000"/>
              </a:lnSpc>
              <a:spcAft>
                <a:spcPts val="1400"/>
              </a:spcAft>
              <a:buClr>
                <a:srgbClr val="166B50"/>
              </a:buClr>
              <a:buSzPct val="100000"/>
              <a:buFont typeface="Arial"/>
              <a:buAutoNum type="arabicPeriod"/>
            </a:pPr>
            <a:r>
              <a:rPr sz="1600" b="0" i="0">
                <a:solidFill>
                  <a:srgbClr val="17211D"/>
                </a:solidFill>
                <a:latin typeface="Arial"/>
              </a:rPr>
              <a:t>Run the solver again: </a:t>
            </a:r>
            <a:r>
              <a:rPr sz="1600" b="1" i="0">
                <a:solidFill>
                  <a:srgbClr val="2F9A5E"/>
                </a:solidFill>
                <a:latin typeface="Arial"/>
              </a:rPr>
              <a:t>It fits!</a:t>
            </a:r>
          </a:p>
          <a:p>
            <a:pPr marL="457200" indent="-457200">
              <a:lnSpc>
                <a:spcPct val="108000"/>
              </a:lnSpc>
              <a:spcAft>
                <a:spcPts val="1400"/>
              </a:spcAft>
              <a:buClr>
                <a:srgbClr val="166B50"/>
              </a:buClr>
              <a:buSzPct val="100000"/>
              <a:buFont typeface="Arial"/>
              <a:buAutoNum type="arabicPeriod"/>
            </a:pPr>
            <a:r>
              <a:rPr sz="1600" b="0" i="0">
                <a:solidFill>
                  <a:srgbClr val="17211D"/>
                </a:solidFill>
                <a:latin typeface="Arial"/>
              </a:rPr>
              <a:t>Scrub the timeline to watch the box climb the stairs.</a:t>
            </a:r>
          </a:p>
        </p:txBody>
      </p:sp>
      <p:sp>
        <p:nvSpPr>
          <p:cNvPr id="5" name="Rounded Rectangle 4"/>
          <p:cNvSpPr/>
          <p:nvPr/>
        </p:nvSpPr>
        <p:spPr>
          <a:xfrm>
            <a:off x="698500" y="4381500"/>
            <a:ext cx="4064000" cy="1270000"/>
          </a:xfrm>
          <a:prstGeom prst="roundRect">
            <a:avLst>
              <a:gd name="adj" fmla="val 14000"/>
            </a:avLst>
          </a:prstGeom>
          <a:solidFill>
            <a:srgbClr val="0E2F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77800" rIns="177800" tIns="101600" bIns="101600"/>
          <a:lstStyle/>
          <a:p>
            <a:pPr algn="l">
              <a:lnSpc>
                <a:spcPct val="110000"/>
              </a:lnSpc>
            </a:pPr>
            <a:r>
              <a:rPr sz="1400" b="0" i="0">
                <a:solidFill>
                  <a:srgbClr val="EAF5EE"/>
                </a:solidFill>
                <a:latin typeface="Arial"/>
              </a:rPr>
              <a:t>Same building, same solver — only the furniture changed. </a:t>
            </a:r>
            <a:r>
              <a:rPr sz="1400" b="1" i="0">
                <a:solidFill>
                  <a:srgbClr val="D6EF5B"/>
                </a:solidFill>
                <a:latin typeface="Arial"/>
              </a:rPr>
              <a:t>106 collision-free frames</a:t>
            </a:r>
            <a:r>
              <a:rPr sz="1400" b="0" i="0">
                <a:solidFill>
                  <a:srgbClr val="EAF5EE"/>
                </a:solidFill>
                <a:latin typeface="Arial"/>
              </a:rPr>
              <a:t> from entrance to exit.</a:t>
            </a:r>
          </a:p>
        </p:txBody>
      </p:sp>
      <p:pic>
        <p:nvPicPr>
          <p:cNvPr id="6" name="Picture 5" descr="f_route_mid.jpg"/>
          <p:cNvPicPr>
            <a:picLocks noChangeAspect="1"/>
          </p:cNvPicPr>
          <p:nvPr/>
        </p:nvPicPr>
        <p:blipFill>
          <a:blip r:embed="rId2"/>
          <a:stretch>
            <a:fillRect/>
          </a:stretch>
        </p:blipFill>
        <p:spPr>
          <a:xfrm>
            <a:off x="5080000" y="1841500"/>
            <a:ext cx="6413500" cy="4008438"/>
          </a:xfrm>
          <a:prstGeom prst="rect">
            <a:avLst/>
          </a:prstGeom>
          <a:ln w="12700">
            <a:solidFill>
              <a:srgbClr val="CFD8D1"/>
            </a:solidFill>
          </a:ln>
        </p:spPr>
      </p:pic>
      <p:pic>
        <p:nvPicPr>
          <p:cNvPr id="7" name="Picture 6" descr="f_solver_ok.jpg"/>
          <p:cNvPicPr>
            <a:picLocks noChangeAspect="1"/>
          </p:cNvPicPr>
          <p:nvPr/>
        </p:nvPicPr>
        <p:blipFill>
          <a:blip r:embed="rId3"/>
          <a:srcRect l="34722" r="34722" t="25926" b="28148"/>
          <a:stretch>
            <a:fillRect/>
          </a:stretch>
        </p:blipFill>
        <p:spPr>
          <a:xfrm>
            <a:off x="8750300" y="3271837"/>
            <a:ext cx="2603500" cy="2438400"/>
          </a:xfrm>
          <a:prstGeom prst="rect">
            <a:avLst/>
          </a:prstGeom>
          <a:ln w="28575">
            <a:solidFill>
              <a:srgbClr val="166B50"/>
            </a:solidFill>
          </a:ln>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gradFill rotWithShape="1">
          <a:gsLst>
            <a:gs pos="0">
              <a:srgbClr val="1B5A45"/>
            </a:gs>
            <a:gs pos="100000">
              <a:srgbClr val="08140F"/>
            </a:gs>
          </a:gsLst>
          <a:lin ang="19500000" scaled="0"/>
        </a:gradFill>
        <a:effectLst/>
      </p:bgPr>
    </p:bg>
    <p:spTree>
      <p:nvGrpSpPr>
        <p:cNvPr id="1" name=""/>
        <p:cNvGrpSpPr/>
        <p:nvPr/>
      </p:nvGrpSpPr>
      <p:grpSpPr>
        <a:xfrm>
          <a:off x="0" y="0"/>
          <a:ext cx="0" cy="0"/>
          <a:chOff x="0" y="0"/>
          <a:chExt cx="0" cy="0"/>
        </a:xfrm>
      </p:grpSpPr>
      <p:sp>
        <p:nvSpPr>
          <p:cNvPr id="2" name="Rounded Rectangle 1"/>
          <p:cNvSpPr/>
          <p:nvPr/>
        </p:nvSpPr>
        <p:spPr>
          <a:xfrm>
            <a:off x="698500" y="533400"/>
            <a:ext cx="1866900" cy="292100"/>
          </a:xfrm>
          <a:prstGeom prst="roundRect">
            <a:avLst>
              <a:gd name="adj" fmla="val 50000"/>
            </a:avLst>
          </a:prstGeom>
          <a:solidFill>
            <a:srgbClr val="2F4A3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100" b="1" i="0" spc="150">
                <a:solidFill>
                  <a:srgbClr val="D6EF5B"/>
                </a:solidFill>
                <a:latin typeface="Arial"/>
              </a:rPr>
              <a:t>UNDER THE HOOD</a:t>
            </a:r>
          </a:p>
        </p:txBody>
      </p:sp>
      <p:sp>
        <p:nvSpPr>
          <p:cNvPr id="3" name="TextBox 2"/>
          <p:cNvSpPr txBox="1"/>
          <p:nvPr/>
        </p:nvSpPr>
        <p:spPr>
          <a:xfrm>
            <a:off x="698500" y="1587500"/>
            <a:ext cx="10795000" cy="2339102"/>
          </a:xfrm>
          <a:prstGeom prst="rect">
            <a:avLst/>
          </a:prstGeom>
          <a:noFill/>
        </p:spPr>
        <p:txBody>
          <a:bodyPr wrap="square" lIns="0" tIns="0" rIns="0" bIns="0" anchor="t">
            <a:spAutoFit/>
          </a:bodyPr>
          <a:lstStyle/>
          <a:p>
            <a:pPr algn="l">
              <a:lnSpc>
                <a:spcPct val="95000"/>
              </a:lnSpc>
              <a:spcAft>
                <a:spcPts val="0"/>
              </a:spcAft>
            </a:pPr>
            <a:r>
              <a:rPr sz="8000" b="1" i="0" dirty="0">
                <a:solidFill>
                  <a:srgbClr val="EEF5F0"/>
                </a:solidFill>
                <a:latin typeface="Arial"/>
              </a:rPr>
              <a:t>How does it</a:t>
            </a:r>
          </a:p>
          <a:p>
            <a:pPr algn="l">
              <a:lnSpc>
                <a:spcPct val="95000"/>
              </a:lnSpc>
              <a:spcAft>
                <a:spcPts val="0"/>
              </a:spcAft>
            </a:pPr>
            <a:r>
              <a:rPr sz="8000" b="1" i="0" dirty="0">
                <a:solidFill>
                  <a:srgbClr val="D6EF5B"/>
                </a:solidFill>
                <a:latin typeface="Arial"/>
              </a:rPr>
              <a:t>actually </a:t>
            </a:r>
            <a:r>
              <a:rPr lang="en-US" sz="8000" b="1" dirty="0">
                <a:solidFill>
                  <a:srgbClr val="D6EF5B"/>
                </a:solidFill>
                <a:latin typeface="Arial"/>
              </a:rPr>
              <a:t>work</a:t>
            </a:r>
            <a:r>
              <a:rPr sz="8000" b="1" i="0" dirty="0">
                <a:solidFill>
                  <a:srgbClr val="D6EF5B"/>
                </a:solidFill>
                <a:latin typeface="Arial"/>
              </a:rPr>
              <a:t>?</a:t>
            </a:r>
          </a:p>
        </p:txBody>
      </p:sp>
      <p:sp>
        <p:nvSpPr>
          <p:cNvPr id="4" name="Rounded Rectangle 3"/>
          <p:cNvSpPr/>
          <p:nvPr/>
        </p:nvSpPr>
        <p:spPr>
          <a:xfrm>
            <a:off x="698500" y="4318000"/>
            <a:ext cx="3429000" cy="1397000"/>
          </a:xfrm>
          <a:prstGeom prst="roundRect">
            <a:avLst>
              <a:gd name="adj" fmla="val 7000"/>
            </a:avLst>
          </a:prstGeom>
          <a:solidFill>
            <a:srgbClr val="27483C"/>
          </a:solidFill>
          <a:ln w="12700">
            <a:solidFill>
              <a:srgbClr val="3E5E5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939800" y="4603750"/>
            <a:ext cx="2921000" cy="317500"/>
          </a:xfrm>
          <a:prstGeom prst="rect">
            <a:avLst/>
          </a:prstGeom>
          <a:noFill/>
        </p:spPr>
        <p:txBody>
          <a:bodyPr wrap="square" lIns="0" tIns="0" rIns="0" bIns="0" anchor="t">
            <a:spAutoFit/>
          </a:bodyPr>
          <a:lstStyle/>
          <a:p>
            <a:pPr algn="l">
              <a:lnSpc>
                <a:spcPct val="112000"/>
              </a:lnSpc>
              <a:spcAft>
                <a:spcPts val="0"/>
              </a:spcAft>
            </a:pPr>
            <a:r>
              <a:rPr sz="2200" b="1" i="0">
                <a:solidFill>
                  <a:srgbClr val="D6EF5B"/>
                </a:solidFill>
                <a:latin typeface="Arial"/>
              </a:rPr>
              <a:t>1 · Pose</a:t>
            </a:r>
          </a:p>
        </p:txBody>
      </p:sp>
      <p:sp>
        <p:nvSpPr>
          <p:cNvPr id="6" name="TextBox 5"/>
          <p:cNvSpPr txBox="1"/>
          <p:nvPr/>
        </p:nvSpPr>
        <p:spPr>
          <a:xfrm>
            <a:off x="939800" y="5080000"/>
            <a:ext cx="2921000" cy="508000"/>
          </a:xfrm>
          <a:prstGeom prst="rect">
            <a:avLst/>
          </a:prstGeom>
          <a:noFill/>
        </p:spPr>
        <p:txBody>
          <a:bodyPr wrap="square" lIns="0" tIns="0" rIns="0" bIns="0" anchor="t">
            <a:spAutoFit/>
          </a:bodyPr>
          <a:lstStyle/>
          <a:p>
            <a:pPr algn="l">
              <a:lnSpc>
                <a:spcPct val="112000"/>
              </a:lnSpc>
              <a:spcAft>
                <a:spcPts val="0"/>
              </a:spcAft>
            </a:pPr>
            <a:r>
              <a:rPr sz="1700" b="0" i="0">
                <a:solidFill>
                  <a:srgbClr val="C9DAD1"/>
                </a:solidFill>
                <a:latin typeface="Arial"/>
              </a:rPr>
              <a:t>How is a position stored?</a:t>
            </a:r>
          </a:p>
        </p:txBody>
      </p:sp>
      <p:sp>
        <p:nvSpPr>
          <p:cNvPr id="7" name="Rounded Rectangle 6"/>
          <p:cNvSpPr/>
          <p:nvPr/>
        </p:nvSpPr>
        <p:spPr>
          <a:xfrm>
            <a:off x="4381500" y="4318000"/>
            <a:ext cx="3429000" cy="1397000"/>
          </a:xfrm>
          <a:prstGeom prst="roundRect">
            <a:avLst>
              <a:gd name="adj" fmla="val 7000"/>
            </a:avLst>
          </a:prstGeom>
          <a:solidFill>
            <a:srgbClr val="27483C"/>
          </a:solidFill>
          <a:ln w="12700">
            <a:solidFill>
              <a:srgbClr val="3E5E5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622800" y="4603750"/>
            <a:ext cx="2921000" cy="317500"/>
          </a:xfrm>
          <a:prstGeom prst="rect">
            <a:avLst/>
          </a:prstGeom>
          <a:noFill/>
        </p:spPr>
        <p:txBody>
          <a:bodyPr wrap="square" lIns="0" tIns="0" rIns="0" bIns="0" anchor="t">
            <a:spAutoFit/>
          </a:bodyPr>
          <a:lstStyle/>
          <a:p>
            <a:pPr algn="l">
              <a:lnSpc>
                <a:spcPct val="112000"/>
              </a:lnSpc>
              <a:spcAft>
                <a:spcPts val="0"/>
              </a:spcAft>
            </a:pPr>
            <a:r>
              <a:rPr sz="2200" b="1" i="0">
                <a:solidFill>
                  <a:srgbClr val="D6EF5B"/>
                </a:solidFill>
                <a:latin typeface="Arial"/>
              </a:rPr>
              <a:t>2 · Collision</a:t>
            </a:r>
          </a:p>
        </p:txBody>
      </p:sp>
      <p:sp>
        <p:nvSpPr>
          <p:cNvPr id="9" name="TextBox 8"/>
          <p:cNvSpPr txBox="1"/>
          <p:nvPr/>
        </p:nvSpPr>
        <p:spPr>
          <a:xfrm>
            <a:off x="4622800" y="5080000"/>
            <a:ext cx="2921000" cy="508000"/>
          </a:xfrm>
          <a:prstGeom prst="rect">
            <a:avLst/>
          </a:prstGeom>
          <a:noFill/>
        </p:spPr>
        <p:txBody>
          <a:bodyPr wrap="square" lIns="0" tIns="0" rIns="0" bIns="0" anchor="t">
            <a:spAutoFit/>
          </a:bodyPr>
          <a:lstStyle/>
          <a:p>
            <a:pPr algn="l">
              <a:lnSpc>
                <a:spcPct val="112000"/>
              </a:lnSpc>
              <a:spcAft>
                <a:spcPts val="0"/>
              </a:spcAft>
            </a:pPr>
            <a:r>
              <a:rPr sz="1700" b="0" i="0">
                <a:solidFill>
                  <a:srgbClr val="C9DAD1"/>
                </a:solidFill>
                <a:latin typeface="Arial"/>
              </a:rPr>
              <a:t>How do we know it's legal?</a:t>
            </a:r>
          </a:p>
        </p:txBody>
      </p:sp>
      <p:sp>
        <p:nvSpPr>
          <p:cNvPr id="10" name="Rounded Rectangle 9"/>
          <p:cNvSpPr/>
          <p:nvPr/>
        </p:nvSpPr>
        <p:spPr>
          <a:xfrm>
            <a:off x="8064500" y="4318000"/>
            <a:ext cx="3429000" cy="1397000"/>
          </a:xfrm>
          <a:prstGeom prst="roundRect">
            <a:avLst>
              <a:gd name="adj" fmla="val 7000"/>
            </a:avLst>
          </a:prstGeom>
          <a:solidFill>
            <a:srgbClr val="27483C"/>
          </a:solidFill>
          <a:ln w="12700">
            <a:solidFill>
              <a:srgbClr val="3E5E5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8305800" y="4603750"/>
            <a:ext cx="2921000" cy="317500"/>
          </a:xfrm>
          <a:prstGeom prst="rect">
            <a:avLst/>
          </a:prstGeom>
          <a:noFill/>
        </p:spPr>
        <p:txBody>
          <a:bodyPr wrap="square" lIns="0" tIns="0" rIns="0" bIns="0" anchor="t">
            <a:spAutoFit/>
          </a:bodyPr>
          <a:lstStyle/>
          <a:p>
            <a:pPr algn="l">
              <a:lnSpc>
                <a:spcPct val="112000"/>
              </a:lnSpc>
              <a:spcAft>
                <a:spcPts val="0"/>
              </a:spcAft>
            </a:pPr>
            <a:r>
              <a:rPr sz="2200" b="1" i="0">
                <a:solidFill>
                  <a:srgbClr val="D6EF5B"/>
                </a:solidFill>
                <a:latin typeface="Arial"/>
              </a:rPr>
              <a:t>3 · Search</a:t>
            </a:r>
          </a:p>
        </p:txBody>
      </p:sp>
      <p:sp>
        <p:nvSpPr>
          <p:cNvPr id="12" name="TextBox 11"/>
          <p:cNvSpPr txBox="1"/>
          <p:nvPr/>
        </p:nvSpPr>
        <p:spPr>
          <a:xfrm>
            <a:off x="8305800" y="5080000"/>
            <a:ext cx="2921000" cy="508000"/>
          </a:xfrm>
          <a:prstGeom prst="rect">
            <a:avLst/>
          </a:prstGeom>
          <a:noFill/>
        </p:spPr>
        <p:txBody>
          <a:bodyPr wrap="square" lIns="0" tIns="0" rIns="0" bIns="0" anchor="t">
            <a:spAutoFit/>
          </a:bodyPr>
          <a:lstStyle/>
          <a:p>
            <a:pPr algn="l">
              <a:lnSpc>
                <a:spcPct val="112000"/>
              </a:lnSpc>
              <a:spcAft>
                <a:spcPts val="0"/>
              </a:spcAft>
            </a:pPr>
            <a:r>
              <a:rPr sz="1700" b="0" i="0">
                <a:solidFill>
                  <a:srgbClr val="C9DAD1"/>
                </a:solidFill>
                <a:latin typeface="Arial"/>
              </a:rPr>
              <a:t>How do we find a path?</a:t>
            </a:r>
          </a:p>
        </p:txBody>
      </p:sp>
      <p:pic>
        <p:nvPicPr>
          <p:cNvPr id="21" name="Audio 20">
            <a:extLst>
              <a:ext uri="{FF2B5EF4-FFF2-40B4-BE49-F238E27FC236}">
                <a16:creationId xmlns:a16="http://schemas.microsoft.com/office/drawing/2014/main" id="{7D960516-4E07-9F1E-A81A-A06441009C9C}"/>
              </a:ext>
            </a:extLst>
          </p:cNvPr>
          <p:cNvPicPr>
            <a:picLocks noChangeAspect="1"/>
          </p:cNvPicPr>
          <p:nvPr>
            <a:audioFile r:link="rId2"/>
            <p:extLst>
              <p:ext uri="{DAA4B4D4-6D71-4841-9C94-3DE7FCFB9230}">
                <p14:media xmlns:p14="http://schemas.microsoft.com/office/powerpoint/2010/main" r:embed="rId1"/>
              </p:ext>
            </p:extLst>
          </p:nvPr>
        </p:nvPicPr>
        <p:blipFill>
          <a:blip r:embed="rId5"/>
          <a:stretch>
            <a:fillRect/>
          </a:stretch>
        </p:blipFill>
        <p:spPr>
          <a:xfrm>
            <a:off x="11226800" y="5892800"/>
            <a:ext cx="812800" cy="812800"/>
          </a:xfrm>
          <a:prstGeom prst="rect">
            <a:avLst/>
          </a:prstGeom>
        </p:spPr>
      </p:pic>
    </p:spTree>
  </p:cSld>
  <p:clrMapOvr>
    <a:masterClrMapping/>
  </p:clrMapOvr>
  <mc:AlternateContent xmlns:mc="http://schemas.openxmlformats.org/markup-compatibility/2006" xmlns:p14="http://schemas.microsoft.com/office/powerpoint/2010/main">
    <mc:Choice Requires="p14">
      <p:transition spd="slow" p14:dur="2000" advTm="16446"/>
    </mc:Choice>
    <mc:Fallback xmlns="">
      <p:transition spd="slow" advTm="16446"/>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1" fill="hold"/>
                                        <p:tgtEl>
                                          <p:spTgt spid="21"/>
                                        </p:tgtEl>
                                      </p:cBhvr>
                                    </p:cmd>
                                  </p:childTnLst>
                                </p:cTn>
                              </p:par>
                            </p:childTnLst>
                          </p:cTn>
                        </p:par>
                      </p:childTnLst>
                    </p:cTn>
                  </p:par>
                </p:childTnLst>
              </p:cTn>
              <p:prevCondLst>
                <p:cond evt="onPrev" delay="0">
                  <p:tgtEl>
                    <p:sldTgt/>
                  </p:tgtEl>
                </p:cond>
              </p:prevCondLst>
              <p:nextCondLst>
                <p:cond evt="onNext" delay="0">
                  <p:tgtEl>
                    <p:sldTgt/>
                  </p:tgtEl>
                </p:cond>
              </p:nextCondLst>
            </p:seq>
            <p:audio isNarration="1">
              <p:cMediaNode vol="80000" showWhenStopped="0">
                <p:cTn id="7" fill="hold" display="0">
                  <p:stCondLst>
                    <p:cond delay="indefinite"/>
                  </p:stCondLst>
                  <p:endCondLst>
                    <p:cond evt="onStopAudio" delay="0">
                      <p:tgtEl>
                        <p:sldTgt/>
                      </p:tgtEl>
                    </p:cond>
                  </p:endCondLst>
                </p:cTn>
                <p:tgtEl>
                  <p:spTgt spid="21"/>
                </p:tgtEl>
              </p:cMediaNode>
            </p:audio>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4F6F2"/>
        </a:solidFill>
        <a:effectLst/>
      </p:bgPr>
    </p:bg>
    <p:spTree>
      <p:nvGrpSpPr>
        <p:cNvPr id="1" name=""/>
        <p:cNvGrpSpPr/>
        <p:nvPr/>
      </p:nvGrpSpPr>
      <p:grpSpPr>
        <a:xfrm>
          <a:off x="0" y="0"/>
          <a:ext cx="0" cy="0"/>
          <a:chOff x="0" y="0"/>
          <a:chExt cx="0" cy="0"/>
        </a:xfrm>
      </p:grpSpPr>
      <p:sp>
        <p:nvSpPr>
          <p:cNvPr id="2" name="Rounded Rectangle 1"/>
          <p:cNvSpPr/>
          <p:nvPr/>
        </p:nvSpPr>
        <p:spPr>
          <a:xfrm>
            <a:off x="698500" y="533400"/>
            <a:ext cx="1758949" cy="292100"/>
          </a:xfrm>
          <a:prstGeom prst="roundRect">
            <a:avLst>
              <a:gd name="adj" fmla="val 50000"/>
            </a:avLst>
          </a:prstGeom>
          <a:solidFill>
            <a:srgbClr val="0E2F26"/>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100" b="1" i="0" spc="150">
                <a:solidFill>
                  <a:srgbClr val="D6EF5B"/>
                </a:solidFill>
                <a:latin typeface="Arial"/>
              </a:rPr>
              <a:t>TECHNIQUE · 1</a:t>
            </a:r>
          </a:p>
        </p:txBody>
      </p:sp>
      <p:sp>
        <p:nvSpPr>
          <p:cNvPr id="3" name="TextBox 2"/>
          <p:cNvSpPr txBox="1"/>
          <p:nvPr/>
        </p:nvSpPr>
        <p:spPr>
          <a:xfrm>
            <a:off x="698500" y="952500"/>
            <a:ext cx="10795000" cy="825500"/>
          </a:xfrm>
          <a:prstGeom prst="rect">
            <a:avLst/>
          </a:prstGeom>
          <a:noFill/>
        </p:spPr>
        <p:txBody>
          <a:bodyPr wrap="square" lIns="0" tIns="0" rIns="0" bIns="0" anchor="t">
            <a:spAutoFit/>
          </a:bodyPr>
          <a:lstStyle/>
          <a:p>
            <a:pPr algn="l">
              <a:lnSpc>
                <a:spcPct val="100000"/>
              </a:lnSpc>
              <a:spcAft>
                <a:spcPts val="0"/>
              </a:spcAft>
            </a:pPr>
            <a:r>
              <a:rPr sz="3800" b="1" i="0">
                <a:solidFill>
                  <a:srgbClr val="17211D"/>
                </a:solidFill>
                <a:latin typeface="Arial"/>
              </a:rPr>
              <a:t>A position is </a:t>
            </a:r>
            <a:r>
              <a:rPr sz="3800" b="1" i="0">
                <a:solidFill>
                  <a:srgbClr val="166B50"/>
                </a:solidFill>
                <a:latin typeface="Arial"/>
              </a:rPr>
              <a:t>six numbers</a:t>
            </a:r>
          </a:p>
        </p:txBody>
      </p:sp>
      <p:sp>
        <p:nvSpPr>
          <p:cNvPr id="4" name="Rounded Rectangle 3"/>
          <p:cNvSpPr/>
          <p:nvPr/>
        </p:nvSpPr>
        <p:spPr>
          <a:xfrm>
            <a:off x="698500" y="2095500"/>
            <a:ext cx="4445000" cy="1270000"/>
          </a:xfrm>
          <a:prstGeom prst="roundRect">
            <a:avLst>
              <a:gd name="adj" fmla="val 8000"/>
            </a:avLst>
          </a:prstGeom>
          <a:solidFill>
            <a:srgbClr val="0F1C17"/>
          </a:solidFill>
          <a:ln>
            <a:noFill/>
          </a:ln>
          <a:effectLst/>
        </p:spPr>
        <p:style>
          <a:lnRef idx="1">
            <a:schemeClr val="accent1"/>
          </a:lnRef>
          <a:fillRef idx="3">
            <a:schemeClr val="accent1"/>
          </a:fillRef>
          <a:effectRef idx="2">
            <a:schemeClr val="accent1"/>
          </a:effectRef>
          <a:fontRef idx="minor">
            <a:schemeClr val="lt1"/>
          </a:fontRef>
        </p:style>
        <p:txBody>
          <a:bodyPr wrap="square" lIns="279400" rtlCol="0" anchor="ctr"/>
          <a:lstStyle/>
          <a:p>
            <a:pPr algn="l"/>
            <a:r>
              <a:rPr sz="2000" b="0" i="0">
                <a:solidFill>
                  <a:srgbClr val="6F8F80"/>
                </a:solidFill>
                <a:latin typeface="Courier New"/>
              </a:rPr>
              <a:t>// furniture pose</a:t>
            </a:r>
          </a:p>
          <a:p>
            <a:pPr algn="l"/>
            <a:r>
              <a:rPr sz="2000" b="0" i="0">
                <a:solidFill>
                  <a:srgbClr val="D7EFE2"/>
                </a:solidFill>
                <a:latin typeface="Courier New"/>
              </a:rPr>
              <a:t>{ x, y, z,</a:t>
            </a:r>
          </a:p>
          <a:p>
            <a:pPr algn="l"/>
            <a:r>
              <a:rPr sz="2000" b="0" i="0">
                <a:solidFill>
                  <a:srgbClr val="D7EFE2"/>
                </a:solidFill>
                <a:latin typeface="Courier New"/>
              </a:rPr>
              <a:t>  yaw, pitch, roll }</a:t>
            </a:r>
          </a:p>
        </p:txBody>
      </p:sp>
      <p:sp>
        <p:nvSpPr>
          <p:cNvPr id="5" name="TextBox 4"/>
          <p:cNvSpPr txBox="1"/>
          <p:nvPr/>
        </p:nvSpPr>
        <p:spPr>
          <a:xfrm>
            <a:off x="698500" y="3683000"/>
            <a:ext cx="4826000" cy="2095500"/>
          </a:xfrm>
          <a:prstGeom prst="rect">
            <a:avLst/>
          </a:prstGeom>
          <a:noFill/>
        </p:spPr>
        <p:txBody>
          <a:bodyPr wrap="square" lIns="0" tIns="0" rIns="0" bIns="0">
            <a:spAutoFit/>
          </a:bodyPr>
          <a:lstStyle/>
          <a:p>
            <a:pPr marL="457200" indent="-457200">
              <a:lnSpc>
                <a:spcPct val="108000"/>
              </a:lnSpc>
              <a:spcAft>
                <a:spcPts val="1400"/>
              </a:spcAft>
              <a:buClr>
                <a:srgbClr val="166B50"/>
              </a:buClr>
              <a:buSzPct val="100000"/>
              <a:buFont typeface="Arial"/>
              <a:buChar char="■"/>
            </a:pPr>
            <a:r>
              <a:rPr sz="1600" b="0" i="0" dirty="0">
                <a:solidFill>
                  <a:srgbClr val="17211D"/>
                </a:solidFill>
                <a:latin typeface="Arial"/>
              </a:rPr>
              <a:t>3 to translate, 3 to rotate</a:t>
            </a:r>
          </a:p>
          <a:p>
            <a:pPr marL="457200" indent="-457200">
              <a:lnSpc>
                <a:spcPct val="108000"/>
              </a:lnSpc>
              <a:spcAft>
                <a:spcPts val="1400"/>
              </a:spcAft>
              <a:buClr>
                <a:srgbClr val="166B50"/>
              </a:buClr>
              <a:buSzPct val="100000"/>
              <a:buFont typeface="Arial"/>
              <a:buChar char="■"/>
            </a:pPr>
            <a:r>
              <a:rPr sz="1600" b="0" i="0" dirty="0">
                <a:solidFill>
                  <a:srgbClr val="17211D"/>
                </a:solidFill>
                <a:latin typeface="Arial"/>
              </a:rPr>
              <a:t>Rotations use Euler order </a:t>
            </a:r>
            <a:r>
              <a:rPr sz="1600" b="1" i="0" dirty="0">
                <a:solidFill>
                  <a:srgbClr val="17211D"/>
                </a:solidFill>
                <a:latin typeface="Courier New"/>
              </a:rPr>
              <a:t>ZYX</a:t>
            </a:r>
            <a:r>
              <a:rPr sz="1600" b="0" i="0" dirty="0">
                <a:solidFill>
                  <a:srgbClr val="17211D"/>
                </a:solidFill>
                <a:latin typeface="Arial"/>
              </a:rPr>
              <a:t>, converted to a </a:t>
            </a:r>
            <a:r>
              <a:rPr sz="1600" b="1" i="0" dirty="0">
                <a:solidFill>
                  <a:srgbClr val="17211D"/>
                </a:solidFill>
                <a:latin typeface="Arial"/>
              </a:rPr>
              <a:t>quaternion</a:t>
            </a:r>
          </a:p>
          <a:p>
            <a:pPr marL="457200" indent="-457200">
              <a:lnSpc>
                <a:spcPct val="108000"/>
              </a:lnSpc>
              <a:spcAft>
                <a:spcPts val="1400"/>
              </a:spcAft>
              <a:buClr>
                <a:srgbClr val="166B50"/>
              </a:buClr>
              <a:buSzPct val="100000"/>
              <a:buFont typeface="Arial"/>
              <a:buChar char="■"/>
            </a:pPr>
            <a:r>
              <a:rPr sz="1600" b="1" i="0" dirty="0">
                <a:solidFill>
                  <a:srgbClr val="17211D"/>
                </a:solidFill>
                <a:latin typeface="Arial"/>
              </a:rPr>
              <a:t>Allow roll sampling</a:t>
            </a:r>
            <a:r>
              <a:rPr sz="1600" b="0" i="0" dirty="0">
                <a:solidFill>
                  <a:srgbClr val="17211D"/>
                </a:solidFill>
                <a:latin typeface="Arial"/>
              </a:rPr>
              <a:t> off? The search drops to 5-D — faster</a:t>
            </a:r>
          </a:p>
        </p:txBody>
      </p:sp>
      <p:pic>
        <p:nvPicPr>
          <p:cNvPr id="6" name="Picture 5" descr="d10.png"/>
          <p:cNvPicPr>
            <a:picLocks noChangeAspect="1"/>
          </p:cNvPicPr>
          <p:nvPr/>
        </p:nvPicPr>
        <p:blipFill>
          <a:blip r:embed="rId5"/>
          <a:stretch>
            <a:fillRect/>
          </a:stretch>
        </p:blipFill>
        <p:spPr>
          <a:xfrm>
            <a:off x="6096000" y="1905000"/>
            <a:ext cx="5397500" cy="4318000"/>
          </a:xfrm>
          <a:prstGeom prst="rect">
            <a:avLst/>
          </a:prstGeom>
        </p:spPr>
      </p:pic>
      <p:pic>
        <p:nvPicPr>
          <p:cNvPr id="22" name="Audio 21">
            <a:extLst>
              <a:ext uri="{FF2B5EF4-FFF2-40B4-BE49-F238E27FC236}">
                <a16:creationId xmlns:a16="http://schemas.microsoft.com/office/drawing/2014/main" id="{B6472139-475B-E937-AAC7-7087453EEE63}"/>
              </a:ext>
            </a:extLst>
          </p:cNvPr>
          <p:cNvPicPr>
            <a:picLocks noChangeAspect="1"/>
          </p:cNvPicPr>
          <p:nvPr>
            <a:audioFile r:link="rId2"/>
            <p:extLst>
              <p:ext uri="{DAA4B4D4-6D71-4841-9C94-3DE7FCFB9230}">
                <p14:media xmlns:p14="http://schemas.microsoft.com/office/powerpoint/2010/main" r:embed="rId1"/>
              </p:ext>
            </p:extLst>
          </p:nvPr>
        </p:nvPicPr>
        <p:blipFill>
          <a:blip r:embed="rId6"/>
          <a:stretch>
            <a:fillRect/>
          </a:stretch>
        </p:blipFill>
        <p:spPr>
          <a:xfrm>
            <a:off x="11226800" y="5892800"/>
            <a:ext cx="812800" cy="812800"/>
          </a:xfrm>
          <a:prstGeom prst="rect">
            <a:avLst/>
          </a:prstGeom>
        </p:spPr>
      </p:pic>
    </p:spTree>
  </p:cSld>
  <p:clrMapOvr>
    <a:masterClrMapping/>
  </p:clrMapOvr>
  <mc:AlternateContent xmlns:mc="http://schemas.openxmlformats.org/markup-compatibility/2006" xmlns:p14="http://schemas.microsoft.com/office/powerpoint/2010/main">
    <mc:Choice Requires="p14">
      <p:transition spd="slow" p14:dur="2000" advTm="40393"/>
    </mc:Choice>
    <mc:Fallback xmlns="">
      <p:transition spd="slow" advTm="40393"/>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1" fill="hold"/>
                                        <p:tgtEl>
                                          <p:spTgt spid="22"/>
                                        </p:tgtEl>
                                      </p:cBhvr>
                                    </p:cmd>
                                  </p:childTnLst>
                                </p:cTn>
                              </p:par>
                            </p:childTnLst>
                          </p:cTn>
                        </p:par>
                      </p:childTnLst>
                    </p:cTn>
                  </p:par>
                </p:childTnLst>
              </p:cTn>
              <p:prevCondLst>
                <p:cond evt="onPrev" delay="0">
                  <p:tgtEl>
                    <p:sldTgt/>
                  </p:tgtEl>
                </p:cond>
              </p:prevCondLst>
              <p:nextCondLst>
                <p:cond evt="onNext" delay="0">
                  <p:tgtEl>
                    <p:sldTgt/>
                  </p:tgtEl>
                </p:cond>
              </p:nextCondLst>
            </p:seq>
            <p:audio isNarration="1">
              <p:cMediaNode vol="80000" showWhenStopped="0">
                <p:cTn id="7" fill="hold" display="0">
                  <p:stCondLst>
                    <p:cond delay="indefinite"/>
                  </p:stCondLst>
                  <p:endCondLst>
                    <p:cond evt="onStopAudio" delay="0">
                      <p:tgtEl>
                        <p:sldTgt/>
                      </p:tgtEl>
                    </p:cond>
                  </p:endCondLst>
                </p:cTn>
                <p:tgtEl>
                  <p:spTgt spid="22"/>
                </p:tgtEl>
              </p:cMediaNode>
            </p:audio>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4F6F2"/>
        </a:solidFill>
        <a:effectLst/>
      </p:bgPr>
    </p:bg>
    <p:spTree>
      <p:nvGrpSpPr>
        <p:cNvPr id="1" name=""/>
        <p:cNvGrpSpPr/>
        <p:nvPr/>
      </p:nvGrpSpPr>
      <p:grpSpPr>
        <a:xfrm>
          <a:off x="0" y="0"/>
          <a:ext cx="0" cy="0"/>
          <a:chOff x="0" y="0"/>
          <a:chExt cx="0" cy="0"/>
        </a:xfrm>
      </p:grpSpPr>
      <p:sp>
        <p:nvSpPr>
          <p:cNvPr id="2" name="Rounded Rectangle 1"/>
          <p:cNvSpPr/>
          <p:nvPr/>
        </p:nvSpPr>
        <p:spPr>
          <a:xfrm>
            <a:off x="698500" y="533400"/>
            <a:ext cx="1758949" cy="292100"/>
          </a:xfrm>
          <a:prstGeom prst="roundRect">
            <a:avLst>
              <a:gd name="adj" fmla="val 50000"/>
            </a:avLst>
          </a:prstGeom>
          <a:solidFill>
            <a:srgbClr val="0E2F26"/>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100" b="1" i="0" spc="150">
                <a:solidFill>
                  <a:srgbClr val="D6EF5B"/>
                </a:solidFill>
                <a:latin typeface="Arial"/>
              </a:rPr>
              <a:t>TECHNIQUE · 2</a:t>
            </a:r>
          </a:p>
        </p:txBody>
      </p:sp>
      <p:sp>
        <p:nvSpPr>
          <p:cNvPr id="3" name="TextBox 2"/>
          <p:cNvSpPr txBox="1"/>
          <p:nvPr/>
        </p:nvSpPr>
        <p:spPr>
          <a:xfrm>
            <a:off x="698500" y="952500"/>
            <a:ext cx="10795000" cy="825500"/>
          </a:xfrm>
          <a:prstGeom prst="rect">
            <a:avLst/>
          </a:prstGeom>
          <a:noFill/>
        </p:spPr>
        <p:txBody>
          <a:bodyPr wrap="square" lIns="0" tIns="0" rIns="0" bIns="0" anchor="t">
            <a:spAutoFit/>
          </a:bodyPr>
          <a:lstStyle/>
          <a:p>
            <a:pPr algn="l">
              <a:lnSpc>
                <a:spcPct val="100000"/>
              </a:lnSpc>
              <a:spcAft>
                <a:spcPts val="0"/>
              </a:spcAft>
            </a:pPr>
            <a:r>
              <a:rPr sz="3800" b="1" i="0">
                <a:solidFill>
                  <a:srgbClr val="17211D"/>
                </a:solidFill>
                <a:latin typeface="Arial"/>
              </a:rPr>
              <a:t>Is this pose </a:t>
            </a:r>
            <a:r>
              <a:rPr sz="3800" b="1" i="0">
                <a:solidFill>
                  <a:srgbClr val="166B50"/>
                </a:solidFill>
                <a:latin typeface="Arial"/>
              </a:rPr>
              <a:t>legal?</a:t>
            </a:r>
          </a:p>
        </p:txBody>
      </p:sp>
      <p:sp>
        <p:nvSpPr>
          <p:cNvPr id="4" name="TextBox 3"/>
          <p:cNvSpPr txBox="1"/>
          <p:nvPr/>
        </p:nvSpPr>
        <p:spPr>
          <a:xfrm>
            <a:off x="1016000" y="2870752"/>
            <a:ext cx="5080000" cy="1576778"/>
          </a:xfrm>
          <a:prstGeom prst="rect">
            <a:avLst/>
          </a:prstGeom>
          <a:noFill/>
        </p:spPr>
        <p:txBody>
          <a:bodyPr wrap="square" lIns="0" tIns="0" rIns="0" bIns="0">
            <a:spAutoFit/>
          </a:bodyPr>
          <a:lstStyle/>
          <a:p>
            <a:pPr marL="457200" indent="-457200">
              <a:lnSpc>
                <a:spcPct val="108000"/>
              </a:lnSpc>
              <a:spcAft>
                <a:spcPts val="1200"/>
              </a:spcAft>
              <a:buClr>
                <a:srgbClr val="166B50"/>
              </a:buClr>
              <a:buSzPct val="100000"/>
              <a:buFont typeface="Arial"/>
              <a:buChar char="■"/>
            </a:pPr>
            <a:r>
              <a:rPr sz="1550" b="1" i="0" dirty="0">
                <a:solidFill>
                  <a:srgbClr val="17211D"/>
                </a:solidFill>
                <a:latin typeface="Arial"/>
              </a:rPr>
              <a:t>Every</a:t>
            </a:r>
            <a:r>
              <a:rPr sz="1550" b="0" i="0" dirty="0">
                <a:solidFill>
                  <a:srgbClr val="17211D"/>
                </a:solidFill>
                <a:latin typeface="Arial"/>
              </a:rPr>
              <a:t> point must be inside the room</a:t>
            </a:r>
          </a:p>
          <a:p>
            <a:pPr marL="457200" indent="-457200">
              <a:lnSpc>
                <a:spcPct val="108000"/>
              </a:lnSpc>
              <a:spcAft>
                <a:spcPts val="1200"/>
              </a:spcAft>
              <a:buClr>
                <a:srgbClr val="166B50"/>
              </a:buClr>
              <a:buSzPct val="100000"/>
              <a:buFont typeface="Arial"/>
              <a:buChar char="■"/>
            </a:pPr>
            <a:r>
              <a:rPr sz="1550" b="0" i="0" dirty="0">
                <a:solidFill>
                  <a:srgbClr val="17211D"/>
                </a:solidFill>
                <a:latin typeface="Arial"/>
              </a:rPr>
              <a:t>Between two poses we </a:t>
            </a:r>
            <a:r>
              <a:rPr sz="1550" b="1" i="0" dirty="0">
                <a:solidFill>
                  <a:srgbClr val="17211D"/>
                </a:solidFill>
                <a:latin typeface="Arial"/>
              </a:rPr>
              <a:t>interpolate</a:t>
            </a:r>
            <a:r>
              <a:rPr sz="1550" b="0" i="0" dirty="0">
                <a:solidFill>
                  <a:srgbClr val="17211D"/>
                </a:solidFill>
                <a:latin typeface="Arial"/>
              </a:rPr>
              <a:t> and check every step</a:t>
            </a:r>
          </a:p>
          <a:p>
            <a:pPr marL="457200" indent="-457200">
              <a:lnSpc>
                <a:spcPct val="108000"/>
              </a:lnSpc>
              <a:spcAft>
                <a:spcPts val="1200"/>
              </a:spcAft>
              <a:buClr>
                <a:srgbClr val="166B50"/>
              </a:buClr>
              <a:buSzPct val="100000"/>
              <a:buFont typeface="Arial"/>
              <a:buChar char="■"/>
            </a:pPr>
            <a:r>
              <a:rPr sz="1550" b="0" i="0" dirty="0">
                <a:solidFill>
                  <a:srgbClr val="17211D"/>
                </a:solidFill>
                <a:latin typeface="Arial"/>
              </a:rPr>
              <a:t>Crossing a wall is allowed </a:t>
            </a:r>
            <a:r>
              <a:rPr sz="1550" b="1" i="0" dirty="0">
                <a:solidFill>
                  <a:srgbClr val="17211D"/>
                </a:solidFill>
                <a:latin typeface="Arial"/>
              </a:rPr>
              <a:t>only through</a:t>
            </a:r>
            <a:r>
              <a:rPr sz="1550" b="0" i="0" dirty="0">
                <a:solidFill>
                  <a:srgbClr val="17211D"/>
                </a:solidFill>
                <a:latin typeface="Arial"/>
              </a:rPr>
              <a:t> the entrance / exit polygon</a:t>
            </a:r>
          </a:p>
        </p:txBody>
      </p:sp>
      <p:pic>
        <p:nvPicPr>
          <p:cNvPr id="5" name="Picture 4" descr="d11.png"/>
          <p:cNvPicPr>
            <a:picLocks noChangeAspect="1"/>
          </p:cNvPicPr>
          <p:nvPr/>
        </p:nvPicPr>
        <p:blipFill>
          <a:blip r:embed="rId5"/>
          <a:stretch>
            <a:fillRect/>
          </a:stretch>
        </p:blipFill>
        <p:spPr>
          <a:xfrm>
            <a:off x="6096000" y="1905000"/>
            <a:ext cx="5397500" cy="3973620"/>
          </a:xfrm>
          <a:prstGeom prst="rect">
            <a:avLst/>
          </a:prstGeom>
        </p:spPr>
      </p:pic>
      <p:pic>
        <p:nvPicPr>
          <p:cNvPr id="21" name="Audio 20">
            <a:extLst>
              <a:ext uri="{FF2B5EF4-FFF2-40B4-BE49-F238E27FC236}">
                <a16:creationId xmlns:a16="http://schemas.microsoft.com/office/drawing/2014/main" id="{8AEC28EC-114E-E14E-29BA-53F8DA80F3BB}"/>
              </a:ext>
            </a:extLst>
          </p:cNvPr>
          <p:cNvPicPr>
            <a:picLocks noChangeAspect="1"/>
          </p:cNvPicPr>
          <p:nvPr>
            <a:audioFile r:link="rId2"/>
            <p:extLst>
              <p:ext uri="{DAA4B4D4-6D71-4841-9C94-3DE7FCFB9230}">
                <p14:media xmlns:p14="http://schemas.microsoft.com/office/powerpoint/2010/main" r:embed="rId1"/>
              </p:ext>
            </p:extLst>
          </p:nvPr>
        </p:nvPicPr>
        <p:blipFill>
          <a:blip r:embed="rId6"/>
          <a:stretch>
            <a:fillRect/>
          </a:stretch>
        </p:blipFill>
        <p:spPr>
          <a:xfrm>
            <a:off x="11226800" y="5892800"/>
            <a:ext cx="812800" cy="812800"/>
          </a:xfrm>
          <a:prstGeom prst="rect">
            <a:avLst/>
          </a:prstGeom>
        </p:spPr>
      </p:pic>
    </p:spTree>
  </p:cSld>
  <p:clrMapOvr>
    <a:masterClrMapping/>
  </p:clrMapOvr>
  <mc:AlternateContent xmlns:mc="http://schemas.openxmlformats.org/markup-compatibility/2006" xmlns:p14="http://schemas.microsoft.com/office/powerpoint/2010/main">
    <mc:Choice Requires="p14">
      <p:transition spd="slow" p14:dur="2000" advTm="28815"/>
    </mc:Choice>
    <mc:Fallback xmlns="">
      <p:transition spd="slow" advTm="28815"/>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1" fill="hold"/>
                                        <p:tgtEl>
                                          <p:spTgt spid="21"/>
                                        </p:tgtEl>
                                      </p:cBhvr>
                                    </p:cmd>
                                  </p:childTnLst>
                                </p:cTn>
                              </p:par>
                            </p:childTnLst>
                          </p:cTn>
                        </p:par>
                      </p:childTnLst>
                    </p:cTn>
                  </p:par>
                </p:childTnLst>
              </p:cTn>
              <p:prevCondLst>
                <p:cond evt="onPrev" delay="0">
                  <p:tgtEl>
                    <p:sldTgt/>
                  </p:tgtEl>
                </p:cond>
              </p:prevCondLst>
              <p:nextCondLst>
                <p:cond evt="onNext" delay="0">
                  <p:tgtEl>
                    <p:sldTgt/>
                  </p:tgtEl>
                </p:cond>
              </p:nextCondLst>
            </p:seq>
            <p:audio isNarration="1">
              <p:cMediaNode vol="80000" showWhenStopped="0">
                <p:cTn id="7" fill="hold" display="0">
                  <p:stCondLst>
                    <p:cond delay="indefinite"/>
                  </p:stCondLst>
                  <p:endCondLst>
                    <p:cond evt="onStopAudio" delay="0">
                      <p:tgtEl>
                        <p:sldTgt/>
                      </p:tgtEl>
                    </p:cond>
                  </p:endCondLst>
                </p:cTn>
                <p:tgtEl>
                  <p:spTgt spid="21"/>
                </p:tgtEl>
              </p:cMediaNode>
            </p:audio>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4F6F2"/>
        </a:solidFill>
        <a:effectLst/>
      </p:bgPr>
    </p:bg>
    <p:spTree>
      <p:nvGrpSpPr>
        <p:cNvPr id="1" name=""/>
        <p:cNvGrpSpPr/>
        <p:nvPr/>
      </p:nvGrpSpPr>
      <p:grpSpPr>
        <a:xfrm>
          <a:off x="0" y="0"/>
          <a:ext cx="0" cy="0"/>
          <a:chOff x="0" y="0"/>
          <a:chExt cx="0" cy="0"/>
        </a:xfrm>
      </p:grpSpPr>
      <p:sp>
        <p:nvSpPr>
          <p:cNvPr id="2" name="Rounded Rectangle 1"/>
          <p:cNvSpPr/>
          <p:nvPr/>
        </p:nvSpPr>
        <p:spPr>
          <a:xfrm>
            <a:off x="698500" y="533400"/>
            <a:ext cx="1758949" cy="292100"/>
          </a:xfrm>
          <a:prstGeom prst="roundRect">
            <a:avLst>
              <a:gd name="adj" fmla="val 50000"/>
            </a:avLst>
          </a:prstGeom>
          <a:solidFill>
            <a:srgbClr val="0E2F26"/>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100" b="1" i="0" spc="150">
                <a:solidFill>
                  <a:srgbClr val="D6EF5B"/>
                </a:solidFill>
                <a:latin typeface="Arial"/>
              </a:rPr>
              <a:t>TECHNIQUE · 3</a:t>
            </a:r>
          </a:p>
        </p:txBody>
      </p:sp>
      <p:sp>
        <p:nvSpPr>
          <p:cNvPr id="3" name="TextBox 2"/>
          <p:cNvSpPr txBox="1"/>
          <p:nvPr/>
        </p:nvSpPr>
        <p:spPr>
          <a:xfrm>
            <a:off x="698500" y="952500"/>
            <a:ext cx="10795000" cy="825500"/>
          </a:xfrm>
          <a:prstGeom prst="rect">
            <a:avLst/>
          </a:prstGeom>
          <a:noFill/>
        </p:spPr>
        <p:txBody>
          <a:bodyPr wrap="square" lIns="0" tIns="0" rIns="0" bIns="0" anchor="t">
            <a:spAutoFit/>
          </a:bodyPr>
          <a:lstStyle/>
          <a:p>
            <a:pPr algn="l">
              <a:lnSpc>
                <a:spcPct val="100000"/>
              </a:lnSpc>
              <a:spcAft>
                <a:spcPts val="0"/>
              </a:spcAft>
            </a:pPr>
            <a:r>
              <a:rPr sz="3800" b="1" i="0">
                <a:solidFill>
                  <a:srgbClr val="17211D"/>
                </a:solidFill>
                <a:latin typeface="Arial"/>
              </a:rPr>
              <a:t>RRT-Connect: two trees, </a:t>
            </a:r>
            <a:r>
              <a:rPr sz="3800" b="1" i="0">
                <a:solidFill>
                  <a:srgbClr val="166B50"/>
                </a:solidFill>
                <a:latin typeface="Arial"/>
              </a:rPr>
              <a:t>one path</a:t>
            </a:r>
          </a:p>
        </p:txBody>
      </p:sp>
      <p:sp>
        <p:nvSpPr>
          <p:cNvPr id="4" name="TextBox 3"/>
          <p:cNvSpPr txBox="1"/>
          <p:nvPr/>
        </p:nvSpPr>
        <p:spPr>
          <a:xfrm>
            <a:off x="698500" y="2032000"/>
            <a:ext cx="4953000" cy="1319144"/>
          </a:xfrm>
          <a:prstGeom prst="rect">
            <a:avLst/>
          </a:prstGeom>
          <a:noFill/>
        </p:spPr>
        <p:txBody>
          <a:bodyPr wrap="square" lIns="0" tIns="0" rIns="0" bIns="0">
            <a:spAutoFit/>
          </a:bodyPr>
          <a:lstStyle/>
          <a:p>
            <a:pPr marL="457200" indent="-457200">
              <a:lnSpc>
                <a:spcPct val="108000"/>
              </a:lnSpc>
              <a:spcAft>
                <a:spcPts val="1200"/>
              </a:spcAft>
              <a:buClr>
                <a:srgbClr val="166B50"/>
              </a:buClr>
              <a:buSzPct val="100000"/>
              <a:buFont typeface="Arial"/>
              <a:buAutoNum type="arabicPeriod"/>
            </a:pPr>
            <a:r>
              <a:rPr sz="1550" b="0" i="0" dirty="0">
                <a:solidFill>
                  <a:srgbClr val="17211D"/>
                </a:solidFill>
                <a:latin typeface="Arial"/>
              </a:rPr>
              <a:t>One tree grows from the </a:t>
            </a:r>
            <a:r>
              <a:rPr sz="1550" b="1" i="0" dirty="0">
                <a:solidFill>
                  <a:srgbClr val="2F9A5E"/>
                </a:solidFill>
                <a:latin typeface="Arial"/>
              </a:rPr>
              <a:t>start</a:t>
            </a:r>
            <a:r>
              <a:rPr sz="1550" b="0" i="0" dirty="0">
                <a:solidFill>
                  <a:srgbClr val="17211D"/>
                </a:solidFill>
                <a:latin typeface="Arial"/>
              </a:rPr>
              <a:t>, one from the </a:t>
            </a:r>
            <a:r>
              <a:rPr sz="1550" b="1" i="0" dirty="0">
                <a:solidFill>
                  <a:srgbClr val="D97F1A"/>
                </a:solidFill>
                <a:latin typeface="Arial"/>
              </a:rPr>
              <a:t>goal</a:t>
            </a:r>
          </a:p>
          <a:p>
            <a:pPr marL="457200" indent="-457200">
              <a:lnSpc>
                <a:spcPct val="108000"/>
              </a:lnSpc>
              <a:spcAft>
                <a:spcPts val="1200"/>
              </a:spcAft>
              <a:buClr>
                <a:srgbClr val="166B50"/>
              </a:buClr>
              <a:buSzPct val="100000"/>
              <a:buFont typeface="Arial"/>
              <a:buAutoNum type="arabicPeriod"/>
            </a:pPr>
            <a:r>
              <a:rPr sz="1550" b="0" i="0" dirty="0">
                <a:solidFill>
                  <a:srgbClr val="17211D"/>
                </a:solidFill>
                <a:latin typeface="Arial"/>
              </a:rPr>
              <a:t>Then the </a:t>
            </a:r>
            <a:r>
              <a:rPr sz="1550" b="1" i="0" dirty="0">
                <a:solidFill>
                  <a:srgbClr val="17211D"/>
                </a:solidFill>
                <a:latin typeface="Arial"/>
              </a:rPr>
              <a:t>other tree</a:t>
            </a:r>
            <a:r>
              <a:rPr sz="1550" b="0" i="0" dirty="0">
                <a:solidFill>
                  <a:srgbClr val="17211D"/>
                </a:solidFill>
                <a:latin typeface="Arial"/>
              </a:rPr>
              <a:t> greedily chases that new node</a:t>
            </a:r>
            <a:endParaRPr lang="en-US" sz="1550" b="0" i="0" dirty="0">
              <a:solidFill>
                <a:srgbClr val="17211D"/>
              </a:solidFill>
              <a:latin typeface="Arial"/>
            </a:endParaRPr>
          </a:p>
          <a:p>
            <a:pPr marL="457200" indent="-457200">
              <a:lnSpc>
                <a:spcPct val="108000"/>
              </a:lnSpc>
              <a:spcAft>
                <a:spcPts val="1200"/>
              </a:spcAft>
              <a:buClr>
                <a:srgbClr val="166B50"/>
              </a:buClr>
              <a:buSzPct val="100000"/>
              <a:buFont typeface="Arial"/>
              <a:buAutoNum type="arabicPeriod"/>
            </a:pPr>
            <a:r>
              <a:rPr sz="1550" b="0" i="0" dirty="0">
                <a:solidFill>
                  <a:srgbClr val="17211D"/>
                </a:solidFill>
                <a:latin typeface="Arial"/>
              </a:rPr>
              <a:t>Trees touch → </a:t>
            </a:r>
            <a:r>
              <a:rPr sz="1550" b="1" i="0" dirty="0">
                <a:solidFill>
                  <a:srgbClr val="17211D"/>
                </a:solidFill>
                <a:latin typeface="Arial"/>
              </a:rPr>
              <a:t>path found</a:t>
            </a:r>
            <a:r>
              <a:rPr sz="1550" b="0" i="0" dirty="0">
                <a:solidFill>
                  <a:srgbClr val="17211D"/>
                </a:solidFill>
                <a:latin typeface="Arial"/>
              </a:rPr>
              <a:t>. Smooth it, resample it, animate it</a:t>
            </a:r>
          </a:p>
        </p:txBody>
      </p:sp>
      <p:sp>
        <p:nvSpPr>
          <p:cNvPr id="6" name="Rounded Rectangle 5"/>
          <p:cNvSpPr/>
          <p:nvPr/>
        </p:nvSpPr>
        <p:spPr>
          <a:xfrm>
            <a:off x="698500" y="5080000"/>
            <a:ext cx="10795000" cy="825500"/>
          </a:xfrm>
          <a:prstGeom prst="roundRect">
            <a:avLst>
              <a:gd name="adj" fmla="val 14000"/>
            </a:avLst>
          </a:prstGeom>
          <a:solidFill>
            <a:srgbClr val="0E2F26"/>
          </a:solidFill>
          <a:ln>
            <a:noFill/>
          </a:ln>
          <a:effectLst/>
        </p:spPr>
        <p:style>
          <a:lnRef idx="1">
            <a:schemeClr val="accent1"/>
          </a:lnRef>
          <a:fillRef idx="3">
            <a:schemeClr val="accent1"/>
          </a:fillRef>
          <a:effectRef idx="2">
            <a:schemeClr val="accent1"/>
          </a:effectRef>
          <a:fontRef idx="minor">
            <a:schemeClr val="lt1"/>
          </a:fontRef>
        </p:style>
        <p:txBody>
          <a:bodyPr wrap="square" lIns="177800" tIns="101600" rIns="177800" bIns="101600" rtlCol="0" anchor="ctr"/>
          <a:lstStyle/>
          <a:p>
            <a:pPr algn="l">
              <a:lnSpc>
                <a:spcPct val="110000"/>
              </a:lnSpc>
            </a:pPr>
            <a:r>
              <a:rPr sz="1400" b="1" i="0" dirty="0">
                <a:solidFill>
                  <a:srgbClr val="D6EF5B"/>
                </a:solidFill>
                <a:latin typeface="Arial"/>
              </a:rPr>
              <a:t>Probabilistic:</a:t>
            </a:r>
            <a:r>
              <a:rPr sz="1400" b="0" i="0" dirty="0">
                <a:solidFill>
                  <a:srgbClr val="EAF5EE"/>
                </a:solidFill>
                <a:latin typeface="Arial"/>
              </a:rPr>
              <a:t> finding a route proves it fits — </a:t>
            </a:r>
            <a:r>
              <a:rPr sz="1400" b="1" i="0" dirty="0">
                <a:solidFill>
                  <a:srgbClr val="D6EF5B"/>
                </a:solidFill>
                <a:latin typeface="Arial"/>
              </a:rPr>
              <a:t>failing doesn't prove it can't</a:t>
            </a:r>
            <a:r>
              <a:rPr sz="1400" b="0" i="0" dirty="0">
                <a:solidFill>
                  <a:srgbClr val="EAF5EE"/>
                </a:solidFill>
                <a:latin typeface="Arial"/>
              </a:rPr>
              <a:t>. Run it again or raise iterations. </a:t>
            </a:r>
            <a:r>
              <a:rPr lang="en-US" sz="1400" b="0" i="0" dirty="0">
                <a:solidFill>
                  <a:srgbClr val="EAF5EE"/>
                </a:solidFill>
                <a:latin typeface="Arial"/>
              </a:rPr>
              <a:t>We never "fix" failures by quietly shrinking clearance.</a:t>
            </a:r>
            <a:endParaRPr sz="1400" b="0" i="0" dirty="0">
              <a:solidFill>
                <a:srgbClr val="EAF5EE"/>
              </a:solidFill>
              <a:latin typeface="Arial"/>
            </a:endParaRPr>
          </a:p>
        </p:txBody>
      </p:sp>
      <p:pic>
        <p:nvPicPr>
          <p:cNvPr id="7" name="Picture 6" descr="Path Planning for Mobile Robots Based on Improved RRT-Connect and DWA Fusion">
            <a:extLst>
              <a:ext uri="{FF2B5EF4-FFF2-40B4-BE49-F238E27FC236}">
                <a16:creationId xmlns:a16="http://schemas.microsoft.com/office/drawing/2014/main" id="{A845819E-B596-3A6E-E541-250DBB4B3FAA}"/>
              </a:ext>
            </a:extLst>
          </p:cNvPr>
          <p:cNvPicPr>
            <a:picLocks noChangeAspect="1"/>
          </p:cNvPicPr>
          <p:nvPr/>
        </p:nvPicPr>
        <p:blipFill>
          <a:blip r:embed="rId5"/>
          <a:stretch>
            <a:fillRect/>
          </a:stretch>
        </p:blipFill>
        <p:spPr>
          <a:xfrm>
            <a:off x="6096000" y="1811683"/>
            <a:ext cx="5745313" cy="3228561"/>
          </a:xfrm>
          <a:prstGeom prst="rect">
            <a:avLst/>
          </a:prstGeom>
        </p:spPr>
      </p:pic>
      <p:pic>
        <p:nvPicPr>
          <p:cNvPr id="10" name="Audio 9">
            <a:extLst>
              <a:ext uri="{FF2B5EF4-FFF2-40B4-BE49-F238E27FC236}">
                <a16:creationId xmlns:a16="http://schemas.microsoft.com/office/drawing/2014/main" id="{00A869D4-29DF-536C-C8F1-B068CAA3FBB6}"/>
              </a:ext>
            </a:extLst>
          </p:cNvPr>
          <p:cNvPicPr>
            <a:picLocks noChangeAspect="1"/>
          </p:cNvPicPr>
          <p:nvPr>
            <a:audioFile r:link="rId2"/>
            <p:extLst>
              <p:ext uri="{DAA4B4D4-6D71-4841-9C94-3DE7FCFB9230}">
                <p14:media xmlns:p14="http://schemas.microsoft.com/office/powerpoint/2010/main" r:embed="rId1"/>
              </p:ext>
            </p:extLst>
          </p:nvPr>
        </p:nvPicPr>
        <p:blipFill>
          <a:blip r:embed="rId6"/>
          <a:stretch>
            <a:fillRect/>
          </a:stretch>
        </p:blipFill>
        <p:spPr>
          <a:xfrm>
            <a:off x="11226800" y="5892800"/>
            <a:ext cx="812800" cy="812800"/>
          </a:xfrm>
          <a:prstGeom prst="rect">
            <a:avLst/>
          </a:prstGeom>
        </p:spPr>
      </p:pic>
    </p:spTree>
  </p:cSld>
  <p:clrMapOvr>
    <a:masterClrMapping/>
  </p:clrMapOvr>
  <mc:AlternateContent xmlns:mc="http://schemas.openxmlformats.org/markup-compatibility/2006" xmlns:p14="http://schemas.microsoft.com/office/powerpoint/2010/main">
    <mc:Choice Requires="p14">
      <p:transition spd="slow" p14:dur="2000" advTm="50153"/>
    </mc:Choice>
    <mc:Fallback xmlns="">
      <p:transition spd="slow" advTm="50153"/>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1" fill="hold"/>
                                        <p:tgtEl>
                                          <p:spTgt spid="10"/>
                                        </p:tgtEl>
                                      </p:cBhvr>
                                    </p:cmd>
                                  </p:childTnLst>
                                </p:cTn>
                              </p:par>
                            </p:childTnLst>
                          </p:cTn>
                        </p:par>
                      </p:childTnLst>
                    </p:cTn>
                  </p:par>
                </p:childTnLst>
              </p:cTn>
              <p:prevCondLst>
                <p:cond evt="onPrev" delay="0">
                  <p:tgtEl>
                    <p:sldTgt/>
                  </p:tgtEl>
                </p:cond>
              </p:prevCondLst>
              <p:nextCondLst>
                <p:cond evt="onNext" delay="0">
                  <p:tgtEl>
                    <p:sldTgt/>
                  </p:tgtEl>
                </p:cond>
              </p:nextCondLst>
            </p:seq>
            <p:audio isNarration="1">
              <p:cMediaNode vol="80000" showWhenStopped="0">
                <p:cTn id="7" fill="hold" display="0">
                  <p:stCondLst>
                    <p:cond delay="indefinite"/>
                  </p:stCondLst>
                  <p:endCondLst>
                    <p:cond evt="onStopAudio" delay="0">
                      <p:tgtEl>
                        <p:sldTgt/>
                      </p:tgtEl>
                    </p:cond>
                  </p:endCondLst>
                </p:cTn>
                <p:tgtEl>
                  <p:spTgt spid="10"/>
                </p:tgtEl>
              </p:cMediaNode>
            </p:audio>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show="0">
  <p:cSld>
    <p:bg>
      <p:bgPr>
        <a:solidFill>
          <a:srgbClr val="F4F6F2"/>
        </a:solidFill>
        <a:effectLst/>
      </p:bgPr>
    </p:bg>
    <p:spTree>
      <p:nvGrpSpPr>
        <p:cNvPr id="1" name=""/>
        <p:cNvGrpSpPr/>
        <p:nvPr/>
      </p:nvGrpSpPr>
      <p:grpSpPr>
        <a:xfrm>
          <a:off x="0" y="0"/>
          <a:ext cx="0" cy="0"/>
          <a:chOff x="0" y="0"/>
          <a:chExt cx="0" cy="0"/>
        </a:xfrm>
      </p:grpSpPr>
      <p:sp>
        <p:nvSpPr>
          <p:cNvPr id="2" name="Rounded Rectangle 1"/>
          <p:cNvSpPr/>
          <p:nvPr/>
        </p:nvSpPr>
        <p:spPr>
          <a:xfrm>
            <a:off x="698500" y="533400"/>
            <a:ext cx="1758949" cy="292100"/>
          </a:xfrm>
          <a:prstGeom prst="roundRect">
            <a:avLst>
              <a:gd name="adj" fmla="val 50000"/>
            </a:avLst>
          </a:prstGeom>
          <a:solidFill>
            <a:srgbClr val="0E2F26"/>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100" b="1" i="0" spc="150">
                <a:solidFill>
                  <a:srgbClr val="D6EF5B"/>
                </a:solidFill>
                <a:latin typeface="Arial"/>
              </a:rPr>
              <a:t>TECHNIQUE · 4</a:t>
            </a:r>
          </a:p>
        </p:txBody>
      </p:sp>
      <p:sp>
        <p:nvSpPr>
          <p:cNvPr id="3" name="TextBox 2"/>
          <p:cNvSpPr txBox="1"/>
          <p:nvPr/>
        </p:nvSpPr>
        <p:spPr>
          <a:xfrm>
            <a:off x="698500" y="952500"/>
            <a:ext cx="10795000" cy="825500"/>
          </a:xfrm>
          <a:prstGeom prst="rect">
            <a:avLst/>
          </a:prstGeom>
          <a:noFill/>
        </p:spPr>
        <p:txBody>
          <a:bodyPr wrap="square" lIns="0" tIns="0" rIns="0" bIns="0" anchor="t">
            <a:spAutoFit/>
          </a:bodyPr>
          <a:lstStyle/>
          <a:p>
            <a:pPr algn="l">
              <a:lnSpc>
                <a:spcPct val="100000"/>
              </a:lnSpc>
              <a:spcAft>
                <a:spcPts val="0"/>
              </a:spcAft>
            </a:pPr>
            <a:r>
              <a:rPr sz="3800" b="1" i="0">
                <a:solidFill>
                  <a:srgbClr val="17211D"/>
                </a:solidFill>
                <a:latin typeface="Arial"/>
              </a:rPr>
              <a:t>Smart starts beat </a:t>
            </a:r>
            <a:r>
              <a:rPr sz="3800" b="1" i="0">
                <a:solidFill>
                  <a:srgbClr val="166B50"/>
                </a:solidFill>
                <a:latin typeface="Arial"/>
              </a:rPr>
              <a:t>pure luck</a:t>
            </a:r>
          </a:p>
        </p:txBody>
      </p:sp>
      <p:sp>
        <p:nvSpPr>
          <p:cNvPr id="4" name="TextBox 3"/>
          <p:cNvSpPr txBox="1"/>
          <p:nvPr/>
        </p:nvSpPr>
        <p:spPr>
          <a:xfrm>
            <a:off x="698500" y="1968500"/>
            <a:ext cx="4826000" cy="571500"/>
          </a:xfrm>
          <a:prstGeom prst="rect">
            <a:avLst/>
          </a:prstGeom>
          <a:noFill/>
        </p:spPr>
        <p:txBody>
          <a:bodyPr wrap="square" lIns="0" tIns="0" rIns="0" bIns="0" anchor="t">
            <a:spAutoFit/>
          </a:bodyPr>
          <a:lstStyle/>
          <a:p>
            <a:pPr algn="l">
              <a:lnSpc>
                <a:spcPct val="115000"/>
              </a:lnSpc>
              <a:spcAft>
                <a:spcPts val="0"/>
              </a:spcAft>
            </a:pPr>
            <a:r>
              <a:rPr sz="1550" b="0" i="0">
                <a:solidFill>
                  <a:srgbClr val="5D6963"/>
                </a:solidFill>
                <a:latin typeface="Arial"/>
              </a:rPr>
              <a:t>Random sampling alone rarely threads a tight doorway. So we seed the search:</a:t>
            </a:r>
          </a:p>
        </p:txBody>
      </p:sp>
      <p:sp>
        <p:nvSpPr>
          <p:cNvPr id="5" name="TextBox 4"/>
          <p:cNvSpPr txBox="1"/>
          <p:nvPr/>
        </p:nvSpPr>
        <p:spPr>
          <a:xfrm>
            <a:off x="698500" y="2730500"/>
            <a:ext cx="4953000" cy="3048000"/>
          </a:xfrm>
          <a:prstGeom prst="rect">
            <a:avLst/>
          </a:prstGeom>
          <a:noFill/>
        </p:spPr>
        <p:txBody>
          <a:bodyPr wrap="square" lIns="0" tIns="0" rIns="0" bIns="0">
            <a:spAutoFit/>
          </a:bodyPr>
          <a:lstStyle/>
          <a:p>
            <a:pPr marL="457200" indent="-457200">
              <a:lnSpc>
                <a:spcPct val="108000"/>
              </a:lnSpc>
              <a:spcAft>
                <a:spcPts val="1000"/>
              </a:spcAft>
              <a:buClr>
                <a:srgbClr val="166B50"/>
              </a:buClr>
              <a:buSzPct val="100000"/>
              <a:buFont typeface="Arial"/>
              <a:buAutoNum type="arabicPeriod"/>
            </a:pPr>
            <a:r>
              <a:rPr sz="1550" b="0" i="0">
                <a:solidFill>
                  <a:srgbClr val="17211D"/>
                </a:solidFill>
                <a:latin typeface="Arial"/>
              </a:rPr>
              <a:t>Sample offsets across the opening × </a:t>
            </a:r>
            <a:r>
              <a:rPr sz="1550" b="1" i="0">
                <a:solidFill>
                  <a:srgbClr val="17211D"/>
                </a:solidFill>
                <a:latin typeface="Arial"/>
              </a:rPr>
              <a:t>15°</a:t>
            </a:r>
            <a:r>
              <a:rPr sz="1550" b="0" i="0">
                <a:solidFill>
                  <a:srgbClr val="17211D"/>
                </a:solidFill>
                <a:latin typeface="Arial"/>
              </a:rPr>
              <a:t> yaw / pitch / roll orientations</a:t>
            </a:r>
          </a:p>
          <a:p>
            <a:pPr marL="457200" indent="-457200">
              <a:lnSpc>
                <a:spcPct val="108000"/>
              </a:lnSpc>
              <a:spcAft>
                <a:spcPts val="1000"/>
              </a:spcAft>
              <a:buClr>
                <a:srgbClr val="166B50"/>
              </a:buClr>
              <a:buSzPct val="100000"/>
              <a:buFont typeface="Arial"/>
              <a:buAutoNum type="arabicPeriod"/>
            </a:pPr>
            <a:r>
              <a:rPr sz="1550" b="1" i="0">
                <a:solidFill>
                  <a:srgbClr val="17211D"/>
                </a:solidFill>
                <a:latin typeface="Arial"/>
              </a:rPr>
              <a:t>Refine</a:t>
            </a:r>
            <a:r>
              <a:rPr sz="1550" b="0" i="0">
                <a:solidFill>
                  <a:srgbClr val="17211D"/>
                </a:solidFill>
                <a:latin typeface="Arial"/>
              </a:rPr>
              <a:t> the promising ones at 5°</a:t>
            </a:r>
          </a:p>
          <a:p>
            <a:pPr marL="457200" indent="-457200">
              <a:lnSpc>
                <a:spcPct val="108000"/>
              </a:lnSpc>
              <a:spcAft>
                <a:spcPts val="1000"/>
              </a:spcAft>
              <a:buClr>
                <a:srgbClr val="166B50"/>
              </a:buClr>
              <a:buSzPct val="100000"/>
              <a:buFont typeface="Arial"/>
              <a:buAutoNum type="arabicPeriod"/>
            </a:pPr>
            <a:r>
              <a:rPr sz="1550" b="1" i="0">
                <a:solidFill>
                  <a:srgbClr val="17211D"/>
                </a:solidFill>
                <a:latin typeface="Arial"/>
              </a:rPr>
              <a:t>Probe inward</a:t>
            </a:r>
            <a:r>
              <a:rPr sz="1550" b="0" i="0">
                <a:solidFill>
                  <a:srgbClr val="17211D"/>
                </a:solidFill>
                <a:latin typeface="Arial"/>
              </a:rPr>
              <a:t>: how deep does each candidate get?</a:t>
            </a:r>
          </a:p>
          <a:p>
            <a:pPr marL="457200" indent="-457200">
              <a:lnSpc>
                <a:spcPct val="108000"/>
              </a:lnSpc>
              <a:spcAft>
                <a:spcPts val="1000"/>
              </a:spcAft>
              <a:buClr>
                <a:srgbClr val="166B50"/>
              </a:buClr>
              <a:buSzPct val="100000"/>
              <a:buFont typeface="Arial"/>
              <a:buAutoNum type="arabicPeriod"/>
            </a:pPr>
            <a:r>
              <a:rPr sz="1550" b="1" i="0">
                <a:solidFill>
                  <a:srgbClr val="17211D"/>
                </a:solidFill>
                <a:latin typeface="Arial"/>
              </a:rPr>
              <a:t>Rank</a:t>
            </a:r>
            <a:r>
              <a:rPr sz="1550" b="0" i="0">
                <a:solidFill>
                  <a:srgbClr val="17211D"/>
                </a:solidFill>
                <a:latin typeface="Arial"/>
              </a:rPr>
              <a:t> by depth, clearance, alignment, offset, tilt</a:t>
            </a:r>
          </a:p>
          <a:p>
            <a:pPr marL="457200" indent="-457200">
              <a:lnSpc>
                <a:spcPct val="108000"/>
              </a:lnSpc>
              <a:spcAft>
                <a:spcPts val="1000"/>
              </a:spcAft>
              <a:buClr>
                <a:srgbClr val="166B50"/>
              </a:buClr>
              <a:buSzPct val="100000"/>
              <a:buFont typeface="Arial"/>
              <a:buAutoNum type="arabicPeriod"/>
            </a:pPr>
            <a:r>
              <a:rPr sz="1550" b="0" i="0">
                <a:solidFill>
                  <a:srgbClr val="17211D"/>
                </a:solidFill>
                <a:latin typeface="Arial"/>
              </a:rPr>
              <a:t>Feed the top poses as </a:t>
            </a:r>
            <a:r>
              <a:rPr sz="1550" b="1" i="0">
                <a:solidFill>
                  <a:srgbClr val="17211D"/>
                </a:solidFill>
                <a:latin typeface="Arial"/>
              </a:rPr>
              <a:t>many starts and goals</a:t>
            </a:r>
          </a:p>
        </p:txBody>
      </p:sp>
      <p:pic>
        <p:nvPicPr>
          <p:cNvPr id="6" name="Picture 5" descr="d13.png"/>
          <p:cNvPicPr>
            <a:picLocks noChangeAspect="1"/>
          </p:cNvPicPr>
          <p:nvPr/>
        </p:nvPicPr>
        <p:blipFill>
          <a:blip r:embed="rId3"/>
          <a:stretch>
            <a:fillRect/>
          </a:stretch>
        </p:blipFill>
        <p:spPr>
          <a:xfrm>
            <a:off x="6413500" y="1841500"/>
            <a:ext cx="4826000" cy="3860800"/>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4F6F2"/>
        </a:solidFill>
        <a:effectLst/>
      </p:bgPr>
    </p:bg>
    <p:spTree>
      <p:nvGrpSpPr>
        <p:cNvPr id="1" name=""/>
        <p:cNvGrpSpPr/>
        <p:nvPr/>
      </p:nvGrpSpPr>
      <p:grpSpPr>
        <a:xfrm>
          <a:off x="0" y="0"/>
          <a:ext cx="0" cy="0"/>
          <a:chOff x="0" y="0"/>
          <a:chExt cx="0" cy="0"/>
        </a:xfrm>
      </p:grpSpPr>
      <p:sp>
        <p:nvSpPr>
          <p:cNvPr id="2" name="Rounded Rectangle 1"/>
          <p:cNvSpPr/>
          <p:nvPr/>
        </p:nvSpPr>
        <p:spPr>
          <a:xfrm>
            <a:off x="698500" y="533400"/>
            <a:ext cx="1758949" cy="292100"/>
          </a:xfrm>
          <a:prstGeom prst="roundRect">
            <a:avLst>
              <a:gd name="adj" fmla="val 50000"/>
            </a:avLst>
          </a:prstGeom>
          <a:solidFill>
            <a:srgbClr val="0E2F26"/>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100" b="1" i="0" spc="150">
                <a:solidFill>
                  <a:srgbClr val="D6EF5B"/>
                </a:solidFill>
                <a:latin typeface="Arial"/>
              </a:rPr>
              <a:t>TECHNIQUE · 5</a:t>
            </a:r>
          </a:p>
        </p:txBody>
      </p:sp>
      <p:sp>
        <p:nvSpPr>
          <p:cNvPr id="3" name="TextBox 2"/>
          <p:cNvSpPr txBox="1"/>
          <p:nvPr/>
        </p:nvSpPr>
        <p:spPr>
          <a:xfrm>
            <a:off x="698500" y="952500"/>
            <a:ext cx="10795000" cy="825500"/>
          </a:xfrm>
          <a:prstGeom prst="rect">
            <a:avLst/>
          </a:prstGeom>
          <a:noFill/>
        </p:spPr>
        <p:txBody>
          <a:bodyPr wrap="square" lIns="0" tIns="0" rIns="0" bIns="0" anchor="t">
            <a:spAutoFit/>
          </a:bodyPr>
          <a:lstStyle/>
          <a:p>
            <a:pPr algn="l">
              <a:lnSpc>
                <a:spcPct val="100000"/>
              </a:lnSpc>
              <a:spcAft>
                <a:spcPts val="0"/>
              </a:spcAft>
            </a:pPr>
            <a:r>
              <a:rPr sz="3800" b="1" i="0">
                <a:solidFill>
                  <a:srgbClr val="17211D"/>
                </a:solidFill>
                <a:latin typeface="Arial"/>
              </a:rPr>
              <a:t>The straight-shot </a:t>
            </a:r>
            <a:r>
              <a:rPr sz="3800" b="1" i="0">
                <a:solidFill>
                  <a:srgbClr val="166B50"/>
                </a:solidFill>
                <a:latin typeface="Arial"/>
              </a:rPr>
              <a:t>heuristic</a:t>
            </a:r>
          </a:p>
        </p:txBody>
      </p:sp>
      <p:sp>
        <p:nvSpPr>
          <p:cNvPr id="4" name="TextBox 3"/>
          <p:cNvSpPr txBox="1"/>
          <p:nvPr/>
        </p:nvSpPr>
        <p:spPr>
          <a:xfrm>
            <a:off x="698500" y="2032000"/>
            <a:ext cx="4953000" cy="2667000"/>
          </a:xfrm>
          <a:prstGeom prst="rect">
            <a:avLst/>
          </a:prstGeom>
          <a:noFill/>
        </p:spPr>
        <p:txBody>
          <a:bodyPr wrap="square" lIns="0" tIns="0" rIns="0" bIns="0">
            <a:spAutoFit/>
          </a:bodyPr>
          <a:lstStyle/>
          <a:p>
            <a:pPr marL="457200" indent="-457200">
              <a:lnSpc>
                <a:spcPct val="108000"/>
              </a:lnSpc>
              <a:spcAft>
                <a:spcPts val="1200"/>
              </a:spcAft>
              <a:buClr>
                <a:srgbClr val="166B50"/>
              </a:buClr>
              <a:buSzPct val="100000"/>
              <a:buFont typeface="Arial"/>
              <a:buAutoNum type="arabicPeriod"/>
            </a:pPr>
            <a:r>
              <a:rPr sz="1550" b="0" i="0">
                <a:solidFill>
                  <a:srgbClr val="17211D"/>
                </a:solidFill>
                <a:latin typeface="Arial"/>
              </a:rPr>
              <a:t>Travel direction = the block edge </a:t>
            </a:r>
            <a:r>
              <a:rPr sz="1550" b="1" i="0">
                <a:solidFill>
                  <a:srgbClr val="17211D"/>
                </a:solidFill>
                <a:latin typeface="Arial"/>
              </a:rPr>
              <a:t>not</a:t>
            </a:r>
            <a:r>
              <a:rPr sz="1550" b="0" i="0">
                <a:solidFill>
                  <a:srgbClr val="17211D"/>
                </a:solidFill>
                <a:latin typeface="Arial"/>
              </a:rPr>
              <a:t> in the entrance face</a:t>
            </a:r>
          </a:p>
          <a:p>
            <a:pPr marL="457200" indent="-457200">
              <a:lnSpc>
                <a:spcPct val="108000"/>
              </a:lnSpc>
              <a:spcAft>
                <a:spcPts val="1200"/>
              </a:spcAft>
              <a:buClr>
                <a:srgbClr val="166B50"/>
              </a:buClr>
              <a:buSzPct val="100000"/>
              <a:buFont typeface="Arial"/>
              <a:buAutoNum type="arabicPeriod"/>
            </a:pPr>
            <a:r>
              <a:rPr sz="1550" b="0" i="0">
                <a:solidFill>
                  <a:srgbClr val="17211D"/>
                </a:solidFill>
                <a:latin typeface="Arial"/>
              </a:rPr>
              <a:t>Point the furniture's </a:t>
            </a:r>
            <a:r>
              <a:rPr sz="1550" b="1" i="0">
                <a:solidFill>
                  <a:srgbClr val="17211D"/>
                </a:solidFill>
                <a:latin typeface="Arial"/>
              </a:rPr>
              <a:t>longest axis</a:t>
            </a:r>
            <a:r>
              <a:rPr sz="1550" b="0" i="0">
                <a:solidFill>
                  <a:srgbClr val="17211D"/>
                </a:solidFill>
                <a:latin typeface="Arial"/>
              </a:rPr>
              <a:t> along it</a:t>
            </a:r>
          </a:p>
          <a:p>
            <a:pPr marL="457200" indent="-457200">
              <a:lnSpc>
                <a:spcPct val="108000"/>
              </a:lnSpc>
              <a:spcAft>
                <a:spcPts val="1200"/>
              </a:spcAft>
              <a:buClr>
                <a:srgbClr val="166B50"/>
              </a:buClr>
              <a:buSzPct val="100000"/>
              <a:buFont typeface="Arial"/>
              <a:buAutoNum type="arabicPeriod"/>
            </a:pPr>
            <a:r>
              <a:rPr sz="1550" b="0" i="0">
                <a:solidFill>
                  <a:srgbClr val="17211D"/>
                </a:solidFill>
                <a:latin typeface="Arial"/>
              </a:rPr>
              <a:t>Project the doorway along that direction: does the </a:t>
            </a:r>
            <a:r>
              <a:rPr sz="1550" b="1" i="0">
                <a:solidFill>
                  <a:srgbClr val="17211D"/>
                </a:solidFill>
                <a:latin typeface="Arial"/>
              </a:rPr>
              <a:t>cross-section</a:t>
            </a:r>
            <a:r>
              <a:rPr sz="1550" b="0" i="0">
                <a:solidFill>
                  <a:srgbClr val="17211D"/>
                </a:solidFill>
                <a:latin typeface="Arial"/>
              </a:rPr>
              <a:t> (with clearance) fit?</a:t>
            </a:r>
          </a:p>
          <a:p>
            <a:pPr marL="457200" indent="-457200">
              <a:lnSpc>
                <a:spcPct val="108000"/>
              </a:lnSpc>
              <a:spcAft>
                <a:spcPts val="1200"/>
              </a:spcAft>
              <a:buClr>
                <a:srgbClr val="166B50"/>
              </a:buClr>
              <a:buSzPct val="100000"/>
              <a:buFont typeface="Arial"/>
              <a:buAutoNum type="arabicPeriod"/>
            </a:pPr>
            <a:r>
              <a:rPr sz="1550" b="0" i="0">
                <a:solidFill>
                  <a:srgbClr val="17211D"/>
                </a:solidFill>
                <a:latin typeface="Arial"/>
              </a:rPr>
              <a:t>Centre it, stage it outside, </a:t>
            </a:r>
            <a:r>
              <a:rPr sz="1550" b="1" i="0">
                <a:solidFill>
                  <a:srgbClr val="17211D"/>
                </a:solidFill>
                <a:latin typeface="Arial"/>
              </a:rPr>
              <a:t>slide straight in</a:t>
            </a:r>
          </a:p>
        </p:txBody>
      </p:sp>
      <p:sp>
        <p:nvSpPr>
          <p:cNvPr id="5" name="Rounded Rectangle 4"/>
          <p:cNvSpPr/>
          <p:nvPr/>
        </p:nvSpPr>
        <p:spPr>
          <a:xfrm>
            <a:off x="698500" y="4699000"/>
            <a:ext cx="4953000" cy="1079500"/>
          </a:xfrm>
          <a:prstGeom prst="roundRect">
            <a:avLst>
              <a:gd name="adj" fmla="val 14000"/>
            </a:avLst>
          </a:prstGeom>
          <a:solidFill>
            <a:srgbClr val="0E2F26"/>
          </a:solidFill>
          <a:ln>
            <a:noFill/>
          </a:ln>
          <a:effectLst/>
        </p:spPr>
        <p:style>
          <a:lnRef idx="1">
            <a:schemeClr val="accent1"/>
          </a:lnRef>
          <a:fillRef idx="3">
            <a:schemeClr val="accent1"/>
          </a:fillRef>
          <a:effectRef idx="2">
            <a:schemeClr val="accent1"/>
          </a:effectRef>
          <a:fontRef idx="minor">
            <a:schemeClr val="lt1"/>
          </a:fontRef>
        </p:style>
        <p:txBody>
          <a:bodyPr wrap="square" lIns="177800" tIns="101600" rIns="177800" bIns="101600" rtlCol="0" anchor="ctr"/>
          <a:lstStyle/>
          <a:p>
            <a:pPr algn="l">
              <a:lnSpc>
                <a:spcPct val="110000"/>
              </a:lnSpc>
            </a:pPr>
            <a:r>
              <a:rPr sz="1350" b="0" i="0">
                <a:solidFill>
                  <a:srgbClr val="EAF5EE"/>
                </a:solidFill>
                <a:latin typeface="Arial"/>
              </a:rPr>
              <a:t>Deterministic, instant, and when it fails it names the </a:t>
            </a:r>
            <a:r>
              <a:rPr sz="1350" b="1" i="0">
                <a:solidFill>
                  <a:srgbClr val="D6EF5B"/>
                </a:solidFill>
                <a:latin typeface="Arial"/>
              </a:rPr>
              <a:t>checkpoint</a:t>
            </a:r>
            <a:r>
              <a:rPr sz="1350" b="0" i="0">
                <a:solidFill>
                  <a:srgbClr val="EAF5EE"/>
                </a:solidFill>
                <a:latin typeface="Arial"/>
              </a:rPr>
              <a:t> where it got stuck. Multi-block rooms hand off between blocks with a short RRT.</a:t>
            </a:r>
          </a:p>
        </p:txBody>
      </p:sp>
      <p:graphicFrame>
        <p:nvGraphicFramePr>
          <p:cNvPr id="6" name="Table 5"/>
          <p:cNvGraphicFramePr>
            <a:graphicFrameLocks noGrp="1"/>
          </p:cNvGraphicFramePr>
          <p:nvPr/>
        </p:nvGraphicFramePr>
        <p:xfrm>
          <a:off x="6096000" y="2095500"/>
          <a:ext cx="5397500" cy="2857500"/>
        </p:xfrm>
        <a:graphic>
          <a:graphicData uri="http://schemas.openxmlformats.org/drawingml/2006/table">
            <a:tbl>
              <a:tblPr>
                <a:tableStyleId>{5C22544A-7EE6-4342-B048-85BDC9FD1C3A}</a:tableStyleId>
              </a:tblPr>
              <a:tblGrid>
                <a:gridCol w="1587500">
                  <a:extLst>
                    <a:ext uri="{9D8B030D-6E8A-4147-A177-3AD203B41FA5}">
                      <a16:colId xmlns:a16="http://schemas.microsoft.com/office/drawing/2014/main" val="20000"/>
                    </a:ext>
                  </a:extLst>
                </a:gridCol>
                <a:gridCol w="1905000">
                  <a:extLst>
                    <a:ext uri="{9D8B030D-6E8A-4147-A177-3AD203B41FA5}">
                      <a16:colId xmlns:a16="http://schemas.microsoft.com/office/drawing/2014/main" val="20001"/>
                    </a:ext>
                  </a:extLst>
                </a:gridCol>
                <a:gridCol w="1905000">
                  <a:extLst>
                    <a:ext uri="{9D8B030D-6E8A-4147-A177-3AD203B41FA5}">
                      <a16:colId xmlns:a16="http://schemas.microsoft.com/office/drawing/2014/main" val="20002"/>
                    </a:ext>
                  </a:extLst>
                </a:gridCol>
              </a:tblGrid>
              <a:tr h="571500">
                <a:tc>
                  <a:txBody>
                    <a:bodyPr/>
                    <a:lstStyle/>
                    <a:p>
                      <a:endParaRPr/>
                    </a:p>
                  </a:txBody>
                  <a:tcPr marL="152400" marR="152400" anchor="ctr">
                    <a:solidFill>
                      <a:srgbClr val="0E2F26"/>
                    </a:solidFill>
                  </a:tcPr>
                </a:tc>
                <a:tc>
                  <a:txBody>
                    <a:bodyPr/>
                    <a:lstStyle/>
                    <a:p>
                      <a:r>
                        <a:rPr sz="1300" b="1" i="0">
                          <a:solidFill>
                            <a:srgbClr val="FFFFFF"/>
                          </a:solidFill>
                          <a:latin typeface="Arial"/>
                        </a:rPr>
                        <a:t>RRT-Connect</a:t>
                      </a:r>
                    </a:p>
                  </a:txBody>
                  <a:tcPr marL="152400" marR="152400" anchor="ctr">
                    <a:solidFill>
                      <a:srgbClr val="0E2F26"/>
                    </a:solidFill>
                  </a:tcPr>
                </a:tc>
                <a:tc>
                  <a:txBody>
                    <a:bodyPr/>
                    <a:lstStyle/>
                    <a:p>
                      <a:r>
                        <a:rPr sz="1300" b="1" i="0">
                          <a:solidFill>
                            <a:srgbClr val="FFFFFF"/>
                          </a:solidFill>
                          <a:latin typeface="Arial"/>
                        </a:rPr>
                        <a:t>Heuristic</a:t>
                      </a:r>
                    </a:p>
                  </a:txBody>
                  <a:tcPr marL="152400" marR="152400" anchor="ctr">
                    <a:solidFill>
                      <a:srgbClr val="0E2F26"/>
                    </a:solidFill>
                  </a:tcPr>
                </a:tc>
                <a:extLst>
                  <a:ext uri="{0D108BD9-81ED-4DB2-BD59-A6C34878D82A}">
                    <a16:rowId xmlns:a16="http://schemas.microsoft.com/office/drawing/2014/main" val="10000"/>
                  </a:ext>
                </a:extLst>
              </a:tr>
              <a:tr h="571500">
                <a:tc>
                  <a:txBody>
                    <a:bodyPr/>
                    <a:lstStyle/>
                    <a:p>
                      <a:r>
                        <a:rPr sz="1450" b="1" i="0">
                          <a:solidFill>
                            <a:srgbClr val="166B50"/>
                          </a:solidFill>
                          <a:latin typeface="Arial"/>
                        </a:rPr>
                        <a:t>Idea</a:t>
                      </a:r>
                    </a:p>
                  </a:txBody>
                  <a:tcPr marL="152400" marR="152400" anchor="ctr">
                    <a:solidFill>
                      <a:srgbClr val="FFFFFF"/>
                    </a:solidFill>
                  </a:tcPr>
                </a:tc>
                <a:tc>
                  <a:txBody>
                    <a:bodyPr/>
                    <a:lstStyle/>
                    <a:p>
                      <a:r>
                        <a:rPr sz="1450" b="0" i="0">
                          <a:solidFill>
                            <a:srgbClr val="17211D"/>
                          </a:solidFill>
                          <a:latin typeface="Arial"/>
                        </a:rPr>
                        <a:t>Random search</a:t>
                      </a:r>
                    </a:p>
                  </a:txBody>
                  <a:tcPr marL="152400" marR="152400" anchor="ctr">
                    <a:solidFill>
                      <a:srgbClr val="FFFFFF"/>
                    </a:solidFill>
                  </a:tcPr>
                </a:tc>
                <a:tc>
                  <a:txBody>
                    <a:bodyPr/>
                    <a:lstStyle/>
                    <a:p>
                      <a:r>
                        <a:rPr sz="1450" b="0" i="0">
                          <a:solidFill>
                            <a:srgbClr val="17211D"/>
                          </a:solidFill>
                          <a:latin typeface="Arial"/>
                        </a:rPr>
                        <a:t>Slide it in straight</a:t>
                      </a:r>
                    </a:p>
                  </a:txBody>
                  <a:tcPr marL="152400" marR="152400" anchor="ctr">
                    <a:solidFill>
                      <a:srgbClr val="FFFFFF"/>
                    </a:solidFill>
                  </a:tcPr>
                </a:tc>
                <a:extLst>
                  <a:ext uri="{0D108BD9-81ED-4DB2-BD59-A6C34878D82A}">
                    <a16:rowId xmlns:a16="http://schemas.microsoft.com/office/drawing/2014/main" val="10001"/>
                  </a:ext>
                </a:extLst>
              </a:tr>
              <a:tr h="571500">
                <a:tc>
                  <a:txBody>
                    <a:bodyPr/>
                    <a:lstStyle/>
                    <a:p>
                      <a:r>
                        <a:rPr sz="1450" b="1" i="0">
                          <a:solidFill>
                            <a:srgbClr val="166B50"/>
                          </a:solidFill>
                          <a:latin typeface="Arial"/>
                        </a:rPr>
                        <a:t>Result</a:t>
                      </a:r>
                    </a:p>
                  </a:txBody>
                  <a:tcPr marL="152400" marR="152400" anchor="ctr">
                    <a:solidFill>
                      <a:srgbClr val="FFFFFF"/>
                    </a:solidFill>
                  </a:tcPr>
                </a:tc>
                <a:tc>
                  <a:txBody>
                    <a:bodyPr/>
                    <a:lstStyle/>
                    <a:p>
                      <a:r>
                        <a:rPr sz="1450" b="0" i="0">
                          <a:solidFill>
                            <a:srgbClr val="17211D"/>
                          </a:solidFill>
                          <a:latin typeface="Arial"/>
                        </a:rPr>
                        <a:t>Different each run</a:t>
                      </a:r>
                    </a:p>
                  </a:txBody>
                  <a:tcPr marL="152400" marR="152400" anchor="ctr">
                    <a:solidFill>
                      <a:srgbClr val="FFFFFF"/>
                    </a:solidFill>
                  </a:tcPr>
                </a:tc>
                <a:tc>
                  <a:txBody>
                    <a:bodyPr/>
                    <a:lstStyle/>
                    <a:p>
                      <a:r>
                        <a:rPr sz="1450" b="0" i="0">
                          <a:solidFill>
                            <a:srgbClr val="17211D"/>
                          </a:solidFill>
                          <a:latin typeface="Arial"/>
                        </a:rPr>
                        <a:t>Same every run</a:t>
                      </a:r>
                    </a:p>
                  </a:txBody>
                  <a:tcPr marL="152400" marR="152400" anchor="ctr">
                    <a:solidFill>
                      <a:srgbClr val="FFFFFF"/>
                    </a:solidFill>
                  </a:tcPr>
                </a:tc>
                <a:extLst>
                  <a:ext uri="{0D108BD9-81ED-4DB2-BD59-A6C34878D82A}">
                    <a16:rowId xmlns:a16="http://schemas.microsoft.com/office/drawing/2014/main" val="10002"/>
                  </a:ext>
                </a:extLst>
              </a:tr>
              <a:tr h="571500">
                <a:tc>
                  <a:txBody>
                    <a:bodyPr/>
                    <a:lstStyle/>
                    <a:p>
                      <a:r>
                        <a:rPr sz="1450" b="1" i="0">
                          <a:solidFill>
                            <a:srgbClr val="166B50"/>
                          </a:solidFill>
                          <a:latin typeface="Arial"/>
                        </a:rPr>
                        <a:t>Handles turns</a:t>
                      </a:r>
                    </a:p>
                  </a:txBody>
                  <a:tcPr marL="152400" marR="152400" anchor="ctr">
                    <a:solidFill>
                      <a:srgbClr val="FFFFFF"/>
                    </a:solidFill>
                  </a:tcPr>
                </a:tc>
                <a:tc>
                  <a:txBody>
                    <a:bodyPr/>
                    <a:lstStyle/>
                    <a:p>
                      <a:r>
                        <a:rPr sz="1450" b="0" i="0">
                          <a:solidFill>
                            <a:srgbClr val="17211D"/>
                          </a:solidFill>
                          <a:latin typeface="Arial"/>
                        </a:rPr>
                        <a:t>Yes</a:t>
                      </a:r>
                    </a:p>
                  </a:txBody>
                  <a:tcPr marL="152400" marR="152400" anchor="ctr">
                    <a:solidFill>
                      <a:srgbClr val="FFFFFF"/>
                    </a:solidFill>
                  </a:tcPr>
                </a:tc>
                <a:tc>
                  <a:txBody>
                    <a:bodyPr/>
                    <a:lstStyle/>
                    <a:p>
                      <a:r>
                        <a:rPr sz="1450" b="0" i="0">
                          <a:solidFill>
                            <a:srgbClr val="17211D"/>
                          </a:solidFill>
                          <a:latin typeface="Arial"/>
                        </a:rPr>
                        <a:t>Via handoffs</a:t>
                      </a:r>
                    </a:p>
                  </a:txBody>
                  <a:tcPr marL="152400" marR="152400" anchor="ctr">
                    <a:solidFill>
                      <a:srgbClr val="FFFFFF"/>
                    </a:solidFill>
                  </a:tcPr>
                </a:tc>
                <a:extLst>
                  <a:ext uri="{0D108BD9-81ED-4DB2-BD59-A6C34878D82A}">
                    <a16:rowId xmlns:a16="http://schemas.microsoft.com/office/drawing/2014/main" val="10003"/>
                  </a:ext>
                </a:extLst>
              </a:tr>
              <a:tr h="571500">
                <a:tc>
                  <a:txBody>
                    <a:bodyPr/>
                    <a:lstStyle/>
                    <a:p>
                      <a:r>
                        <a:rPr sz="1450" b="1" i="0">
                          <a:solidFill>
                            <a:srgbClr val="166B50"/>
                          </a:solidFill>
                          <a:latin typeface="Arial"/>
                        </a:rPr>
                        <a:t>On failure</a:t>
                      </a:r>
                    </a:p>
                  </a:txBody>
                  <a:tcPr marL="152400" marR="152400" anchor="ctr">
                    <a:solidFill>
                      <a:srgbClr val="FFFFFF"/>
                    </a:solidFill>
                  </a:tcPr>
                </a:tc>
                <a:tc>
                  <a:txBody>
                    <a:bodyPr/>
                    <a:lstStyle/>
                    <a:p>
                      <a:r>
                        <a:rPr sz="1450" b="0" i="0">
                          <a:solidFill>
                            <a:srgbClr val="17211D"/>
                          </a:solidFill>
                          <a:latin typeface="Arial"/>
                        </a:rPr>
                        <a:t>Try again</a:t>
                      </a:r>
                    </a:p>
                  </a:txBody>
                  <a:tcPr marL="152400" marR="152400" anchor="ctr">
                    <a:solidFill>
                      <a:srgbClr val="FFFFFF"/>
                    </a:solidFill>
                  </a:tcPr>
                </a:tc>
                <a:tc>
                  <a:txBody>
                    <a:bodyPr/>
                    <a:lstStyle/>
                    <a:p>
                      <a:r>
                        <a:rPr sz="1450" b="0" i="0">
                          <a:solidFill>
                            <a:srgbClr val="17211D"/>
                          </a:solidFill>
                          <a:latin typeface="Arial"/>
                        </a:rPr>
                        <a:t>Shows the stuck spot</a:t>
                      </a:r>
                    </a:p>
                  </a:txBody>
                  <a:tcPr marL="152400" marR="152400" anchor="ctr">
                    <a:solidFill>
                      <a:srgbClr val="FFFFFF"/>
                    </a:solidFill>
                  </a:tcPr>
                </a:tc>
                <a:extLst>
                  <a:ext uri="{0D108BD9-81ED-4DB2-BD59-A6C34878D82A}">
                    <a16:rowId xmlns:a16="http://schemas.microsoft.com/office/drawing/2014/main" val="10004"/>
                  </a:ext>
                </a:extLst>
              </a:tr>
            </a:tbl>
          </a:graphicData>
        </a:graphic>
      </p:graphicFrame>
      <p:pic>
        <p:nvPicPr>
          <p:cNvPr id="21" name="Audio 20">
            <a:extLst>
              <a:ext uri="{FF2B5EF4-FFF2-40B4-BE49-F238E27FC236}">
                <a16:creationId xmlns:a16="http://schemas.microsoft.com/office/drawing/2014/main" id="{1B58BA4A-96FE-C24C-741B-D46BD621CFAA}"/>
              </a:ext>
            </a:extLst>
          </p:cNvPr>
          <p:cNvPicPr>
            <a:picLocks noChangeAspect="1"/>
          </p:cNvPicPr>
          <p:nvPr>
            <a:audioFile r:link="rId2"/>
            <p:extLst>
              <p:ext uri="{DAA4B4D4-6D71-4841-9C94-3DE7FCFB9230}">
                <p14:media xmlns:p14="http://schemas.microsoft.com/office/powerpoint/2010/main" r:embed="rId1"/>
              </p:ext>
            </p:extLst>
          </p:nvPr>
        </p:nvPicPr>
        <p:blipFill>
          <a:blip r:embed="rId5"/>
          <a:stretch>
            <a:fillRect/>
          </a:stretch>
        </p:blipFill>
        <p:spPr>
          <a:xfrm>
            <a:off x="11226800" y="5892800"/>
            <a:ext cx="812800" cy="812800"/>
          </a:xfrm>
          <a:prstGeom prst="rect">
            <a:avLst/>
          </a:prstGeom>
        </p:spPr>
      </p:pic>
    </p:spTree>
  </p:cSld>
  <p:clrMapOvr>
    <a:masterClrMapping/>
  </p:clrMapOvr>
  <mc:AlternateContent xmlns:mc="http://schemas.openxmlformats.org/markup-compatibility/2006" xmlns:p14="http://schemas.microsoft.com/office/powerpoint/2010/main">
    <mc:Choice Requires="p14">
      <p:transition spd="slow" p14:dur="2000" advTm="44131"/>
    </mc:Choice>
    <mc:Fallback xmlns="">
      <p:transition spd="slow" advTm="44131"/>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1" fill="hold"/>
                                        <p:tgtEl>
                                          <p:spTgt spid="21"/>
                                        </p:tgtEl>
                                      </p:cBhvr>
                                    </p:cmd>
                                  </p:childTnLst>
                                </p:cTn>
                              </p:par>
                            </p:childTnLst>
                          </p:cTn>
                        </p:par>
                      </p:childTnLst>
                    </p:cTn>
                  </p:par>
                </p:childTnLst>
              </p:cTn>
              <p:prevCondLst>
                <p:cond evt="onPrev" delay="0">
                  <p:tgtEl>
                    <p:sldTgt/>
                  </p:tgtEl>
                </p:cond>
              </p:prevCondLst>
              <p:nextCondLst>
                <p:cond evt="onNext" delay="0">
                  <p:tgtEl>
                    <p:sldTgt/>
                  </p:tgtEl>
                </p:cond>
              </p:nextCondLst>
            </p:seq>
            <p:audio isNarration="1">
              <p:cMediaNode vol="80000" showWhenStopped="0">
                <p:cTn id="7" fill="hold" display="0">
                  <p:stCondLst>
                    <p:cond delay="indefinite"/>
                  </p:stCondLst>
                  <p:endCondLst>
                    <p:cond evt="onStopAudio" delay="0">
                      <p:tgtEl>
                        <p:sldTgt/>
                      </p:tgtEl>
                    </p:cond>
                  </p:endCondLst>
                </p:cTn>
                <p:tgtEl>
                  <p:spTgt spid="21"/>
                </p:tgtEl>
              </p:cMediaNode>
            </p:audio>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4F6F2"/>
        </a:solidFill>
        <a:effectLst/>
      </p:bgPr>
    </p:bg>
    <p:spTree>
      <p:nvGrpSpPr>
        <p:cNvPr id="1" name=""/>
        <p:cNvGrpSpPr/>
        <p:nvPr/>
      </p:nvGrpSpPr>
      <p:grpSpPr>
        <a:xfrm>
          <a:off x="0" y="0"/>
          <a:ext cx="0" cy="0"/>
          <a:chOff x="0" y="0"/>
          <a:chExt cx="0" cy="0"/>
        </a:xfrm>
      </p:grpSpPr>
      <p:sp>
        <p:nvSpPr>
          <p:cNvPr id="2" name="Rounded Rectangle 1"/>
          <p:cNvSpPr/>
          <p:nvPr/>
        </p:nvSpPr>
        <p:spPr>
          <a:xfrm>
            <a:off x="698500" y="533400"/>
            <a:ext cx="1327150" cy="292100"/>
          </a:xfrm>
          <a:prstGeom prst="roundRect">
            <a:avLst>
              <a:gd name="adj" fmla="val 50000"/>
            </a:avLst>
          </a:prstGeom>
          <a:solidFill>
            <a:srgbClr val="E3F2EA"/>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100" b="1" i="0" spc="150">
                <a:solidFill>
                  <a:srgbClr val="166B50"/>
                </a:solidFill>
                <a:latin typeface="Arial"/>
              </a:rPr>
              <a:t>YOUR TURN</a:t>
            </a:r>
          </a:p>
        </p:txBody>
      </p:sp>
      <p:sp>
        <p:nvSpPr>
          <p:cNvPr id="3" name="TextBox 2"/>
          <p:cNvSpPr txBox="1"/>
          <p:nvPr/>
        </p:nvSpPr>
        <p:spPr>
          <a:xfrm>
            <a:off x="698500" y="952500"/>
            <a:ext cx="10795000" cy="825500"/>
          </a:xfrm>
          <a:prstGeom prst="rect">
            <a:avLst/>
          </a:prstGeom>
          <a:noFill/>
        </p:spPr>
        <p:txBody>
          <a:bodyPr wrap="square" lIns="0" tIns="0" rIns="0" bIns="0" anchor="t">
            <a:spAutoFit/>
          </a:bodyPr>
          <a:lstStyle/>
          <a:p>
            <a:pPr algn="l">
              <a:lnSpc>
                <a:spcPct val="100000"/>
              </a:lnSpc>
              <a:spcAft>
                <a:spcPts val="0"/>
              </a:spcAft>
            </a:pPr>
            <a:r>
              <a:rPr sz="3800" b="1" i="0">
                <a:solidFill>
                  <a:srgbClr val="17211D"/>
                </a:solidFill>
                <a:latin typeface="Arial"/>
              </a:rPr>
              <a:t>Challenge: find the </a:t>
            </a:r>
            <a:r>
              <a:rPr sz="3800" b="1" i="0">
                <a:solidFill>
                  <a:srgbClr val="166B50"/>
                </a:solidFill>
                <a:latin typeface="Arial"/>
              </a:rPr>
              <a:t>tipping point</a:t>
            </a:r>
          </a:p>
        </p:txBody>
      </p:sp>
      <p:sp>
        <p:nvSpPr>
          <p:cNvPr id="4" name="TextBox 3"/>
          <p:cNvSpPr txBox="1"/>
          <p:nvPr/>
        </p:nvSpPr>
        <p:spPr>
          <a:xfrm>
            <a:off x="698500" y="2095500"/>
            <a:ext cx="5080000" cy="2494850"/>
          </a:xfrm>
          <a:prstGeom prst="rect">
            <a:avLst/>
          </a:prstGeom>
          <a:noFill/>
        </p:spPr>
        <p:txBody>
          <a:bodyPr wrap="square" lIns="0" tIns="0" rIns="0" bIns="0">
            <a:spAutoFit/>
          </a:bodyPr>
          <a:lstStyle/>
          <a:p>
            <a:pPr marL="457200" indent="-457200">
              <a:lnSpc>
                <a:spcPct val="108000"/>
              </a:lnSpc>
              <a:spcAft>
                <a:spcPts val="1600"/>
              </a:spcAft>
              <a:buClr>
                <a:srgbClr val="166B50"/>
              </a:buClr>
              <a:buSzPct val="100000"/>
              <a:buFont typeface="Arial"/>
              <a:buAutoNum type="arabicPeriod"/>
            </a:pPr>
            <a:r>
              <a:rPr sz="1700" b="0" i="0" dirty="0">
                <a:solidFill>
                  <a:srgbClr val="17211D"/>
                </a:solidFill>
                <a:latin typeface="Arial"/>
              </a:rPr>
              <a:t>Build an </a:t>
            </a:r>
            <a:r>
              <a:rPr sz="1700" b="1" i="0" dirty="0">
                <a:solidFill>
                  <a:srgbClr val="17211D"/>
                </a:solidFill>
                <a:latin typeface="Arial"/>
              </a:rPr>
              <a:t>L-shaped hallway</a:t>
            </a:r>
            <a:r>
              <a:rPr sz="1700" b="0" i="0" dirty="0">
                <a:solidFill>
                  <a:srgbClr val="17211D"/>
                </a:solidFill>
                <a:latin typeface="Arial"/>
              </a:rPr>
              <a:t>: two blocks</a:t>
            </a:r>
            <a:r>
              <a:rPr lang="en-US" sz="1700" b="0" i="0" dirty="0">
                <a:solidFill>
                  <a:srgbClr val="17211D"/>
                </a:solidFill>
                <a:latin typeface="Arial"/>
              </a:rPr>
              <a:t> (5 * 2 * 2)</a:t>
            </a:r>
            <a:r>
              <a:rPr sz="1700" b="0" i="0" dirty="0">
                <a:solidFill>
                  <a:srgbClr val="17211D"/>
                </a:solidFill>
                <a:latin typeface="Arial"/>
              </a:rPr>
              <a:t>, connected end to end</a:t>
            </a:r>
          </a:p>
          <a:p>
            <a:pPr marL="457200" indent="-457200">
              <a:lnSpc>
                <a:spcPct val="108000"/>
              </a:lnSpc>
              <a:spcAft>
                <a:spcPts val="1600"/>
              </a:spcAft>
              <a:buClr>
                <a:srgbClr val="166B50"/>
              </a:buClr>
              <a:buSzPct val="100000"/>
              <a:buFont typeface="Arial"/>
              <a:buAutoNum type="arabicPeriod"/>
            </a:pPr>
            <a:r>
              <a:rPr sz="1700" b="0" i="0" dirty="0">
                <a:solidFill>
                  <a:srgbClr val="17211D"/>
                </a:solidFill>
                <a:latin typeface="Arial"/>
              </a:rPr>
              <a:t>Furniture </a:t>
            </a:r>
            <a:r>
              <a:rPr lang="en-US" sz="1700" b="0" i="0" dirty="0">
                <a:solidFill>
                  <a:srgbClr val="17211D"/>
                </a:solidFill>
                <a:latin typeface="Arial"/>
              </a:rPr>
              <a:t>(</a:t>
            </a:r>
            <a:r>
              <a:rPr lang="en-US" sz="1700" b="1" dirty="0">
                <a:solidFill>
                  <a:srgbClr val="17211D"/>
                </a:solidFill>
                <a:latin typeface="Courier New"/>
              </a:rPr>
              <a:t>1</a:t>
            </a:r>
            <a:r>
              <a:rPr sz="1700" b="1" i="0" dirty="0">
                <a:solidFill>
                  <a:srgbClr val="17211D"/>
                </a:solidFill>
                <a:latin typeface="Courier New"/>
              </a:rPr>
              <a:t>.5</a:t>
            </a:r>
            <a:r>
              <a:rPr lang="en-US" sz="1700" b="1" i="0" dirty="0">
                <a:solidFill>
                  <a:srgbClr val="17211D"/>
                </a:solidFill>
                <a:latin typeface="Courier New"/>
              </a:rPr>
              <a:t> * </a:t>
            </a:r>
            <a:r>
              <a:rPr sz="1700" b="1" i="0" dirty="0">
                <a:solidFill>
                  <a:srgbClr val="17211D"/>
                </a:solidFill>
                <a:latin typeface="Courier New"/>
              </a:rPr>
              <a:t>1.2 </a:t>
            </a:r>
            <a:r>
              <a:rPr lang="en-US" sz="1700" b="1" i="0" dirty="0">
                <a:solidFill>
                  <a:srgbClr val="17211D"/>
                </a:solidFill>
                <a:latin typeface="Courier New"/>
              </a:rPr>
              <a:t>* </a:t>
            </a:r>
            <a:r>
              <a:rPr sz="1700" b="1" i="0" dirty="0">
                <a:solidFill>
                  <a:srgbClr val="17211D"/>
                </a:solidFill>
                <a:latin typeface="Courier New"/>
              </a:rPr>
              <a:t>1.2</a:t>
            </a:r>
            <a:r>
              <a:rPr lang="en-US" sz="1700" b="1" i="0" dirty="0">
                <a:solidFill>
                  <a:srgbClr val="17211D"/>
                </a:solidFill>
                <a:latin typeface="Courier New"/>
              </a:rPr>
              <a:t>)</a:t>
            </a:r>
            <a:r>
              <a:rPr sz="1700" b="0" i="0" dirty="0">
                <a:solidFill>
                  <a:srgbClr val="17211D"/>
                </a:solidFill>
                <a:latin typeface="Arial"/>
              </a:rPr>
              <a:t>, clearance </a:t>
            </a:r>
            <a:r>
              <a:rPr sz="1700" b="1" i="0" dirty="0">
                <a:solidFill>
                  <a:srgbClr val="17211D"/>
                </a:solidFill>
                <a:latin typeface="Courier New"/>
              </a:rPr>
              <a:t>0.1</a:t>
            </a:r>
          </a:p>
          <a:p>
            <a:pPr marL="457200" indent="-457200">
              <a:lnSpc>
                <a:spcPct val="108000"/>
              </a:lnSpc>
              <a:spcAft>
                <a:spcPts val="1600"/>
              </a:spcAft>
              <a:buClr>
                <a:srgbClr val="166B50"/>
              </a:buClr>
              <a:buSzPct val="100000"/>
              <a:buFont typeface="Arial"/>
              <a:buAutoNum type="arabicPeriod"/>
            </a:pPr>
            <a:r>
              <a:rPr sz="1700" b="0" i="0" dirty="0">
                <a:solidFill>
                  <a:srgbClr val="17211D"/>
                </a:solidFill>
                <a:latin typeface="Arial"/>
              </a:rPr>
              <a:t>Try it </a:t>
            </a:r>
            <a:r>
              <a:rPr sz="1700" b="1" i="0" dirty="0">
                <a:solidFill>
                  <a:srgbClr val="17211D"/>
                </a:solidFill>
                <a:latin typeface="Arial"/>
              </a:rPr>
              <a:t>manually</a:t>
            </a:r>
            <a:r>
              <a:rPr sz="1700" b="0" i="0" dirty="0">
                <a:solidFill>
                  <a:srgbClr val="17211D"/>
                </a:solidFill>
                <a:latin typeface="Arial"/>
              </a:rPr>
              <a:t>, then run </a:t>
            </a:r>
            <a:r>
              <a:rPr sz="1700" b="1" i="0" dirty="0">
                <a:solidFill>
                  <a:srgbClr val="17211D"/>
                </a:solidFill>
                <a:latin typeface="Arial"/>
              </a:rPr>
              <a:t>both solvers</a:t>
            </a:r>
          </a:p>
          <a:p>
            <a:pPr marL="457200" indent="-457200">
              <a:lnSpc>
                <a:spcPct val="108000"/>
              </a:lnSpc>
              <a:spcAft>
                <a:spcPts val="1600"/>
              </a:spcAft>
              <a:buClr>
                <a:srgbClr val="166B50"/>
              </a:buClr>
              <a:buSzPct val="100000"/>
              <a:buFont typeface="Arial"/>
              <a:buAutoNum type="arabicPeriod"/>
            </a:pPr>
            <a:r>
              <a:rPr lang="en-US" sz="1700" b="0" i="0" dirty="0">
                <a:solidFill>
                  <a:srgbClr val="17211D"/>
                </a:solidFill>
                <a:latin typeface="Arial"/>
              </a:rPr>
              <a:t>Increase the furniture size</a:t>
            </a:r>
            <a:r>
              <a:rPr sz="1700" b="0" i="0" dirty="0">
                <a:solidFill>
                  <a:srgbClr val="17211D"/>
                </a:solidFill>
                <a:latin typeface="Arial"/>
              </a:rPr>
              <a:t> until it </a:t>
            </a:r>
            <a:r>
              <a:rPr sz="1700" b="1" i="0" dirty="0">
                <a:solidFill>
                  <a:srgbClr val="17211D"/>
                </a:solidFill>
                <a:latin typeface="Arial"/>
              </a:rPr>
              <a:t>stops fitting</a:t>
            </a:r>
          </a:p>
          <a:p>
            <a:pPr marL="457200" indent="-457200">
              <a:lnSpc>
                <a:spcPct val="108000"/>
              </a:lnSpc>
              <a:spcAft>
                <a:spcPts val="1600"/>
              </a:spcAft>
              <a:buClr>
                <a:srgbClr val="166B50"/>
              </a:buClr>
              <a:buSzPct val="100000"/>
              <a:buFont typeface="Arial"/>
              <a:buAutoNum type="arabicPeriod"/>
            </a:pPr>
            <a:r>
              <a:rPr sz="1700" b="0" i="0" dirty="0">
                <a:solidFill>
                  <a:srgbClr val="17211D"/>
                </a:solidFill>
                <a:latin typeface="Arial"/>
              </a:rPr>
              <a:t>Does </a:t>
            </a:r>
            <a:r>
              <a:rPr sz="1700" b="1" i="0" dirty="0">
                <a:solidFill>
                  <a:srgbClr val="17211D"/>
                </a:solidFill>
                <a:latin typeface="Arial"/>
              </a:rPr>
              <a:t>roll sampling</a:t>
            </a:r>
            <a:r>
              <a:rPr sz="1700" b="0" i="0" dirty="0">
                <a:solidFill>
                  <a:srgbClr val="17211D"/>
                </a:solidFill>
                <a:latin typeface="Arial"/>
              </a:rPr>
              <a:t> rescue it?</a:t>
            </a:r>
          </a:p>
        </p:txBody>
      </p:sp>
      <p:sp>
        <p:nvSpPr>
          <p:cNvPr id="5" name="Rounded Rectangle 4"/>
          <p:cNvSpPr/>
          <p:nvPr/>
        </p:nvSpPr>
        <p:spPr>
          <a:xfrm>
            <a:off x="6350000" y="2159000"/>
            <a:ext cx="5143500" cy="2794000"/>
          </a:xfrm>
          <a:prstGeom prst="roundRect">
            <a:avLst>
              <a:gd name="adj" fmla="val 7000"/>
            </a:avLst>
          </a:prstGeom>
          <a:solidFill>
            <a:srgbClr val="FFFFFF"/>
          </a:solidFill>
          <a:ln w="12700">
            <a:solidFill>
              <a:srgbClr val="DCE2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350000" y="2476500"/>
            <a:ext cx="5143500" cy="952500"/>
          </a:xfrm>
          <a:prstGeom prst="rect">
            <a:avLst/>
          </a:prstGeom>
          <a:noFill/>
        </p:spPr>
        <p:txBody>
          <a:bodyPr wrap="square" lIns="0" tIns="0" rIns="0" bIns="0" anchor="t">
            <a:spAutoFit/>
          </a:bodyPr>
          <a:lstStyle/>
          <a:p>
            <a:pPr algn="ctr">
              <a:lnSpc>
                <a:spcPct val="112000"/>
              </a:lnSpc>
              <a:spcAft>
                <a:spcPts val="0"/>
              </a:spcAft>
            </a:pPr>
            <a:r>
              <a:rPr sz="6000" b="0" i="0">
                <a:solidFill>
                  <a:srgbClr val="17211D"/>
                </a:solidFill>
                <a:latin typeface="Arial"/>
              </a:rPr>
              <a:t>🛋️</a:t>
            </a:r>
          </a:p>
        </p:txBody>
      </p:sp>
      <p:sp>
        <p:nvSpPr>
          <p:cNvPr id="7" name="TextBox 6"/>
          <p:cNvSpPr txBox="1"/>
          <p:nvPr/>
        </p:nvSpPr>
        <p:spPr>
          <a:xfrm>
            <a:off x="6731000" y="3556000"/>
            <a:ext cx="4381500" cy="745525"/>
          </a:xfrm>
          <a:prstGeom prst="rect">
            <a:avLst/>
          </a:prstGeom>
          <a:noFill/>
        </p:spPr>
        <p:txBody>
          <a:bodyPr wrap="square" lIns="0" tIns="0" rIns="0" bIns="0" anchor="t">
            <a:spAutoFit/>
          </a:bodyPr>
          <a:lstStyle/>
          <a:p>
            <a:pPr algn="ctr">
              <a:lnSpc>
                <a:spcPct val="115000"/>
              </a:lnSpc>
              <a:spcAft>
                <a:spcPts val="0"/>
              </a:spcAft>
            </a:pPr>
            <a:r>
              <a:rPr sz="2200" b="1" i="0" dirty="0">
                <a:solidFill>
                  <a:srgbClr val="17211D"/>
                </a:solidFill>
                <a:latin typeface="Arial"/>
              </a:rPr>
              <a:t>What's the </a:t>
            </a:r>
            <a:r>
              <a:rPr lang="en-US" sz="2200" b="1" i="0" dirty="0">
                <a:solidFill>
                  <a:srgbClr val="17211D"/>
                </a:solidFill>
                <a:latin typeface="Arial"/>
              </a:rPr>
              <a:t>largest sofa that fits your hallway</a:t>
            </a:r>
            <a:r>
              <a:rPr sz="2200" b="1" i="0" dirty="0">
                <a:solidFill>
                  <a:srgbClr val="17211D"/>
                </a:solidFill>
                <a:latin typeface="Arial"/>
              </a:rPr>
              <a:t>?</a:t>
            </a:r>
          </a:p>
        </p:txBody>
      </p:sp>
      <p:sp>
        <p:nvSpPr>
          <p:cNvPr id="8" name="TextBox 7"/>
          <p:cNvSpPr txBox="1"/>
          <p:nvPr/>
        </p:nvSpPr>
        <p:spPr>
          <a:xfrm>
            <a:off x="6731000" y="4381500"/>
            <a:ext cx="4381500" cy="317500"/>
          </a:xfrm>
          <a:prstGeom prst="rect">
            <a:avLst/>
          </a:prstGeom>
          <a:noFill/>
        </p:spPr>
        <p:txBody>
          <a:bodyPr wrap="square" lIns="0" tIns="0" rIns="0" bIns="0" anchor="t">
            <a:spAutoFit/>
          </a:bodyPr>
          <a:lstStyle/>
          <a:p>
            <a:pPr algn="ctr">
              <a:lnSpc>
                <a:spcPct val="112000"/>
              </a:lnSpc>
              <a:spcAft>
                <a:spcPts val="0"/>
              </a:spcAft>
            </a:pPr>
            <a:r>
              <a:rPr sz="1500" b="0" i="0" dirty="0">
                <a:solidFill>
                  <a:srgbClr val="5D6963"/>
                </a:solidFill>
                <a:latin typeface="Arial"/>
              </a:rPr>
              <a:t>Share your number in the comments.</a:t>
            </a:r>
          </a:p>
        </p:txBody>
      </p:sp>
      <p:pic>
        <p:nvPicPr>
          <p:cNvPr id="10" name="Picture 9">
            <a:extLst>
              <a:ext uri="{FF2B5EF4-FFF2-40B4-BE49-F238E27FC236}">
                <a16:creationId xmlns:a16="http://schemas.microsoft.com/office/drawing/2014/main" id="{9052F4E8-DAE5-BD11-0FE5-AADE50D7AF0D}"/>
              </a:ext>
            </a:extLst>
          </p:cNvPr>
          <p:cNvPicPr>
            <a:picLocks noChangeAspect="1"/>
          </p:cNvPicPr>
          <p:nvPr/>
        </p:nvPicPr>
        <p:blipFill>
          <a:blip r:embed="rId5"/>
          <a:stretch>
            <a:fillRect/>
          </a:stretch>
        </p:blipFill>
        <p:spPr>
          <a:xfrm>
            <a:off x="1742696" y="4699000"/>
            <a:ext cx="1991306" cy="1933447"/>
          </a:xfrm>
          <a:prstGeom prst="rect">
            <a:avLst/>
          </a:prstGeom>
        </p:spPr>
      </p:pic>
      <p:cxnSp>
        <p:nvCxnSpPr>
          <p:cNvPr id="12" name="Straight Arrow Connector 11">
            <a:extLst>
              <a:ext uri="{FF2B5EF4-FFF2-40B4-BE49-F238E27FC236}">
                <a16:creationId xmlns:a16="http://schemas.microsoft.com/office/drawing/2014/main" id="{8A8EC915-34A4-8D52-7BB7-92C6FD63FE32}"/>
              </a:ext>
            </a:extLst>
          </p:cNvPr>
          <p:cNvCxnSpPr/>
          <p:nvPr/>
        </p:nvCxnSpPr>
        <p:spPr>
          <a:xfrm flipH="1">
            <a:off x="3467819" y="4953000"/>
            <a:ext cx="638355" cy="13658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3" name="Straight Arrow Connector 12">
            <a:extLst>
              <a:ext uri="{FF2B5EF4-FFF2-40B4-BE49-F238E27FC236}">
                <a16:creationId xmlns:a16="http://schemas.microsoft.com/office/drawing/2014/main" id="{B1D9A6F3-C46D-A38F-8F5D-E2B5F340021C}"/>
              </a:ext>
            </a:extLst>
          </p:cNvPr>
          <p:cNvCxnSpPr/>
          <p:nvPr/>
        </p:nvCxnSpPr>
        <p:spPr>
          <a:xfrm flipH="1">
            <a:off x="1777202" y="6528930"/>
            <a:ext cx="638355" cy="13658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4" name="TextBox 13">
            <a:extLst>
              <a:ext uri="{FF2B5EF4-FFF2-40B4-BE49-F238E27FC236}">
                <a16:creationId xmlns:a16="http://schemas.microsoft.com/office/drawing/2014/main" id="{552F06BB-3C43-321D-839B-F08688EFA4C5}"/>
              </a:ext>
            </a:extLst>
          </p:cNvPr>
          <p:cNvSpPr txBox="1"/>
          <p:nvPr/>
        </p:nvSpPr>
        <p:spPr>
          <a:xfrm>
            <a:off x="4106174" y="4836626"/>
            <a:ext cx="1016625" cy="369332"/>
          </a:xfrm>
          <a:prstGeom prst="rect">
            <a:avLst/>
          </a:prstGeom>
          <a:noFill/>
        </p:spPr>
        <p:txBody>
          <a:bodyPr wrap="none" rtlCol="0">
            <a:spAutoFit/>
          </a:bodyPr>
          <a:lstStyle/>
          <a:p>
            <a:r>
              <a:rPr lang="en-US" dirty="0"/>
              <a:t>entrance</a:t>
            </a:r>
          </a:p>
        </p:txBody>
      </p:sp>
      <p:sp>
        <p:nvSpPr>
          <p:cNvPr id="15" name="TextBox 14">
            <a:extLst>
              <a:ext uri="{FF2B5EF4-FFF2-40B4-BE49-F238E27FC236}">
                <a16:creationId xmlns:a16="http://schemas.microsoft.com/office/drawing/2014/main" id="{9E8B4FFB-1F16-2042-7C57-59A2D3BE8135}"/>
              </a:ext>
            </a:extLst>
          </p:cNvPr>
          <p:cNvSpPr txBox="1"/>
          <p:nvPr/>
        </p:nvSpPr>
        <p:spPr>
          <a:xfrm>
            <a:off x="1157568" y="6447781"/>
            <a:ext cx="524503" cy="369332"/>
          </a:xfrm>
          <a:prstGeom prst="rect">
            <a:avLst/>
          </a:prstGeom>
          <a:noFill/>
        </p:spPr>
        <p:txBody>
          <a:bodyPr wrap="none" rtlCol="0">
            <a:spAutoFit/>
          </a:bodyPr>
          <a:lstStyle/>
          <a:p>
            <a:r>
              <a:rPr lang="en-US" dirty="0"/>
              <a:t>exit</a:t>
            </a:r>
          </a:p>
        </p:txBody>
      </p:sp>
      <p:pic>
        <p:nvPicPr>
          <p:cNvPr id="27" name="Audio 26">
            <a:extLst>
              <a:ext uri="{FF2B5EF4-FFF2-40B4-BE49-F238E27FC236}">
                <a16:creationId xmlns:a16="http://schemas.microsoft.com/office/drawing/2014/main" id="{AE815F0D-F97D-EB68-0E5A-A7F7EBAB76A1}"/>
              </a:ext>
            </a:extLst>
          </p:cNvPr>
          <p:cNvPicPr>
            <a:picLocks noChangeAspect="1"/>
          </p:cNvPicPr>
          <p:nvPr>
            <a:audioFile r:link="rId2"/>
            <p:extLst>
              <p:ext uri="{DAA4B4D4-6D71-4841-9C94-3DE7FCFB9230}">
                <p14:media xmlns:p14="http://schemas.microsoft.com/office/powerpoint/2010/main" r:embed="rId1"/>
              </p:ext>
            </p:extLst>
          </p:nvPr>
        </p:nvPicPr>
        <p:blipFill>
          <a:blip r:embed="rId6"/>
          <a:stretch>
            <a:fillRect/>
          </a:stretch>
        </p:blipFill>
        <p:spPr>
          <a:xfrm>
            <a:off x="11226800" y="5892800"/>
            <a:ext cx="812800" cy="812800"/>
          </a:xfrm>
          <a:prstGeom prst="rect">
            <a:avLst/>
          </a:prstGeom>
        </p:spPr>
      </p:pic>
    </p:spTree>
  </p:cSld>
  <p:clrMapOvr>
    <a:masterClrMapping/>
  </p:clrMapOvr>
  <mc:AlternateContent xmlns:mc="http://schemas.openxmlformats.org/markup-compatibility/2006" xmlns:p14="http://schemas.microsoft.com/office/powerpoint/2010/main">
    <mc:Choice Requires="p14">
      <p:transition spd="slow" p14:dur="2000" advTm="35465"/>
    </mc:Choice>
    <mc:Fallback xmlns="">
      <p:transition spd="slow" advTm="35465"/>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1" fill="hold"/>
                                        <p:tgtEl>
                                          <p:spTgt spid="27"/>
                                        </p:tgtEl>
                                      </p:cBhvr>
                                    </p:cmd>
                                  </p:childTnLst>
                                </p:cTn>
                              </p:par>
                            </p:childTnLst>
                          </p:cTn>
                        </p:par>
                      </p:childTnLst>
                    </p:cTn>
                  </p:par>
                </p:childTnLst>
              </p:cTn>
              <p:prevCondLst>
                <p:cond evt="onPrev" delay="0">
                  <p:tgtEl>
                    <p:sldTgt/>
                  </p:tgtEl>
                </p:cond>
              </p:prevCondLst>
              <p:nextCondLst>
                <p:cond evt="onNext" delay="0">
                  <p:tgtEl>
                    <p:sldTgt/>
                  </p:tgtEl>
                </p:cond>
              </p:nextCondLst>
            </p:seq>
            <p:audio isNarration="1">
              <p:cMediaNode vol="80000" showWhenStopped="0">
                <p:cTn id="7" fill="hold" display="0">
                  <p:stCondLst>
                    <p:cond delay="indefinite"/>
                  </p:stCondLst>
                  <p:endCondLst>
                    <p:cond evt="onStopAudio" delay="0">
                      <p:tgtEl>
                        <p:sldTgt/>
                      </p:tgtEl>
                    </p:cond>
                  </p:endCondLst>
                </p:cTn>
                <p:tgtEl>
                  <p:spTgt spid="27"/>
                </p:tgtEl>
              </p:cMediaNode>
            </p:audio>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bg>
      <p:bgPr>
        <a:gradFill rotWithShape="1">
          <a:gsLst>
            <a:gs pos="0">
              <a:srgbClr val="1B5A45"/>
            </a:gs>
            <a:gs pos="100000">
              <a:srgbClr val="08140F"/>
            </a:gs>
          </a:gsLst>
          <a:lin ang="19500000" scaled="0"/>
        </a:gradFill>
        <a:effectLst/>
      </p:bgPr>
    </p:bg>
    <p:spTree>
      <p:nvGrpSpPr>
        <p:cNvPr id="1" name=""/>
        <p:cNvGrpSpPr/>
        <p:nvPr/>
      </p:nvGrpSpPr>
      <p:grpSpPr>
        <a:xfrm>
          <a:off x="0" y="0"/>
          <a:ext cx="0" cy="0"/>
          <a:chOff x="0" y="0"/>
          <a:chExt cx="0" cy="0"/>
        </a:xfrm>
      </p:grpSpPr>
      <p:sp>
        <p:nvSpPr>
          <p:cNvPr id="2" name="Rounded Rectangle 1"/>
          <p:cNvSpPr/>
          <p:nvPr/>
        </p:nvSpPr>
        <p:spPr>
          <a:xfrm>
            <a:off x="698500" y="533400"/>
            <a:ext cx="1435100" cy="292100"/>
          </a:xfrm>
          <a:prstGeom prst="roundRect">
            <a:avLst>
              <a:gd name="adj" fmla="val 50000"/>
            </a:avLst>
          </a:prstGeom>
          <a:solidFill>
            <a:srgbClr val="2F4A3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100" b="1" i="0" spc="150">
                <a:solidFill>
                  <a:srgbClr val="D6EF5B"/>
                </a:solidFill>
                <a:latin typeface="Arial"/>
              </a:rPr>
              <a:t>TRY IT NOW</a:t>
            </a:r>
          </a:p>
        </p:txBody>
      </p:sp>
      <p:sp>
        <p:nvSpPr>
          <p:cNvPr id="3" name="TextBox 2"/>
          <p:cNvSpPr txBox="1"/>
          <p:nvPr/>
        </p:nvSpPr>
        <p:spPr>
          <a:xfrm>
            <a:off x="698500" y="952500"/>
            <a:ext cx="10795000" cy="825500"/>
          </a:xfrm>
          <a:prstGeom prst="rect">
            <a:avLst/>
          </a:prstGeom>
          <a:noFill/>
        </p:spPr>
        <p:txBody>
          <a:bodyPr wrap="square" lIns="0" tIns="0" rIns="0" bIns="0" anchor="t">
            <a:spAutoFit/>
          </a:bodyPr>
          <a:lstStyle/>
          <a:p>
            <a:pPr algn="l">
              <a:lnSpc>
                <a:spcPct val="100000"/>
              </a:lnSpc>
              <a:spcAft>
                <a:spcPts val="0"/>
              </a:spcAft>
            </a:pPr>
            <a:r>
              <a:rPr sz="4400" b="1" i="0">
                <a:solidFill>
                  <a:srgbClr val="EEF5F0"/>
                </a:solidFill>
                <a:latin typeface="Arial"/>
              </a:rPr>
              <a:t>Open it in your browser</a:t>
            </a:r>
          </a:p>
        </p:txBody>
      </p:sp>
      <p:sp>
        <p:nvSpPr>
          <p:cNvPr id="4" name="Rounded Rectangle 3">
            <a:hlinkClick r:id="rId5"/>
          </p:cNvPr>
          <p:cNvSpPr/>
          <p:nvPr/>
        </p:nvSpPr>
        <p:spPr>
          <a:xfrm>
            <a:off x="698500" y="2095500"/>
            <a:ext cx="6604000" cy="1206500"/>
          </a:xfrm>
          <a:prstGeom prst="roundRect">
            <a:avLst>
              <a:gd name="adj" fmla="val 14000"/>
            </a:avLst>
          </a:prstGeom>
          <a:solidFill>
            <a:srgbClr val="D6EF5B"/>
          </a:solidFill>
          <a:ln>
            <a:noFill/>
          </a:ln>
          <a:effectLst/>
        </p:spPr>
        <p:style>
          <a:lnRef idx="1">
            <a:schemeClr val="accent1"/>
          </a:lnRef>
          <a:fillRef idx="3">
            <a:schemeClr val="accent1"/>
          </a:fillRef>
          <a:effectRef idx="2">
            <a:schemeClr val="accent1"/>
          </a:effectRef>
          <a:fontRef idx="minor">
            <a:schemeClr val="lt1"/>
          </a:fontRef>
        </p:style>
        <p:txBody>
          <a:bodyPr wrap="square" lIns="254000" rIns="254000" rtlCol="0" anchor="ctr"/>
          <a:lstStyle/>
          <a:p>
            <a:pPr algn="l"/>
            <a:r>
              <a:rPr sz="1200" b="1" i="0" spc="150" dirty="0">
                <a:solidFill>
                  <a:srgbClr val="0E2F26"/>
                </a:solidFill>
                <a:latin typeface="Arial"/>
              </a:rPr>
              <a:t>LAUNCH THE APP  —  NO INSTALL</a:t>
            </a:r>
          </a:p>
          <a:p>
            <a:pPr algn="l">
              <a:spcBef>
                <a:spcPts val="400"/>
              </a:spcBef>
            </a:pPr>
            <a:r>
              <a:rPr sz="2600" b="1" i="0" dirty="0">
                <a:solidFill>
                  <a:srgbClr val="0E2F26"/>
                </a:solidFill>
                <a:latin typeface="Arial"/>
              </a:rPr>
              <a:t>volcano1998.github.io/FurnitureSim_3D</a:t>
            </a:r>
          </a:p>
        </p:txBody>
      </p:sp>
      <p:sp>
        <p:nvSpPr>
          <p:cNvPr id="5" name="Rounded Rectangle 4">
            <a:hlinkClick r:id="rId6"/>
          </p:cNvPr>
          <p:cNvSpPr/>
          <p:nvPr/>
        </p:nvSpPr>
        <p:spPr>
          <a:xfrm>
            <a:off x="698500" y="3492500"/>
            <a:ext cx="6604000" cy="762000"/>
          </a:xfrm>
          <a:prstGeom prst="roundRect">
            <a:avLst>
              <a:gd name="adj" fmla="val 14000"/>
            </a:avLst>
          </a:prstGeom>
          <a:solidFill>
            <a:srgbClr val="27483C"/>
          </a:solidFill>
          <a:ln w="12700">
            <a:solidFill>
              <a:srgbClr val="3E5E52"/>
            </a:solidFill>
          </a:ln>
          <a:effectLst/>
        </p:spPr>
        <p:style>
          <a:lnRef idx="1">
            <a:schemeClr val="accent1"/>
          </a:lnRef>
          <a:fillRef idx="3">
            <a:schemeClr val="accent1"/>
          </a:fillRef>
          <a:effectRef idx="2">
            <a:schemeClr val="accent1"/>
          </a:effectRef>
          <a:fontRef idx="minor">
            <a:schemeClr val="lt1"/>
          </a:fontRef>
        </p:style>
        <p:txBody>
          <a:bodyPr wrap="square" lIns="254000" rIns="254000" rtlCol="0" anchor="ctr"/>
          <a:lstStyle/>
          <a:p>
            <a:pPr algn="l"/>
            <a:r>
              <a:rPr sz="1200" b="1" i="0" spc="150">
                <a:solidFill>
                  <a:srgbClr val="D6EF5B"/>
                </a:solidFill>
                <a:latin typeface="Arial"/>
              </a:rPr>
              <a:t>SLIDES + POWERPOINT</a:t>
            </a:r>
          </a:p>
          <a:p>
            <a:pPr algn="l">
              <a:spcBef>
                <a:spcPts val="400"/>
              </a:spcBef>
            </a:pPr>
            <a:r>
              <a:rPr sz="1800" b="1" i="0">
                <a:solidFill>
                  <a:srgbClr val="EEF5F0"/>
                </a:solidFill>
                <a:latin typeface="Arial"/>
              </a:rPr>
              <a:t>volcano1998.github.io/FurnitureSim_3D/slides</a:t>
            </a:r>
          </a:p>
        </p:txBody>
      </p:sp>
      <p:sp>
        <p:nvSpPr>
          <p:cNvPr id="6" name="Rounded Rectangle 5">
            <a:hlinkClick r:id="rId7"/>
          </p:cNvPr>
          <p:cNvSpPr/>
          <p:nvPr/>
        </p:nvSpPr>
        <p:spPr>
          <a:xfrm>
            <a:off x="698500" y="4381500"/>
            <a:ext cx="6604000" cy="762000"/>
          </a:xfrm>
          <a:prstGeom prst="roundRect">
            <a:avLst>
              <a:gd name="adj" fmla="val 14000"/>
            </a:avLst>
          </a:prstGeom>
          <a:solidFill>
            <a:srgbClr val="27483C"/>
          </a:solidFill>
          <a:ln w="12700">
            <a:solidFill>
              <a:srgbClr val="3E5E52"/>
            </a:solidFill>
          </a:ln>
          <a:effectLst/>
        </p:spPr>
        <p:style>
          <a:lnRef idx="1">
            <a:schemeClr val="accent1"/>
          </a:lnRef>
          <a:fillRef idx="3">
            <a:schemeClr val="accent1"/>
          </a:fillRef>
          <a:effectRef idx="2">
            <a:schemeClr val="accent1"/>
          </a:effectRef>
          <a:fontRef idx="minor">
            <a:schemeClr val="lt1"/>
          </a:fontRef>
        </p:style>
        <p:txBody>
          <a:bodyPr wrap="square" lIns="254000" rIns="254000" rtlCol="0" anchor="ctr"/>
          <a:lstStyle/>
          <a:p>
            <a:pPr algn="l"/>
            <a:r>
              <a:rPr sz="1200" b="1" i="0" spc="150">
                <a:solidFill>
                  <a:srgbClr val="D6EF5B"/>
                </a:solidFill>
                <a:latin typeface="Arial"/>
              </a:rPr>
              <a:t>SOURCE CODE ON GITHUB</a:t>
            </a:r>
          </a:p>
          <a:p>
            <a:pPr algn="l">
              <a:spcBef>
                <a:spcPts val="400"/>
              </a:spcBef>
            </a:pPr>
            <a:r>
              <a:rPr sz="1800" b="1" i="0">
                <a:solidFill>
                  <a:srgbClr val="EEF5F0"/>
                </a:solidFill>
                <a:latin typeface="Arial"/>
              </a:rPr>
              <a:t>github.com/volcano1998/FurnitureSim_3D</a:t>
            </a:r>
          </a:p>
        </p:txBody>
      </p:sp>
      <p:pic>
        <p:nvPicPr>
          <p:cNvPr id="7" name="Picture 6" descr="s4-route.jpg">
            <a:hlinkClick r:id="rId5"/>
          </p:cNvPr>
          <p:cNvPicPr>
            <a:picLocks noChangeAspect="1"/>
          </p:cNvPicPr>
          <p:nvPr/>
        </p:nvPicPr>
        <p:blipFill>
          <a:blip r:embed="rId8"/>
          <a:stretch>
            <a:fillRect/>
          </a:stretch>
        </p:blipFill>
        <p:spPr>
          <a:xfrm>
            <a:off x="7747000" y="2095500"/>
            <a:ext cx="3746500" cy="2341562"/>
          </a:xfrm>
          <a:prstGeom prst="rect">
            <a:avLst/>
          </a:prstGeom>
        </p:spPr>
      </p:pic>
      <p:sp>
        <p:nvSpPr>
          <p:cNvPr id="8" name="TextBox 7"/>
          <p:cNvSpPr txBox="1"/>
          <p:nvPr/>
        </p:nvSpPr>
        <p:spPr>
          <a:xfrm>
            <a:off x="7747000" y="4445000"/>
            <a:ext cx="3746500" cy="254000"/>
          </a:xfrm>
          <a:prstGeom prst="rect">
            <a:avLst/>
          </a:prstGeom>
          <a:noFill/>
        </p:spPr>
        <p:txBody>
          <a:bodyPr wrap="square" lIns="0" tIns="0" rIns="0" bIns="0" anchor="t">
            <a:spAutoFit/>
          </a:bodyPr>
          <a:lstStyle/>
          <a:p>
            <a:pPr algn="ctr">
              <a:lnSpc>
                <a:spcPct val="112000"/>
              </a:lnSpc>
              <a:spcAft>
                <a:spcPts val="0"/>
              </a:spcAft>
            </a:pPr>
            <a:r>
              <a:rPr sz="1200" b="0" i="0">
                <a:solidFill>
                  <a:srgbClr val="9DB5AA"/>
                </a:solidFill>
                <a:latin typeface="Arial"/>
              </a:rPr>
              <a:t>Click any card to open it</a:t>
            </a:r>
          </a:p>
        </p:txBody>
      </p:sp>
      <p:sp>
        <p:nvSpPr>
          <p:cNvPr id="9" name="TextBox 8"/>
          <p:cNvSpPr txBox="1"/>
          <p:nvPr/>
        </p:nvSpPr>
        <p:spPr>
          <a:xfrm>
            <a:off x="698500" y="5397500"/>
            <a:ext cx="6604000" cy="254000"/>
          </a:xfrm>
          <a:prstGeom prst="rect">
            <a:avLst/>
          </a:prstGeom>
          <a:noFill/>
        </p:spPr>
        <p:txBody>
          <a:bodyPr wrap="square" lIns="0" tIns="0" rIns="0" bIns="0" anchor="t">
            <a:spAutoFit/>
          </a:bodyPr>
          <a:lstStyle/>
          <a:p>
            <a:pPr algn="l">
              <a:lnSpc>
                <a:spcPct val="112000"/>
              </a:lnSpc>
              <a:spcAft>
                <a:spcPts val="0"/>
              </a:spcAft>
            </a:pPr>
            <a:r>
              <a:rPr sz="1300" b="0" i="0">
                <a:solidFill>
                  <a:srgbClr val="9DB5AA"/>
                </a:solidFill>
                <a:latin typeface="Arial"/>
              </a:rPr>
              <a:t>Prefer to run it locally? One command: </a:t>
            </a:r>
            <a:r>
              <a:rPr sz="1300" b="1" i="0">
                <a:solidFill>
                  <a:srgbClr val="D7EFE2"/>
                </a:solidFill>
                <a:latin typeface="Courier New"/>
              </a:rPr>
              <a:t>python3 -m http.server 8000</a:t>
            </a:r>
            <a:r>
              <a:rPr sz="1300" b="0" i="0">
                <a:solidFill>
                  <a:srgbClr val="9DB5AA"/>
                </a:solidFill>
                <a:latin typeface="Arial"/>
              </a:rPr>
              <a:t> — see the README.</a:t>
            </a:r>
          </a:p>
        </p:txBody>
      </p:sp>
      <p:sp>
        <p:nvSpPr>
          <p:cNvPr id="10" name="TextBox 9"/>
          <p:cNvSpPr txBox="1"/>
          <p:nvPr/>
        </p:nvSpPr>
        <p:spPr>
          <a:xfrm>
            <a:off x="698500" y="5842000"/>
            <a:ext cx="10795000" cy="571500"/>
          </a:xfrm>
          <a:prstGeom prst="rect">
            <a:avLst/>
          </a:prstGeom>
          <a:noFill/>
        </p:spPr>
        <p:txBody>
          <a:bodyPr wrap="square" lIns="0" tIns="0" rIns="0" bIns="0" anchor="t">
            <a:spAutoFit/>
          </a:bodyPr>
          <a:lstStyle/>
          <a:p>
            <a:pPr algn="ctr">
              <a:lnSpc>
                <a:spcPct val="112000"/>
              </a:lnSpc>
              <a:spcAft>
                <a:spcPts val="0"/>
              </a:spcAft>
            </a:pPr>
            <a:r>
              <a:rPr sz="3400" b="1" i="0">
                <a:solidFill>
                  <a:srgbClr val="EEF5F0"/>
                </a:solidFill>
                <a:latin typeface="Arial"/>
              </a:rPr>
              <a:t>Thanks for watching — </a:t>
            </a:r>
            <a:r>
              <a:rPr sz="3400" b="1" i="0">
                <a:solidFill>
                  <a:srgbClr val="D6EF5B"/>
                </a:solidFill>
                <a:latin typeface="Arial"/>
              </a:rPr>
              <a:t>go move some couches.</a:t>
            </a:r>
          </a:p>
        </p:txBody>
      </p:sp>
      <p:pic>
        <p:nvPicPr>
          <p:cNvPr id="18" name="Audio 17">
            <a:extLst>
              <a:ext uri="{FF2B5EF4-FFF2-40B4-BE49-F238E27FC236}">
                <a16:creationId xmlns:a16="http://schemas.microsoft.com/office/drawing/2014/main" id="{28A8BAC5-D357-9E07-A61D-C0A204D04CB4}"/>
              </a:ext>
            </a:extLst>
          </p:cNvPr>
          <p:cNvPicPr>
            <a:picLocks noChangeAspect="1"/>
          </p:cNvPicPr>
          <p:nvPr>
            <a:audioFile r:link="rId2"/>
            <p:extLst>
              <p:ext uri="{DAA4B4D4-6D71-4841-9C94-3DE7FCFB9230}">
                <p14:media xmlns:p14="http://schemas.microsoft.com/office/powerpoint/2010/main" r:embed="rId1"/>
              </p:ext>
            </p:extLst>
          </p:nvPr>
        </p:nvPicPr>
        <p:blipFill>
          <a:blip r:embed="rId9"/>
          <a:stretch>
            <a:fillRect/>
          </a:stretch>
        </p:blipFill>
        <p:spPr>
          <a:xfrm>
            <a:off x="11226800" y="5892800"/>
            <a:ext cx="812800" cy="812800"/>
          </a:xfrm>
          <a:prstGeom prst="rect">
            <a:avLst/>
          </a:prstGeom>
        </p:spPr>
      </p:pic>
    </p:spTree>
  </p:cSld>
  <p:clrMapOvr>
    <a:masterClrMapping/>
  </p:clrMapOvr>
  <mc:AlternateContent xmlns:mc="http://schemas.openxmlformats.org/markup-compatibility/2006" xmlns:p14="http://schemas.microsoft.com/office/powerpoint/2010/main">
    <mc:Choice Requires="p14">
      <p:transition spd="slow" p14:dur="2000" advTm="23146"/>
    </mc:Choice>
    <mc:Fallback xmlns="">
      <p:transition spd="slow" advTm="23146"/>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1" fill="hold"/>
                                        <p:tgtEl>
                                          <p:spTgt spid="18"/>
                                        </p:tgtEl>
                                      </p:cBhvr>
                                    </p:cmd>
                                  </p:childTnLst>
                                </p:cTn>
                              </p:par>
                            </p:childTnLst>
                          </p:cTn>
                        </p:par>
                      </p:childTnLst>
                    </p:cTn>
                  </p:par>
                </p:childTnLst>
              </p:cTn>
              <p:prevCondLst>
                <p:cond evt="onPrev" delay="0">
                  <p:tgtEl>
                    <p:sldTgt/>
                  </p:tgtEl>
                </p:cond>
              </p:prevCondLst>
              <p:nextCondLst>
                <p:cond evt="onNext" delay="0">
                  <p:tgtEl>
                    <p:sldTgt/>
                  </p:tgtEl>
                </p:cond>
              </p:nextCondLst>
            </p:seq>
            <p:audio isNarration="1">
              <p:cMediaNode vol="80000" showWhenStopped="0">
                <p:cTn id="7" fill="hold" display="0">
                  <p:stCondLst>
                    <p:cond delay="indefinite"/>
                  </p:stCondLst>
                  <p:endCondLst>
                    <p:cond evt="onStopAudio" delay="0">
                      <p:tgtEl>
                        <p:sldTgt/>
                      </p:tgtEl>
                    </p:cond>
                  </p:endCondLst>
                </p:cTn>
                <p:tgtEl>
                  <p:spTgt spid="18"/>
                </p:tgtEl>
              </p:cMediaNode>
            </p:audio>
          </p:childTnLst>
        </p:cTn>
      </p:par>
    </p:tnLst>
  </p:timing>
</p:sld>
</file>

<file path=ppt/tags/tag1.xml><?xml version="1.0" encoding="utf-8"?>
<p:tagLst xmlns:a="http://schemas.openxmlformats.org/drawingml/2006/main" xmlns:r="http://schemas.openxmlformats.org/officeDocument/2006/relationships" xmlns:p="http://schemas.openxmlformats.org/presentationml/2006/main">
  <p:tag name="TIMING" val="|7.4|2.1|6.1|3.5|6.3"/>
</p:tagLst>
</file>

<file path=ppt/tags/tag2.xml><?xml version="1.0" encoding="utf-8"?>
<p:tagLst xmlns:a="http://schemas.openxmlformats.org/drawingml/2006/main" xmlns:r="http://schemas.openxmlformats.org/officeDocument/2006/relationships" xmlns:p="http://schemas.openxmlformats.org/presentationml/2006/main">
  <p:tag name="TIMING" val="|5.1|5|4.2|5.6|6.5|1.6|1.9"/>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158</TotalTime>
  <Words>2766</Words>
  <Application>Microsoft Macintosh PowerPoint</Application>
  <PresentationFormat>Widescreen</PresentationFormat>
  <Paragraphs>280</Paragraphs>
  <Slides>16</Slides>
  <Notes>16</Notes>
  <HiddenSlides>1</HiddenSlides>
  <MMClips>10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16</vt:i4>
      </vt:variant>
    </vt:vector>
  </HeadingPairs>
  <TitlesOfParts>
    <vt:vector size="20" baseType="lpstr">
      <vt:lpstr>Arial</vt:lpstr>
      <vt:lpstr>Calibri</vt:lpstr>
      <vt:lpstr>Courier New</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Can Luo</cp:lastModifiedBy>
  <cp:revision>6</cp:revision>
  <dcterms:created xsi:type="dcterms:W3CDTF">2013-01-27T09:14:16Z</dcterms:created>
  <dcterms:modified xsi:type="dcterms:W3CDTF">2026-10-24T15:50:10Z</dcterms:modified>
  <cp:category/>
</cp:coreProperties>
</file>