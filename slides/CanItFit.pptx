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Have you ever been stuck on a staircase, holding one end of a couch, thinking: "there is no way this fits"?</a:t>
            </a:r>
          </a:p>
          <a:p/>
          <a:p>
            <a:r>
              <a:t>Today we're going to settle that argument with math.</a:t>
            </a:r>
          </a:p>
          <a:p/>
          <a:p>
            <a:r>
              <a:t>I built a browser app called Can It Fit. You design a room in 3D, drop in a piece of furniture, and a motion planner figures out whether it can actually get through.</a:t>
            </a:r>
          </a:p>
          <a:p/>
          <a:p>
            <a:r>
              <a:t>In the next few minutes I'll show you how to use it, and then, the fun part, how the planner really thinks. No installs. No build step. Just a browser.</a:t>
            </a:r>
          </a:p>
          <a:p/>
          <a:p>
            <a:r>
              <a:t>Let's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why this is harder than it looks.</a:t>
            </a:r>
          </a:p>
          <a:p/>
          <a:p>
            <a:r>
              <a:t>A couch isn't just sliding along a hallway. It can move in three directions, and it can rotate in three ways: yaw, pitch and roll. That's six degrees of freedom.</a:t>
            </a:r>
          </a:p>
          <a:p/>
          <a:p>
            <a:r>
              <a:t>So "does it fit?" is secretly a question about finding a path through six-dimensional space, where every single pose along the way has to avoid every wall.</a:t>
            </a:r>
          </a:p>
          <a:p/>
          <a:p>
            <a:r>
              <a:t>Look at this corner. The sofa can't just slide through. It has to turn, at exactly the right moment, by exactly the right amount.</a:t>
            </a:r>
          </a:p>
          <a:p/>
          <a:p>
            <a:r>
              <a:t>That turning is what makes this problem interesting.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 gives you three ways to answer the question.</a:t>
            </a:r>
          </a:p>
          <a:p/>
          <a:p>
            <a:r>
              <a:t>First, a 3D room editor. Every room is a box defined by an origin and three edge vectors, and you can stretch it, skew it, and connect boxes together.</a:t>
            </a:r>
          </a:p>
          <a:p/>
          <a:p>
            <a:r>
              <a:t>Second, two automatic solvers: a probabilistic one called RRT-Connect, and a deterministic straight-shot heuristic.</a:t>
            </a:r>
          </a:p>
          <a:p/>
          <a:p>
            <a:r>
              <a:t>Third, manual mode, where you grab the furniture yourself and try.</a:t>
            </a:r>
          </a:p>
          <a:p/>
          <a:p>
            <a:r>
              <a:t>Everything follows four simple steps: build the room, choose the entrance and exit, describe the furniture, and solve. Let's walk through each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build the room.</a:t>
            </a:r>
          </a:p>
          <a:p/>
          <a:p>
            <a:r>
              <a:t>[DEMO: drag the A, B and C length sliders]</a:t>
            </a:r>
          </a:p>
          <a:p/>
          <a:p>
            <a:r>
              <a:t>I'll set A to eight, and B and C to two point four. And just like that, we have a hallway.</a:t>
            </a:r>
          </a:p>
          <a:p/>
          <a:p>
            <a:r>
              <a:t>Change the angles between the vectors and the box skews. There's even a one-click forty-five degree template.</a:t>
            </a:r>
          </a:p>
          <a:p/>
          <a:p>
            <a:r>
              <a:t>Need a corner? Add a second object, hit "Connect two objects", and click a face on each. Now you have an L-shaped hallway.</a:t>
            </a:r>
          </a:p>
          <a:p/>
          <a:p>
            <a:r>
              <a:t>Under the hood, every room is simply a point O, plus s times A, plus t times B, plus u times C, with s, t and u between zero and one.</a:t>
            </a:r>
          </a:p>
          <a:p/>
          <a:p>
            <a:r>
              <a:t>Turn on the vector labels and you can see A, B and C right on the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tell the planner where the furniture comes in, and where it has to come out.</a:t>
            </a:r>
          </a:p>
          <a:p/>
          <a:p>
            <a:r>
              <a:t>Press "Pick faces in 3D view". Click an outside wall for the entrance, which turns green, then click another for the exit, which turns orange. You can also use the dropdowns.</a:t>
            </a:r>
          </a:p>
          <a:p/>
          <a:p>
            <a:r>
              <a:t>Then press "Confirm 3D model", and the room locks.</a:t>
            </a:r>
          </a:p>
          <a:p/>
          <a:p>
            <a:r>
              <a:t>Here's the key rule: these two faces are the only doorways. Every other wall is solid, so the furniture can't cheat.</a:t>
            </a:r>
          </a:p>
          <a:p/>
          <a:p>
            <a:r>
              <a:t>And if you change your mind later, just click step one or step two in the progress bar and the room unlocks again.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describe your furniture.</a:t>
            </a:r>
          </a:p>
          <a:p/>
          <a:p>
            <a:r>
              <a:t>Enter the length, width and height. I'll use two point five by one point two by one point two.</a:t>
            </a:r>
          </a:p>
          <a:p/>
          <a:p>
            <a:r>
              <a:t>That green box next to the room is your sofa.</a:t>
            </a:r>
          </a:p>
          <a:p/>
          <a:p>
            <a:r>
              <a:t>Then set the clearance, which is a safety margin around every side. And here's the important detail: clearance doesn't just add a rule at the end. It actually inflates the box in every direction before any collision check.</a:t>
            </a:r>
          </a:p>
          <a:p/>
          <a:p>
            <a:r>
              <a:t>So a clearance of point one means the planner treats your sofa as slightly fatter than it really is. That's realistic, and it's deliberately conservative.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let the computer try, try it yourself.</a:t>
            </a:r>
          </a:p>
          <a:p/>
          <a:p>
            <a:r>
              <a:t>Press "Try manually". The furniture starts fully outside the entrance.</a:t>
            </a:r>
          </a:p>
          <a:p/>
          <a:p>
            <a:r>
              <a:t>[DEMO: hold M and drag the furniture in]</a:t>
            </a:r>
          </a:p>
          <a:p/>
          <a:p>
            <a:r>
              <a:t>Hold M and drag. Use the sliders for height, yaw, pitch and roll. Watch the colour: green means you're inside and legal, yellow means you're still outside, and red means you've collided with a wall.</a:t>
            </a:r>
          </a:p>
          <a:p/>
          <a:p>
            <a:r>
              <a:t>Stuck at a corner? Try Auto Pilot. Click an edge of the furniture, then an edge of the room, and the app snaps them parallel for you.</a:t>
            </a:r>
          </a:p>
          <a:p/>
          <a:p>
            <a:r>
              <a:t>Get all the way through the exit and you win.</a:t>
            </a:r>
          </a:p>
          <a:p/>
          <a:p>
            <a:r>
              <a:t>I promise it's harder than it looks, and that's exactly why we need a planner.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the planner try.</a:t>
            </a:r>
          </a:p>
          <a:p/>
          <a:p>
            <a:r>
              <a:t>Choose RRT-Connect or Heuristic, and press "Run selected solver".</a:t>
            </a:r>
          </a:p>
          <a:p/>
          <a:p>
            <a:r>
              <a:t>[DEMO: run it]</a:t>
            </a:r>
          </a:p>
          <a:p/>
          <a:p>
            <a:r>
              <a:t>When it's done, a pop-up gives you the verdict: "It fits!", or "No route found". Close it, and scrub the timeline to watch the sofa travel through the room. Green means clear, yellow means tight, red means a collision.</a:t>
            </a:r>
          </a:p>
          <a:p/>
          <a:p>
            <a:r>
              <a:t>If it fails, you have options. Raise the max iterations. Allow roll sampling. Reshape the room. Or just click back a step and change the furniture. Nothing is locked 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far you've seen what it does. Now let's open the hood.</a:t>
            </a:r>
          </a:p>
          <a:p/>
          <a:p>
            <a:r>
              <a:t>Three questions. How is a position stored? How do we know a position is legal? And how do we search for a path?</a:t>
            </a:r>
          </a:p>
          <a:p/>
          <a:p>
            <a:r>
              <a:t>Answer those three, and you understand the whole planner.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one: how do you describe where a couch is?</a:t>
            </a:r>
          </a:p>
          <a:p/>
          <a:p>
            <a:r>
              <a:t>With six numbers. X, Y and Z for position, and yaw, pitch and roll for rotation.</a:t>
            </a:r>
          </a:p>
          <a:p/>
          <a:p>
            <a:r>
              <a:t>The code stores that as a simple object, and converts the three angles into a quaternion, using Z-Y-X Euler order. We use the same convention everywhere, so rendering, collision checking and saving always agree.</a:t>
            </a:r>
          </a:p>
          <a:p/>
          <a:p>
            <a:r>
              <a:t>And here's a neat trick: turn off "Allow roll sampling" and the search drops from six dimensions to five. That makes it faster, and most furniture never needs to barrel-roll anyway.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two: given a pose, is it legal?</a:t>
            </a:r>
          </a:p>
          <a:p/>
          <a:p>
            <a:r>
              <a:t>The room is a union of boxes. A point is inside a box if you can write it as O plus s A plus t B plus u C, with every coefficient between zero and one.</a:t>
            </a:r>
          </a:p>
          <a:p/>
          <a:p>
            <a:r>
              <a:t>For the furniture, we don't test the whole volume. We sample its shell. A five-by-five-by-five grid, minus the interior, gives us ninety-eight points, after growing the box by the clearance. If every one of those points is inside the room, the pose is legal.</a:t>
            </a:r>
          </a:p>
          <a:p/>
          <a:p>
            <a:r>
              <a:t>To check a move between two poses, we interpolate and test every little step along the way.</a:t>
            </a:r>
          </a:p>
          <a:p/>
          <a:p>
            <a:r>
              <a:t>And crossing a wall? That's only allowed through the entrance or exit polygon.</a:t>
            </a:r>
          </a:p>
          <a:p/>
          <a:p>
            <a:r>
              <a:t>It's the exact same check for manual mode and for both solvers. Nobody gets special treatment.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three: how do we find a path through six-dimensional space?</a:t>
            </a:r>
          </a:p>
          <a:p/>
          <a:p>
            <a:r>
              <a:t>With an algorithm called RRT-Connect. RRT stands for Rapidly-exploring Random Tree.</a:t>
            </a:r>
          </a:p>
          <a:p/>
          <a:p>
            <a:r>
              <a:t>One tree grows from the start pose. Another grows from the goal. Each round, we pick a random pose, that's the X, and step the nearest node in a tree toward it. If that little move is legal, we keep it.</a:t>
            </a:r>
          </a:p>
          <a:p/>
          <a:p>
            <a:r>
              <a:t>Then the other tree greedily chases the new node, for up to a hundred and sixty steps.</a:t>
            </a:r>
          </a:p>
          <a:p/>
          <a:p>
            <a:r>
              <a:t>When the two trees touch, we have a path. We smooth it, resample it, and animate it.</a:t>
            </a:r>
          </a:p>
          <a:p/>
          <a:p>
            <a:r>
              <a:t>One honest caveat. It's probabilistic. Finding a route proves the sofa fits. Failing to find one does not prove it can't. So run it again, or raise the iterations.</a:t>
            </a:r>
          </a:p>
          <a:p/>
          <a:p>
            <a:r>
              <a:t>And we never cheat by quietly shrinking the clearance.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random sampling struggles with a tight doorway. The chance of randomly guessing a good entrance pose is tiny.</a:t>
            </a:r>
          </a:p>
          <a:p/>
          <a:p>
            <a:r>
              <a:t>So we don't start blind. We sample offsets across the opening, combined with fifteen-degree yaw, pitch and roll orientations. We refine the promising ones at five degrees. Then we probe each candidate inward, to see how deep it gets.</a:t>
            </a:r>
          </a:p>
          <a:p/>
          <a:p>
            <a:r>
              <a:t>We rank them by depth, clearance, alignment, offset and tilt, and feed the best ones to the planner as many starts and many goals.</a:t>
            </a:r>
          </a:p>
          <a:p/>
          <a:p>
            <a:r>
              <a:t>That one idea is the difference between "sometimes works" and "usually works".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solver is the straight-shot heuristic, and it's the opposite of random.</a:t>
            </a:r>
          </a:p>
          <a:p/>
          <a:p>
            <a:r>
              <a:t>The travel direction is the room edge that isn't part of the entrance face. We line up the furniture's longest axis with it, project the doorway along that direction, and check whether the furniture's cross-section, with clearance, fits through.</a:t>
            </a:r>
          </a:p>
          <a:p/>
          <a:p>
            <a:r>
              <a:t>If it does, we centre it, park it outside, and slide it straight in.</a:t>
            </a:r>
          </a:p>
          <a:p/>
          <a:p>
            <a:r>
              <a:t>It's deterministic: the same answer every time, instantly. And when it fails, it tells you exactly which checkpoint got stuck. For rooms made of several blocks, it hands off between blocks using a short RRT.</a:t>
            </a:r>
          </a:p>
          <a:p/>
          <a:p>
            <a:r>
              <a:t>My rule of thumb: use the heuristic for a fast yes on straight corridors, and RRT-Connect when you need real manoeuvring.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favourite feature is the hybrid mode.</a:t>
            </a:r>
          </a:p>
          <a:p/>
          <a:p>
            <a:r>
              <a:t>Humans are great at the awkward entrance. Planners are great at the long, boring middle. So let each do what it's best at.</a:t>
            </a:r>
          </a:p>
          <a:p/>
          <a:p>
            <a:r>
              <a:t>Get the furniture fully inside by hand, using Auto Pilot if you like, then press "Continue with solver". The planner starts from your exact pose and finds the rest.</a:t>
            </a:r>
          </a:p>
          <a:p/>
          <a:p>
            <a:r>
              <a:t>And to be upfront about the limits: the furniture is a single box, rooms are connected boxes with no curves, everything is rigid, and RRT is probabilistic.</a:t>
            </a:r>
          </a:p>
          <a:p/>
          <a:p>
            <a:r>
              <a:t>This is a fast feasibility estimate, not a CAD guarantee. But it's a surprisingly good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it's your turn.</a:t>
            </a:r>
          </a:p>
          <a:p/>
          <a:p>
            <a:r>
              <a:t>Build an L-shaped hallway out of two connected blocks. Use furniture of two point five by one point two by one point two, with a clearance of point one.</a:t>
            </a:r>
          </a:p>
          <a:p/>
          <a:p>
            <a:r>
              <a:t>Try it manually first. Then run both solvers.</a:t>
            </a:r>
          </a:p>
          <a:p/>
          <a:p>
            <a:r>
              <a:t>Then shrink the hallway width until it stops fitting, and see whether roll sampling rescues it.</a:t>
            </a:r>
          </a:p>
          <a:p/>
          <a:p>
            <a:r>
              <a:t>So here's the question: what's the narrowest hallway your sofa can survive?</a:t>
            </a:r>
          </a:p>
          <a:p/>
          <a:p>
            <a:r>
              <a:t>Pause the video, give it a go, and drop your number in the comments. I'm really curious what you find.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run this yourself, you need two commands.</a:t>
            </a:r>
          </a:p>
          <a:p/>
          <a:p>
            <a:r>
              <a:t>Change into the project folder, and start a simple web server with "python3 -m http.server 8000". Then open localhost, port 8000, in your browser.</a:t>
            </a:r>
          </a:p>
          <a:p/>
          <a:p>
            <a:r>
              <a:t>There's no npm and no build step. Three.js loads from a CDN.</a:t>
            </a:r>
          </a:p>
          <a:p/>
          <a:p>
            <a:r>
              <a:t>The code lives in just four places: app.js for the scene and interface, planner.js for collision checking and the solvers, manual.js for drag-it-yourself mode, and the HTML and CSS.</a:t>
            </a:r>
          </a:p>
          <a:p/>
          <a:p>
            <a:r>
              <a:t>Thanks so much for watching. Now go move some couches.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1B5A45"/>
            </a:gs>
            <a:gs pos="100000">
              <a:srgbClr val="08140F"/>
            </a:gs>
          </a:gsLst>
          <a:lin scaled="0" ang="19500000"/>
        </a:gradFill>
        <a:effectLst/>
      </p:bgPr>
    </p:bg>
    <p:spTree>
      <p:nvGrpSpPr>
        <p:cNvPr id="1" name=""/>
        <p:cNvGrpSpPr/>
        <p:nvPr/>
      </p:nvGrpSpPr>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rIns="0" t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rIns="0" tIns="0" bIns="0" anchor="t">
            <a:spAutoFit/>
          </a:bodyPr>
          <a:lstStyle/>
          <a:p>
            <a:pPr algn="l">
              <a:lnSpc>
                <a:spcPct val="120000"/>
              </a:lnSpc>
              <a:spcAft>
                <a:spcPts val="0"/>
              </a:spcAft>
            </a:pPr>
            <a:r>
              <a:rPr sz="1900" b="0" i="0">
                <a:solidFill>
                  <a:srgbClr val="B7CBC1"/>
                </a:solidFill>
                <a:latin typeface="Arial"/>
              </a:rPr>
              <a:t>Will the sofa make it through the hallway? Let's build the room, then let a robot-style planner figure it out — and learn how it thinks.</a:t>
            </a:r>
          </a:p>
        </p:txBody>
      </p:sp>
      <p:sp>
        <p:nvSpPr>
          <p:cNvPr id="5" name="Rounded Rectangle 4"/>
          <p:cNvSpPr/>
          <p:nvPr/>
        </p:nvSpPr>
        <p:spPr>
          <a:xfrm>
            <a:off x="698500" y="5905500"/>
            <a:ext cx="1460500" cy="3175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spc="100">
                <a:solidFill>
                  <a:srgbClr val="EAF5EE"/>
                </a:solidFill>
                <a:latin typeface="Arial"/>
              </a:rPr>
              <a:t>THREE.JS</a:t>
            </a:r>
          </a:p>
        </p:txBody>
      </p:sp>
      <p:sp>
        <p:nvSpPr>
          <p:cNvPr id="6" name="Rounded Rectangle 5"/>
          <p:cNvSpPr/>
          <p:nvPr/>
        </p:nvSpPr>
        <p:spPr>
          <a:xfrm>
            <a:off x="2286000" y="5905500"/>
            <a:ext cx="1460500" cy="3175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spc="100">
                <a:solidFill>
                  <a:srgbClr val="EAF5EE"/>
                </a:solidFill>
                <a:latin typeface="Arial"/>
              </a:rPr>
              <a:t>RRT-CONNECT</a:t>
            </a:r>
          </a:p>
        </p:txBody>
      </p:sp>
      <p:sp>
        <p:nvSpPr>
          <p:cNvPr id="7" name="Rounded Rectangle 6"/>
          <p:cNvSpPr/>
          <p:nvPr/>
        </p:nvSpPr>
        <p:spPr>
          <a:xfrm>
            <a:off x="3873500" y="5905500"/>
            <a:ext cx="1460500" cy="3175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i="0" spc="100">
                <a:solidFill>
                  <a:srgbClr val="EAF5EE"/>
                </a:solidFill>
                <a:latin typeface="Arial"/>
              </a:rPr>
              <a:t>NO BUILD STEP</a:t>
            </a:r>
          </a:p>
        </p:txBody>
      </p:sp>
      <p:pic>
        <p:nvPicPr>
          <p:cNvPr id="8" name="Picture 7" descr="d1.png"/>
          <p:cNvPicPr>
            <a:picLocks noChangeAspect="1"/>
          </p:cNvPicPr>
          <p:nvPr/>
        </p:nvPicPr>
        <p:blipFill>
          <a:blip r:embed="rId2"/>
          <a:stretch>
            <a:fillRect/>
          </a:stretch>
        </p:blipFill>
        <p:spPr>
          <a:xfrm>
            <a:off x="6667500" y="1206500"/>
            <a:ext cx="4572000" cy="4572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Char char="■"/>
            </a:pPr>
            <a:r>
              <a:rPr sz="1700" b="0" i="0">
                <a:solidFill>
                  <a:srgbClr val="17211D"/>
                </a:solidFill>
                <a:latin typeface="Arial"/>
              </a:rPr>
              <a:t>It slides in </a:t>
            </a:r>
            <a:r>
              <a:rPr sz="1700" b="1" i="0">
                <a:solidFill>
                  <a:srgbClr val="17211D"/>
                </a:solidFill>
                <a:latin typeface="Arial"/>
              </a:rPr>
              <a:t>3</a:t>
            </a:r>
            <a:r>
              <a:rPr sz="1700" b="0" i="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a:solidFill>
                  <a:srgbClr val="17211D"/>
                </a:solidFill>
                <a:latin typeface="Arial"/>
              </a:rPr>
              <a:t>It spins in </a:t>
            </a:r>
            <a:r>
              <a:rPr sz="1700" b="1" i="0">
                <a:solidFill>
                  <a:srgbClr val="17211D"/>
                </a:solidFill>
                <a:latin typeface="Arial"/>
              </a:rPr>
              <a:t>3</a:t>
            </a:r>
            <a:r>
              <a:rPr sz="1700" b="0" i="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a:solidFill>
                  <a:srgbClr val="17211D"/>
                </a:solidFill>
                <a:latin typeface="Arial"/>
              </a:rPr>
              <a:t>"Does it fit?" really means: </a:t>
            </a:r>
            <a:r>
              <a:rPr sz="1700" b="1" i="0">
                <a:solidFill>
                  <a:srgbClr val="17211D"/>
                </a:solidFill>
                <a:latin typeface="Arial"/>
              </a:rPr>
              <a:t>is there a collision-free path through 6-D space?</a:t>
            </a:r>
          </a:p>
        </p:txBody>
      </p:sp>
      <p:pic>
        <p:nvPicPr>
          <p:cNvPr id="5" name="Picture 4" descr="d2.png"/>
          <p:cNvPicPr>
            <a:picLocks noChangeAspect="1"/>
          </p:cNvPicPr>
          <p:nvPr/>
        </p:nvPicPr>
        <p:blipFill>
          <a:blip r:embed="rId2"/>
          <a:stretch>
            <a:fillRect/>
          </a:stretch>
        </p:blipFill>
        <p:spPr>
          <a:xfrm>
            <a:off x="6096000" y="1905000"/>
            <a:ext cx="5397500" cy="377493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One app, three ways to answer it</a:t>
            </a:r>
          </a:p>
        </p:txBody>
      </p:sp>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9800" y="2603500"/>
            <a:ext cx="2952750" cy="317500"/>
          </a:xfrm>
          <a:prstGeom prst="rect">
            <a:avLst/>
          </a:prstGeom>
          <a:noFill/>
        </p:spPr>
        <p:txBody>
          <a:bodyPr wrap="square" lIns="0" rIns="0" tIns="0" bIns="0" anchor="t">
            <a:spAutoFit/>
          </a:bodyPr>
          <a:lstStyle/>
          <a:p>
            <a:pPr algn="l">
              <a:lnSpc>
                <a:spcPct val="112000"/>
              </a:lnSpc>
              <a:spcAft>
                <a:spcPts val="0"/>
              </a:spcAft>
            </a:pPr>
            <a:r>
              <a:rPr sz="2000" b="1" i="0">
                <a:solidFill>
                  <a:srgbClr val="17211D"/>
                </a:solidFill>
                <a:latin typeface="Arial"/>
              </a:rPr>
              <a:t>3D room editor</a:t>
            </a:r>
          </a:p>
        </p:txBody>
      </p:sp>
      <p:sp>
        <p:nvSpPr>
          <p:cNvPr id="7" name="TextBox 6"/>
          <p:cNvSpPr txBox="1"/>
          <p:nvPr/>
        </p:nvSpPr>
        <p:spPr>
          <a:xfrm>
            <a:off x="939800" y="3048000"/>
            <a:ext cx="2952750" cy="1079500"/>
          </a:xfrm>
          <a:prstGeom prst="rect">
            <a:avLst/>
          </a:prstGeom>
          <a:noFill/>
        </p:spPr>
        <p:txBody>
          <a:bodyPr wrap="square" lIns="0" rIns="0" tIns="0" bIns="0" anchor="t">
            <a:spAutoFit/>
          </a:bodyPr>
          <a:lstStyle/>
          <a:p>
            <a:pPr algn="l">
              <a:lnSpc>
                <a:spcPct val="120000"/>
              </a:lnSpc>
              <a:spcAft>
                <a:spcPts val="0"/>
              </a:spcAft>
            </a:pPr>
            <a:r>
              <a:rPr sz="1450" b="0" i="0">
                <a:solidFill>
                  <a:srgbClr val="5D6963"/>
                </a:solidFill>
                <a:latin typeface="Arial"/>
              </a:rPr>
              <a:t>Rooms are boxes defined by an origin and three edge vectors. Stretch, skew, add, connect.</a:t>
            </a:r>
          </a:p>
        </p:txBody>
      </p:sp>
      <p:sp>
        <p:nvSpPr>
          <p:cNvPr id="8" name="Rounded Rectangle 7"/>
          <p:cNvSpPr/>
          <p:nvPr/>
        </p:nvSpPr>
        <p:spPr>
          <a:xfrm>
            <a:off x="4381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22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2800" y="2603500"/>
            <a:ext cx="2952750" cy="317500"/>
          </a:xfrm>
          <a:prstGeom prst="rect">
            <a:avLst/>
          </a:prstGeom>
          <a:noFill/>
        </p:spPr>
        <p:txBody>
          <a:bodyPr wrap="square" lIns="0" rIns="0" tIns="0" bIns="0" anchor="t">
            <a:spAutoFit/>
          </a:bodyPr>
          <a:lstStyle/>
          <a:p>
            <a:pPr algn="l">
              <a:lnSpc>
                <a:spcPct val="112000"/>
              </a:lnSpc>
              <a:spcAft>
                <a:spcPts val="0"/>
              </a:spcAft>
            </a:pPr>
            <a:r>
              <a:rPr sz="2000" b="1" i="0">
                <a:solidFill>
                  <a:srgbClr val="17211D"/>
                </a:solidFill>
                <a:latin typeface="Arial"/>
              </a:rPr>
              <a:t>Two auto-solvers</a:t>
            </a:r>
          </a:p>
        </p:txBody>
      </p:sp>
      <p:sp>
        <p:nvSpPr>
          <p:cNvPr id="11" name="TextBox 10"/>
          <p:cNvSpPr txBox="1"/>
          <p:nvPr/>
        </p:nvSpPr>
        <p:spPr>
          <a:xfrm>
            <a:off x="4622800" y="3048000"/>
            <a:ext cx="2952750" cy="1079500"/>
          </a:xfrm>
          <a:prstGeom prst="rect">
            <a:avLst/>
          </a:prstGeom>
          <a:noFill/>
        </p:spPr>
        <p:txBody>
          <a:bodyPr wrap="square" lIns="0" rIns="0" tIns="0" bIns="0" anchor="t">
            <a:spAutoFit/>
          </a:bodyPr>
          <a:lstStyle/>
          <a:p>
            <a:pPr algn="l">
              <a:lnSpc>
                <a:spcPct val="120000"/>
              </a:lnSpc>
              <a:spcAft>
                <a:spcPts val="0"/>
              </a:spcAft>
            </a:pPr>
            <a:r>
              <a:rPr sz="1450" b="0" i="0">
                <a:solidFill>
                  <a:srgbClr val="5D6963"/>
                </a:solidFill>
                <a:latin typeface="Arial"/>
              </a:rPr>
              <a:t>A probabilistic one (RRT-Connect) and a deterministic straight-shot heuristic.</a:t>
            </a:r>
          </a:p>
        </p:txBody>
      </p:sp>
      <p:sp>
        <p:nvSpPr>
          <p:cNvPr id="12" name="Rounded Rectangle 11"/>
          <p:cNvSpPr/>
          <p:nvPr/>
        </p:nvSpPr>
        <p:spPr>
          <a:xfrm>
            <a:off x="8064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05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5800" y="2603500"/>
            <a:ext cx="2952750" cy="317500"/>
          </a:xfrm>
          <a:prstGeom prst="rect">
            <a:avLst/>
          </a:prstGeom>
          <a:noFill/>
        </p:spPr>
        <p:txBody>
          <a:bodyPr wrap="square" lIns="0" rIns="0" t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305800" y="3048000"/>
            <a:ext cx="2952750" cy="1079500"/>
          </a:xfrm>
          <a:prstGeom prst="rect">
            <a:avLst/>
          </a:prstGeom>
          <a:noFill/>
        </p:spPr>
        <p:txBody>
          <a:bodyPr wrap="square" lIns="0" rIns="0" tIns="0" bIns="0" anchor="t">
            <a:spAutoFit/>
          </a:bodyPr>
          <a:lstStyle/>
          <a:p>
            <a:pPr algn="l">
              <a:lnSpc>
                <a:spcPct val="120000"/>
              </a:lnSpc>
              <a:spcAft>
                <a:spcPts val="0"/>
              </a:spcAft>
            </a:pPr>
            <a:r>
              <a:rPr sz="1450" b="0" i="0">
                <a:solidFill>
                  <a:srgbClr val="5D6963"/>
                </a:solidFill>
                <a:latin typeface="Arial"/>
              </a:rPr>
              <a:t>Hold </a:t>
            </a:r>
            <a:r>
              <a:rPr sz="1450" b="1" i="0">
                <a:solidFill>
                  <a:srgbClr val="5D6963"/>
                </a:solidFill>
                <a:latin typeface="Courier New"/>
              </a:rPr>
              <a:t>M</a:t>
            </a:r>
            <a:r>
              <a:rPr sz="1450" b="0" i="0">
                <a:solidFill>
                  <a:srgbClr val="5D6963"/>
                </a:solidFill>
                <a:latin typeface="Arial"/>
              </a:rPr>
              <a:t>, drag the furniture yourself. The app tells you when you collide.</a:t>
            </a:r>
          </a:p>
        </p:txBody>
      </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Build the room</a:t>
            </a:r>
          </a:p>
        </p:txBody>
      </p:sp>
      <p:sp>
        <p:nvSpPr>
          <p:cNvPr id="4" name="TextBox 3"/>
          <p:cNvSpPr txBox="1"/>
          <p:nvPr/>
        </p:nvSpPr>
        <p:spPr>
          <a:xfrm>
            <a:off x="698500" y="2032000"/>
            <a:ext cx="4064000" cy="3175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Drag the </a:t>
            </a:r>
            <a:r>
              <a:rPr sz="1600" b="1" i="0">
                <a:solidFill>
                  <a:srgbClr val="17211D"/>
                </a:solidFill>
                <a:latin typeface="Arial"/>
              </a:rPr>
              <a:t>A / B / C length</a:t>
            </a:r>
            <a:r>
              <a:rPr sz="1600" b="0" i="0">
                <a:solidFill>
                  <a:srgbClr val="17211D"/>
                </a:solidFill>
                <a:latin typeface="Arial"/>
              </a:rPr>
              <a:t> sliders. Try </a:t>
            </a:r>
            <a:r>
              <a:rPr sz="1600" b="1" i="0">
                <a:solidFill>
                  <a:srgbClr val="17211D"/>
                </a:solidFill>
                <a:latin typeface="Courier New"/>
              </a:rPr>
              <a:t>8 · 2.4 · 2.4</a:t>
            </a:r>
            <a:r>
              <a:rPr sz="1600" b="0" i="0">
                <a:solidFill>
                  <a:srgbClr val="17211D"/>
                </a:solidFill>
                <a:latin typeface="Arial"/>
              </a:rPr>
              <a:t> — instant hallway.</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Change the </a:t>
            </a:r>
            <a:r>
              <a:rPr sz="1600" b="1" i="0">
                <a:solidFill>
                  <a:srgbClr val="17211D"/>
                </a:solidFill>
                <a:latin typeface="Arial"/>
              </a:rPr>
              <a:t>angles</a:t>
            </a:r>
            <a:r>
              <a:rPr sz="1600" b="0" i="0">
                <a:solidFill>
                  <a:srgbClr val="17211D"/>
                </a:solidFill>
                <a:latin typeface="Arial"/>
              </a:rPr>
              <a:t> to skew it, or hit the </a:t>
            </a:r>
            <a:r>
              <a:rPr sz="1600" b="1" i="0">
                <a:solidFill>
                  <a:srgbClr val="17211D"/>
                </a:solidFill>
                <a:latin typeface="Arial"/>
              </a:rPr>
              <a:t>45° two-face box</a:t>
            </a:r>
            <a:r>
              <a:rPr sz="1600" b="0" i="0">
                <a:solidFill>
                  <a:srgbClr val="17211D"/>
                </a:solidFill>
                <a:latin typeface="Arial"/>
              </a:rPr>
              <a:t> template.</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Need a turn? </a:t>
            </a:r>
            <a:r>
              <a:rPr sz="1600" b="1" i="0">
                <a:solidFill>
                  <a:srgbClr val="17211D"/>
                </a:solidFill>
                <a:latin typeface="Arial"/>
              </a:rPr>
              <a:t>+ Add object</a:t>
            </a:r>
            <a:r>
              <a:rPr sz="1600" b="0" i="0">
                <a:solidFill>
                  <a:srgbClr val="17211D"/>
                </a:solidFill>
                <a:latin typeface="Arial"/>
              </a:rPr>
              <a:t> → </a:t>
            </a:r>
            <a:r>
              <a:rPr sz="1600" b="1" i="0">
                <a:solidFill>
                  <a:srgbClr val="17211D"/>
                </a:solidFill>
                <a:latin typeface="Arial"/>
              </a:rPr>
              <a:t>Connect two objects</a:t>
            </a:r>
            <a:r>
              <a:rPr sz="1600" b="0" i="0">
                <a:solidFill>
                  <a:srgbClr val="17211D"/>
                </a:solidFill>
                <a:latin typeface="Arial"/>
              </a:rPr>
              <a:t> → click a face on each.</a:t>
            </a:r>
          </a:p>
        </p:txBody>
      </p:sp>
      <p:sp>
        <p:nvSpPr>
          <p:cNvPr id="5" name="Rounded Rectangle 4"/>
          <p:cNvSpPr/>
          <p:nvPr/>
        </p:nvSpPr>
        <p:spPr>
          <a:xfrm>
            <a:off x="698500" y="4699000"/>
            <a:ext cx="4064000" cy="952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0" i="0">
                <a:solidFill>
                  <a:srgbClr val="EAF5EE"/>
                </a:solidFill>
                <a:latin typeface="Arial"/>
              </a:rPr>
              <a:t>Every room is a box: </a:t>
            </a:r>
            <a:r>
              <a:rPr sz="1400" b="1" i="0">
                <a:solidFill>
                  <a:srgbClr val="D6EF5B"/>
                </a:solidFill>
                <a:latin typeface="Arial"/>
              </a:rPr>
              <a:t>O + s·A + t·B + u·C</a:t>
            </a:r>
            <a:r>
              <a:rPr sz="1400" b="0" i="0">
                <a:solidFill>
                  <a:srgbClr val="EAF5EE"/>
                </a:solidFill>
                <a:latin typeface="Arial"/>
              </a:rPr>
              <a:t>, with s, t, u from 0 to 1. Turn on </a:t>
            </a:r>
            <a:r>
              <a:rPr sz="1400" b="1" i="0">
                <a:solidFill>
                  <a:srgbClr val="D6EF5B"/>
                </a:solidFill>
                <a:latin typeface="Arial"/>
              </a:rPr>
              <a:t>vector labels</a:t>
            </a:r>
            <a:r>
              <a:rPr sz="1400" b="0" i="0">
                <a:solidFill>
                  <a:srgbClr val="EAF5EE"/>
                </a:solidFill>
                <a:latin typeface="Arial"/>
              </a:rPr>
              <a:t> to see A, B, C.</a:t>
            </a:r>
          </a:p>
        </p:txBody>
      </p:sp>
      <p:pic>
        <p:nvPicPr>
          <p:cNvPr id="6" name="Picture 5" descr="s1b-labels.jpg"/>
          <p:cNvPicPr>
            <a:picLocks noChangeAspect="1"/>
          </p:cNvPicPr>
          <p:nvPr/>
        </p:nvPicPr>
        <p:blipFill>
          <a:blip r:embed="rId2"/>
          <a:stretch>
            <a:fillRect/>
          </a:stretch>
        </p:blipFill>
        <p:spPr>
          <a:xfrm>
            <a:off x="5080000" y="1905000"/>
            <a:ext cx="6413500" cy="4008438"/>
          </a:xfrm>
          <a:prstGeom prst="rect">
            <a:avLst/>
          </a:prstGeom>
          <a:ln w="12700">
            <a:solidFill>
              <a:srgbClr val="CFD8D1"/>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 2</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Choose the entrance &amp; exit</a:t>
            </a:r>
          </a:p>
        </p:txBody>
      </p:sp>
      <p:sp>
        <p:nvSpPr>
          <p:cNvPr id="4" name="TextBox 3"/>
          <p:cNvSpPr txBox="1"/>
          <p:nvPr/>
        </p:nvSpPr>
        <p:spPr>
          <a:xfrm>
            <a:off x="698500" y="2032000"/>
            <a:ext cx="4064000" cy="3175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Press </a:t>
            </a:r>
            <a:r>
              <a:rPr sz="1600" b="1" i="0">
                <a:solidFill>
                  <a:srgbClr val="17211D"/>
                </a:solidFill>
                <a:latin typeface="Arial"/>
              </a:rPr>
              <a:t>Pick faces in 3D view</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Click an outside wall: first the </a:t>
            </a:r>
            <a:r>
              <a:rPr sz="1600" b="1" i="0">
                <a:solidFill>
                  <a:srgbClr val="2F9A5E"/>
                </a:solidFill>
                <a:latin typeface="Arial"/>
              </a:rPr>
              <a:t>entrance</a:t>
            </a:r>
            <a:r>
              <a:rPr sz="1600" b="0" i="0">
                <a:solidFill>
                  <a:srgbClr val="17211D"/>
                </a:solidFill>
                <a:latin typeface="Arial"/>
              </a:rPr>
              <a:t>, then the </a:t>
            </a:r>
            <a:r>
              <a:rPr sz="1600" b="1" i="0">
                <a:solidFill>
                  <a:srgbClr val="D97F1A"/>
                </a:solidFill>
                <a:latin typeface="Arial"/>
              </a:rPr>
              <a:t>exit</a:t>
            </a:r>
            <a:r>
              <a:rPr sz="1600" b="0" i="0">
                <a:solidFill>
                  <a:srgbClr val="17211D"/>
                </a:solidFill>
                <a:latin typeface="Arial"/>
              </a:rPr>
              <a:t>. (Or use the dropdowns.)</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Press </a:t>
            </a:r>
            <a:r>
              <a:rPr sz="1600" b="1" i="0">
                <a:solidFill>
                  <a:srgbClr val="17211D"/>
                </a:solidFill>
                <a:latin typeface="Arial"/>
              </a:rPr>
              <a:t>Confirm 3D model</a:t>
            </a:r>
            <a:r>
              <a:rPr sz="1600" b="0" i="0">
                <a:solidFill>
                  <a:srgbClr val="17211D"/>
                </a:solidFill>
                <a:latin typeface="Arial"/>
              </a:rPr>
              <a:t> — the room locks.</a:t>
            </a:r>
          </a:p>
        </p:txBody>
      </p:sp>
      <p:sp>
        <p:nvSpPr>
          <p:cNvPr id="5" name="Rounded Rectangle 4"/>
          <p:cNvSpPr/>
          <p:nvPr/>
        </p:nvSpPr>
        <p:spPr>
          <a:xfrm>
            <a:off x="698500" y="4445000"/>
            <a:ext cx="4064000" cy="1206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1" i="0">
                <a:solidFill>
                  <a:srgbClr val="D6EF5B"/>
                </a:solidFill>
                <a:latin typeface="Arial"/>
              </a:rPr>
              <a:t>Only these two faces are doorways.</a:t>
            </a:r>
            <a:r>
              <a:rPr sz="1400" b="0" i="0">
                <a:solidFill>
                  <a:srgbClr val="EAF5EE"/>
                </a:solidFill>
                <a:latin typeface="Arial"/>
              </a:rPr>
              <a:t> Every other wall stays solid — the furniture can't cheat through them.</a:t>
            </a:r>
          </a:p>
        </p:txBody>
      </p:sp>
      <p:pic>
        <p:nvPicPr>
          <p:cNvPr id="6" name="Picture 5" descr="s2-openings.jpg"/>
          <p:cNvPicPr>
            <a:picLocks noChangeAspect="1"/>
          </p:cNvPicPr>
          <p:nvPr/>
        </p:nvPicPr>
        <p:blipFill>
          <a:blip r:embed="rId2"/>
          <a:stretch>
            <a:fillRect/>
          </a:stretch>
        </p:blipFill>
        <p:spPr>
          <a:xfrm>
            <a:off x="5080000" y="1905000"/>
            <a:ext cx="6413500" cy="4008438"/>
          </a:xfrm>
          <a:prstGeom prst="rect">
            <a:avLst/>
          </a:prstGeom>
          <a:ln w="12700">
            <a:solidFill>
              <a:srgbClr val="CFD8D1"/>
            </a:solidFill>
          </a:ln>
        </p:spPr>
      </p:pic>
      <p:pic>
        <p:nvPicPr>
          <p:cNvPr id="7" name="Picture 6" descr="s2-openings.jpg"/>
          <p:cNvPicPr>
            <a:picLocks noChangeAspect="1"/>
          </p:cNvPicPr>
          <p:nvPr/>
        </p:nvPicPr>
        <p:blipFill>
          <a:blip r:embed="rId2"/>
          <a:srcRect l="74074" r="463" t="35556" b="25185"/>
          <a:stretch>
            <a:fillRect/>
          </a:stretch>
        </p:blipFill>
        <p:spPr>
          <a:xfrm>
            <a:off x="9048750" y="3551237"/>
            <a:ext cx="2305050" cy="2222500"/>
          </a:xfrm>
          <a:prstGeom prst="rect">
            <a:avLst/>
          </a:prstGeom>
          <a:ln w="28575">
            <a:solidFill>
              <a:srgbClr val="166B50"/>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 3</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Describe the furniture</a:t>
            </a:r>
          </a:p>
        </p:txBody>
      </p:sp>
      <p:sp>
        <p:nvSpPr>
          <p:cNvPr id="4" name="TextBox 3"/>
          <p:cNvSpPr txBox="1"/>
          <p:nvPr/>
        </p:nvSpPr>
        <p:spPr>
          <a:xfrm>
            <a:off x="698500" y="2032000"/>
            <a:ext cx="4064000" cy="3175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Enter </a:t>
            </a:r>
            <a:r>
              <a:rPr sz="1600" b="1" i="0">
                <a:solidFill>
                  <a:srgbClr val="17211D"/>
                </a:solidFill>
                <a:latin typeface="Arial"/>
              </a:rPr>
              <a:t>Length · Width · Height</a:t>
            </a:r>
            <a:r>
              <a:rPr sz="1600" b="0" i="0">
                <a:solidFill>
                  <a:srgbClr val="17211D"/>
                </a:solidFill>
                <a:latin typeface="Arial"/>
              </a:rPr>
              <a:t>. Try </a:t>
            </a:r>
            <a:r>
              <a:rPr sz="1600" b="1" i="0">
                <a:solidFill>
                  <a:srgbClr val="17211D"/>
                </a:solidFill>
                <a:latin typeface="Courier New"/>
              </a:rPr>
              <a:t>2.5 · 1.2 · 1.2</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The </a:t>
            </a:r>
            <a:r>
              <a:rPr sz="1600" b="1" i="0">
                <a:solidFill>
                  <a:srgbClr val="2F9A5E"/>
                </a:solidFill>
                <a:latin typeface="Arial"/>
              </a:rPr>
              <a:t>green box</a:t>
            </a:r>
            <a:r>
              <a:rPr sz="1600" b="0" i="0">
                <a:solidFill>
                  <a:srgbClr val="17211D"/>
                </a:solidFill>
                <a:latin typeface="Arial"/>
              </a:rPr>
              <a:t> is your furniture, parked beside the room. </a:t>
            </a:r>
            <a:r>
              <a:rPr sz="1600" b="1" i="0">
                <a:solidFill>
                  <a:srgbClr val="17211D"/>
                </a:solidFill>
                <a:latin typeface="Arial"/>
              </a:rPr>
              <a:t>Show furniture in 3D view</a:t>
            </a:r>
            <a:r>
              <a:rPr sz="1600" b="0" i="0">
                <a:solidFill>
                  <a:srgbClr val="17211D"/>
                </a:solidFill>
                <a:latin typeface="Arial"/>
              </a:rPr>
              <a:t> to focus it.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Set </a:t>
            </a:r>
            <a:r>
              <a:rPr sz="1600" b="1" i="0">
                <a:solidFill>
                  <a:srgbClr val="17211D"/>
                </a:solidFill>
                <a:latin typeface="Arial"/>
              </a:rPr>
              <a:t>Clearance</a:t>
            </a:r>
            <a:r>
              <a:rPr sz="1600" b="0" i="0">
                <a:solidFill>
                  <a:srgbClr val="17211D"/>
                </a:solidFill>
                <a:latin typeface="Arial"/>
              </a:rPr>
              <a:t> (</a:t>
            </a:r>
            <a:r>
              <a:rPr sz="1600" b="1" i="0">
                <a:solidFill>
                  <a:srgbClr val="17211D"/>
                </a:solidFill>
                <a:latin typeface="Courier New"/>
              </a:rPr>
              <a:t>0.1</a:t>
            </a:r>
            <a:r>
              <a:rPr sz="1600" b="0" i="0">
                <a:solidFill>
                  <a:srgbClr val="17211D"/>
                </a:solidFill>
                <a:latin typeface="Arial"/>
              </a:rPr>
              <a:t>) — a safety margin around every side.</a:t>
            </a:r>
          </a:p>
        </p:txBody>
      </p:sp>
      <p:sp>
        <p:nvSpPr>
          <p:cNvPr id="5" name="Rounded Rectangle 4"/>
          <p:cNvSpPr/>
          <p:nvPr/>
        </p:nvSpPr>
        <p:spPr>
          <a:xfrm>
            <a:off x="698500" y="4699000"/>
            <a:ext cx="4064000" cy="952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0" i="0">
                <a:solidFill>
                  <a:srgbClr val="EAF5EE"/>
                </a:solidFill>
                <a:latin typeface="Arial"/>
              </a:rPr>
              <a:t>Furniture is one rigid box. Clearance </a:t>
            </a:r>
            <a:r>
              <a:rPr sz="1400" b="1" i="0">
                <a:solidFill>
                  <a:srgbClr val="D6EF5B"/>
                </a:solidFill>
                <a:latin typeface="Arial"/>
              </a:rPr>
              <a:t>grows the box</a:t>
            </a:r>
            <a:r>
              <a:rPr sz="1400" b="0" i="0">
                <a:solidFill>
                  <a:srgbClr val="EAF5EE"/>
                </a:solidFill>
                <a:latin typeface="Arial"/>
              </a:rPr>
              <a:t> in every direction before any collision check.</a:t>
            </a:r>
          </a:p>
        </p:txBody>
      </p:sp>
      <p:pic>
        <p:nvPicPr>
          <p:cNvPr id="6" name="Picture 5" descr="s3-furniture.jpg"/>
          <p:cNvPicPr>
            <a:picLocks noChangeAspect="1"/>
          </p:cNvPicPr>
          <p:nvPr/>
        </p:nvPicPr>
        <p:blipFill>
          <a:blip r:embed="rId2"/>
          <a:stretch>
            <a:fillRect/>
          </a:stretch>
        </p:blipFill>
        <p:spPr>
          <a:xfrm>
            <a:off x="5080000" y="1905000"/>
            <a:ext cx="6413500" cy="4008438"/>
          </a:xfrm>
          <a:prstGeom prst="rect">
            <a:avLst/>
          </a:prstGeom>
          <a:ln w="12700">
            <a:solidFill>
              <a:srgbClr val="CFD8D1"/>
            </a:solidFill>
          </a:ln>
        </p:spPr>
      </p:pic>
      <p:pic>
        <p:nvPicPr>
          <p:cNvPr id="7" name="Picture 6" descr="s3-furniture.jpg"/>
          <p:cNvPicPr>
            <a:picLocks noChangeAspect="1"/>
          </p:cNvPicPr>
          <p:nvPr/>
        </p:nvPicPr>
        <p:blipFill>
          <a:blip r:embed="rId2"/>
          <a:srcRect l="74074" r="463" t="37037" b="35556"/>
          <a:stretch>
            <a:fillRect/>
          </a:stretch>
        </p:blipFill>
        <p:spPr>
          <a:xfrm>
            <a:off x="9048750" y="4224337"/>
            <a:ext cx="2305050" cy="1549400"/>
          </a:xfrm>
          <a:prstGeom prst="rect">
            <a:avLst/>
          </a:prstGeom>
          <a:ln w="28575">
            <a:solidFill>
              <a:srgbClr val="166B50"/>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3175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600" b="1" i="0">
                <a:solidFill>
                  <a:srgbClr val="17211D"/>
                </a:solidFill>
                <a:latin typeface="Arial"/>
              </a:rPr>
              <a:t>Try manually</a:t>
            </a:r>
            <a:r>
              <a:rPr sz="1600" b="0" i="0">
                <a:solidFill>
                  <a:srgbClr val="17211D"/>
                </a:solidFill>
                <a:latin typeface="Arial"/>
              </a:rPr>
              <a:t> — the furniture starts fully outside the entrance.</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Hold </a:t>
            </a:r>
            <a:r>
              <a:rPr sz="1600" b="1" i="0">
                <a:solidFill>
                  <a:srgbClr val="17211D"/>
                </a:solidFill>
                <a:latin typeface="Courier New"/>
              </a:rPr>
              <a:t>M</a:t>
            </a:r>
            <a:r>
              <a:rPr sz="1600" b="0" i="0">
                <a:solidFill>
                  <a:srgbClr val="17211D"/>
                </a:solidFill>
                <a:latin typeface="Arial"/>
              </a:rPr>
              <a:t> and drag. Use the sliders for </a:t>
            </a:r>
            <a:r>
              <a:rPr sz="1600" b="1" i="0">
                <a:solidFill>
                  <a:srgbClr val="17211D"/>
                </a:solidFill>
                <a:latin typeface="Arial"/>
              </a:rPr>
              <a:t>height</a:t>
            </a:r>
            <a:r>
              <a:rPr sz="1600" b="0" i="0">
                <a:solidFill>
                  <a:srgbClr val="17211D"/>
                </a:solidFill>
                <a:latin typeface="Arial"/>
              </a:rPr>
              <a:t>, </a:t>
            </a:r>
            <a:r>
              <a:rPr sz="1600" b="1" i="0">
                <a:solidFill>
                  <a:srgbClr val="17211D"/>
                </a:solidFill>
                <a:latin typeface="Arial"/>
              </a:rPr>
              <a:t>yaw</a:t>
            </a:r>
            <a:r>
              <a:rPr sz="1600" b="0" i="0">
                <a:solidFill>
                  <a:srgbClr val="17211D"/>
                </a:solidFill>
                <a:latin typeface="Arial"/>
              </a:rPr>
              <a:t>, </a:t>
            </a:r>
            <a:r>
              <a:rPr sz="1600" b="1" i="0">
                <a:solidFill>
                  <a:srgbClr val="17211D"/>
                </a:solidFill>
                <a:latin typeface="Arial"/>
              </a:rPr>
              <a:t>pitch</a:t>
            </a:r>
            <a:r>
              <a:rPr sz="1600" b="0" i="0">
                <a:solidFill>
                  <a:srgbClr val="17211D"/>
                </a:solidFill>
                <a:latin typeface="Arial"/>
              </a:rPr>
              <a:t>, </a:t>
            </a:r>
            <a:r>
              <a:rPr sz="1600" b="1" i="0">
                <a:solidFill>
                  <a:srgbClr val="17211D"/>
                </a:solidFill>
                <a:latin typeface="Arial"/>
              </a:rPr>
              <a:t>roll</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Stuck at a corner? </a:t>
            </a:r>
            <a:r>
              <a:rPr sz="1600" b="1" i="0">
                <a:solidFill>
                  <a:srgbClr val="17211D"/>
                </a:solidFill>
                <a:latin typeface="Arial"/>
              </a:rPr>
              <a:t>Auto Pilot</a:t>
            </a:r>
            <a:r>
              <a:rPr sz="1600" b="0" i="0">
                <a:solidFill>
                  <a:srgbClr val="17211D"/>
                </a:solidFill>
                <a:latin typeface="Arial"/>
              </a:rPr>
              <a:t>: click a furniture edge, then a room edge — they snap parallel.</a:t>
            </a:r>
          </a:p>
        </p:txBody>
      </p:sp>
      <p:sp>
        <p:nvSpPr>
          <p:cNvPr id="5" name="TextBox 4"/>
          <p:cNvSpPr txBox="1"/>
          <p:nvPr/>
        </p:nvSpPr>
        <p:spPr>
          <a:xfrm>
            <a:off x="698500" y="4381500"/>
            <a:ext cx="4064000" cy="254000"/>
          </a:xfrm>
          <a:prstGeom prst="rect">
            <a:avLst/>
          </a:prstGeom>
          <a:noFill/>
        </p:spPr>
        <p:txBody>
          <a:bodyPr wrap="square" lIns="0" rIns="0" tIns="0" bIns="0" anchor="t">
            <a:spAutoFit/>
          </a:bodyPr>
          <a:lstStyle/>
          <a:p>
            <a:pPr algn="l">
              <a:lnSpc>
                <a:spcPct val="112000"/>
              </a:lnSpc>
              <a:spcAft>
                <a:spcPts val="0"/>
              </a:spcAft>
            </a:pPr>
            <a:r>
              <a:rPr sz="1250" b="1" i="0">
                <a:solidFill>
                  <a:srgbClr val="2F9A5E"/>
                </a:solidFill>
                <a:latin typeface="Arial"/>
              </a:rPr>
              <a:t>■ inside, legal</a:t>
            </a:r>
            <a:r>
              <a:rPr sz="1250" b="1" i="0">
                <a:solidFill>
                  <a:srgbClr val="B08A1E"/>
                </a:solidFill>
                <a:latin typeface="Arial"/>
              </a:rPr>
              <a:t>     ■ outside     </a:t>
            </a:r>
            <a:r>
              <a:rPr sz="1250" b="1" i="0">
                <a:solidFill>
                  <a:srgbClr val="D94D45"/>
                </a:solidFill>
                <a:latin typeface="Arial"/>
              </a:rPr>
              <a:t>■ collision</a:t>
            </a:r>
          </a:p>
        </p:txBody>
      </p:sp>
      <p:sp>
        <p:nvSpPr>
          <p:cNvPr id="6" name="Rounded Rectangle 5"/>
          <p:cNvSpPr/>
          <p:nvPr/>
        </p:nvSpPr>
        <p:spPr>
          <a:xfrm>
            <a:off x="698500" y="4762500"/>
            <a:ext cx="4064000" cy="889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1" i="0">
                <a:solidFill>
                  <a:srgbClr val="D6EF5B"/>
                </a:solidFill>
                <a:latin typeface="Arial"/>
              </a:rPr>
              <a:t>You win</a:t>
            </a:r>
            <a:r>
              <a:rPr sz="1400" b="0" i="0">
                <a:solidFill>
                  <a:srgbClr val="EAF5EE"/>
                </a:solidFill>
                <a:latin typeface="Arial"/>
              </a:rPr>
              <a:t> when the furniture passes completely through the exit — a pop-up tells you.</a:t>
            </a:r>
          </a:p>
        </p:txBody>
      </p:sp>
      <p:pic>
        <p:nvPicPr>
          <p:cNvPr id="7" name="Picture 6" descr="s4-manual.jpg"/>
          <p:cNvPicPr>
            <a:picLocks noChangeAspect="1"/>
          </p:cNvPicPr>
          <p:nvPr/>
        </p:nvPicPr>
        <p:blipFill>
          <a:blip r:embed="rId2"/>
          <a:stretch>
            <a:fillRect/>
          </a:stretch>
        </p:blipFill>
        <p:spPr>
          <a:xfrm>
            <a:off x="5080000" y="1905000"/>
            <a:ext cx="6413500" cy="4008438"/>
          </a:xfrm>
          <a:prstGeom prst="rect">
            <a:avLst/>
          </a:prstGeom>
          <a:ln w="12700">
            <a:solidFill>
              <a:srgbClr val="CFD8D1"/>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Now let the solver try</a:t>
            </a:r>
          </a:p>
        </p:txBody>
      </p:sp>
      <p:sp>
        <p:nvSpPr>
          <p:cNvPr id="4" name="TextBox 3"/>
          <p:cNvSpPr txBox="1"/>
          <p:nvPr/>
        </p:nvSpPr>
        <p:spPr>
          <a:xfrm>
            <a:off x="698500" y="2032000"/>
            <a:ext cx="4064000" cy="3175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Pick </a:t>
            </a:r>
            <a:r>
              <a:rPr sz="1600" b="1" i="0">
                <a:solidFill>
                  <a:srgbClr val="17211D"/>
                </a:solidFill>
                <a:latin typeface="Arial"/>
              </a:rPr>
              <a:t>RRT-Connect</a:t>
            </a:r>
            <a:r>
              <a:rPr sz="1600" b="0" i="0">
                <a:solidFill>
                  <a:srgbClr val="17211D"/>
                </a:solidFill>
                <a:latin typeface="Arial"/>
              </a:rPr>
              <a:t> or </a:t>
            </a:r>
            <a:r>
              <a:rPr sz="1600" b="1" i="0">
                <a:solidFill>
                  <a:srgbClr val="17211D"/>
                </a:solidFill>
                <a:latin typeface="Arial"/>
              </a:rPr>
              <a:t>Heuristic</a:t>
            </a:r>
            <a:r>
              <a:rPr sz="1600" b="0" i="0">
                <a:solidFill>
                  <a:srgbClr val="17211D"/>
                </a:solidFill>
                <a:latin typeface="Arial"/>
              </a:rPr>
              <a:t>, then </a:t>
            </a:r>
            <a:r>
              <a:rPr sz="1600" b="1" i="0">
                <a:solidFill>
                  <a:srgbClr val="17211D"/>
                </a:solidFill>
                <a:latin typeface="Arial"/>
              </a:rPr>
              <a:t>Run selected solver</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A pop-up gives the verdict: </a:t>
            </a:r>
            <a:r>
              <a:rPr sz="1600" b="1" i="0">
                <a:solidFill>
                  <a:srgbClr val="2F9A5E"/>
                </a:solidFill>
                <a:latin typeface="Arial"/>
              </a:rPr>
              <a:t>It fits!</a:t>
            </a:r>
            <a:r>
              <a:rPr sz="1600" b="0" i="0">
                <a:solidFill>
                  <a:srgbClr val="17211D"/>
                </a:solidFill>
                <a:latin typeface="Arial"/>
              </a:rPr>
              <a:t> or </a:t>
            </a:r>
            <a:r>
              <a:rPr sz="1600" b="1" i="0">
                <a:solidFill>
                  <a:srgbClr val="D94D45"/>
                </a:solidFill>
                <a:latin typeface="Arial"/>
              </a:rPr>
              <a:t>No route</a:t>
            </a:r>
            <a:r>
              <a:rPr sz="16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600" b="0" i="0">
                <a:solidFill>
                  <a:srgbClr val="17211D"/>
                </a:solidFill>
                <a:latin typeface="Arial"/>
              </a:rPr>
              <a:t>Scrub the timeline. Colours: green clear, yellow tight, red collision.</a:t>
            </a:r>
          </a:p>
        </p:txBody>
      </p:sp>
      <p:sp>
        <p:nvSpPr>
          <p:cNvPr id="5" name="Rounded Rectangle 4"/>
          <p:cNvSpPr/>
          <p:nvPr/>
        </p:nvSpPr>
        <p:spPr>
          <a:xfrm>
            <a:off x="698500" y="4699000"/>
            <a:ext cx="4064000" cy="952500"/>
          </a:xfrm>
          <a:prstGeom prst="roundRect">
            <a:avLst>
              <a:gd name="adj" fmla="val 14000"/>
            </a:avLst>
          </a:prstGeom>
          <a:solidFill>
            <a:srgbClr val="3A1F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1" i="0">
                <a:solidFill>
                  <a:srgbClr val="FFB4A8"/>
                </a:solidFill>
                <a:latin typeface="Arial"/>
              </a:rPr>
              <a:t>Failed?</a:t>
            </a:r>
            <a:r>
              <a:rPr sz="1400" b="0" i="0">
                <a:solidFill>
                  <a:srgbClr val="EAF5EE"/>
                </a:solidFill>
                <a:latin typeface="Arial"/>
              </a:rPr>
              <a:t> Raise max iterations, allow roll sampling, reshape the room — or go back a step.</a:t>
            </a:r>
          </a:p>
        </p:txBody>
      </p:sp>
      <p:pic>
        <p:nvPicPr>
          <p:cNvPr id="6" name="Picture 5" descr="s4-route.jpg"/>
          <p:cNvPicPr>
            <a:picLocks noChangeAspect="1"/>
          </p:cNvPicPr>
          <p:nvPr/>
        </p:nvPicPr>
        <p:blipFill>
          <a:blip r:embed="rId2"/>
          <a:stretch>
            <a:fillRect/>
          </a:stretch>
        </p:blipFill>
        <p:spPr>
          <a:xfrm>
            <a:off x="5080000" y="1905000"/>
            <a:ext cx="6413500" cy="4008438"/>
          </a:xfrm>
          <a:prstGeom prst="rect">
            <a:avLst/>
          </a:prstGeom>
          <a:ln w="12700">
            <a:solidFill>
              <a:srgbClr val="CFD8D1"/>
            </a:solidFill>
          </a:ln>
        </p:spPr>
      </p:pic>
      <p:pic>
        <p:nvPicPr>
          <p:cNvPr id="7" name="Picture 6" descr="s4-result-dialog.jpg"/>
          <p:cNvPicPr>
            <a:picLocks noChangeAspect="1"/>
          </p:cNvPicPr>
          <p:nvPr/>
        </p:nvPicPr>
        <p:blipFill>
          <a:blip r:embed="rId3"/>
          <a:srcRect l="34722" r="34722" t="27407" b="26667"/>
          <a:stretch>
            <a:fillRect/>
          </a:stretch>
        </p:blipFill>
        <p:spPr>
          <a:xfrm>
            <a:off x="8750300" y="3335337"/>
            <a:ext cx="2603500" cy="2438400"/>
          </a:xfrm>
          <a:prstGeom prst="rect">
            <a:avLst/>
          </a:prstGeom>
          <a:ln w="28575">
            <a:solidFill>
              <a:srgbClr val="166B50"/>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1B5A45"/>
            </a:gs>
            <a:gs pos="100000">
              <a:srgbClr val="08140F"/>
            </a:gs>
          </a:gsLst>
          <a:lin scaled="0" ang="19500000"/>
        </a:gradFill>
        <a:effectLst/>
      </p:bgPr>
    </p:bg>
    <p:spTree>
      <p:nvGrpSpPr>
        <p:cNvPr id="1" name=""/>
        <p:cNvGrpSpPr/>
        <p:nvPr/>
      </p:nvGrpSpPr>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UNDER THE HOOD</a:t>
            </a:r>
          </a:p>
        </p:txBody>
      </p:sp>
      <p:sp>
        <p:nvSpPr>
          <p:cNvPr id="3" name="TextBox 2"/>
          <p:cNvSpPr txBox="1"/>
          <p:nvPr/>
        </p:nvSpPr>
        <p:spPr>
          <a:xfrm>
            <a:off x="698500" y="1587500"/>
            <a:ext cx="10795000" cy="2095500"/>
          </a:xfrm>
          <a:prstGeom prst="rect">
            <a:avLst/>
          </a:prstGeom>
          <a:noFill/>
        </p:spPr>
        <p:txBody>
          <a:bodyPr wrap="square" lIns="0" rIns="0" tIns="0" bIns="0" anchor="t">
            <a:spAutoFit/>
          </a:bodyPr>
          <a:lstStyle/>
          <a:p>
            <a:pPr algn="l">
              <a:lnSpc>
                <a:spcPct val="95000"/>
              </a:lnSpc>
              <a:spcAft>
                <a:spcPts val="0"/>
              </a:spcAft>
            </a:pPr>
            <a:r>
              <a:rPr sz="8000" b="1" i="0">
                <a:solidFill>
                  <a:srgbClr val="EEF5F0"/>
                </a:solidFill>
                <a:latin typeface="Arial"/>
              </a:rPr>
              <a:t>How does it</a:t>
            </a:r>
          </a:p>
          <a:p>
            <a:pPr algn="l">
              <a:lnSpc>
                <a:spcPct val="95000"/>
              </a:lnSpc>
              <a:spcAft>
                <a:spcPts val="0"/>
              </a:spcAft>
            </a:pPr>
            <a:r>
              <a:rPr sz="8000" b="1" i="0">
                <a:solidFill>
                  <a:srgbClr val="D6EF5B"/>
                </a:solidFill>
                <a:latin typeface="Arial"/>
              </a:rPr>
              <a:t>actually think?</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9800" y="4603750"/>
            <a:ext cx="2921000" cy="317500"/>
          </a:xfrm>
          <a:prstGeom prst="rect">
            <a:avLst/>
          </a:prstGeom>
          <a:noFill/>
        </p:spPr>
        <p:txBody>
          <a:bodyPr wrap="square" lIns="0" rIns="0" t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rIns="0" t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2800" y="4603750"/>
            <a:ext cx="2921000" cy="317500"/>
          </a:xfrm>
          <a:prstGeom prst="rect">
            <a:avLst/>
          </a:prstGeom>
          <a:noFill/>
        </p:spPr>
        <p:txBody>
          <a:bodyPr wrap="square" lIns="0" rIns="0" t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rIns="0" t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5800" y="4603750"/>
            <a:ext cx="2921000" cy="317500"/>
          </a:xfrm>
          <a:prstGeom prst="rect">
            <a:avLst/>
          </a:prstGeom>
          <a:noFill/>
        </p:spPr>
        <p:txBody>
          <a:bodyPr wrap="square" lIns="0" rIns="0" t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rIns="0" tIns="0" bIns="0" anchor="t">
            <a:spAutoFit/>
          </a:bodyPr>
          <a:lstStyle/>
          <a:p>
            <a:pPr algn="l">
              <a:lnSpc>
                <a:spcPct val="112000"/>
              </a:lnSpc>
              <a:spcAft>
                <a:spcPts val="0"/>
              </a:spcAft>
            </a:pPr>
            <a:r>
              <a:rPr sz="1700" b="0" i="0">
                <a:solidFill>
                  <a:srgbClr val="C9DAD1"/>
                </a:solidFill>
                <a:latin typeface="Arial"/>
              </a:rPr>
              <a:t>How do we find a path?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rtlCol="0" anchor="ctr" lIns="279400" wrap="square"/>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Char char="■"/>
            </a:pPr>
            <a:r>
              <a:rPr sz="1600" b="0" i="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a:solidFill>
                  <a:srgbClr val="17211D"/>
                </a:solidFill>
                <a:latin typeface="Arial"/>
              </a:rPr>
              <a:t>Rotations use Euler order </a:t>
            </a:r>
            <a:r>
              <a:rPr sz="1600" b="1" i="0">
                <a:solidFill>
                  <a:srgbClr val="17211D"/>
                </a:solidFill>
                <a:latin typeface="Courier New"/>
              </a:rPr>
              <a:t>ZYX</a:t>
            </a:r>
            <a:r>
              <a:rPr sz="1600" b="0" i="0">
                <a:solidFill>
                  <a:srgbClr val="17211D"/>
                </a:solidFill>
                <a:latin typeface="Arial"/>
              </a:rPr>
              <a:t>, converted to a </a:t>
            </a:r>
            <a:r>
              <a:rPr sz="1600" b="1" i="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a:solidFill>
                  <a:srgbClr val="17211D"/>
                </a:solidFill>
                <a:latin typeface="Arial"/>
              </a:rPr>
              <a:t>Allow roll sampling</a:t>
            </a:r>
            <a:r>
              <a:rPr sz="1600" b="0" i="0">
                <a:solidFill>
                  <a:srgbClr val="17211D"/>
                </a:solidFill>
                <a:latin typeface="Arial"/>
              </a:rPr>
              <a:t> off? The search drops to 5-D — faster</a:t>
            </a:r>
          </a:p>
        </p:txBody>
      </p:sp>
      <p:pic>
        <p:nvPicPr>
          <p:cNvPr id="6" name="Picture 5" descr="d10.png"/>
          <p:cNvPicPr>
            <a:picLocks noChangeAspect="1"/>
          </p:cNvPicPr>
          <p:nvPr/>
        </p:nvPicPr>
        <p:blipFill>
          <a:blip r:embed="rId2"/>
          <a:stretch>
            <a:fillRect/>
          </a:stretch>
        </p:blipFill>
        <p:spPr>
          <a:xfrm>
            <a:off x="6096000" y="1905000"/>
            <a:ext cx="5397500" cy="431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698500" y="2095500"/>
            <a:ext cx="5080000" cy="3556000"/>
          </a:xfrm>
          <a:prstGeom prst="rect">
            <a:avLst/>
          </a:prstGeom>
          <a:noFill/>
        </p:spPr>
        <p:txBody>
          <a:bodyPr wrap="square" lIns="0" rIns="0" tIns="0" bIns="0">
            <a:spAutoFit/>
          </a:bodyPr>
          <a:lstStyle/>
          <a:p>
            <a:pPr marL="457200" indent="-457200">
              <a:lnSpc>
                <a:spcPct val="108000"/>
              </a:lnSpc>
              <a:spcAft>
                <a:spcPts val="1200"/>
              </a:spcAft>
              <a:buClr>
                <a:srgbClr val="166B50"/>
              </a:buClr>
              <a:buSzPct val="100000"/>
              <a:buFont typeface="Arial"/>
              <a:buChar char="■"/>
            </a:pPr>
            <a:r>
              <a:rPr sz="1550" b="0" i="0">
                <a:solidFill>
                  <a:srgbClr val="17211D"/>
                </a:solidFill>
                <a:latin typeface="Arial"/>
              </a:rPr>
              <a:t>The room is a </a:t>
            </a:r>
            <a:r>
              <a:rPr sz="1550" b="1" i="0">
                <a:solidFill>
                  <a:srgbClr val="17211D"/>
                </a:solidFill>
                <a:latin typeface="Arial"/>
              </a:rPr>
              <a:t>union of boxes</a:t>
            </a:r>
            <a:r>
              <a:rPr sz="1550" b="0" i="0">
                <a:solidFill>
                  <a:srgbClr val="17211D"/>
                </a:solidFill>
                <a:latin typeface="Arial"/>
              </a:rPr>
              <a:t>. A point is inside if </a:t>
            </a:r>
            <a:r>
              <a:rPr sz="1550" b="1" i="0">
                <a:solidFill>
                  <a:srgbClr val="17211D"/>
                </a:solidFill>
                <a:latin typeface="Courier New"/>
              </a:rPr>
              <a:t>p = O + sA + tB + uC</a:t>
            </a:r>
            <a:r>
              <a:rPr sz="1550" b="0" i="0">
                <a:solidFill>
                  <a:srgbClr val="17211D"/>
                </a:solidFill>
                <a:latin typeface="Arial"/>
              </a:rPr>
              <a:t> with s, t, u ∈ [0, 1]</a:t>
            </a:r>
          </a:p>
          <a:p>
            <a:pPr marL="457200" indent="-457200">
              <a:lnSpc>
                <a:spcPct val="108000"/>
              </a:lnSpc>
              <a:spcAft>
                <a:spcPts val="1200"/>
              </a:spcAft>
              <a:buClr>
                <a:srgbClr val="166B50"/>
              </a:buClr>
              <a:buSzPct val="100000"/>
              <a:buFont typeface="Arial"/>
              <a:buChar char="■"/>
            </a:pPr>
            <a:r>
              <a:rPr sz="1550" b="0" i="0">
                <a:solidFill>
                  <a:srgbClr val="17211D"/>
                </a:solidFill>
                <a:latin typeface="Arial"/>
              </a:rPr>
              <a:t>Furniture is sampled on its </a:t>
            </a:r>
            <a:r>
              <a:rPr sz="1550" b="1" i="0">
                <a:solidFill>
                  <a:srgbClr val="17211D"/>
                </a:solidFill>
                <a:latin typeface="Arial"/>
              </a:rPr>
              <a:t>shell</a:t>
            </a:r>
            <a:r>
              <a:rPr sz="1550" b="0" i="0">
                <a:solidFill>
                  <a:srgbClr val="17211D"/>
                </a:solidFill>
                <a:latin typeface="Arial"/>
              </a:rPr>
              <a:t>: a 5×5×5 grid minus the interior = </a:t>
            </a:r>
            <a:r>
              <a:rPr sz="1550" b="1" i="0">
                <a:solidFill>
                  <a:srgbClr val="17211D"/>
                </a:solidFill>
                <a:latin typeface="Arial"/>
              </a:rPr>
              <a:t>98 points</a:t>
            </a:r>
            <a:r>
              <a:rPr sz="1550" b="0" i="0">
                <a:solidFill>
                  <a:srgbClr val="17211D"/>
                </a:solidFill>
                <a:latin typeface="Arial"/>
              </a:rPr>
              <a:t>, grown by clearance</a:t>
            </a:r>
          </a:p>
          <a:p>
            <a:pPr marL="457200" indent="-457200">
              <a:lnSpc>
                <a:spcPct val="108000"/>
              </a:lnSpc>
              <a:spcAft>
                <a:spcPts val="1200"/>
              </a:spcAft>
              <a:buClr>
                <a:srgbClr val="166B50"/>
              </a:buClr>
              <a:buSzPct val="100000"/>
              <a:buFont typeface="Arial"/>
              <a:buChar char="■"/>
            </a:pPr>
            <a:r>
              <a:rPr sz="1550" b="1" i="0">
                <a:solidFill>
                  <a:srgbClr val="17211D"/>
                </a:solidFill>
                <a:latin typeface="Arial"/>
              </a:rPr>
              <a:t>Every</a:t>
            </a:r>
            <a:r>
              <a:rPr sz="1550" b="0" i="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a:solidFill>
                  <a:srgbClr val="17211D"/>
                </a:solidFill>
                <a:latin typeface="Arial"/>
              </a:rPr>
              <a:t>Between two poses we </a:t>
            </a:r>
            <a:r>
              <a:rPr sz="1550" b="1" i="0">
                <a:solidFill>
                  <a:srgbClr val="17211D"/>
                </a:solidFill>
                <a:latin typeface="Arial"/>
              </a:rPr>
              <a:t>interpolate</a:t>
            </a:r>
            <a:r>
              <a:rPr sz="1550" b="0" i="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a:solidFill>
                  <a:srgbClr val="17211D"/>
                </a:solidFill>
                <a:latin typeface="Arial"/>
              </a:rPr>
              <a:t>Crossing a wall is allowed </a:t>
            </a:r>
            <a:r>
              <a:rPr sz="1550" b="1" i="0">
                <a:solidFill>
                  <a:srgbClr val="17211D"/>
                </a:solidFill>
                <a:latin typeface="Arial"/>
              </a:rPr>
              <a:t>only through</a:t>
            </a:r>
            <a:r>
              <a:rPr sz="1550" b="0" i="0">
                <a:solidFill>
                  <a:srgbClr val="17211D"/>
                </a:solidFill>
                <a:latin typeface="Arial"/>
              </a:rPr>
              <a:t> the entrance / exit polygon</a:t>
            </a:r>
          </a:p>
        </p:txBody>
      </p:sp>
      <p:pic>
        <p:nvPicPr>
          <p:cNvPr id="5" name="Picture 4" descr="d11.png"/>
          <p:cNvPicPr>
            <a:picLocks noChangeAspect="1"/>
          </p:cNvPicPr>
          <p:nvPr/>
        </p:nvPicPr>
        <p:blipFill>
          <a:blip r:embed="rId2"/>
          <a:stretch>
            <a:fillRect/>
          </a:stretch>
        </p:blipFill>
        <p:spPr>
          <a:xfrm>
            <a:off x="6096000" y="1905000"/>
            <a:ext cx="5397500" cy="39736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2984500"/>
          </a:xfrm>
          <a:prstGeom prst="rect">
            <a:avLst/>
          </a:prstGeom>
          <a:noFill/>
        </p:spPr>
        <p:txBody>
          <a:bodyPr wrap="square" lIns="0" rIns="0" tIns="0" bIns="0">
            <a:spAutoFit/>
          </a:bodyPr>
          <a:lstStyle/>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One tree grows from the </a:t>
            </a:r>
            <a:r>
              <a:rPr sz="1550" b="1" i="0">
                <a:solidFill>
                  <a:srgbClr val="2F9A5E"/>
                </a:solidFill>
                <a:latin typeface="Arial"/>
              </a:rPr>
              <a:t>start</a:t>
            </a:r>
            <a:r>
              <a:rPr sz="1550" b="0" i="0">
                <a:solidFill>
                  <a:srgbClr val="17211D"/>
                </a:solidFill>
                <a:latin typeface="Arial"/>
              </a:rPr>
              <a:t>, one from the </a:t>
            </a:r>
            <a:r>
              <a:rPr sz="1550" b="1" i="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Pick a </a:t>
            </a:r>
            <a:r>
              <a:rPr sz="1550" b="1" i="0">
                <a:solidFill>
                  <a:srgbClr val="17211D"/>
                </a:solidFill>
                <a:latin typeface="Arial"/>
              </a:rPr>
              <a:t>random pose</a:t>
            </a:r>
            <a:r>
              <a:rPr sz="1550" b="0" i="0">
                <a:solidFill>
                  <a:srgbClr val="17211D"/>
                </a:solidFill>
                <a:latin typeface="Arial"/>
              </a:rPr>
              <a:t> (the ✕). Step the nearest node toward it — if the edge is legal, keep 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Then the </a:t>
            </a:r>
            <a:r>
              <a:rPr sz="1550" b="1" i="0">
                <a:solidFill>
                  <a:srgbClr val="17211D"/>
                </a:solidFill>
                <a:latin typeface="Arial"/>
              </a:rPr>
              <a:t>other tree</a:t>
            </a:r>
            <a:r>
              <a:rPr sz="1550" b="0" i="0">
                <a:solidFill>
                  <a:srgbClr val="17211D"/>
                </a:solidFill>
                <a:latin typeface="Arial"/>
              </a:rPr>
              <a:t> greedily chases that new node (up to 160 steps)</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Trees touch → </a:t>
            </a:r>
            <a:r>
              <a:rPr sz="1550" b="1" i="0">
                <a:solidFill>
                  <a:srgbClr val="17211D"/>
                </a:solidFill>
                <a:latin typeface="Arial"/>
              </a:rPr>
              <a:t>path found</a:t>
            </a:r>
            <a:r>
              <a:rPr sz="1550" b="0" i="0">
                <a:solidFill>
                  <a:srgbClr val="17211D"/>
                </a:solidFill>
                <a:latin typeface="Arial"/>
              </a:rPr>
              <a:t>. Smooth it, resample it, animate it</a:t>
            </a:r>
          </a:p>
        </p:txBody>
      </p:sp>
      <p:pic>
        <p:nvPicPr>
          <p:cNvPr id="5" name="Picture 4" descr="d12.png"/>
          <p:cNvPicPr>
            <a:picLocks noChangeAspect="1"/>
          </p:cNvPicPr>
          <p:nvPr/>
        </p:nvPicPr>
        <p:blipFill>
          <a:blip r:embed="rId2"/>
          <a:stretch>
            <a:fillRect/>
          </a:stretch>
        </p:blipFill>
        <p:spPr>
          <a:xfrm>
            <a:off x="6096000" y="1841500"/>
            <a:ext cx="5397500" cy="3774939"/>
          </a:xfrm>
          <a:prstGeom prst="rect">
            <a:avLst/>
          </a:prstGeom>
        </p:spPr>
      </p:pic>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1" i="0">
                <a:solidFill>
                  <a:srgbClr val="D6EF5B"/>
                </a:solidFill>
                <a:latin typeface="Arial"/>
              </a:rPr>
              <a:t>Probabilistic:</a:t>
            </a:r>
            <a:r>
              <a:rPr sz="1400" b="0" i="0">
                <a:solidFill>
                  <a:srgbClr val="EAF5EE"/>
                </a:solidFill>
                <a:latin typeface="Arial"/>
              </a:rPr>
              <a:t> finding a route proves it fits — </a:t>
            </a:r>
            <a:r>
              <a:rPr sz="1400" b="1" i="0">
                <a:solidFill>
                  <a:srgbClr val="D6EF5B"/>
                </a:solidFill>
                <a:latin typeface="Arial"/>
              </a:rPr>
              <a:t>failing doesn't prove it can't</a:t>
            </a:r>
            <a:r>
              <a:rPr sz="1400" b="0" i="0">
                <a:solidFill>
                  <a:srgbClr val="EAF5EE"/>
                </a:solidFill>
                <a:latin typeface="Arial"/>
              </a:rPr>
              <a:t>. Run it again or raise iterations. We never "fix" failures by quietly shrinking clearance.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rIns="0" t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rIns="0" t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2"/>
          <a:stretch>
            <a:fillRect/>
          </a:stretch>
        </p:blipFill>
        <p:spPr>
          <a:xfrm>
            <a:off x="6413500" y="1841500"/>
            <a:ext cx="4826000" cy="38608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TECHNIQUE · 5</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The straight-shot </a:t>
            </a:r>
            <a:r>
              <a:rPr sz="3800" b="1" i="0">
                <a:solidFill>
                  <a:srgbClr val="166B50"/>
                </a:solidFill>
                <a:latin typeface="Arial"/>
              </a:rPr>
              <a:t>heuristic</a:t>
            </a:r>
          </a:p>
        </p:txBody>
      </p:sp>
      <p:sp>
        <p:nvSpPr>
          <p:cNvPr id="4" name="TextBox 3"/>
          <p:cNvSpPr txBox="1"/>
          <p:nvPr/>
        </p:nvSpPr>
        <p:spPr>
          <a:xfrm>
            <a:off x="698500" y="2032000"/>
            <a:ext cx="4953000" cy="2667000"/>
          </a:xfrm>
          <a:prstGeom prst="rect">
            <a:avLst/>
          </a:prstGeom>
          <a:noFill/>
        </p:spPr>
        <p:txBody>
          <a:bodyPr wrap="square" lIns="0" rIns="0" tIns="0" bIns="0">
            <a:spAutoFit/>
          </a:bodyPr>
          <a:lstStyle/>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Travel direction = the block edge </a:t>
            </a:r>
            <a:r>
              <a:rPr sz="1550" b="1" i="0">
                <a:solidFill>
                  <a:srgbClr val="17211D"/>
                </a:solidFill>
                <a:latin typeface="Arial"/>
              </a:rPr>
              <a:t>not</a:t>
            </a:r>
            <a:r>
              <a:rPr sz="1550" b="0" i="0">
                <a:solidFill>
                  <a:srgbClr val="17211D"/>
                </a:solidFill>
                <a:latin typeface="Arial"/>
              </a:rPr>
              <a:t> in the entrance face</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Point the furniture's </a:t>
            </a:r>
            <a:r>
              <a:rPr sz="1550" b="1" i="0">
                <a:solidFill>
                  <a:srgbClr val="17211D"/>
                </a:solidFill>
                <a:latin typeface="Arial"/>
              </a:rPr>
              <a:t>longest axis</a:t>
            </a:r>
            <a:r>
              <a:rPr sz="1550" b="0" i="0">
                <a:solidFill>
                  <a:srgbClr val="17211D"/>
                </a:solidFill>
                <a:latin typeface="Arial"/>
              </a:rPr>
              <a:t> along 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Project the doorway along that direction: does the </a:t>
            </a:r>
            <a:r>
              <a:rPr sz="1550" b="1" i="0">
                <a:solidFill>
                  <a:srgbClr val="17211D"/>
                </a:solidFill>
                <a:latin typeface="Arial"/>
              </a:rPr>
              <a:t>cross-section</a:t>
            </a:r>
            <a:r>
              <a:rPr sz="1550" b="0" i="0">
                <a:solidFill>
                  <a:srgbClr val="17211D"/>
                </a:solidFill>
                <a:latin typeface="Arial"/>
              </a:rPr>
              <a:t> (with clearance) fit?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Centre it, stage it outside, </a:t>
            </a:r>
            <a:r>
              <a:rPr sz="1550" b="1" i="0">
                <a:solidFill>
                  <a:srgbClr val="17211D"/>
                </a:solidFill>
                <a:latin typeface="Arial"/>
              </a:rPr>
              <a:t>slide straight in</a:t>
            </a:r>
          </a:p>
        </p:txBody>
      </p:sp>
      <p:sp>
        <p:nvSpPr>
          <p:cNvPr id="5" name="Rounded Rectangle 4"/>
          <p:cNvSpPr/>
          <p:nvPr/>
        </p:nvSpPr>
        <p:spPr>
          <a:xfrm>
            <a:off x="698500" y="4699000"/>
            <a:ext cx="4953000" cy="1079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350" b="0" i="0">
                <a:solidFill>
                  <a:srgbClr val="EAF5EE"/>
                </a:solidFill>
                <a:latin typeface="Arial"/>
              </a:rPr>
              <a:t>Deterministic, instant, and when it fails it names the </a:t>
            </a:r>
            <a:r>
              <a:rPr sz="1350" b="1" i="0">
                <a:solidFill>
                  <a:srgbClr val="D6EF5B"/>
                </a:solidFill>
                <a:latin typeface="Arial"/>
              </a:rPr>
              <a:t>checkpoint</a:t>
            </a:r>
            <a:r>
              <a:rPr sz="1350" b="0" i="0">
                <a:solidFill>
                  <a:srgbClr val="EAF5EE"/>
                </a:solidFill>
                <a:latin typeface="Arial"/>
              </a:rPr>
              <a:t> where it got stuck. Multi-block rooms hand off between blocks with a short RRT.</a:t>
            </a:r>
          </a:p>
        </p:txBody>
      </p:sp>
      <p:graphicFrame>
        <p:nvGraphicFramePr>
          <p:cNvPr id="6" name="Table 5"/>
          <p:cNvGraphicFramePr>
            <a:graphicFrameLocks noGrp="1"/>
          </p:cNvGraphicFramePr>
          <p:nvPr/>
        </p:nvGraphicFramePr>
        <p:xfrm>
          <a:off x="6096000" y="2095500"/>
          <a:ext cx="5397500" cy="2857500"/>
        </p:xfrm>
        <a:graphic>
          <a:graphicData uri="http://schemas.openxmlformats.org/drawingml/2006/table">
            <a:tbl>
              <a:tblPr firstRow="0" bandRow="0">
                <a:tableStyleId>{5C22544A-7EE6-4342-B048-85BDC9FD1C3A}</a:tableStyleId>
              </a:tblPr>
              <a:tblGrid>
                <a:gridCol w="1587500"/>
                <a:gridCol w="1905000"/>
                <a:gridCol w="1905000"/>
              </a:tblGrid>
              <a:tr h="571500">
                <a:tc>
                  <a:txBody>
                    <a:bodyPr/>
                    <a:lstStyle/>
                    <a:p>
                      <a:r>
                        <a:rPr sz="1300" b="1" i="0">
                          <a:solidFill>
                            <a:srgbClr val="FFFFFF"/>
                          </a:solidFill>
                          <a:latin typeface="Arial"/>
                        </a:rPr>
                        <a:t/>
                      </a:r>
                    </a:p>
                  </a:txBody>
                  <a:tcPr anchor="ctr" marL="152400" marR="152400">
                    <a:solidFill>
                      <a:srgbClr val="0E2F26"/>
                    </a:solidFill>
                  </a:tcPr>
                </a:tc>
                <a:tc>
                  <a:txBody>
                    <a:bodyPr/>
                    <a:lstStyle/>
                    <a:p>
                      <a:r>
                        <a:rPr sz="1300" b="1" i="0">
                          <a:solidFill>
                            <a:srgbClr val="FFFFFF"/>
                          </a:solidFill>
                          <a:latin typeface="Arial"/>
                        </a:rPr>
                        <a:t>RRT-Connect</a:t>
                      </a:r>
                    </a:p>
                  </a:txBody>
                  <a:tcPr anchor="ctr" marL="152400" marR="152400">
                    <a:solidFill>
                      <a:srgbClr val="0E2F26"/>
                    </a:solidFill>
                  </a:tcPr>
                </a:tc>
                <a:tc>
                  <a:txBody>
                    <a:bodyPr/>
                    <a:lstStyle/>
                    <a:p>
                      <a:r>
                        <a:rPr sz="1300" b="1" i="0">
                          <a:solidFill>
                            <a:srgbClr val="FFFFFF"/>
                          </a:solidFill>
                          <a:latin typeface="Arial"/>
                        </a:rPr>
                        <a:t>Heuristic</a:t>
                      </a:r>
                    </a:p>
                  </a:txBody>
                  <a:tcPr anchor="ctr" marL="152400" marR="152400">
                    <a:solidFill>
                      <a:srgbClr val="0E2F26"/>
                    </a:solidFill>
                  </a:tcPr>
                </a:tc>
              </a:tr>
              <a:tr h="571500">
                <a:tc>
                  <a:txBody>
                    <a:bodyPr/>
                    <a:lstStyle/>
                    <a:p>
                      <a:r>
                        <a:rPr sz="1450" b="1" i="0">
                          <a:solidFill>
                            <a:srgbClr val="166B50"/>
                          </a:solidFill>
                          <a:latin typeface="Arial"/>
                        </a:rPr>
                        <a:t>Idea</a:t>
                      </a:r>
                    </a:p>
                  </a:txBody>
                  <a:tcPr anchor="ctr" marL="152400" marR="152400">
                    <a:solidFill>
                      <a:srgbClr val="FFFFFF"/>
                    </a:solidFill>
                  </a:tcPr>
                </a:tc>
                <a:tc>
                  <a:txBody>
                    <a:bodyPr/>
                    <a:lstStyle/>
                    <a:p>
                      <a:r>
                        <a:rPr sz="1450" b="0" i="0">
                          <a:solidFill>
                            <a:srgbClr val="17211D"/>
                          </a:solidFill>
                          <a:latin typeface="Arial"/>
                        </a:rPr>
                        <a:t>Random search</a:t>
                      </a:r>
                    </a:p>
                  </a:txBody>
                  <a:tcPr anchor="ctr" marL="152400" marR="152400">
                    <a:solidFill>
                      <a:srgbClr val="FFFFFF"/>
                    </a:solidFill>
                  </a:tcPr>
                </a:tc>
                <a:tc>
                  <a:txBody>
                    <a:bodyPr/>
                    <a:lstStyle/>
                    <a:p>
                      <a:r>
                        <a:rPr sz="1450" b="0" i="0">
                          <a:solidFill>
                            <a:srgbClr val="17211D"/>
                          </a:solidFill>
                          <a:latin typeface="Arial"/>
                        </a:rPr>
                        <a:t>Slide it in straight</a:t>
                      </a:r>
                    </a:p>
                  </a:txBody>
                  <a:tcPr anchor="ctr" marL="152400" marR="152400">
                    <a:solidFill>
                      <a:srgbClr val="FFFFFF"/>
                    </a:solidFill>
                  </a:tcPr>
                </a:tc>
              </a:tr>
              <a:tr h="571500">
                <a:tc>
                  <a:txBody>
                    <a:bodyPr/>
                    <a:lstStyle/>
                    <a:p>
                      <a:r>
                        <a:rPr sz="1450" b="1" i="0">
                          <a:solidFill>
                            <a:srgbClr val="166B50"/>
                          </a:solidFill>
                          <a:latin typeface="Arial"/>
                        </a:rPr>
                        <a:t>Result</a:t>
                      </a:r>
                    </a:p>
                  </a:txBody>
                  <a:tcPr anchor="ctr" marL="152400" marR="152400">
                    <a:solidFill>
                      <a:srgbClr val="FFFFFF"/>
                    </a:solidFill>
                  </a:tcPr>
                </a:tc>
                <a:tc>
                  <a:txBody>
                    <a:bodyPr/>
                    <a:lstStyle/>
                    <a:p>
                      <a:r>
                        <a:rPr sz="1450" b="0" i="0">
                          <a:solidFill>
                            <a:srgbClr val="17211D"/>
                          </a:solidFill>
                          <a:latin typeface="Arial"/>
                        </a:rPr>
                        <a:t>Different each run</a:t>
                      </a:r>
                    </a:p>
                  </a:txBody>
                  <a:tcPr anchor="ctr" marL="152400" marR="152400">
                    <a:solidFill>
                      <a:srgbClr val="FFFFFF"/>
                    </a:solidFill>
                  </a:tcPr>
                </a:tc>
                <a:tc>
                  <a:txBody>
                    <a:bodyPr/>
                    <a:lstStyle/>
                    <a:p>
                      <a:r>
                        <a:rPr sz="1450" b="0" i="0">
                          <a:solidFill>
                            <a:srgbClr val="17211D"/>
                          </a:solidFill>
                          <a:latin typeface="Arial"/>
                        </a:rPr>
                        <a:t>Same every run</a:t>
                      </a:r>
                    </a:p>
                  </a:txBody>
                  <a:tcPr anchor="ctr" marL="152400" marR="152400">
                    <a:solidFill>
                      <a:srgbClr val="FFFFFF"/>
                    </a:solidFill>
                  </a:tcPr>
                </a:tc>
              </a:tr>
              <a:tr h="571500">
                <a:tc>
                  <a:txBody>
                    <a:bodyPr/>
                    <a:lstStyle/>
                    <a:p>
                      <a:r>
                        <a:rPr sz="1450" b="1" i="0">
                          <a:solidFill>
                            <a:srgbClr val="166B50"/>
                          </a:solidFill>
                          <a:latin typeface="Arial"/>
                        </a:rPr>
                        <a:t>Handles turns</a:t>
                      </a:r>
                    </a:p>
                  </a:txBody>
                  <a:tcPr anchor="ctr" marL="152400" marR="152400">
                    <a:solidFill>
                      <a:srgbClr val="FFFFFF"/>
                    </a:solidFill>
                  </a:tcPr>
                </a:tc>
                <a:tc>
                  <a:txBody>
                    <a:bodyPr/>
                    <a:lstStyle/>
                    <a:p>
                      <a:r>
                        <a:rPr sz="1450" b="0" i="0">
                          <a:solidFill>
                            <a:srgbClr val="17211D"/>
                          </a:solidFill>
                          <a:latin typeface="Arial"/>
                        </a:rPr>
                        <a:t>Yes</a:t>
                      </a:r>
                    </a:p>
                  </a:txBody>
                  <a:tcPr anchor="ctr" marL="152400" marR="152400">
                    <a:solidFill>
                      <a:srgbClr val="FFFFFF"/>
                    </a:solidFill>
                  </a:tcPr>
                </a:tc>
                <a:tc>
                  <a:txBody>
                    <a:bodyPr/>
                    <a:lstStyle/>
                    <a:p>
                      <a:r>
                        <a:rPr sz="1450" b="0" i="0">
                          <a:solidFill>
                            <a:srgbClr val="17211D"/>
                          </a:solidFill>
                          <a:latin typeface="Arial"/>
                        </a:rPr>
                        <a:t>Via handoffs</a:t>
                      </a:r>
                    </a:p>
                  </a:txBody>
                  <a:tcPr anchor="ctr" marL="152400" marR="152400">
                    <a:solidFill>
                      <a:srgbClr val="FFFFFF"/>
                    </a:solidFill>
                  </a:tcPr>
                </a:tc>
              </a:tr>
              <a:tr h="571500">
                <a:tc>
                  <a:txBody>
                    <a:bodyPr/>
                    <a:lstStyle/>
                    <a:p>
                      <a:r>
                        <a:rPr sz="1450" b="1" i="0">
                          <a:solidFill>
                            <a:srgbClr val="166B50"/>
                          </a:solidFill>
                          <a:latin typeface="Arial"/>
                        </a:rPr>
                        <a:t>On failure</a:t>
                      </a:r>
                    </a:p>
                  </a:txBody>
                  <a:tcPr anchor="ctr" marL="152400" marR="152400">
                    <a:solidFill>
                      <a:srgbClr val="FFFFFF"/>
                    </a:solidFill>
                  </a:tcPr>
                </a:tc>
                <a:tc>
                  <a:txBody>
                    <a:bodyPr/>
                    <a:lstStyle/>
                    <a:p>
                      <a:r>
                        <a:rPr sz="1450" b="0" i="0">
                          <a:solidFill>
                            <a:srgbClr val="17211D"/>
                          </a:solidFill>
                          <a:latin typeface="Arial"/>
                        </a:rPr>
                        <a:t>Try again</a:t>
                      </a:r>
                    </a:p>
                  </a:txBody>
                  <a:tcPr anchor="ctr" marL="152400" marR="152400">
                    <a:solidFill>
                      <a:srgbClr val="FFFFFF"/>
                    </a:solidFill>
                  </a:tcPr>
                </a:tc>
                <a:tc>
                  <a:txBody>
                    <a:bodyPr/>
                    <a:lstStyle/>
                    <a:p>
                      <a:r>
                        <a:rPr sz="1450" b="0" i="0">
                          <a:solidFill>
                            <a:srgbClr val="17211D"/>
                          </a:solidFill>
                          <a:latin typeface="Arial"/>
                        </a:rPr>
                        <a:t>Shows the stuck spot</a:t>
                      </a:r>
                    </a:p>
                  </a:txBody>
                  <a:tcPr anchor="ctr" marL="152400" marR="152400">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TECHNIQUE · 6</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You + planner = </a:t>
            </a:r>
            <a:r>
              <a:rPr sz="3800" b="1" i="0">
                <a:solidFill>
                  <a:srgbClr val="166B50"/>
                </a:solidFill>
                <a:latin typeface="Arial"/>
              </a:rPr>
              <a:t>hybrid</a:t>
            </a:r>
          </a:p>
        </p:txBody>
      </p:sp>
      <p:sp>
        <p:nvSpPr>
          <p:cNvPr id="4" name="TextBox 3"/>
          <p:cNvSpPr txBox="1"/>
          <p:nvPr/>
        </p:nvSpPr>
        <p:spPr>
          <a:xfrm>
            <a:off x="698500" y="2095500"/>
            <a:ext cx="4953000" cy="20955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Get the furniture </a:t>
            </a:r>
            <a:r>
              <a:rPr sz="1700" b="1" i="0">
                <a:solidFill>
                  <a:srgbClr val="17211D"/>
                </a:solidFill>
                <a:latin typeface="Arial"/>
              </a:rPr>
              <a:t>fully inside</a:t>
            </a:r>
            <a:r>
              <a:rPr sz="1700" b="0" i="0">
                <a:solidFill>
                  <a:srgbClr val="17211D"/>
                </a:solidFill>
                <a:latin typeface="Arial"/>
              </a:rPr>
              <a:t> by hand (Auto Pilot helps)</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Continue with solver</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The planner starts from </a:t>
            </a:r>
            <a:r>
              <a:rPr sz="1700" b="1" i="0">
                <a:solidFill>
                  <a:srgbClr val="17211D"/>
                </a:solidFill>
                <a:latin typeface="Arial"/>
              </a:rPr>
              <a:t>your exact pose</a:t>
            </a:r>
            <a:r>
              <a:rPr sz="1700" b="0" i="0">
                <a:solidFill>
                  <a:srgbClr val="17211D"/>
                </a:solidFill>
                <a:latin typeface="Arial"/>
              </a:rPr>
              <a:t> and finds the rest</a:t>
            </a:r>
          </a:p>
        </p:txBody>
      </p:sp>
      <p:sp>
        <p:nvSpPr>
          <p:cNvPr id="5" name="TextBox 4"/>
          <p:cNvSpPr txBox="1"/>
          <p:nvPr/>
        </p:nvSpPr>
        <p:spPr>
          <a:xfrm>
            <a:off x="698500" y="4064000"/>
            <a:ext cx="4826000" cy="1016000"/>
          </a:xfrm>
          <a:prstGeom prst="rect">
            <a:avLst/>
          </a:prstGeom>
          <a:noFill/>
        </p:spPr>
        <p:txBody>
          <a:bodyPr wrap="square" lIns="0" rIns="0" tIns="0" bIns="0" anchor="t">
            <a:spAutoFit/>
          </a:bodyPr>
          <a:lstStyle/>
          <a:p>
            <a:pPr algn="l">
              <a:lnSpc>
                <a:spcPct val="120000"/>
              </a:lnSpc>
              <a:spcAft>
                <a:spcPts val="0"/>
              </a:spcAft>
            </a:pPr>
            <a:r>
              <a:rPr sz="1700" b="0" i="0">
                <a:solidFill>
                  <a:srgbClr val="5D6963"/>
                </a:solidFill>
                <a:latin typeface="Arial"/>
              </a:rPr>
              <a:t>Humans are great at the awkward entrance. Planners are great at the long middle.</a:t>
            </a:r>
          </a:p>
        </p:txBody>
      </p:sp>
      <p:sp>
        <p:nvSpPr>
          <p:cNvPr id="6" name="Rounded Rectangle 5"/>
          <p:cNvSpPr/>
          <p:nvPr/>
        </p:nvSpPr>
        <p:spPr>
          <a:xfrm>
            <a:off x="6096000" y="2032000"/>
            <a:ext cx="5397500" cy="3302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13500" y="2286000"/>
            <a:ext cx="4826000" cy="317500"/>
          </a:xfrm>
          <a:prstGeom prst="rect">
            <a:avLst/>
          </a:prstGeom>
          <a:noFill/>
        </p:spPr>
        <p:txBody>
          <a:bodyPr wrap="square" lIns="0" rIns="0" tIns="0" bIns="0" anchor="t">
            <a:spAutoFit/>
          </a:bodyPr>
          <a:lstStyle/>
          <a:p>
            <a:pPr algn="l">
              <a:lnSpc>
                <a:spcPct val="112000"/>
              </a:lnSpc>
              <a:spcAft>
                <a:spcPts val="0"/>
              </a:spcAft>
            </a:pPr>
            <a:r>
              <a:rPr sz="2200" b="1" i="0">
                <a:solidFill>
                  <a:srgbClr val="17211D"/>
                </a:solidFill>
                <a:latin typeface="Arial"/>
              </a:rPr>
              <a:t>Honest limits</a:t>
            </a:r>
          </a:p>
        </p:txBody>
      </p:sp>
      <p:sp>
        <p:nvSpPr>
          <p:cNvPr id="8" name="TextBox 7"/>
          <p:cNvSpPr txBox="1"/>
          <p:nvPr/>
        </p:nvSpPr>
        <p:spPr>
          <a:xfrm>
            <a:off x="6413500" y="2857500"/>
            <a:ext cx="4826000" cy="2286000"/>
          </a:xfrm>
          <a:prstGeom prst="rect">
            <a:avLst/>
          </a:prstGeom>
          <a:noFill/>
        </p:spPr>
        <p:txBody>
          <a:bodyPr wrap="square" lIns="0" rIns="0" tIns="0" bIns="0">
            <a:spAutoFit/>
          </a:bodyPr>
          <a:lstStyle/>
          <a:p>
            <a:pPr marL="457200" indent="-457200">
              <a:lnSpc>
                <a:spcPct val="108000"/>
              </a:lnSpc>
              <a:spcAft>
                <a:spcPts val="1600"/>
              </a:spcAft>
              <a:buClr>
                <a:srgbClr val="166B50"/>
              </a:buClr>
              <a:buSzPct val="100000"/>
              <a:buFont typeface="Arial"/>
              <a:buChar char="■"/>
            </a:pPr>
            <a:r>
              <a:rPr sz="1650" b="0" i="0">
                <a:solidFill>
                  <a:srgbClr val="17211D"/>
                </a:solidFill>
                <a:latin typeface="Arial"/>
              </a:rPr>
              <a:t>Furniture is a </a:t>
            </a:r>
            <a:r>
              <a:rPr sz="1650" b="1" i="0">
                <a:solidFill>
                  <a:srgbClr val="17211D"/>
                </a:solidFill>
                <a:latin typeface="Arial"/>
              </a:rPr>
              <a:t>single box</a:t>
            </a:r>
          </a:p>
          <a:p>
            <a:pPr marL="457200" indent="-457200">
              <a:lnSpc>
                <a:spcPct val="108000"/>
              </a:lnSpc>
              <a:spcAft>
                <a:spcPts val="1600"/>
              </a:spcAft>
              <a:buClr>
                <a:srgbClr val="166B50"/>
              </a:buClr>
              <a:buSzPct val="100000"/>
              <a:buFont typeface="Arial"/>
              <a:buChar char="■"/>
            </a:pPr>
            <a:r>
              <a:rPr sz="1650" b="0" i="0">
                <a:solidFill>
                  <a:srgbClr val="17211D"/>
                </a:solidFill>
                <a:latin typeface="Arial"/>
              </a:rPr>
              <a:t>Rooms are connected </a:t>
            </a:r>
            <a:r>
              <a:rPr sz="1650" b="1" i="0">
                <a:solidFill>
                  <a:srgbClr val="17211D"/>
                </a:solidFill>
                <a:latin typeface="Arial"/>
              </a:rPr>
              <a:t>boxes</a:t>
            </a:r>
            <a:r>
              <a:rPr sz="1650" b="0" i="0">
                <a:solidFill>
                  <a:srgbClr val="17211D"/>
                </a:solidFill>
                <a:latin typeface="Arial"/>
              </a:rPr>
              <a:t> (no curves)</a:t>
            </a:r>
          </a:p>
          <a:p>
            <a:pPr marL="457200" indent="-457200">
              <a:lnSpc>
                <a:spcPct val="108000"/>
              </a:lnSpc>
              <a:spcAft>
                <a:spcPts val="1600"/>
              </a:spcAft>
              <a:buClr>
                <a:srgbClr val="166B50"/>
              </a:buClr>
              <a:buSzPct val="100000"/>
              <a:buFont typeface="Arial"/>
              <a:buChar char="■"/>
            </a:pPr>
            <a:r>
              <a:rPr sz="1650" b="0" i="0">
                <a:solidFill>
                  <a:srgbClr val="17211D"/>
                </a:solidFill>
                <a:latin typeface="Arial"/>
              </a:rPr>
              <a:t>Rigid only: no bending, no taking legs off</a:t>
            </a:r>
          </a:p>
          <a:p>
            <a:pPr marL="457200" indent="-457200">
              <a:lnSpc>
                <a:spcPct val="108000"/>
              </a:lnSpc>
              <a:spcAft>
                <a:spcPts val="1600"/>
              </a:spcAft>
              <a:buClr>
                <a:srgbClr val="166B50"/>
              </a:buClr>
              <a:buSzPct val="100000"/>
              <a:buFont typeface="Arial"/>
              <a:buChar char="■"/>
            </a:pPr>
            <a:r>
              <a:rPr sz="1650" b="0" i="0">
                <a:solidFill>
                  <a:srgbClr val="17211D"/>
                </a:solidFill>
                <a:latin typeface="Arial"/>
              </a:rPr>
              <a:t>RRT is </a:t>
            </a:r>
            <a:r>
              <a:rPr sz="1650" b="1" i="0">
                <a:solidFill>
                  <a:srgbClr val="17211D"/>
                </a:solidFill>
                <a:latin typeface="Arial"/>
              </a:rPr>
              <a:t>probabilistic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3302000"/>
          </a:xfrm>
          <a:prstGeom prst="rect">
            <a:avLst/>
          </a:prstGeom>
          <a:noFill/>
        </p:spPr>
        <p:txBody>
          <a:bodyPr wrap="square" lIns="0" rIns="0" tIns="0" bIns="0">
            <a:spAutoFit/>
          </a:bodyPr>
          <a:lstStyle/>
          <a:p>
            <a:pPr marL="457200" indent="-457200">
              <a:lnSpc>
                <a:spcPct val="108000"/>
              </a:lnSpc>
              <a:spcAft>
                <a:spcPts val="1600"/>
              </a:spcAft>
              <a:buClr>
                <a:srgbClr val="166B50"/>
              </a:buClr>
              <a:buSzPct val="100000"/>
              <a:buFont typeface="Arial"/>
              <a:buAutoNum type="arabicPeriod"/>
            </a:pPr>
            <a:r>
              <a:rPr sz="1700" b="0" i="0">
                <a:solidFill>
                  <a:srgbClr val="17211D"/>
                </a:solidFill>
                <a:latin typeface="Arial"/>
              </a:rPr>
              <a:t>Build an </a:t>
            </a:r>
            <a:r>
              <a:rPr sz="1700" b="1" i="0">
                <a:solidFill>
                  <a:srgbClr val="17211D"/>
                </a:solidFill>
                <a:latin typeface="Arial"/>
              </a:rPr>
              <a:t>L-shaped hallway</a:t>
            </a:r>
            <a:r>
              <a:rPr sz="1700" b="0" i="0">
                <a:solidFill>
                  <a:srgbClr val="17211D"/>
                </a:solidFill>
                <a:latin typeface="Arial"/>
              </a:rPr>
              <a:t>: two blocks, connected end to end</a:t>
            </a:r>
          </a:p>
          <a:p>
            <a:pPr marL="457200" indent="-457200">
              <a:lnSpc>
                <a:spcPct val="108000"/>
              </a:lnSpc>
              <a:spcAft>
                <a:spcPts val="1600"/>
              </a:spcAft>
              <a:buClr>
                <a:srgbClr val="166B50"/>
              </a:buClr>
              <a:buSzPct val="100000"/>
              <a:buFont typeface="Arial"/>
              <a:buAutoNum type="arabicPeriod"/>
            </a:pPr>
            <a:r>
              <a:rPr sz="1700" b="0" i="0">
                <a:solidFill>
                  <a:srgbClr val="17211D"/>
                </a:solidFill>
                <a:latin typeface="Arial"/>
              </a:rPr>
              <a:t>Furniture </a:t>
            </a:r>
            <a:r>
              <a:rPr sz="1700" b="1" i="0">
                <a:solidFill>
                  <a:srgbClr val="17211D"/>
                </a:solidFill>
                <a:latin typeface="Courier New"/>
              </a:rPr>
              <a:t>2.5 · 1.2 · 1.2</a:t>
            </a:r>
            <a:r>
              <a:rPr sz="1700" b="0" i="0">
                <a:solidFill>
                  <a:srgbClr val="17211D"/>
                </a:solidFill>
                <a:latin typeface="Arial"/>
              </a:rPr>
              <a:t>, clearance </a:t>
            </a:r>
            <a:r>
              <a:rPr sz="1700" b="1" i="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a:solidFill>
                  <a:srgbClr val="17211D"/>
                </a:solidFill>
                <a:latin typeface="Arial"/>
              </a:rPr>
              <a:t>Try it </a:t>
            </a:r>
            <a:r>
              <a:rPr sz="1700" b="1" i="0">
                <a:solidFill>
                  <a:srgbClr val="17211D"/>
                </a:solidFill>
                <a:latin typeface="Arial"/>
              </a:rPr>
              <a:t>manually</a:t>
            </a:r>
            <a:r>
              <a:rPr sz="1700" b="0" i="0">
                <a:solidFill>
                  <a:srgbClr val="17211D"/>
                </a:solidFill>
                <a:latin typeface="Arial"/>
              </a:rPr>
              <a:t>, then run </a:t>
            </a:r>
            <a:r>
              <a:rPr sz="1700" b="1" i="0">
                <a:solidFill>
                  <a:srgbClr val="17211D"/>
                </a:solidFill>
                <a:latin typeface="Arial"/>
              </a:rPr>
              <a:t>both solvers</a:t>
            </a:r>
          </a:p>
          <a:p>
            <a:pPr marL="457200" indent="-457200">
              <a:lnSpc>
                <a:spcPct val="108000"/>
              </a:lnSpc>
              <a:spcAft>
                <a:spcPts val="1600"/>
              </a:spcAft>
              <a:buClr>
                <a:srgbClr val="166B50"/>
              </a:buClr>
              <a:buSzPct val="100000"/>
              <a:buFont typeface="Arial"/>
              <a:buAutoNum type="arabicPeriod"/>
            </a:pPr>
            <a:r>
              <a:rPr sz="1700" b="0" i="0">
                <a:solidFill>
                  <a:srgbClr val="17211D"/>
                </a:solidFill>
                <a:latin typeface="Arial"/>
              </a:rPr>
              <a:t>Shrink the hallway width until it </a:t>
            </a:r>
            <a:r>
              <a:rPr sz="1700" b="1" i="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a:solidFill>
                  <a:srgbClr val="17211D"/>
                </a:solidFill>
                <a:latin typeface="Arial"/>
              </a:rPr>
              <a:t>Does </a:t>
            </a:r>
            <a:r>
              <a:rPr sz="1700" b="1" i="0">
                <a:solidFill>
                  <a:srgbClr val="17211D"/>
                </a:solidFill>
                <a:latin typeface="Arial"/>
              </a:rPr>
              <a:t>roll sampling</a:t>
            </a:r>
            <a:r>
              <a:rPr sz="1700" b="0" i="0">
                <a:solidFill>
                  <a:srgbClr val="17211D"/>
                </a:solidFill>
                <a:latin typeface="Arial"/>
              </a:rPr>
              <a:t> rescue it?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350000" y="2476500"/>
            <a:ext cx="5143500" cy="952500"/>
          </a:xfrm>
          <a:prstGeom prst="rect">
            <a:avLst/>
          </a:prstGeom>
          <a:noFill/>
        </p:spPr>
        <p:txBody>
          <a:bodyPr wrap="square" lIns="0" rIns="0" t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62000"/>
          </a:xfrm>
          <a:prstGeom prst="rect">
            <a:avLst/>
          </a:prstGeom>
          <a:noFill/>
        </p:spPr>
        <p:txBody>
          <a:bodyPr wrap="square" lIns="0" rIns="0" tIns="0" bIns="0" anchor="t">
            <a:spAutoFit/>
          </a:bodyPr>
          <a:lstStyle/>
          <a:p>
            <a:pPr algn="ctr">
              <a:lnSpc>
                <a:spcPct val="115000"/>
              </a:lnSpc>
              <a:spcAft>
                <a:spcPts val="0"/>
              </a:spcAft>
            </a:pPr>
            <a:r>
              <a:rPr sz="2200" b="1" i="0">
                <a:solidFill>
                  <a:srgbClr val="17211D"/>
                </a:solidFill>
                <a:latin typeface="Arial"/>
              </a:rPr>
              <a:t>What's the narrowest hallway your sofa survives?</a:t>
            </a:r>
          </a:p>
        </p:txBody>
      </p:sp>
      <p:sp>
        <p:nvSpPr>
          <p:cNvPr id="8" name="TextBox 7"/>
          <p:cNvSpPr txBox="1"/>
          <p:nvPr/>
        </p:nvSpPr>
        <p:spPr>
          <a:xfrm>
            <a:off x="6731000" y="4381500"/>
            <a:ext cx="4381500" cy="317500"/>
          </a:xfrm>
          <a:prstGeom prst="rect">
            <a:avLst/>
          </a:prstGeom>
          <a:noFill/>
        </p:spPr>
        <p:txBody>
          <a:bodyPr wrap="square" lIns="0" rIns="0" tIns="0" bIns="0" anchor="t">
            <a:spAutoFit/>
          </a:bodyPr>
          <a:lstStyle/>
          <a:p>
            <a:pPr algn="ctr">
              <a:lnSpc>
                <a:spcPct val="112000"/>
              </a:lnSpc>
              <a:spcAft>
                <a:spcPts val="0"/>
              </a:spcAft>
            </a:pPr>
            <a:r>
              <a:rPr sz="1500" b="0" i="0">
                <a:solidFill>
                  <a:srgbClr val="5D6963"/>
                </a:solidFill>
                <a:latin typeface="Arial"/>
              </a:rPr>
              <a:t>Share your number in the comments.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gradFill rotWithShape="1">
          <a:gsLst>
            <a:gs pos="0">
              <a:srgbClr val="1B5A45"/>
            </a:gs>
            <a:gs pos="100000">
              <a:srgbClr val="08140F"/>
            </a:gs>
          </a:gsLst>
          <a:lin scaled="0" ang="19500000"/>
        </a:gradFill>
        <a:effectLst/>
      </p:bgPr>
    </p:bg>
    <p:spTree>
      <p:nvGrpSpPr>
        <p:cNvPr id="1" name=""/>
        <p:cNvGrpSpPr/>
        <p:nvPr/>
      </p:nvGrpSpPr>
      <p:grpSpPr/>
      <p:sp>
        <p:nvSpPr>
          <p:cNvPr id="2" name="Rounded Rectangle 1"/>
          <p:cNvSpPr/>
          <p:nvPr/>
        </p:nvSpPr>
        <p:spPr>
          <a:xfrm>
            <a:off x="698500" y="533400"/>
            <a:ext cx="197485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D6EF5B"/>
                </a:solidFill>
                <a:latin typeface="Arial"/>
              </a:rPr>
              <a:t>RUN IT YOURSELF</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4400" b="1" i="0">
                <a:solidFill>
                  <a:srgbClr val="EEF5F0"/>
                </a:solidFill>
                <a:latin typeface="Arial"/>
              </a:rPr>
              <a:t>Two commands to start</a:t>
            </a:r>
          </a:p>
        </p:txBody>
      </p:sp>
      <p:sp>
        <p:nvSpPr>
          <p:cNvPr id="4" name="Rounded Rectangle 3"/>
          <p:cNvSpPr/>
          <p:nvPr/>
        </p:nvSpPr>
        <p:spPr>
          <a:xfrm>
            <a:off x="698500" y="2095500"/>
            <a:ext cx="6350000" cy="1524000"/>
          </a:xfrm>
          <a:prstGeom prst="roundRect">
            <a:avLst>
              <a:gd name="adj" fmla="val 6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rtlCol="0" anchor="ctr" lIns="304800" wrap="square"/>
          <a:lstStyle/>
          <a:p>
            <a:pPr algn="l"/>
            <a:r>
              <a:rPr sz="2000" b="0" i="0">
                <a:solidFill>
                  <a:srgbClr val="6F8F80"/>
                </a:solidFill>
                <a:latin typeface="Courier New"/>
              </a:rPr>
              <a:t># no npm, no build</a:t>
            </a:r>
          </a:p>
          <a:p>
            <a:pPr algn="l"/>
            <a:r>
              <a:rPr sz="2000" b="0" i="0">
                <a:solidFill>
                  <a:srgbClr val="D7EFE2"/>
                </a:solidFill>
                <a:latin typeface="Courier New"/>
              </a:rPr>
              <a:t>cd FurnitureSim_3D_can</a:t>
            </a:r>
          </a:p>
          <a:p>
            <a:pPr algn="l"/>
            <a:r>
              <a:rPr sz="2000" b="0" i="0">
                <a:solidFill>
                  <a:srgbClr val="D7EFE2"/>
                </a:solidFill>
                <a:latin typeface="Courier New"/>
              </a:rPr>
              <a:t>python3 -m http.server 8000</a:t>
            </a:r>
          </a:p>
          <a:p>
            <a:pPr algn="l"/>
            <a:r>
              <a:rPr sz="2000" b="0" i="0">
                <a:solidFill>
                  <a:srgbClr val="6F8F80"/>
                </a:solidFill>
                <a:latin typeface="Courier New"/>
              </a:rPr>
              <a:t># open http://localhost:8000</a:t>
            </a:r>
          </a:p>
        </p:txBody>
      </p:sp>
      <p:sp>
        <p:nvSpPr>
          <p:cNvPr id="5" name="TextBox 4"/>
          <p:cNvSpPr txBox="1"/>
          <p:nvPr/>
        </p:nvSpPr>
        <p:spPr>
          <a:xfrm>
            <a:off x="698500" y="3937000"/>
            <a:ext cx="6350000" cy="762000"/>
          </a:xfrm>
          <a:prstGeom prst="rect">
            <a:avLst/>
          </a:prstGeom>
          <a:noFill/>
        </p:spPr>
        <p:txBody>
          <a:bodyPr wrap="square" lIns="0" rIns="0" tIns="0" bIns="0" anchor="t">
            <a:spAutoFit/>
          </a:bodyPr>
          <a:lstStyle/>
          <a:p>
            <a:pPr algn="l">
              <a:lnSpc>
                <a:spcPct val="120000"/>
              </a:lnSpc>
              <a:spcAft>
                <a:spcPts val="0"/>
              </a:spcAft>
            </a:pPr>
            <a:r>
              <a:rPr sz="2000" b="0" i="0">
                <a:solidFill>
                  <a:srgbClr val="B7CBC1"/>
                </a:solidFill>
                <a:latin typeface="Arial"/>
              </a:rPr>
              <a:t>Three.js loads from a CDN, so you just need a browser and an internet connection.</a:t>
            </a:r>
          </a:p>
        </p:txBody>
      </p:sp>
      <p:sp>
        <p:nvSpPr>
          <p:cNvPr id="6" name="Rounded Rectangle 5"/>
          <p:cNvSpPr/>
          <p:nvPr/>
        </p:nvSpPr>
        <p:spPr>
          <a:xfrm>
            <a:off x="7620000" y="2095500"/>
            <a:ext cx="3873500" cy="24765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74000" y="2317750"/>
            <a:ext cx="3429000" cy="317500"/>
          </a:xfrm>
          <a:prstGeom prst="rect">
            <a:avLst/>
          </a:prstGeom>
          <a:noFill/>
        </p:spPr>
        <p:txBody>
          <a:bodyPr wrap="square" lIns="0" rIns="0" tIns="0" bIns="0" anchor="t">
            <a:spAutoFit/>
          </a:bodyPr>
          <a:lstStyle/>
          <a:p>
            <a:pPr algn="l">
              <a:lnSpc>
                <a:spcPct val="112000"/>
              </a:lnSpc>
              <a:spcAft>
                <a:spcPts val="0"/>
              </a:spcAft>
            </a:pPr>
            <a:r>
              <a:rPr sz="2000" b="1" i="0">
                <a:solidFill>
                  <a:srgbClr val="D6EF5B"/>
                </a:solidFill>
                <a:latin typeface="Arial"/>
              </a:rPr>
              <a:t>Where things live</a:t>
            </a:r>
          </a:p>
        </p:txBody>
      </p:sp>
      <p:sp>
        <p:nvSpPr>
          <p:cNvPr id="8" name="TextBox 7"/>
          <p:cNvSpPr txBox="1"/>
          <p:nvPr/>
        </p:nvSpPr>
        <p:spPr>
          <a:xfrm>
            <a:off x="7874000" y="2794000"/>
            <a:ext cx="3429000" cy="1397000"/>
          </a:xfrm>
          <a:prstGeom prst="rect">
            <a:avLst/>
          </a:prstGeom>
          <a:noFill/>
        </p:spPr>
        <p:txBody>
          <a:bodyPr wrap="square" lIns="0" rIns="0" tIns="0" bIns="0" anchor="t">
            <a:spAutoFit/>
          </a:bodyPr>
          <a:lstStyle/>
          <a:p>
            <a:pPr algn="l">
              <a:lnSpc>
                <a:spcPct val="120000"/>
              </a:lnSpc>
              <a:spcAft>
                <a:spcPts val="1200"/>
              </a:spcAft>
            </a:pPr>
            <a:r>
              <a:rPr sz="1500" b="1" i="0">
                <a:solidFill>
                  <a:srgbClr val="D6EF5B"/>
                </a:solidFill>
                <a:latin typeface="Courier New"/>
              </a:rPr>
              <a:t>app.js</a:t>
            </a:r>
            <a:r>
              <a:rPr sz="1500" b="0" i="0">
                <a:solidFill>
                  <a:srgbClr val="D4E4DB"/>
                </a:solidFill>
                <a:latin typeface="Arial"/>
              </a:rPr>
              <a:t>   scene &amp; UI</a:t>
            </a:r>
          </a:p>
          <a:p>
            <a:pPr algn="l">
              <a:lnSpc>
                <a:spcPct val="120000"/>
              </a:lnSpc>
              <a:spcAft>
                <a:spcPts val="1200"/>
              </a:spcAft>
            </a:pPr>
            <a:r>
              <a:rPr sz="1500" b="1" i="0">
                <a:solidFill>
                  <a:srgbClr val="D6EF5B"/>
                </a:solidFill>
                <a:latin typeface="Courier New"/>
              </a:rPr>
              <a:t>planner.js</a:t>
            </a:r>
            <a:r>
              <a:rPr sz="1500" b="0" i="0">
                <a:solidFill>
                  <a:srgbClr val="D4E4DB"/>
                </a:solidFill>
                <a:latin typeface="Arial"/>
              </a:rPr>
              <a:t>   collision &amp; solvers</a:t>
            </a:r>
          </a:p>
          <a:p>
            <a:pPr algn="l">
              <a:lnSpc>
                <a:spcPct val="120000"/>
              </a:lnSpc>
              <a:spcAft>
                <a:spcPts val="1200"/>
              </a:spcAft>
            </a:pPr>
            <a:r>
              <a:rPr sz="1500" b="1" i="0">
                <a:solidFill>
                  <a:srgbClr val="D6EF5B"/>
                </a:solidFill>
                <a:latin typeface="Courier New"/>
              </a:rPr>
              <a:t>manual.js</a:t>
            </a:r>
            <a:r>
              <a:rPr sz="1500" b="0" i="0">
                <a:solidFill>
                  <a:srgbClr val="D4E4DB"/>
                </a:solidFill>
                <a:latin typeface="Arial"/>
              </a:rPr>
              <a:t>   drag-it-yourself</a:t>
            </a:r>
          </a:p>
          <a:p>
            <a:pPr algn="l">
              <a:lnSpc>
                <a:spcPct val="120000"/>
              </a:lnSpc>
              <a:spcAft>
                <a:spcPts val="1200"/>
              </a:spcAft>
            </a:pPr>
            <a:r>
              <a:rPr sz="1500" b="1" i="0">
                <a:solidFill>
                  <a:srgbClr val="D6EF5B"/>
                </a:solidFill>
                <a:latin typeface="Courier New"/>
              </a:rPr>
              <a:t>index.html</a:t>
            </a:r>
            <a:r>
              <a:rPr sz="1500" b="0" i="0">
                <a:solidFill>
                  <a:srgbClr val="D4E4DB"/>
                </a:solidFill>
                <a:latin typeface="Arial"/>
              </a:rPr>
              <a:t> + </a:t>
            </a:r>
            <a:r>
              <a:rPr sz="1500" b="1" i="0">
                <a:solidFill>
                  <a:srgbClr val="D6EF5B"/>
                </a:solidFill>
                <a:latin typeface="Courier New"/>
              </a:rPr>
              <a:t>styles.css</a:t>
            </a:r>
          </a:p>
        </p:txBody>
      </p:sp>
      <p:sp>
        <p:nvSpPr>
          <p:cNvPr id="9" name="TextBox 8"/>
          <p:cNvSpPr txBox="1"/>
          <p:nvPr/>
        </p:nvSpPr>
        <p:spPr>
          <a:xfrm>
            <a:off x="698500" y="5270500"/>
            <a:ext cx="10795000" cy="571500"/>
          </a:xfrm>
          <a:prstGeom prst="rect">
            <a:avLst/>
          </a:prstGeom>
          <a:noFill/>
        </p:spPr>
        <p:txBody>
          <a:bodyPr wrap="square" lIns="0" rIns="0" t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