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4a" ContentType="audio/mp4"/>
  <Override PartName="/ppt/media/media11.m4a" ContentType="audio/mp4"/>
  <Override PartName="/ppt/media/media12.m4a" ContentType="audio/mp4"/>
  <Override PartName="/ppt/media/media13.m4a" ContentType="audio/mp4"/>
  <Override PartName="/ppt/media/media14.m4a" ContentType="audio/mp4"/>
  <Override PartName="/ppt/media/media15.m4a" ContentType="audio/mp4"/>
  <Override PartName="/ppt/media/media16.m4a" ContentType="audio/mp4"/>
  <Override PartName="/ppt/media/media17.m4a" ContentType="audio/mp4"/>
  <Override PartName="/ppt/media/media2.m4a" ContentType="audio/mp4"/>
  <Override PartName="/ppt/media/media3.m4a" ContentType="audio/mp4"/>
  <Override PartName="/ppt/media/media4.m4a" ContentType="audio/mp4"/>
  <Override PartName="/ppt/media/media5.m4a" ContentType="audio/mp4"/>
  <Override PartName="/ppt/media/media6.m4a" ContentType="audio/mp4"/>
  <Override PartName="/ppt/media/media7.m4a" ContentType="audio/mp4"/>
  <Override PartName="/ppt/media/media8.m4a" ContentType="audio/mp4"/>
  <Override PartName="/ppt/media/media9.m4a" ContentType="audio/mp4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9" r:id="rId5"/>
    <p:sldId id="280" r:id="rId6"/>
    <p:sldId id="281" r:id="rId7"/>
    <p:sldId id="276" r:id="rId8"/>
    <p:sldId id="277" r:id="rId9"/>
    <p:sldId id="278" r:id="rId10"/>
    <p:sldId id="264" r:id="rId11"/>
    <p:sldId id="265" r:id="rId12"/>
    <p:sldId id="266" r:id="rId13"/>
    <p:sldId id="267" r:id="rId14"/>
    <p:sldId id="268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022"/>
    <p:restoredTop sz="62171"/>
  </p:normalViewPr>
  <p:slideViewPr>
    <p:cSldViewPr snapToGrid="0" snapToObjects="1">
      <p:cViewPr varScale="1">
        <p:scale>
          <a:sx n="66" d="100"/>
          <a:sy n="66" d="100"/>
        </p:scale>
        <p:origin x="151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869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Hi Everyone, I'm Can! </a:t>
            </a:r>
            <a:r>
              <a:rPr dirty="0"/>
              <a:t>Have you ever been stuck on a staircase, holding one end of a couch, thinking: "there is no way this fits"?</a:t>
            </a:r>
          </a:p>
          <a:p>
            <a:endParaRPr dirty="0"/>
          </a:p>
          <a:p>
            <a:r>
              <a:rPr dirty="0"/>
              <a:t>Today we're going to settle that argument with math.</a:t>
            </a:r>
          </a:p>
          <a:p>
            <a:endParaRPr dirty="0"/>
          </a:p>
          <a:p>
            <a:r>
              <a:rPr dirty="0"/>
              <a:t>I built a browser app called Can It Fit</a:t>
            </a:r>
            <a:r>
              <a:rPr lang="en-US" dirty="0"/>
              <a:t>, where y</a:t>
            </a:r>
            <a:r>
              <a:rPr dirty="0"/>
              <a:t>ou </a:t>
            </a:r>
            <a:r>
              <a:rPr lang="en-US" dirty="0"/>
              <a:t>can </a:t>
            </a:r>
            <a:r>
              <a:rPr dirty="0"/>
              <a:t>design a room in 3D, drop in a piece of furniture, and a motion planner</a:t>
            </a:r>
            <a:r>
              <a:rPr lang="en-US" dirty="0"/>
              <a:t> will</a:t>
            </a:r>
            <a:r>
              <a:rPr dirty="0"/>
              <a:t> figure out whether it can actually get through.</a:t>
            </a:r>
          </a:p>
          <a:p>
            <a:endParaRPr dirty="0"/>
          </a:p>
          <a:p>
            <a:r>
              <a:rPr dirty="0"/>
              <a:t>In the next few minutes I'll show you how to use it, and then, the fun part, how the planner really </a:t>
            </a:r>
            <a:r>
              <a:rPr lang="en-US" dirty="0"/>
              <a:t>solve the problem</a:t>
            </a:r>
            <a:r>
              <a:rPr dirty="0"/>
              <a:t>. No installs. No build step. Just a browser.</a:t>
            </a:r>
          </a:p>
          <a:p>
            <a:endParaRPr dirty="0"/>
          </a:p>
          <a:p>
            <a:r>
              <a:rPr dirty="0"/>
              <a:t>Let's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Here's why this is harder than it looks.</a:t>
            </a:r>
          </a:p>
          <a:p>
            <a:endParaRPr dirty="0"/>
          </a:p>
          <a:p>
            <a:r>
              <a:rPr dirty="0"/>
              <a:t>A couch isn't just sliding along a hallway. It can move in three directions, and it can rotate in three ways: yaw, pitch and roll. That's six degrees of freedom.</a:t>
            </a:r>
          </a:p>
          <a:p>
            <a:endParaRPr dirty="0"/>
          </a:p>
          <a:p>
            <a:r>
              <a:rPr dirty="0"/>
              <a:t>So "does it fit?" is secretly a question about finding a path through six-dimensional space, where every single pose along the way has to avoid every wall.</a:t>
            </a:r>
          </a:p>
          <a:p>
            <a:endParaRPr dirty="0"/>
          </a:p>
          <a:p>
            <a:r>
              <a:rPr dirty="0"/>
              <a:t>Look at this corner. The sofa can't just slide through. It has to turn, at exactly the right moment, by exactly the right amount.</a:t>
            </a:r>
          </a:p>
          <a:p>
            <a:endParaRPr dirty="0"/>
          </a:p>
          <a:p>
            <a:r>
              <a:rPr dirty="0"/>
              <a:t>That turning is what makes this problem interesting.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And our app, can it fit, solves this problem in a smart way. In our app, you can build a 3D model that simulates your own hallway or staircase, you can also specify the size of the furniture.</a:t>
            </a:r>
          </a:p>
          <a:p>
            <a:endParaRPr lang="en-US" dirty="0"/>
          </a:p>
          <a:p>
            <a:r>
              <a:rPr lang="en-US" dirty="0"/>
              <a:t>After that, you will have two ways to know if the furniture fits:</a:t>
            </a:r>
          </a:p>
          <a:p>
            <a:endParaRPr lang="en-US" dirty="0"/>
          </a:p>
          <a:p>
            <a:r>
              <a:rPr lang="en-US" dirty="0"/>
              <a:t>First, a manual solver, where you can drag the furniture manually to see if it can go through.</a:t>
            </a:r>
          </a:p>
          <a:p>
            <a:r>
              <a:rPr lang="en-US" dirty="0"/>
              <a:t>Secondly, an automatic solver that leverages a motion planning algorithm called RRT-connect. I will talk about it in detail after the demo.</a:t>
            </a:r>
          </a:p>
          <a:p>
            <a:endParaRPr lang="en-US" dirty="0"/>
          </a:p>
          <a:p>
            <a:r>
              <a:rPr dirty="0"/>
              <a:t>Using </a:t>
            </a:r>
            <a:r>
              <a:rPr lang="en-US" dirty="0"/>
              <a:t>our app</a:t>
            </a:r>
            <a:r>
              <a:rPr dirty="0"/>
              <a:t> takes just three simple steps. : build the room</a:t>
            </a:r>
            <a:r>
              <a:rPr lang="en-US" dirty="0"/>
              <a:t>, </a:t>
            </a:r>
            <a:r>
              <a:rPr dirty="0"/>
              <a:t> build the furniture,</a:t>
            </a:r>
            <a:r>
              <a:rPr lang="en-US" dirty="0"/>
              <a:t> </a:t>
            </a:r>
            <a:r>
              <a:rPr dirty="0"/>
              <a:t>solve the route.</a:t>
            </a:r>
            <a:r>
              <a:rPr lang="en-US" dirty="0"/>
              <a:t> </a:t>
            </a:r>
            <a:endParaRPr dirty="0"/>
          </a:p>
          <a:p>
            <a:endParaRPr dirty="0"/>
          </a:p>
          <a:p>
            <a:r>
              <a:rPr lang="en-US" dirty="0"/>
              <a:t>Now</a:t>
            </a:r>
            <a:r>
              <a:rPr dirty="0"/>
              <a:t> let's walk through the steps together, starting with step one, building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And </a:t>
            </a:r>
            <a:r>
              <a:rPr dirty="0"/>
              <a:t>here's the best thing about this app: you're not stuck with one shape. </a:t>
            </a:r>
            <a:endParaRPr lang="en-US" dirty="0"/>
          </a:p>
          <a:p>
            <a:r>
              <a:rPr dirty="0"/>
              <a:t>Look at these five models. An L-shaped hallway, a zig-zag hallway, </a:t>
            </a:r>
            <a:r>
              <a:rPr lang="en-US" dirty="0"/>
              <a:t>a </a:t>
            </a:r>
            <a:r>
              <a:rPr dirty="0"/>
              <a:t>U-shaped</a:t>
            </a:r>
            <a:r>
              <a:rPr lang="en-US" dirty="0"/>
              <a:t> staircase, an</a:t>
            </a:r>
            <a:r>
              <a:rPr dirty="0"/>
              <a:t> S-shaped staircase, and a post-modern super twisted staircase.  </a:t>
            </a:r>
            <a:endParaRPr lang="en-US" dirty="0"/>
          </a:p>
          <a:p>
            <a:endParaRPr lang="en-US" dirty="0"/>
          </a:p>
          <a:p>
            <a:r>
              <a:rPr dirty="0"/>
              <a:t>They're all made from simple blocks. The only difference is how the blocks are shaped and connected.</a:t>
            </a:r>
          </a:p>
          <a:p>
            <a:endParaRPr dirty="0"/>
          </a:p>
          <a:p>
            <a:r>
              <a:rPr dirty="0"/>
              <a:t>So whatever your own home looks like, a narrow stair, a tight corner, a crooked hallway, you can build it. Let me show you 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Any complex building is composed of simple block. How to shape individual block, there </a:t>
            </a:r>
            <a:r>
              <a:rPr dirty="0"/>
              <a:t>are just </a:t>
            </a:r>
            <a:r>
              <a:rPr lang="en-US" dirty="0"/>
              <a:t>2</a:t>
            </a:r>
            <a:r>
              <a:rPr dirty="0"/>
              <a:t> things to learn.</a:t>
            </a:r>
          </a:p>
          <a:p>
            <a:endParaRPr dirty="0"/>
          </a:p>
          <a:p>
            <a:r>
              <a:rPr dirty="0"/>
              <a:t>First, stretch. Every block has length sliders. Drag one and the block gets longer, wider or taller. </a:t>
            </a:r>
          </a:p>
          <a:p>
            <a:endParaRPr dirty="0"/>
          </a:p>
          <a:p>
            <a:r>
              <a:rPr dirty="0"/>
              <a:t>Second, tilt. The angle sliders lean the block over. A box with right angles is a plain hallway, but pull one angle down to sixty degrees and you get a slanted block. That's how you make a ramp, or the slope of a staircase.</a:t>
            </a:r>
          </a:p>
          <a:p>
            <a:endParaRPr dirty="0"/>
          </a:p>
          <a:p>
            <a:r>
              <a:rPr lang="en-US" dirty="0"/>
              <a:t>If you need more blocks, p</a:t>
            </a:r>
            <a:r>
              <a:rPr dirty="0"/>
              <a:t>ress "Add object" and another block appears. Add as many as you need.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 </a:t>
            </a:r>
            <a:r>
              <a:rPr dirty="0"/>
              <a:t>connect the blocks</a:t>
            </a:r>
            <a:r>
              <a:rPr lang="en-US" dirty="0"/>
              <a:t>, p</a:t>
            </a:r>
            <a:r>
              <a:rPr dirty="0"/>
              <a:t>ress "Connect two objects", then click one </a:t>
            </a:r>
            <a:r>
              <a:rPr lang="en-US" dirty="0"/>
              <a:t>sur</a:t>
            </a:r>
            <a:r>
              <a:rPr dirty="0"/>
              <a:t>face on each block you want to join.</a:t>
            </a:r>
          </a:p>
          <a:p>
            <a:endParaRPr dirty="0"/>
          </a:p>
          <a:p>
            <a:r>
              <a:rPr dirty="0"/>
              <a:t>A small preview window </a:t>
            </a:r>
            <a:r>
              <a:rPr lang="en-US" dirty="0"/>
              <a:t>will pop up</a:t>
            </a:r>
            <a:r>
              <a:rPr dirty="0"/>
              <a:t> with three sliders</a:t>
            </a:r>
            <a:r>
              <a:rPr lang="en-US" dirty="0"/>
              <a:t>, through which you can adjust how the two blocks are attached</a:t>
            </a:r>
            <a:r>
              <a:rPr dirty="0"/>
              <a:t>.</a:t>
            </a:r>
            <a:endParaRPr lang="en-US" dirty="0"/>
          </a:p>
          <a:p>
            <a:endParaRPr lang="en-US" dirty="0"/>
          </a:p>
          <a:p>
            <a:r>
              <a:rPr dirty="0"/>
              <a:t>When two blocks first snap together, they can stick out the wrong way, like on the left.</a:t>
            </a:r>
          </a:p>
          <a:p>
            <a:endParaRPr dirty="0"/>
          </a:p>
          <a:p>
            <a:r>
              <a:rPr lang="en-US" dirty="0"/>
              <a:t>You can use the slider to rotate and slide one object along the selected surface, until it reach your ideal position.</a:t>
            </a:r>
          </a:p>
          <a:p>
            <a:endParaRPr dirty="0"/>
          </a:p>
          <a:p>
            <a:r>
              <a:rPr lang="en-US" dirty="0"/>
              <a:t>For example, now look at</a:t>
            </a:r>
            <a:r>
              <a:rPr dirty="0"/>
              <a:t> the right-hand picture: the same two blocks, now lined up into one continuous staircase. </a:t>
            </a:r>
            <a:endParaRPr lang="en-US" dirty="0"/>
          </a:p>
          <a:p>
            <a:endParaRPr lang="en-US" dirty="0"/>
          </a:p>
          <a:p>
            <a:r>
              <a:rPr dirty="0"/>
              <a:t>When it looks right, press Apply,</a:t>
            </a:r>
            <a:r>
              <a:rPr lang="en-US" dirty="0"/>
              <a:t> they will merge into one single object. </a:t>
            </a:r>
          </a:p>
          <a:p>
            <a:endParaRPr lang="en-US" dirty="0"/>
          </a:p>
          <a:p>
            <a:r>
              <a:rPr lang="en-US" dirty="0"/>
              <a:t>If you want more complex composition, you can repeat this step to add more blocks. </a:t>
            </a:r>
            <a:r>
              <a:rPr dirty="0"/>
              <a:t> 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After you get your ideal 3d model, you will need to </a:t>
            </a:r>
            <a:r>
              <a:rPr dirty="0"/>
              <a:t>tell the app where the furniture comes in and where it has to come out. </a:t>
            </a:r>
            <a:r>
              <a:rPr lang="en-US" dirty="0"/>
              <a:t>For example, c</a:t>
            </a:r>
            <a:r>
              <a:rPr dirty="0"/>
              <a:t>lick the</a:t>
            </a:r>
            <a:r>
              <a:rPr lang="en-US" dirty="0"/>
              <a:t> top</a:t>
            </a:r>
            <a:r>
              <a:rPr dirty="0"/>
              <a:t> end of the hallway for the entrance, and it turns green. Then click the </a:t>
            </a:r>
            <a:r>
              <a:rPr lang="en-US" dirty="0"/>
              <a:t>bottom </a:t>
            </a:r>
            <a:r>
              <a:rPr dirty="0"/>
              <a:t>end of the hallway for the exit, and it turns orange. Press "Confirm 3D model" and the walls turn see-through.</a:t>
            </a:r>
          </a:p>
          <a:p>
            <a:endParaRPr lang="en-US" dirty="0"/>
          </a:p>
          <a:p>
            <a:endParaRPr dirty="0"/>
          </a:p>
          <a:p>
            <a:r>
              <a:rPr dirty="0"/>
              <a:t>Then type in the size of your furniture: length, width and height. The green box next to the building is a preview of it.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Now it’s the exciting part: solve the route.</a:t>
            </a:r>
          </a:p>
          <a:p>
            <a:endParaRPr lang="en-US" dirty="0"/>
          </a:p>
          <a:p>
            <a:r>
              <a:rPr dirty="0"/>
              <a:t>Before we let the computer try, try it yourself. Press "Try manually" and the furniture starts just outside the entrance.</a:t>
            </a:r>
          </a:p>
          <a:p>
            <a:endParaRPr dirty="0"/>
          </a:p>
          <a:p>
            <a:r>
              <a:rPr dirty="0"/>
              <a:t>Hold the M key and drag it into the building. The box</a:t>
            </a:r>
            <a:r>
              <a:rPr lang="en-US" dirty="0"/>
              <a:t> is</a:t>
            </a:r>
            <a:r>
              <a:rPr dirty="0"/>
              <a:t> yellow when it's outside, </a:t>
            </a:r>
            <a:r>
              <a:rPr lang="en-US" dirty="0"/>
              <a:t>turns green when it’s fully inside, </a:t>
            </a:r>
            <a:r>
              <a:rPr dirty="0"/>
              <a:t>and red when it hits a wall. Use the sliders to tilt and lift it.</a:t>
            </a:r>
          </a:p>
          <a:p>
            <a:endParaRPr dirty="0"/>
          </a:p>
          <a:p>
            <a:r>
              <a:rPr lang="en-US" dirty="0"/>
              <a:t>If you can r</a:t>
            </a:r>
            <a:r>
              <a:rPr dirty="0"/>
              <a:t>each the exit</a:t>
            </a:r>
            <a:r>
              <a:rPr lang="en-US" dirty="0"/>
              <a:t>,</a:t>
            </a:r>
            <a:r>
              <a:rPr dirty="0"/>
              <a:t> you win.</a:t>
            </a:r>
          </a:p>
          <a:p>
            <a:endParaRPr dirty="0"/>
          </a:p>
          <a:p>
            <a:r>
              <a:rPr dirty="0"/>
              <a:t>It's trickier than it looks, which is exactly why a planner is so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Now let the computer try. Press "Try auto-solver", and the planner searches for a path through the building.</a:t>
            </a:r>
          </a:p>
          <a:p>
            <a:endParaRPr dirty="0"/>
          </a:p>
          <a:p>
            <a:r>
              <a:rPr dirty="0"/>
              <a:t>You can watch its progress as it works, and when it's done, a pop-up gives you the verdict. For our </a:t>
            </a:r>
            <a:r>
              <a:rPr lang="en-US" dirty="0"/>
              <a:t>test </a:t>
            </a:r>
            <a:r>
              <a:rPr lang="en-US" dirty="0" err="1"/>
              <a:t>funriture</a:t>
            </a:r>
            <a:r>
              <a:rPr dirty="0"/>
              <a:t>, it comes back with: "It fits!" The planner found a route of a hundred and sixty-five collision-free frames.</a:t>
            </a:r>
          </a:p>
          <a:p>
            <a:endParaRPr dirty="0"/>
          </a:p>
          <a:p>
            <a:r>
              <a:rPr dirty="0"/>
              <a:t>Here's what that route looks like. The </a:t>
            </a:r>
            <a:r>
              <a:rPr lang="en-US" dirty="0"/>
              <a:t>test furniture</a:t>
            </a:r>
            <a:r>
              <a:rPr dirty="0"/>
              <a:t> starts outside the entrance, slips in, turns and tilts to follow the stairs, and comes out at the exit, without touching a single wall.</a:t>
            </a:r>
          </a:p>
          <a:p>
            <a:endParaRPr dirty="0"/>
          </a:p>
          <a:p>
            <a:r>
              <a:rPr dirty="0"/>
              <a:t>If you ever get "No route found", don't give up right away. The search is random, so it can't prove that no route exists. Run it again</a:t>
            </a:r>
            <a:r>
              <a:rPr lang="en-US" dirty="0"/>
              <a:t>. If it still fails after a few try, you might need to consider </a:t>
            </a:r>
            <a:r>
              <a:rPr dirty="0"/>
              <a:t>a slightly smaller piece of furniture.</a:t>
            </a:r>
          </a:p>
          <a:p>
            <a:endParaRPr dirty="0"/>
          </a:p>
          <a:p>
            <a:r>
              <a:rPr lang="en-US" dirty="0"/>
              <a:t>And this is the </a:t>
            </a:r>
            <a:r>
              <a:rPr dirty="0"/>
              <a:t>whole point of the tool: you can test a move before you ever lift a couch.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Okay, s</a:t>
            </a:r>
            <a:r>
              <a:rPr dirty="0"/>
              <a:t>o far you've seen what </a:t>
            </a:r>
            <a:r>
              <a:rPr lang="en-US" dirty="0"/>
              <a:t>our app can do</a:t>
            </a:r>
            <a:r>
              <a:rPr dirty="0"/>
              <a:t>. Now let's open the hood.</a:t>
            </a:r>
          </a:p>
          <a:p>
            <a:endParaRPr dirty="0"/>
          </a:p>
          <a:p>
            <a:r>
              <a:rPr lang="en-US" dirty="0"/>
              <a:t>To understand the solver, we need to answer t</a:t>
            </a:r>
            <a:r>
              <a:rPr dirty="0"/>
              <a:t>hree questions. How is a position stored? How do we know a position is legal? And how do we search for a path?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Question one: how do you describe where a couch is?</a:t>
            </a:r>
          </a:p>
          <a:p>
            <a:endParaRPr dirty="0"/>
          </a:p>
          <a:p>
            <a:r>
              <a:rPr dirty="0"/>
              <a:t>With six numbers. X, Y and Z for position, and yaw, pitch and roll for rotation.</a:t>
            </a:r>
          </a:p>
          <a:p>
            <a:endParaRPr dirty="0"/>
          </a:p>
          <a:p>
            <a:r>
              <a:rPr dirty="0"/>
              <a:t>The </a:t>
            </a:r>
            <a:r>
              <a:rPr lang="en-US" dirty="0" err="1"/>
              <a:t>algoirthm</a:t>
            </a:r>
            <a:r>
              <a:rPr dirty="0"/>
              <a:t> stores that as a simple object, and converts the three angles into a quaternion, using Z-Y-X Euler order. We use the same convention everywhere, so rendering, collision checking and saving always agree.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Question two: given a pose, is it legal?</a:t>
            </a:r>
          </a:p>
          <a:p>
            <a:endParaRPr dirty="0"/>
          </a:p>
          <a:p>
            <a:r>
              <a:rPr dirty="0"/>
              <a:t>If every boundary point of the furniture is inside the room, the pose is legal.</a:t>
            </a:r>
          </a:p>
          <a:p>
            <a:endParaRPr dirty="0"/>
          </a:p>
          <a:p>
            <a:r>
              <a:rPr dirty="0"/>
              <a:t>To check a move between two poses, we interpolate and test every little step along the way.</a:t>
            </a:r>
          </a:p>
          <a:p>
            <a:endParaRPr dirty="0"/>
          </a:p>
          <a:p>
            <a:r>
              <a:rPr dirty="0"/>
              <a:t>And crossing a wall? That's only allowed through the entrance or exit.</a:t>
            </a:r>
          </a:p>
          <a:p>
            <a:endParaRPr dirty="0"/>
          </a:p>
          <a:p>
            <a:r>
              <a:rPr dirty="0"/>
              <a:t>It's the exact same check for manual mode and for the solver. Nobody gets special treatment.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Question three: how do we find a path through six-dimensional space?</a:t>
            </a:r>
          </a:p>
          <a:p>
            <a:endParaRPr dirty="0"/>
          </a:p>
          <a:p>
            <a:r>
              <a:rPr dirty="0"/>
              <a:t>With an algorithm called RRT-Connect. RRT stands for Rapidly-exploring Random Tree.</a:t>
            </a:r>
          </a:p>
          <a:p>
            <a:endParaRPr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Specifically, RRT-Connect grows two trees, one from the start and one from the goal.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It randomly samples new nodes in each iteration, attempting to connect the two trees while avoiding the obstacles.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dirty="0"/>
              <a:t>When the two trees touch, we have a path. We smooth it, resample it, and animate it.</a:t>
            </a:r>
          </a:p>
          <a:p>
            <a:endParaRPr dirty="0"/>
          </a:p>
          <a:p>
            <a:r>
              <a:rPr dirty="0"/>
              <a:t>One honest caveat. It's probabilistic.</a:t>
            </a:r>
            <a:r>
              <a:rPr lang="en-US" dirty="0"/>
              <a:t> So</a:t>
            </a:r>
            <a:r>
              <a:rPr dirty="0"/>
              <a:t> Finding a route proves the </a:t>
            </a:r>
            <a:r>
              <a:rPr lang="en-US" dirty="0"/>
              <a:t>furniture</a:t>
            </a:r>
            <a:r>
              <a:rPr dirty="0"/>
              <a:t> fits. </a:t>
            </a:r>
            <a:endParaRPr lang="en-US" dirty="0"/>
          </a:p>
          <a:p>
            <a:endParaRPr lang="en-US" dirty="0"/>
          </a:p>
          <a:p>
            <a:r>
              <a:rPr lang="en-US" dirty="0"/>
              <a:t>But f</a:t>
            </a:r>
            <a:r>
              <a:rPr dirty="0"/>
              <a:t>ailing to find one does not prove it can't. </a:t>
            </a:r>
            <a:r>
              <a:rPr lang="en-US" dirty="0"/>
              <a:t>You may try</a:t>
            </a:r>
            <a:r>
              <a:rPr dirty="0"/>
              <a:t> raise the iterations</a:t>
            </a:r>
            <a:r>
              <a:rPr lang="en-US" dirty="0"/>
              <a:t> and run it again.</a:t>
            </a:r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Pure random sampling struggles with a tight doorway. The chance of randomly guessing a good entrance pose is tiny.</a:t>
            </a:r>
          </a:p>
          <a:p>
            <a:endParaRPr dirty="0"/>
          </a:p>
          <a:p>
            <a:r>
              <a:rPr dirty="0"/>
              <a:t>So we don't start blind. We sample offsets across the opening, combined with fifteen-degree yaw, pitch and roll orientations. We refine the promising ones at five degrees. Then we probe each candidate inward, to see how deep it gets.</a:t>
            </a:r>
          </a:p>
          <a:p>
            <a:endParaRPr dirty="0"/>
          </a:p>
          <a:p>
            <a:r>
              <a:rPr dirty="0"/>
              <a:t>We rank them by depth, clearance, alignment, offset and tilt, and feed the best ones to the planner as</a:t>
            </a:r>
            <a:r>
              <a:rPr lang="en-US" dirty="0"/>
              <a:t> candidate starting poses</a:t>
            </a:r>
            <a:r>
              <a:rPr dirty="0"/>
              <a:t>.</a:t>
            </a:r>
          </a:p>
          <a:p>
            <a:endParaRPr lang="en-US" dirty="0"/>
          </a:p>
          <a:p>
            <a:r>
              <a:rPr lang="en-US" dirty="0"/>
              <a:t>And this will increase the chance of successfully finding a path.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Now it's your turn.</a:t>
            </a:r>
          </a:p>
          <a:p>
            <a:endParaRPr dirty="0"/>
          </a:p>
          <a:p>
            <a:r>
              <a:rPr dirty="0"/>
              <a:t>Build an L-shaped hallway out of two connected blocks. You can make furniture and clearance of this size</a:t>
            </a:r>
          </a:p>
          <a:p>
            <a:endParaRPr dirty="0"/>
          </a:p>
          <a:p>
            <a:r>
              <a:rPr dirty="0"/>
              <a:t>Try it manually first. Then press Try auto-solver.</a:t>
            </a:r>
          </a:p>
          <a:p>
            <a:endParaRPr dirty="0"/>
          </a:p>
          <a:p>
            <a:r>
              <a:rPr dirty="0"/>
              <a:t>Then increase the furniture size until it stops fitting.</a:t>
            </a:r>
          </a:p>
          <a:p>
            <a:endParaRPr dirty="0"/>
          </a:p>
          <a:p>
            <a:r>
              <a:rPr dirty="0"/>
              <a:t>So here's the question: what's the largest sofa that fits your hallway?</a:t>
            </a:r>
          </a:p>
          <a:p>
            <a:endParaRPr dirty="0"/>
          </a:p>
          <a:p>
            <a:r>
              <a:rPr dirty="0"/>
              <a:t>Pause the video, give it a go, and drop your number in the comments. I'm really curious what you find.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That's everything. And the best part: you can try it right now.</a:t>
            </a:r>
          </a:p>
          <a:p>
            <a:endParaRPr dirty="0"/>
          </a:p>
          <a:p>
            <a:r>
              <a:rPr dirty="0"/>
              <a:t>The app is live in your browser. No install, no account. The link is on screen and in the description</a:t>
            </a:r>
            <a:r>
              <a:rPr lang="en-US" dirty="0"/>
              <a:t>.</a:t>
            </a:r>
          </a:p>
          <a:p>
            <a:endParaRPr dirty="0"/>
          </a:p>
          <a:p>
            <a:r>
              <a:rPr lang="en-US" dirty="0"/>
              <a:t>T</a:t>
            </a:r>
            <a:r>
              <a:rPr dirty="0"/>
              <a:t>he full source code is on GitHub, so you can read the planner, change it, or even add your own solver.</a:t>
            </a:r>
          </a:p>
          <a:p>
            <a:endParaRPr dirty="0"/>
          </a:p>
          <a:p>
            <a:r>
              <a:rPr dirty="0"/>
              <a:t>Thanks so much for watching. Now go move some couches.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microsoft.com/office/2007/relationships/media" Target="../media/media1.m4a"/><Relationship Id="rId2" Type="http://schemas.openxmlformats.org/officeDocument/2006/relationships/audio" Target="../media/media1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Relationship Id="rId6" Type="http://schemas.openxmlformats.org/officeDocument/2006/relationships/image" Target="../media/image2.jpeg"/><Relationship Id="rId7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microsoft.com/office/2007/relationships/media" Target="../media/media2.m4a"/><Relationship Id="rId3" Type="http://schemas.openxmlformats.org/officeDocument/2006/relationships/audio" Target="../media/media2.m4a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2.xml"/><Relationship Id="rId6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microsoft.com/office/2007/relationships/media" Target="../media/media3.m4a"/><Relationship Id="rId3" Type="http://schemas.openxmlformats.org/officeDocument/2006/relationships/audio" Target="../media/media3.m4a"/><Relationship Id="rId4" Type="http://schemas.microsoft.com/office/2007/relationships/media" Target="../media/media4.m4a"/><Relationship Id="rId5" Type="http://schemas.openxmlformats.org/officeDocument/2006/relationships/audio" Target="../media/media4.m4a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3.xml"/><Relationship Id="rId8" Type="http://schemas.openxmlformats.org/officeDocument/2006/relationships/image" Target="../media/image3.png"/><Relationship Id="rId9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microsoft.com/office/2007/relationships/media" Target="../media/media5.m4a"/><Relationship Id="rId2" Type="http://schemas.openxmlformats.org/officeDocument/2006/relationships/audio" Target="../media/media5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microsoft.com/office/2007/relationships/media" Target="../media/media6.m4a"/><Relationship Id="rId2" Type="http://schemas.openxmlformats.org/officeDocument/2006/relationships/audio" Target="../media/media6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12.jpg"/><Relationship Id="rId8" Type="http://schemas.openxmlformats.org/officeDocument/2006/relationships/image" Target="../media/image13.jpg"/><Relationship Id="rId9" Type="http://schemas.openxmlformats.org/officeDocument/2006/relationships/image" Target="../media/image14.jpg"/><Relationship Id="rId10" Type="http://schemas.openxmlformats.org/officeDocument/2006/relationships/image" Target="../media/image15.jpg"/><Relationship Id="rId11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microsoft.com/office/2007/relationships/media" Target="../media/media7.m4a"/><Relationship Id="rId2" Type="http://schemas.openxmlformats.org/officeDocument/2006/relationships/audio" Target="../media/media7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microsoft.com/office/2007/relationships/media" Target="../media/media8.m4a"/><Relationship Id="rId2" Type="http://schemas.openxmlformats.org/officeDocument/2006/relationships/audio" Target="../media/media8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7.xml"/><Relationship Id="rId5" Type="http://schemas.openxmlformats.org/officeDocument/2006/relationships/image" Target="../media/image18.jpg"/><Relationship Id="rId6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microsoft.com/office/2007/relationships/media" Target="../media/media9.m4a"/><Relationship Id="rId2" Type="http://schemas.openxmlformats.org/officeDocument/2006/relationships/audio" Target="../media/media9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19.jpg"/><Relationship Id="rId6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microsoft.com/office/2007/relationships/media" Target="../media/media10.mp4"/><Relationship Id="rId2" Type="http://schemas.openxmlformats.org/officeDocument/2006/relationships/video" Target="../media/media10.mp4"/><Relationship Id="rId3" Type="http://schemas.microsoft.com/office/2007/relationships/media" Target="../media/media11.m4a"/><Relationship Id="rId4" Type="http://schemas.openxmlformats.org/officeDocument/2006/relationships/audio" Target="../media/media11.m4a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9.xml"/><Relationship Id="rId7" Type="http://schemas.openxmlformats.org/officeDocument/2006/relationships/image" Target="../media/image20.jpg"/><Relationship Id="rId8" Type="http://schemas.openxmlformats.org/officeDocument/2006/relationships/image" Target="../media/image21.jpg"/><Relationship Id="rId9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microsoft.com/office/2007/relationships/media" Target="../media/media12.m4a"/><Relationship Id="rId2" Type="http://schemas.openxmlformats.org/officeDocument/2006/relationships/audio" Target="../media/media12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microsoft.com/office/2007/relationships/media" Target="../media/media13.m4a"/><Relationship Id="rId2" Type="http://schemas.openxmlformats.org/officeDocument/2006/relationships/audio" Target="../media/media13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22.png"/><Relationship Id="rId6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microsoft.com/office/2007/relationships/media" Target="../media/media14.m4a"/><Relationship Id="rId2" Type="http://schemas.openxmlformats.org/officeDocument/2006/relationships/audio" Target="../media/media14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2.xml"/><Relationship Id="rId5" Type="http://schemas.openxmlformats.org/officeDocument/2006/relationships/image" Target="../media/image23.png"/><Relationship Id="rId6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microsoft.com/office/2007/relationships/media" Target="../media/media15.m4a"/><Relationship Id="rId2" Type="http://schemas.openxmlformats.org/officeDocument/2006/relationships/audio" Target="../media/media15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24.jpg"/><Relationship Id="rId6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microsoft.com/office/2007/relationships/media" Target="../media/media16.m4a"/><Relationship Id="rId2" Type="http://schemas.openxmlformats.org/officeDocument/2006/relationships/audio" Target="../media/media16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26.png"/><Relationship Id="rId6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microsoft.com/office/2007/relationships/media" Target="../media/media17.m4a"/><Relationship Id="rId2" Type="http://schemas.openxmlformats.org/officeDocument/2006/relationships/audio" Target="../media/media17.m4a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6.xml"/><Relationship Id="rId5" Type="http://schemas.openxmlformats.org/officeDocument/2006/relationships/hyperlink" Target="https://volcano1998.github.io/FurnitureSim_3D/" TargetMode="External"/><Relationship Id="rId6" Type="http://schemas.openxmlformats.org/officeDocument/2006/relationships/hyperlink" Target="https://volcano1998.github.io/FurnitureSim_3D/slides/" TargetMode="External"/><Relationship Id="rId7" Type="http://schemas.openxmlformats.org/officeDocument/2006/relationships/hyperlink" Target="https://github.com/volcano1998/FurnitureSim_3D" TargetMode="External"/><Relationship Id="rId8" Type="http://schemas.openxmlformats.org/officeDocument/2006/relationships/image" Target="../media/image27.jpg"/><Relationship Id="rId9" Type="http://schemas.openxmlformats.org/officeDocument/2006/relationships/image" Target="../media/image3.png"/><Relationship Id="rId10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B5A45"/>
            </a:gs>
            <a:gs pos="100000">
              <a:srgbClr val="08140F"/>
            </a:gs>
          </a:gsLst>
          <a:lin ang="19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3594100" cy="292100"/>
          </a:xfrm>
          <a:prstGeom prst="roundRect">
            <a:avLst>
              <a:gd name="adj" fmla="val 50000"/>
            </a:avLst>
          </a:prstGeom>
          <a:solidFill>
            <a:srgbClr val="2F4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D6EF5B"/>
                </a:solidFill>
                <a:latin typeface="Arial"/>
              </a:rPr>
              <a:t>MOTION PLANNING IN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1524000"/>
            <a:ext cx="6350000" cy="241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800" b="1" i="0">
                <a:solidFill>
                  <a:srgbClr val="EEF5F0"/>
                </a:solidFill>
                <a:latin typeface="Arial"/>
              </a:rPr>
              <a:t>Can It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800" b="1" i="0">
                <a:solidFill>
                  <a:srgbClr val="D6EF5B"/>
                </a:solidFill>
                <a:latin typeface="Arial"/>
              </a:rPr>
              <a:t>Fit?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4191000"/>
            <a:ext cx="5969000" cy="139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0" i="0" dirty="0">
                <a:solidFill>
                  <a:srgbClr val="B7CBC1"/>
                </a:solidFill>
                <a:latin typeface="Arial"/>
              </a:rPr>
              <a:t>Will the sofa make it through the hallway? Let's build the room, then let a robot-style planner figure it out — and learn how it thinks.</a:t>
            </a:r>
          </a:p>
        </p:txBody>
      </p:sp>
      <p:pic>
        <p:nvPicPr>
          <p:cNvPr id="8" name="Picture 7" descr="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1206500"/>
            <a:ext cx="4572000" cy="4572000"/>
          </a:xfrm>
          <a:prstGeom prst="rect">
            <a:avLst/>
          </a:prstGeom>
        </p:spPr>
      </p:pic>
      <p:pic>
        <p:nvPicPr>
          <p:cNvPr id="9" name="Picture 8" descr="When the couch looks at the staircase and realizes what’s about to happen.  😅, Narrow stairs, tight turns, and oversized furniture can turn moving day  into a challenge—but that’s exactly where ...">
            <a:extLst>
              <a:ext uri="{FF2B5EF4-FFF2-40B4-BE49-F238E27FC236}">
                <a16:creationId xmlns:a16="http://schemas.microsoft.com/office/drawing/2014/main" id="{60F272D0-55AF-F3CD-13B3-B80AD81D58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0" y="0"/>
            <a:ext cx="3797780" cy="6769956"/>
          </a:xfrm>
          <a:prstGeom prst="rect">
            <a:avLst/>
          </a:prstGeom>
        </p:spPr>
      </p:pic>
      <p:pic>
        <p:nvPicPr>
          <p:cNvPr id="49" name="Audio 48">
            <a:extLst>
              <a:ext uri="{FF2B5EF4-FFF2-40B4-BE49-F238E27FC236}">
                <a16:creationId xmlns:a16="http://schemas.microsoft.com/office/drawing/2014/main" id="{572FA9DF-4DF6-79A5-23FC-0F7B2475611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33ADD0-95D0-961B-AF6D-8CFE7C71FCFE}"/>
              </a:ext>
            </a:extLst>
          </p:cNvPr>
          <p:cNvSpPr txBox="1"/>
          <p:nvPr/>
        </p:nvSpPr>
        <p:spPr>
          <a:xfrm>
            <a:off x="698500" y="5892800"/>
            <a:ext cx="3397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Presented by Can Luo</a:t>
            </a:r>
          </a:p>
          <a:p>
            <a:r>
              <a:rPr lang="en-US" dirty="0">
                <a:solidFill>
                  <a:schemeClr val="bg1"/>
                </a:solidFill>
              </a:rPr>
              <a:t>2026.10.24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66"/>
    </mc:Choice>
    <mc:Fallback xmlns="">
      <p:transition spd="slow" advTm="345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1543050" cy="29210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166B50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Moving a couch is a </a:t>
            </a:r>
            <a:r>
              <a:rPr sz="3800" b="1" i="0">
                <a:solidFill>
                  <a:srgbClr val="166B50"/>
                </a:solidFill>
                <a:latin typeface="Arial"/>
              </a:rPr>
              <a:t>6-dimensional</a:t>
            </a:r>
            <a:r>
              <a:rPr sz="3800" b="1" i="0">
                <a:solidFill>
                  <a:srgbClr val="17211D"/>
                </a:solidFill>
                <a:latin typeface="Arial"/>
              </a:rPr>
              <a:t> 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2095500"/>
            <a:ext cx="5080000" cy="330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Char char="■"/>
            </a:pPr>
            <a:r>
              <a:rPr sz="1700" b="0" i="0" dirty="0">
                <a:solidFill>
                  <a:srgbClr val="17211D"/>
                </a:solidFill>
                <a:latin typeface="Arial"/>
              </a:rPr>
              <a:t>It slides in </a:t>
            </a:r>
            <a:r>
              <a:rPr sz="1700" b="1" i="0" dirty="0">
                <a:solidFill>
                  <a:srgbClr val="17211D"/>
                </a:solidFill>
                <a:latin typeface="Arial"/>
              </a:rPr>
              <a:t>3</a:t>
            </a:r>
            <a:r>
              <a:rPr sz="1700" b="0" i="0" dirty="0">
                <a:solidFill>
                  <a:srgbClr val="17211D"/>
                </a:solidFill>
                <a:latin typeface="Arial"/>
              </a:rPr>
              <a:t> directions: x, y, z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Char char="■"/>
            </a:pPr>
            <a:r>
              <a:rPr sz="1700" b="0" i="0" dirty="0">
                <a:solidFill>
                  <a:srgbClr val="17211D"/>
                </a:solidFill>
                <a:latin typeface="Arial"/>
              </a:rPr>
              <a:t>It spins in </a:t>
            </a:r>
            <a:r>
              <a:rPr sz="1700" b="1" i="0" dirty="0">
                <a:solidFill>
                  <a:srgbClr val="17211D"/>
                </a:solidFill>
                <a:latin typeface="Arial"/>
              </a:rPr>
              <a:t>3</a:t>
            </a:r>
            <a:r>
              <a:rPr sz="1700" b="0" i="0" dirty="0">
                <a:solidFill>
                  <a:srgbClr val="17211D"/>
                </a:solidFill>
                <a:latin typeface="Arial"/>
              </a:rPr>
              <a:t> ways: yaw, pitch, roll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Char char="■"/>
            </a:pPr>
            <a:r>
              <a:rPr sz="1700" b="0" i="0" dirty="0">
                <a:solidFill>
                  <a:srgbClr val="17211D"/>
                </a:solidFill>
                <a:latin typeface="Arial"/>
              </a:rPr>
              <a:t>Walls, corners and doorways don't care how clever you are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Char char="■"/>
            </a:pPr>
            <a:r>
              <a:rPr sz="1700" b="0" i="0" dirty="0">
                <a:solidFill>
                  <a:srgbClr val="17211D"/>
                </a:solidFill>
                <a:latin typeface="Arial"/>
              </a:rPr>
              <a:t>"Does it fit?" really means: </a:t>
            </a:r>
            <a:r>
              <a:rPr sz="1700" b="1" i="0" dirty="0">
                <a:solidFill>
                  <a:srgbClr val="17211D"/>
                </a:solidFill>
                <a:latin typeface="Arial"/>
              </a:rPr>
              <a:t>is there a collision-free path through 6-D space?</a:t>
            </a:r>
          </a:p>
        </p:txBody>
      </p:sp>
      <p:pic>
        <p:nvPicPr>
          <p:cNvPr id="77" name="Audio 76">
            <a:extLst>
              <a:ext uri="{FF2B5EF4-FFF2-40B4-BE49-F238E27FC236}">
                <a16:creationId xmlns:a16="http://schemas.microsoft.com/office/drawing/2014/main" id="{6AB69DEA-1D1E-4C37-85AF-6F87EEFAA331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  <p:sp>
        <p:nvSpPr>
          <p:cNvPr id="6" name="L-Shape 5">
            <a:extLst>
              <a:ext uri="{FF2B5EF4-FFF2-40B4-BE49-F238E27FC236}">
                <a16:creationId xmlns:a16="http://schemas.microsoft.com/office/drawing/2014/main" id="{9ED8F876-85F2-C418-91F1-8238F7236E55}"/>
              </a:ext>
            </a:extLst>
          </p:cNvPr>
          <p:cNvSpPr/>
          <p:nvPr/>
        </p:nvSpPr>
        <p:spPr>
          <a:xfrm>
            <a:off x="7037502" y="2566036"/>
            <a:ext cx="3191774" cy="2878587"/>
          </a:xfrm>
          <a:prstGeom prst="corner">
            <a:avLst>
              <a:gd name="adj1" fmla="val 35016"/>
              <a:gd name="adj2" fmla="val 38613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9F54195-285E-3EBA-5D7D-F00E62A7733C}"/>
              </a:ext>
            </a:extLst>
          </p:cNvPr>
          <p:cNvSpPr/>
          <p:nvPr/>
        </p:nvSpPr>
        <p:spPr>
          <a:xfrm rot="20348982">
            <a:off x="7282254" y="3101729"/>
            <a:ext cx="500332" cy="1467342"/>
          </a:xfrm>
          <a:prstGeom prst="roundRect">
            <a:avLst/>
          </a:prstGeom>
          <a:noFill/>
          <a:ln w="222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C883E7C-7BAF-3D7E-30C3-C252AC893848}"/>
              </a:ext>
            </a:extLst>
          </p:cNvPr>
          <p:cNvSpPr/>
          <p:nvPr/>
        </p:nvSpPr>
        <p:spPr>
          <a:xfrm rot="20348982">
            <a:off x="7425972" y="3896470"/>
            <a:ext cx="500332" cy="1467342"/>
          </a:xfrm>
          <a:prstGeom prst="roundRect">
            <a:avLst/>
          </a:prstGeom>
          <a:noFill/>
          <a:ln w="222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C4D6DD2-5CCB-7C79-D544-9D72E1CE1D3D}"/>
              </a:ext>
            </a:extLst>
          </p:cNvPr>
          <p:cNvSpPr/>
          <p:nvPr/>
        </p:nvSpPr>
        <p:spPr>
          <a:xfrm rot="17993297">
            <a:off x="7849032" y="4081339"/>
            <a:ext cx="500332" cy="1467342"/>
          </a:xfrm>
          <a:prstGeom prst="roundRect">
            <a:avLst/>
          </a:prstGeom>
          <a:noFill/>
          <a:ln w="222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1B1D2DC-B852-4AB7-FAAA-AA83B8C09DA4}"/>
              </a:ext>
            </a:extLst>
          </p:cNvPr>
          <p:cNvSpPr/>
          <p:nvPr/>
        </p:nvSpPr>
        <p:spPr>
          <a:xfrm rot="16200000">
            <a:off x="8950000" y="4218135"/>
            <a:ext cx="500332" cy="1467342"/>
          </a:xfrm>
          <a:prstGeom prst="roundRect">
            <a:avLst/>
          </a:prstGeom>
          <a:noFill/>
          <a:ln w="222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457021B-3C88-8307-5080-9A8A9ABEB78C}"/>
              </a:ext>
            </a:extLst>
          </p:cNvPr>
          <p:cNvSpPr/>
          <p:nvPr/>
        </p:nvSpPr>
        <p:spPr>
          <a:xfrm>
            <a:off x="7309558" y="2234349"/>
            <a:ext cx="500332" cy="1467342"/>
          </a:xfrm>
          <a:prstGeom prst="roundRect">
            <a:avLst/>
          </a:prstGeom>
          <a:noFill/>
          <a:ln w="222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B2DE73CA-9E96-E294-4DBA-9FABC9141F53}"/>
              </a:ext>
            </a:extLst>
          </p:cNvPr>
          <p:cNvSpPr/>
          <p:nvPr/>
        </p:nvSpPr>
        <p:spPr>
          <a:xfrm>
            <a:off x="7226686" y="1778000"/>
            <a:ext cx="666075" cy="3175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7355B772-AAA4-E7F7-B16F-176B37F5980B}"/>
              </a:ext>
            </a:extLst>
          </p:cNvPr>
          <p:cNvSpPr/>
          <p:nvPr/>
        </p:nvSpPr>
        <p:spPr>
          <a:xfrm rot="16200000">
            <a:off x="10350427" y="4804428"/>
            <a:ext cx="666075" cy="3175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737"/>
    </mc:Choice>
    <mc:Fallback xmlns="">
      <p:transition spd="slow" advTm="377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1974850" cy="29210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166B50"/>
                </a:solidFill>
                <a:latin typeface="Arial"/>
              </a:rPr>
              <a:t>WHAT YOU'LL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 dirty="0">
                <a:solidFill>
                  <a:srgbClr val="17211D"/>
                </a:solidFill>
                <a:latin typeface="Arial"/>
              </a:rPr>
              <a:t>One app,</a:t>
            </a:r>
            <a:r>
              <a:rPr lang="en-US" sz="3800" b="1" i="0" dirty="0">
                <a:solidFill>
                  <a:srgbClr val="17211D"/>
                </a:solidFill>
                <a:latin typeface="Arial"/>
              </a:rPr>
              <a:t> three </a:t>
            </a:r>
            <a:r>
              <a:rPr sz="3800" b="1" i="0" dirty="0">
                <a:solidFill>
                  <a:srgbClr val="17211D"/>
                </a:solidFill>
                <a:latin typeface="Arial"/>
              </a:rPr>
              <a:t>simple steps</a:t>
            </a:r>
          </a:p>
        </p:txBody>
      </p:sp>
      <p:pic>
        <p:nvPicPr>
          <p:cNvPr id="104" name="Audio 103">
            <a:extLst>
              <a:ext uri="{FF2B5EF4-FFF2-40B4-BE49-F238E27FC236}">
                <a16:creationId xmlns:a16="http://schemas.microsoft.com/office/drawing/2014/main" id="{7D285E8D-20C1-D9EC-A818-95B43006E65C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  <p:pic>
        <p:nvPicPr>
          <p:cNvPr id="114" name="Picture 113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659" y="1697401"/>
            <a:ext cx="6623887" cy="4139929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sp>
        <p:nvSpPr>
          <p:cNvPr id="115" name="Rounded Rectangle 114"/>
          <p:cNvSpPr/>
          <p:nvPr/>
        </p:nvSpPr>
        <p:spPr>
          <a:xfrm>
            <a:off x="7634861" y="1839031"/>
            <a:ext cx="2255089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dirty="0">
                <a:solidFill>
                  <a:srgbClr val="17211D"/>
                </a:solidFill>
                <a:latin typeface="Arial"/>
              </a:rPr>
              <a:t>1  Build</a:t>
            </a:r>
            <a:r>
              <a:rPr lang="en-US" sz="1800" b="1" i="0" dirty="0">
                <a:solidFill>
                  <a:srgbClr val="17211D"/>
                </a:solidFill>
                <a:latin typeface="Arial"/>
              </a:rPr>
              <a:t> the room</a:t>
            </a:r>
            <a:endParaRPr sz="1800" b="1" i="0" dirty="0">
              <a:solidFill>
                <a:srgbClr val="17211D"/>
              </a:solidFill>
              <a:latin typeface="Arial"/>
            </a:endParaRPr>
          </a:p>
        </p:txBody>
      </p:sp>
      <p:sp>
        <p:nvSpPr>
          <p:cNvPr id="116" name="Right Arrow 115"/>
          <p:cNvSpPr/>
          <p:nvPr/>
        </p:nvSpPr>
        <p:spPr>
          <a:xfrm rot="5400000">
            <a:off x="8603655" y="2708408"/>
            <a:ext cx="317500" cy="228600"/>
          </a:xfrm>
          <a:prstGeom prst="rightArrow">
            <a:avLst/>
          </a:prstGeom>
          <a:solidFill>
            <a:srgbClr val="16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ounded Rectangle 116"/>
          <p:cNvSpPr/>
          <p:nvPr/>
        </p:nvSpPr>
        <p:spPr>
          <a:xfrm>
            <a:off x="7397155" y="3108457"/>
            <a:ext cx="27305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dirty="0">
                <a:solidFill>
                  <a:srgbClr val="17211D"/>
                </a:solidFill>
                <a:latin typeface="Arial"/>
              </a:rPr>
              <a:t>2  </a:t>
            </a:r>
            <a:r>
              <a:rPr lang="en-US" sz="1800" b="1" i="0" dirty="0">
                <a:solidFill>
                  <a:srgbClr val="17211D"/>
                </a:solidFill>
                <a:latin typeface="Arial"/>
              </a:rPr>
              <a:t>Build the furniture</a:t>
            </a:r>
            <a:endParaRPr sz="1800" b="1" i="0" dirty="0">
              <a:solidFill>
                <a:srgbClr val="17211D"/>
              </a:solidFill>
              <a:latin typeface="Arial"/>
            </a:endParaRPr>
          </a:p>
        </p:txBody>
      </p:sp>
      <p:sp>
        <p:nvSpPr>
          <p:cNvPr id="118" name="Right Arrow 117"/>
          <p:cNvSpPr/>
          <p:nvPr/>
        </p:nvSpPr>
        <p:spPr>
          <a:xfrm rot="5400000">
            <a:off x="8603655" y="3991105"/>
            <a:ext cx="317500" cy="228600"/>
          </a:xfrm>
          <a:prstGeom prst="rightArrow">
            <a:avLst/>
          </a:prstGeom>
          <a:solidFill>
            <a:srgbClr val="16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7577292" y="4396536"/>
            <a:ext cx="2370227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dirty="0">
                <a:solidFill>
                  <a:srgbClr val="17211D"/>
                </a:solidFill>
                <a:latin typeface="Arial"/>
              </a:rPr>
              <a:t>3  </a:t>
            </a:r>
            <a:r>
              <a:rPr lang="en-US" sz="1800" b="1" i="0" dirty="0">
                <a:solidFill>
                  <a:srgbClr val="17211D"/>
                </a:solidFill>
                <a:latin typeface="Arial"/>
              </a:rPr>
              <a:t>Solve the route</a:t>
            </a:r>
            <a:endParaRPr sz="1800" b="1" i="0" dirty="0">
              <a:solidFill>
                <a:srgbClr val="17211D"/>
              </a:solidFill>
              <a:latin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1224711" y="5968292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 dirty="0">
                <a:solidFill>
                  <a:srgbClr val="5D6963"/>
                </a:solidFill>
                <a:latin typeface="Arial"/>
              </a:rPr>
              <a:t>The panel on the right always shows the step you're on, and the app tells you what to do next.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68F889-26F9-3535-7AB0-B72390EF7A03}"/>
              </a:ext>
            </a:extLst>
          </p:cNvPr>
          <p:cNvSpPr txBox="1"/>
          <p:nvPr/>
        </p:nvSpPr>
        <p:spPr>
          <a:xfrm>
            <a:off x="7934876" y="5059348"/>
            <a:ext cx="3910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Manual solver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Auto-solver (RRT-connect)</a:t>
            </a:r>
          </a:p>
        </p:txBody>
      </p:sp>
      <p:pic>
        <p:nvPicPr>
          <p:cNvPr id="16" name="Audio 15">
            <a:extLst>
              <a:ext uri="{FF2B5EF4-FFF2-40B4-BE49-F238E27FC236}">
                <a16:creationId xmlns:a16="http://schemas.microsoft.com/office/drawing/2014/main" id="{D1968DBE-0C82-FE98-C84B-396EF1B7A07A}"/>
              </a:ext>
            </a:extLst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233"/>
    </mc:Choice>
    <mc:Fallback>
      <p:transition spd="slow" advTm="502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2190750" cy="29210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166B50"/>
                </a:solidFill>
                <a:latin typeface="Arial"/>
              </a:rPr>
              <a:t>HANDS-ON · 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Build any shape you can imagine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1619250"/>
            <a:ext cx="10795000" cy="285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en-US" sz="1800" b="0" i="0" dirty="0">
                <a:solidFill>
                  <a:srgbClr val="5D6963"/>
                </a:solidFill>
                <a:latin typeface="Arial"/>
              </a:rPr>
              <a:t>They are all built in my app!</a:t>
            </a:r>
            <a:endParaRPr sz="1800" b="0" i="0" dirty="0">
              <a:solidFill>
                <a:srgbClr val="5D6963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8500" y="4241800"/>
            <a:ext cx="2032000" cy="2535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en-US" sz="1600" b="1" i="0" dirty="0">
                <a:solidFill>
                  <a:srgbClr val="17211D"/>
                </a:solidFill>
                <a:latin typeface="Arial"/>
              </a:rPr>
              <a:t>L-shaped hallway</a:t>
            </a:r>
            <a:endParaRPr sz="1600" b="1" i="0" dirty="0">
              <a:solidFill>
                <a:srgbClr val="17211D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89250" y="4241800"/>
            <a:ext cx="2032000" cy="2535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 dirty="0">
                <a:solidFill>
                  <a:srgbClr val="17211D"/>
                </a:solidFill>
                <a:latin typeface="Arial"/>
              </a:rPr>
              <a:t>Zig-zag</a:t>
            </a:r>
            <a:r>
              <a:rPr lang="en-US" sz="1600" b="1" i="0" dirty="0">
                <a:solidFill>
                  <a:srgbClr val="17211D"/>
                </a:solidFill>
                <a:latin typeface="Arial"/>
              </a:rPr>
              <a:t> hallway</a:t>
            </a:r>
            <a:endParaRPr sz="1600" b="1" i="0" dirty="0">
              <a:solidFill>
                <a:srgbClr val="17211D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80000" y="4241800"/>
            <a:ext cx="2032000" cy="2535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en-US" sz="1600" b="1" i="0" dirty="0">
                <a:solidFill>
                  <a:srgbClr val="17211D"/>
                </a:solidFill>
                <a:latin typeface="Arial"/>
              </a:rPr>
              <a:t>U shaped staircase</a:t>
            </a:r>
            <a:endParaRPr sz="1600" b="1" i="0" dirty="0">
              <a:solidFill>
                <a:srgbClr val="17211D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70750" y="4241800"/>
            <a:ext cx="2032000" cy="2535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en-US" sz="1600" b="1" i="0" dirty="0">
                <a:solidFill>
                  <a:srgbClr val="17211D"/>
                </a:solidFill>
                <a:latin typeface="Arial"/>
              </a:rPr>
              <a:t>S shaped staircase</a:t>
            </a:r>
            <a:endParaRPr sz="1600" b="1" i="0" dirty="0">
              <a:solidFill>
                <a:srgbClr val="17211D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461500" y="4241800"/>
            <a:ext cx="2032000" cy="2535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en-US" sz="1600" b="1" i="0" dirty="0">
                <a:solidFill>
                  <a:srgbClr val="17211D"/>
                </a:solidFill>
                <a:latin typeface="Arial"/>
              </a:rPr>
              <a:t>Super twisty</a:t>
            </a:r>
            <a:endParaRPr sz="1600" b="1" i="0" dirty="0">
              <a:solidFill>
                <a:srgbClr val="17211D"/>
              </a:solidFill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98500" y="4889500"/>
            <a:ext cx="2095500" cy="482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7211D"/>
                </a:solidFill>
                <a:latin typeface="Arial"/>
              </a:rPr>
              <a:t>1  Shape blocks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844800" y="5016500"/>
            <a:ext cx="279400" cy="215900"/>
          </a:xfrm>
          <a:prstGeom prst="rightArrow">
            <a:avLst/>
          </a:prstGeom>
          <a:solidFill>
            <a:srgbClr val="16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75000" y="4889500"/>
            <a:ext cx="2095500" cy="482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7211D"/>
                </a:solidFill>
                <a:latin typeface="Arial"/>
              </a:rPr>
              <a:t>2  Connect them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321300" y="5016500"/>
            <a:ext cx="279400" cy="215900"/>
          </a:xfrm>
          <a:prstGeom prst="rightArrow">
            <a:avLst/>
          </a:prstGeom>
          <a:solidFill>
            <a:srgbClr val="16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651499" y="4889500"/>
            <a:ext cx="2947751" cy="482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 dirty="0">
                <a:solidFill>
                  <a:srgbClr val="17211D"/>
                </a:solidFill>
                <a:latin typeface="Arial"/>
              </a:rPr>
              <a:t>3  </a:t>
            </a:r>
            <a:r>
              <a:rPr lang="en-US" sz="1600" b="1" i="0" dirty="0">
                <a:solidFill>
                  <a:srgbClr val="17211D"/>
                </a:solidFill>
                <a:latin typeface="Arial"/>
              </a:rPr>
              <a:t>Specify entrance &amp; exit</a:t>
            </a:r>
            <a:endParaRPr sz="1600" b="1" i="0" dirty="0">
              <a:solidFill>
                <a:srgbClr val="17211D"/>
              </a:solidFill>
              <a:latin typeface="Ari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98500" y="5588000"/>
            <a:ext cx="10795000" cy="698500"/>
          </a:xfrm>
          <a:prstGeom prst="roundRect">
            <a:avLst>
              <a:gd name="adj" fmla="val 14000"/>
            </a:avLst>
          </a:prstGeom>
          <a:solidFill>
            <a:srgbClr val="0E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l">
              <a:lnSpc>
                <a:spcPct val="110000"/>
              </a:lnSpc>
            </a:pPr>
            <a:r>
              <a:rPr sz="1600" b="0" i="0" dirty="0">
                <a:solidFill>
                  <a:srgbClr val="EAF5EE"/>
                </a:solidFill>
                <a:latin typeface="Arial"/>
              </a:rPr>
              <a:t>Each of these </a:t>
            </a:r>
            <a:r>
              <a:rPr lang="en-US" sz="1600" dirty="0">
                <a:solidFill>
                  <a:srgbClr val="EAF5EE"/>
                </a:solidFill>
                <a:latin typeface="Arial"/>
              </a:rPr>
              <a:t>are built from simple blocks</a:t>
            </a:r>
            <a:r>
              <a:rPr sz="1600" b="0" i="0" dirty="0">
                <a:solidFill>
                  <a:srgbClr val="EAF5EE"/>
                </a:solidFill>
                <a:latin typeface="Arial"/>
              </a:rPr>
              <a:t>. Change how the blocks are shaped or connected, and you get a different building.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40886F5-DB66-AC12-9517-47691BA66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904" y="2152650"/>
            <a:ext cx="1649942" cy="185044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A03F0B2-BCAE-C436-35CA-1A80F86851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4164" y="2603500"/>
            <a:ext cx="1746113" cy="123449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EA655C2-8092-4637-6169-9086FC28B0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1683" y="2234379"/>
            <a:ext cx="2054888" cy="162136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33082D9-4226-858A-D81D-36DE938A2C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5267" y="2355850"/>
            <a:ext cx="1459887" cy="167005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B642F22-8159-182C-C23E-B75D7AE4BA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53550" y="2156095"/>
            <a:ext cx="2015596" cy="1796509"/>
          </a:xfrm>
          <a:prstGeom prst="rect">
            <a:avLst/>
          </a:prstGeom>
        </p:spPr>
      </p:pic>
      <p:pic>
        <p:nvPicPr>
          <p:cNvPr id="15" name="Audio 14">
            <a:extLst>
              <a:ext uri="{FF2B5EF4-FFF2-40B4-BE49-F238E27FC236}">
                <a16:creationId xmlns:a16="http://schemas.microsoft.com/office/drawing/2014/main" id="{A92BBC97-4A63-120F-53DB-C85ED722D5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860"/>
    </mc:Choice>
    <mc:Fallback>
      <p:transition spd="slow" advTm="318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1866900" cy="29210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166B50"/>
                </a:solidFill>
                <a:latin typeface="Arial"/>
              </a:rPr>
              <a:t>STEP 1 ·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Shape the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1790700"/>
            <a:ext cx="330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166B50"/>
                </a:solidFill>
                <a:latin typeface="Arial"/>
              </a:rPr>
              <a:t>Stretch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2070100"/>
            <a:ext cx="3302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5D6963"/>
                </a:solidFill>
                <a:latin typeface="Arial"/>
              </a:rPr>
              <a:t>Drag the length sliders to make a block longer, wider or taller.</a:t>
            </a:r>
          </a:p>
        </p:txBody>
      </p:sp>
      <p:pic>
        <p:nvPicPr>
          <p:cNvPr id="6" name="Picture 5" descr="s5_st_a.jpg"/>
          <p:cNvPicPr>
            <a:picLocks noChangeAspect="1"/>
          </p:cNvPicPr>
          <p:nvPr/>
        </p:nvPicPr>
        <p:blipFill>
          <a:blip r:embed="rId5"/>
          <a:srcRect l="15278" t="14815" r="42130" b="17037"/>
          <a:stretch>
            <a:fillRect/>
          </a:stretch>
        </p:blipFill>
        <p:spPr>
          <a:xfrm>
            <a:off x="698500" y="2571750"/>
            <a:ext cx="1524000" cy="1524000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pic>
        <p:nvPicPr>
          <p:cNvPr id="7" name="Picture 6" descr="s5_st_b.jpg"/>
          <p:cNvPicPr>
            <a:picLocks noChangeAspect="1"/>
          </p:cNvPicPr>
          <p:nvPr/>
        </p:nvPicPr>
        <p:blipFill>
          <a:blip r:embed="rId6"/>
          <a:srcRect l="15278" t="14815" r="42130" b="17037"/>
          <a:stretch>
            <a:fillRect/>
          </a:stretch>
        </p:blipFill>
        <p:spPr>
          <a:xfrm>
            <a:off x="2349500" y="2571750"/>
            <a:ext cx="1524000" cy="1524000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98500" y="414655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5D6963"/>
                </a:solidFill>
                <a:latin typeface="Arial"/>
              </a:rPr>
              <a:t>Length 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9500" y="414655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7211D"/>
                </a:solidFill>
                <a:latin typeface="Arial"/>
              </a:rPr>
              <a:t>Length 7.0</a:t>
            </a:r>
          </a:p>
        </p:txBody>
      </p:sp>
      <p:pic>
        <p:nvPicPr>
          <p:cNvPr id="10" name="Picture 9" descr="s5_st_b.jpg"/>
          <p:cNvPicPr>
            <a:picLocks noChangeAspect="1"/>
          </p:cNvPicPr>
          <p:nvPr/>
        </p:nvPicPr>
        <p:blipFill>
          <a:blip r:embed="rId6"/>
          <a:srcRect l="74537" t="57778" r="1389" b="14815"/>
          <a:stretch>
            <a:fillRect/>
          </a:stretch>
        </p:blipFill>
        <p:spPr>
          <a:xfrm>
            <a:off x="698500" y="4476750"/>
            <a:ext cx="2921000" cy="2078403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445000" y="1790700"/>
            <a:ext cx="330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166B50"/>
                </a:solidFill>
                <a:latin typeface="Arial"/>
              </a:rPr>
              <a:t>Tilt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5000" y="2070100"/>
            <a:ext cx="3302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5D6963"/>
                </a:solidFill>
                <a:latin typeface="Arial"/>
              </a:rPr>
              <a:t>Drag the angle sliders. A tilted block becomes a ramp or stairs.</a:t>
            </a:r>
          </a:p>
        </p:txBody>
      </p:sp>
      <p:pic>
        <p:nvPicPr>
          <p:cNvPr id="13" name="Picture 12" descr="s5_ti_a.jpg"/>
          <p:cNvPicPr>
            <a:picLocks noChangeAspect="1"/>
          </p:cNvPicPr>
          <p:nvPr/>
        </p:nvPicPr>
        <p:blipFill>
          <a:blip r:embed="rId7"/>
          <a:srcRect l="15278" t="14815" r="42130" b="17037"/>
          <a:stretch>
            <a:fillRect/>
          </a:stretch>
        </p:blipFill>
        <p:spPr>
          <a:xfrm>
            <a:off x="4445000" y="2571750"/>
            <a:ext cx="1524000" cy="1524000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pic>
        <p:nvPicPr>
          <p:cNvPr id="14" name="Picture 13" descr="s5_ti_b.jpg"/>
          <p:cNvPicPr>
            <a:picLocks noChangeAspect="1"/>
          </p:cNvPicPr>
          <p:nvPr/>
        </p:nvPicPr>
        <p:blipFill>
          <a:blip r:embed="rId8"/>
          <a:srcRect l="15278" t="14815" r="42130" b="17037"/>
          <a:stretch>
            <a:fillRect/>
          </a:stretch>
        </p:blipFill>
        <p:spPr>
          <a:xfrm>
            <a:off x="6096000" y="2571750"/>
            <a:ext cx="1524000" cy="1524000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4445000" y="414655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5D6963"/>
                </a:solidFill>
                <a:latin typeface="Arial"/>
              </a:rPr>
              <a:t>Angle 90°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414655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7211D"/>
                </a:solidFill>
                <a:latin typeface="Arial"/>
              </a:rPr>
              <a:t>Angle 60°</a:t>
            </a:r>
          </a:p>
        </p:txBody>
      </p:sp>
      <p:pic>
        <p:nvPicPr>
          <p:cNvPr id="17" name="Picture 16" descr="s5_ti_b_scroll.jpg"/>
          <p:cNvPicPr>
            <a:picLocks noChangeAspect="1"/>
          </p:cNvPicPr>
          <p:nvPr/>
        </p:nvPicPr>
        <p:blipFill>
          <a:blip r:embed="rId9"/>
          <a:srcRect l="74537" t="20741" r="1389" b="50370"/>
          <a:stretch>
            <a:fillRect/>
          </a:stretch>
        </p:blipFill>
        <p:spPr>
          <a:xfrm>
            <a:off x="4445000" y="4476750"/>
            <a:ext cx="2921000" cy="2190750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8191500" y="1790700"/>
            <a:ext cx="330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166B50"/>
                </a:solidFill>
                <a:latin typeface="Arial"/>
              </a:rPr>
              <a:t>Add more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0" y="2070100"/>
            <a:ext cx="3302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5D6963"/>
                </a:solidFill>
                <a:latin typeface="Arial"/>
              </a:rPr>
              <a:t>Press + Add object for another block. Build as many as you need.</a:t>
            </a:r>
          </a:p>
        </p:txBody>
      </p:sp>
      <p:pic>
        <p:nvPicPr>
          <p:cNvPr id="20" name="Picture 19" descr="s5_ti_a.jpg"/>
          <p:cNvPicPr>
            <a:picLocks noChangeAspect="1"/>
          </p:cNvPicPr>
          <p:nvPr/>
        </p:nvPicPr>
        <p:blipFill>
          <a:blip r:embed="rId7"/>
          <a:srcRect l="15278" t="14815" r="42130" b="17037"/>
          <a:stretch>
            <a:fillRect/>
          </a:stretch>
        </p:blipFill>
        <p:spPr>
          <a:xfrm>
            <a:off x="8191500" y="2571750"/>
            <a:ext cx="1524000" cy="1524000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pic>
        <p:nvPicPr>
          <p:cNvPr id="21" name="Picture 20" descr="s5_ad_b.jpg"/>
          <p:cNvPicPr>
            <a:picLocks noChangeAspect="1"/>
          </p:cNvPicPr>
          <p:nvPr/>
        </p:nvPicPr>
        <p:blipFill>
          <a:blip r:embed="rId10"/>
          <a:srcRect l="15278" t="14815" r="42130" b="17037"/>
          <a:stretch>
            <a:fillRect/>
          </a:stretch>
        </p:blipFill>
        <p:spPr>
          <a:xfrm>
            <a:off x="9842500" y="2571750"/>
            <a:ext cx="1524000" cy="1524000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8191500" y="414655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5D6963"/>
                </a:solidFill>
                <a:latin typeface="Arial"/>
              </a:rPr>
              <a:t>1 block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42500" y="4146550"/>
            <a:ext cx="1524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17211D"/>
                </a:solidFill>
                <a:latin typeface="Arial"/>
              </a:rPr>
              <a:t>3 blocks</a:t>
            </a:r>
          </a:p>
        </p:txBody>
      </p:sp>
      <p:pic>
        <p:nvPicPr>
          <p:cNvPr id="24" name="Picture 23" descr="s5_ad_b.jpg"/>
          <p:cNvPicPr>
            <a:picLocks noChangeAspect="1"/>
          </p:cNvPicPr>
          <p:nvPr/>
        </p:nvPicPr>
        <p:blipFill>
          <a:blip r:embed="rId10"/>
          <a:srcRect l="74537" t="34815" r="1389" b="48148"/>
          <a:stretch>
            <a:fillRect/>
          </a:stretch>
        </p:blipFill>
        <p:spPr>
          <a:xfrm>
            <a:off x="8191500" y="4476750"/>
            <a:ext cx="2921000" cy="1291980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pic>
        <p:nvPicPr>
          <p:cNvPr id="30" name="Audio 29">
            <a:extLst>
              <a:ext uri="{FF2B5EF4-FFF2-40B4-BE49-F238E27FC236}">
                <a16:creationId xmlns:a16="http://schemas.microsoft.com/office/drawing/2014/main" id="{461618B8-4288-83C3-E06F-74D91F4079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222"/>
    </mc:Choice>
    <mc:Fallback>
      <p:transition spd="slow" advTm="402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2082800" cy="29210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166B50"/>
                </a:solidFill>
                <a:latin typeface="Arial"/>
              </a:rPr>
              <a:t>STEP 1 ·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Connect them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2032000"/>
            <a:ext cx="4064000" cy="27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>
                <a:solidFill>
                  <a:srgbClr val="17211D"/>
                </a:solidFill>
                <a:latin typeface="Arial"/>
              </a:rPr>
              <a:t>Press </a:t>
            </a:r>
            <a:r>
              <a:rPr sz="1700" b="1" i="0">
                <a:solidFill>
                  <a:srgbClr val="17211D"/>
                </a:solidFill>
                <a:latin typeface="Arial"/>
              </a:rPr>
              <a:t>Connect two objects</a:t>
            </a:r>
            <a:r>
              <a:rPr sz="1700" b="0" i="0">
                <a:solidFill>
                  <a:srgbClr val="17211D"/>
                </a:solidFill>
                <a:latin typeface="Arial"/>
              </a:rPr>
              <a:t>.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>
                <a:solidFill>
                  <a:srgbClr val="17211D"/>
                </a:solidFill>
                <a:latin typeface="Arial"/>
              </a:rPr>
              <a:t>Click one face on each block.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>
                <a:solidFill>
                  <a:srgbClr val="17211D"/>
                </a:solidFill>
                <a:latin typeface="Arial"/>
              </a:rPr>
              <a:t>Drag the sliders to </a:t>
            </a:r>
            <a:r>
              <a:rPr sz="1700" b="1" i="0">
                <a:solidFill>
                  <a:srgbClr val="17211D"/>
                </a:solidFill>
                <a:latin typeface="Arial"/>
              </a:rPr>
              <a:t>rotate</a:t>
            </a:r>
            <a:r>
              <a:rPr sz="1700" b="0" i="0">
                <a:solidFill>
                  <a:srgbClr val="17211D"/>
                </a:solidFill>
                <a:latin typeface="Arial"/>
              </a:rPr>
              <a:t> and </a:t>
            </a:r>
            <a:r>
              <a:rPr sz="1700" b="1" i="0">
                <a:solidFill>
                  <a:srgbClr val="17211D"/>
                </a:solidFill>
                <a:latin typeface="Arial"/>
              </a:rPr>
              <a:t>slide</a:t>
            </a:r>
            <a:r>
              <a:rPr sz="1700" b="0" i="0">
                <a:solidFill>
                  <a:srgbClr val="17211D"/>
                </a:solidFill>
                <a:latin typeface="Arial"/>
              </a:rPr>
              <a:t> them until they line up.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>
                <a:solidFill>
                  <a:srgbClr val="17211D"/>
                </a:solidFill>
                <a:latin typeface="Arial"/>
              </a:rPr>
              <a:t>Press </a:t>
            </a:r>
            <a:r>
              <a:rPr sz="1700" b="1" i="0">
                <a:solidFill>
                  <a:srgbClr val="17211D"/>
                </a:solidFill>
                <a:latin typeface="Arial"/>
              </a:rPr>
              <a:t>Apply</a:t>
            </a:r>
            <a:r>
              <a:rPr sz="1700" b="0" i="0">
                <a:solidFill>
                  <a:srgbClr val="17211D"/>
                </a:solidFill>
                <a:latin typeface="Arial"/>
              </a:rPr>
              <a:t>. Repeat for every joint.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500" y="5143500"/>
            <a:ext cx="4064000" cy="825500"/>
          </a:xfrm>
          <a:prstGeom prst="roundRect">
            <a:avLst>
              <a:gd name="adj" fmla="val 14000"/>
            </a:avLst>
          </a:prstGeom>
          <a:solidFill>
            <a:srgbClr val="0E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AF5EE"/>
                </a:solidFill>
                <a:latin typeface="Arial"/>
              </a:rPr>
              <a:t>Rotating one block against the other changes the angle between the two surfaces. That's how you bend a hallway.</a:t>
            </a:r>
          </a:p>
        </p:txBody>
      </p:sp>
      <p:pic>
        <p:nvPicPr>
          <p:cNvPr id="6" name="Picture 5" descr="j_before.jpg"/>
          <p:cNvPicPr>
            <a:picLocks noChangeAspect="1"/>
          </p:cNvPicPr>
          <p:nvPr/>
        </p:nvPicPr>
        <p:blipFill>
          <a:blip r:embed="rId5"/>
          <a:srcRect t="2222" r="49074" b="19259"/>
          <a:stretch>
            <a:fillRect/>
          </a:stretch>
        </p:blipFill>
        <p:spPr>
          <a:xfrm>
            <a:off x="5080000" y="1841500"/>
            <a:ext cx="3175000" cy="3059545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pic>
        <p:nvPicPr>
          <p:cNvPr id="7" name="Picture 6" descr="j_after.jpg"/>
          <p:cNvPicPr>
            <a:picLocks noChangeAspect="1"/>
          </p:cNvPicPr>
          <p:nvPr/>
        </p:nvPicPr>
        <p:blipFill>
          <a:blip r:embed="rId6"/>
          <a:srcRect t="2222" r="49074" b="19259"/>
          <a:stretch>
            <a:fillRect/>
          </a:stretch>
        </p:blipFill>
        <p:spPr>
          <a:xfrm>
            <a:off x="8382000" y="1841500"/>
            <a:ext cx="3175000" cy="3059545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80000" y="4989945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7211D"/>
                </a:solidFill>
                <a:latin typeface="Arial"/>
              </a:rPr>
              <a:t>Just attached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0" y="4989945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7211D"/>
                </a:solidFill>
                <a:latin typeface="Arial"/>
              </a:rPr>
              <a:t>After rotating and sliding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0" y="5282045"/>
            <a:ext cx="6477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5D6963"/>
                </a:solidFill>
                <a:latin typeface="Arial"/>
              </a:rPr>
              <a:t>Drag </a:t>
            </a:r>
            <a:r>
              <a:rPr sz="1400" b="1" i="0">
                <a:solidFill>
                  <a:srgbClr val="17211D"/>
                </a:solidFill>
                <a:latin typeface="Arial"/>
              </a:rPr>
              <a:t>Rotate moving surface</a:t>
            </a:r>
            <a:r>
              <a:rPr sz="1400" b="0" i="0">
                <a:solidFill>
                  <a:srgbClr val="5D6963"/>
                </a:solidFill>
                <a:latin typeface="Arial"/>
              </a:rPr>
              <a:t> and </a:t>
            </a:r>
            <a:r>
              <a:rPr sz="1400" b="1" i="0">
                <a:solidFill>
                  <a:srgbClr val="17211D"/>
                </a:solidFill>
                <a:latin typeface="Arial"/>
              </a:rPr>
              <a:t>Move horizontally / vertically</a:t>
            </a:r>
            <a:r>
              <a:rPr sz="1400" b="0" i="0">
                <a:solidFill>
                  <a:srgbClr val="5D6963"/>
                </a:solidFill>
                <a:latin typeface="Arial"/>
              </a:rPr>
              <a:t> in the preview, and watch the blocks line up.</a:t>
            </a:r>
          </a:p>
        </p:txBody>
      </p:sp>
      <p:pic>
        <p:nvPicPr>
          <p:cNvPr id="16" name="Audio 15">
            <a:extLst>
              <a:ext uri="{FF2B5EF4-FFF2-40B4-BE49-F238E27FC236}">
                <a16:creationId xmlns:a16="http://schemas.microsoft.com/office/drawing/2014/main" id="{03525051-3F1C-55B8-C214-CEE4798623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597"/>
    </mc:Choice>
    <mc:Fallback>
      <p:transition spd="slow" advTm="465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2730500" cy="29210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 dirty="0">
                <a:solidFill>
                  <a:srgbClr val="166B50"/>
                </a:solidFill>
                <a:latin typeface="Arial"/>
              </a:rPr>
              <a:t>HANDS-ON · STEPS </a:t>
            </a:r>
            <a:r>
              <a:rPr lang="en-US" sz="1100" b="1" i="0" spc="150" dirty="0">
                <a:solidFill>
                  <a:srgbClr val="166B50"/>
                </a:solidFill>
                <a:latin typeface="Arial"/>
              </a:rPr>
              <a:t>1</a:t>
            </a:r>
            <a:r>
              <a:rPr sz="1100" b="1" i="0" spc="150" dirty="0">
                <a:solidFill>
                  <a:srgbClr val="166B50"/>
                </a:solidFill>
                <a:latin typeface="Arial"/>
              </a:rPr>
              <a:t> &amp; </a:t>
            </a:r>
            <a:r>
              <a:rPr lang="en-US" sz="1100" b="1" i="0" spc="150" dirty="0">
                <a:solidFill>
                  <a:srgbClr val="166B50"/>
                </a:solidFill>
                <a:latin typeface="Arial"/>
              </a:rPr>
              <a:t>2</a:t>
            </a:r>
            <a:endParaRPr sz="1100" b="1" i="0" spc="150" dirty="0">
              <a:solidFill>
                <a:srgbClr val="166B50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Pick the doors, set the furniture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2032000"/>
            <a:ext cx="4064000" cy="2667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>
                <a:solidFill>
                  <a:srgbClr val="17211D"/>
                </a:solidFill>
                <a:latin typeface="Arial"/>
              </a:rPr>
              <a:t>Click where the furniture goes </a:t>
            </a:r>
            <a:r>
              <a:rPr sz="1700" b="1" i="0">
                <a:solidFill>
                  <a:srgbClr val="17211D"/>
                </a:solidFill>
                <a:latin typeface="Arial"/>
              </a:rPr>
              <a:t>in</a:t>
            </a:r>
            <a:r>
              <a:rPr sz="1700" b="0" i="0">
                <a:solidFill>
                  <a:srgbClr val="17211D"/>
                </a:solidFill>
                <a:latin typeface="Arial"/>
              </a:rPr>
              <a:t> (</a:t>
            </a:r>
            <a:r>
              <a:rPr sz="1700" b="1" i="0">
                <a:solidFill>
                  <a:srgbClr val="2F9A5E"/>
                </a:solidFill>
                <a:latin typeface="Arial"/>
              </a:rPr>
              <a:t>green</a:t>
            </a:r>
            <a:r>
              <a:rPr sz="1700" b="0" i="0">
                <a:solidFill>
                  <a:srgbClr val="17211D"/>
                </a:solidFill>
                <a:latin typeface="Arial"/>
              </a:rPr>
              <a:t>) and </a:t>
            </a:r>
            <a:r>
              <a:rPr sz="1700" b="1" i="0">
                <a:solidFill>
                  <a:srgbClr val="17211D"/>
                </a:solidFill>
                <a:latin typeface="Arial"/>
              </a:rPr>
              <a:t>out</a:t>
            </a:r>
            <a:r>
              <a:rPr sz="1700" b="0" i="0">
                <a:solidFill>
                  <a:srgbClr val="17211D"/>
                </a:solidFill>
                <a:latin typeface="Arial"/>
              </a:rPr>
              <a:t> (</a:t>
            </a:r>
            <a:r>
              <a:rPr sz="1700" b="1" i="0">
                <a:solidFill>
                  <a:srgbClr val="D97F1A"/>
                </a:solidFill>
                <a:latin typeface="Arial"/>
              </a:rPr>
              <a:t>orange</a:t>
            </a:r>
            <a:r>
              <a:rPr sz="1700" b="0" i="0">
                <a:solidFill>
                  <a:srgbClr val="17211D"/>
                </a:solidFill>
                <a:latin typeface="Arial"/>
              </a:rPr>
              <a:t>).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>
                <a:solidFill>
                  <a:srgbClr val="17211D"/>
                </a:solidFill>
                <a:latin typeface="Arial"/>
              </a:rPr>
              <a:t>Press </a:t>
            </a:r>
            <a:r>
              <a:rPr sz="1700" b="1" i="0">
                <a:solidFill>
                  <a:srgbClr val="17211D"/>
                </a:solidFill>
                <a:latin typeface="Arial"/>
              </a:rPr>
              <a:t>Confirm 3D model</a:t>
            </a:r>
            <a:r>
              <a:rPr sz="1700" b="0" i="0">
                <a:solidFill>
                  <a:srgbClr val="17211D"/>
                </a:solidFill>
                <a:latin typeface="Arial"/>
              </a:rPr>
              <a:t>. The walls turn see-through.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>
                <a:solidFill>
                  <a:srgbClr val="17211D"/>
                </a:solidFill>
                <a:latin typeface="Arial"/>
              </a:rPr>
              <a:t>Type the furniture's </a:t>
            </a:r>
            <a:r>
              <a:rPr sz="1700" b="1" i="0">
                <a:solidFill>
                  <a:srgbClr val="17211D"/>
                </a:solidFill>
                <a:latin typeface="Arial"/>
              </a:rPr>
              <a:t>length, width and height</a:t>
            </a:r>
            <a:r>
              <a:rPr sz="1700" b="0" i="0">
                <a:solidFill>
                  <a:srgbClr val="17211D"/>
                </a:solidFill>
                <a:latin typeface="Arial"/>
              </a:rPr>
              <a:t>. The </a:t>
            </a:r>
            <a:r>
              <a:rPr sz="1700" b="1" i="0">
                <a:solidFill>
                  <a:srgbClr val="2F9A5E"/>
                </a:solidFill>
                <a:latin typeface="Arial"/>
              </a:rPr>
              <a:t>green box</a:t>
            </a:r>
            <a:r>
              <a:rPr sz="1700" b="0" i="0">
                <a:solidFill>
                  <a:srgbClr val="17211D"/>
                </a:solidFill>
                <a:latin typeface="Arial"/>
              </a:rPr>
              <a:t> previews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500" y="4635500"/>
            <a:ext cx="4064000" cy="1016000"/>
          </a:xfrm>
          <a:prstGeom prst="roundRect">
            <a:avLst>
              <a:gd name="adj" fmla="val 14000"/>
            </a:avLst>
          </a:prstGeom>
          <a:solidFill>
            <a:srgbClr val="0E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AF5EE"/>
                </a:solidFill>
                <a:latin typeface="Arial"/>
              </a:rPr>
              <a:t>Only those two faces are doorways. Every other wall stays solid, so the furniture can't cheat.</a:t>
            </a:r>
          </a:p>
        </p:txBody>
      </p:sp>
      <p:pic>
        <p:nvPicPr>
          <p:cNvPr id="10" name="Picture 9" descr="r_s7_open.jpg"/>
          <p:cNvPicPr>
            <a:picLocks noChangeAspect="1"/>
          </p:cNvPicPr>
          <p:nvPr/>
        </p:nvPicPr>
        <p:blipFill>
          <a:blip r:embed="rId5"/>
          <a:srcRect r="27037"/>
          <a:stretch>
            <a:fillRect/>
          </a:stretch>
        </p:blipFill>
        <p:spPr>
          <a:xfrm>
            <a:off x="6096000" y="1905000"/>
            <a:ext cx="4403213" cy="3771787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311C8F8-512E-E83A-97C3-D8892FC33183}"/>
              </a:ext>
            </a:extLst>
          </p:cNvPr>
          <p:cNvCxnSpPr>
            <a:cxnSpLocks/>
          </p:cNvCxnSpPr>
          <p:nvPr/>
        </p:nvCxnSpPr>
        <p:spPr>
          <a:xfrm>
            <a:off x="6799006" y="3110885"/>
            <a:ext cx="707924" cy="95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5DF82B0-FA12-F22B-B661-597B125A02A6}"/>
              </a:ext>
            </a:extLst>
          </p:cNvPr>
          <p:cNvCxnSpPr>
            <a:cxnSpLocks/>
          </p:cNvCxnSpPr>
          <p:nvPr/>
        </p:nvCxnSpPr>
        <p:spPr>
          <a:xfrm>
            <a:off x="9399638" y="4651068"/>
            <a:ext cx="707924" cy="95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5586A3E-2C2E-691C-9313-9F2521F3F5FB}"/>
              </a:ext>
            </a:extLst>
          </p:cNvPr>
          <p:cNvSpPr txBox="1"/>
          <p:nvPr/>
        </p:nvSpPr>
        <p:spPr>
          <a:xfrm>
            <a:off x="6096000" y="2741553"/>
            <a:ext cx="1027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entrance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BFEC1A-82F3-0B06-86E2-E185D41EB79E}"/>
              </a:ext>
            </a:extLst>
          </p:cNvPr>
          <p:cNvSpPr txBox="1"/>
          <p:nvPr/>
        </p:nvSpPr>
        <p:spPr>
          <a:xfrm>
            <a:off x="9788013" y="4774168"/>
            <a:ext cx="1027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2708E8-578D-476E-E796-FF0E8E093B07}"/>
              </a:ext>
            </a:extLst>
          </p:cNvPr>
          <p:cNvSpPr txBox="1"/>
          <p:nvPr/>
        </p:nvSpPr>
        <p:spPr>
          <a:xfrm>
            <a:off x="9085007" y="3721213"/>
            <a:ext cx="1027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furniture</a:t>
            </a:r>
          </a:p>
        </p:txBody>
      </p:sp>
      <p:pic>
        <p:nvPicPr>
          <p:cNvPr id="17" name="Audio 16">
            <a:extLst>
              <a:ext uri="{FF2B5EF4-FFF2-40B4-BE49-F238E27FC236}">
                <a16:creationId xmlns:a16="http://schemas.microsoft.com/office/drawing/2014/main" id="{F1C19AB8-9896-CA8B-7837-3B520D79F31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293"/>
    </mc:Choice>
    <mc:Fallback>
      <p:transition spd="slow" advTm="302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2298700" cy="29210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 dirty="0">
                <a:solidFill>
                  <a:srgbClr val="166B50"/>
                </a:solidFill>
                <a:latin typeface="Arial"/>
              </a:rPr>
              <a:t>HANDS-ON · STEP </a:t>
            </a:r>
            <a:r>
              <a:rPr lang="en-US" sz="1100" b="1" i="0" spc="150" dirty="0">
                <a:solidFill>
                  <a:srgbClr val="166B50"/>
                </a:solidFill>
                <a:latin typeface="Arial"/>
              </a:rPr>
              <a:t>3</a:t>
            </a:r>
            <a:r>
              <a:rPr sz="1100" b="1" i="0" spc="150" dirty="0">
                <a:solidFill>
                  <a:srgbClr val="166B50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Try it yourself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2553664"/>
            <a:ext cx="4064000" cy="1750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 dirty="0">
                <a:solidFill>
                  <a:srgbClr val="17211D"/>
                </a:solidFill>
                <a:latin typeface="Arial"/>
              </a:rPr>
              <a:t>Press </a:t>
            </a:r>
            <a:r>
              <a:rPr sz="1700" b="1" i="0" dirty="0">
                <a:solidFill>
                  <a:srgbClr val="17211D"/>
                </a:solidFill>
                <a:latin typeface="Arial"/>
              </a:rPr>
              <a:t>Try manually</a:t>
            </a:r>
            <a:r>
              <a:rPr sz="1700" b="0" i="0" dirty="0">
                <a:solidFill>
                  <a:srgbClr val="17211D"/>
                </a:solidFill>
                <a:latin typeface="Arial"/>
              </a:rPr>
              <a:t>. The furniture starts outside the entrance.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 dirty="0">
                <a:solidFill>
                  <a:srgbClr val="17211D"/>
                </a:solidFill>
                <a:latin typeface="Arial"/>
              </a:rPr>
              <a:t>Hold </a:t>
            </a:r>
            <a:r>
              <a:rPr sz="1700" b="1" i="0" dirty="0">
                <a:solidFill>
                  <a:srgbClr val="17211D"/>
                </a:solidFill>
                <a:latin typeface="Courier New"/>
              </a:rPr>
              <a:t>M</a:t>
            </a:r>
            <a:r>
              <a:rPr sz="1700" b="0" i="0" dirty="0">
                <a:solidFill>
                  <a:srgbClr val="17211D"/>
                </a:solidFill>
                <a:latin typeface="Arial"/>
              </a:rPr>
              <a:t> and drag it through. Sliders tilt and lift it.</a:t>
            </a:r>
          </a:p>
          <a:p>
            <a:pPr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</a:pPr>
            <a:endParaRPr sz="1700" b="0" i="0" dirty="0">
              <a:solidFill>
                <a:srgbClr val="17211D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8500" y="469900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2F9A5E"/>
                </a:solidFill>
                <a:latin typeface="Arial"/>
              </a:rPr>
              <a:t>■ legal</a:t>
            </a:r>
            <a:r>
              <a:rPr sz="1300" b="1" i="0">
                <a:solidFill>
                  <a:srgbClr val="B08A1E"/>
                </a:solidFill>
                <a:latin typeface="Arial"/>
              </a:rPr>
              <a:t>     ■ outside     </a:t>
            </a:r>
            <a:r>
              <a:rPr sz="1300" b="1" i="0">
                <a:solidFill>
                  <a:srgbClr val="D94D45"/>
                </a:solidFill>
                <a:latin typeface="Arial"/>
              </a:rPr>
              <a:t>■ collision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8500" y="5080000"/>
            <a:ext cx="4064000" cy="698500"/>
          </a:xfrm>
          <a:prstGeom prst="roundRect">
            <a:avLst>
              <a:gd name="adj" fmla="val 14000"/>
            </a:avLst>
          </a:prstGeom>
          <a:solidFill>
            <a:srgbClr val="0E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AF5EE"/>
                </a:solidFill>
                <a:latin typeface="Arial"/>
              </a:rPr>
              <a:t>Reach the exit and </a:t>
            </a:r>
            <a:r>
              <a:rPr sz="1400" b="1" i="0">
                <a:solidFill>
                  <a:srgbClr val="D6EF5B"/>
                </a:solidFill>
                <a:latin typeface="Arial"/>
              </a:rPr>
              <a:t>you win</a:t>
            </a:r>
            <a:r>
              <a:rPr sz="1400" b="0" i="0">
                <a:solidFill>
                  <a:srgbClr val="EAF5EE"/>
                </a:solidFill>
                <a:latin typeface="Arial"/>
              </a:rPr>
              <a:t>. A pop-up tells you.</a:t>
            </a:r>
          </a:p>
        </p:txBody>
      </p:sp>
      <p:pic>
        <p:nvPicPr>
          <p:cNvPr id="7" name="Picture 6" descr="r_n_manual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080000" y="1841500"/>
            <a:ext cx="6413500" cy="4008437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pic>
        <p:nvPicPr>
          <p:cNvPr id="13" name="Audio 12">
            <a:extLst>
              <a:ext uri="{FF2B5EF4-FFF2-40B4-BE49-F238E27FC236}">
                <a16:creationId xmlns:a16="http://schemas.microsoft.com/office/drawing/2014/main" id="{A8EE8762-85EE-4B7B-0C29-F3BD6C41BBB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845"/>
    </mc:Choice>
    <mc:Fallback>
      <p:transition spd="slow" advTm="368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2298700" cy="29210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 dirty="0">
                <a:solidFill>
                  <a:srgbClr val="166B50"/>
                </a:solidFill>
                <a:latin typeface="Arial"/>
              </a:rPr>
              <a:t>HANDS-ON · STEP </a:t>
            </a:r>
            <a:r>
              <a:rPr lang="en-US" sz="1100" b="1" i="0" spc="150" dirty="0">
                <a:solidFill>
                  <a:srgbClr val="166B50"/>
                </a:solidFill>
                <a:latin typeface="Arial"/>
              </a:rPr>
              <a:t>3</a:t>
            </a:r>
            <a:r>
              <a:rPr sz="1100" b="1" i="0" spc="150" dirty="0">
                <a:solidFill>
                  <a:srgbClr val="166B50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Now let the auto-solver try</a:t>
            </a:r>
          </a:p>
        </p:txBody>
      </p:sp>
      <p:pic>
        <p:nvPicPr>
          <p:cNvPr id="4" name="route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98500" y="1841500"/>
            <a:ext cx="5080000" cy="438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8500" y="6311900"/>
            <a:ext cx="508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5D6963"/>
                </a:solidFill>
                <a:latin typeface="Arial"/>
              </a:rPr>
              <a:t>The route it found: the sofa travels from the entrance to the exit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841500"/>
            <a:ext cx="5397500" cy="10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>
                <a:solidFill>
                  <a:srgbClr val="17211D"/>
                </a:solidFill>
                <a:latin typeface="Arial"/>
              </a:rPr>
              <a:t>Press </a:t>
            </a:r>
            <a:r>
              <a:rPr sz="1700" b="1" i="0">
                <a:solidFill>
                  <a:srgbClr val="17211D"/>
                </a:solidFill>
                <a:latin typeface="Arial"/>
              </a:rPr>
              <a:t>Try auto-solver</a:t>
            </a:r>
            <a:r>
              <a:rPr sz="1700" b="0" i="0">
                <a:solidFill>
                  <a:srgbClr val="17211D"/>
                </a:solidFill>
                <a:latin typeface="Arial"/>
              </a:rPr>
              <a:t>.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>
                <a:solidFill>
                  <a:srgbClr val="17211D"/>
                </a:solidFill>
                <a:latin typeface="Arial"/>
              </a:rPr>
              <a:t>The planner searches for a route.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>
                <a:solidFill>
                  <a:srgbClr val="17211D"/>
                </a:solidFill>
                <a:latin typeface="Arial"/>
              </a:rPr>
              <a:t>A pop-up gives the verdict: </a:t>
            </a:r>
            <a:r>
              <a:rPr sz="1700" b="1" i="0">
                <a:solidFill>
                  <a:srgbClr val="2F9A5E"/>
                </a:solidFill>
                <a:latin typeface="Arial"/>
              </a:rPr>
              <a:t>It fits!</a:t>
            </a:r>
          </a:p>
        </p:txBody>
      </p:sp>
      <p:pic>
        <p:nvPicPr>
          <p:cNvPr id="7" name="Picture 6" descr="r_v_ok.jp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096000" y="3149907"/>
            <a:ext cx="4434348" cy="2771468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6096000" y="6061075"/>
            <a:ext cx="5397500" cy="635000"/>
          </a:xfrm>
          <a:prstGeom prst="roundRect">
            <a:avLst>
              <a:gd name="adj" fmla="val 14000"/>
            </a:avLst>
          </a:prstGeom>
          <a:solidFill>
            <a:srgbClr val="0E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l">
              <a:lnSpc>
                <a:spcPct val="110000"/>
              </a:lnSpc>
            </a:pPr>
            <a:r>
              <a:rPr sz="1350" b="0" i="0" dirty="0">
                <a:solidFill>
                  <a:srgbClr val="EAF5EE"/>
                </a:solidFill>
                <a:latin typeface="Arial"/>
              </a:rPr>
              <a:t>Press </a:t>
            </a:r>
            <a:r>
              <a:rPr sz="1350" b="1" i="0" dirty="0">
                <a:solidFill>
                  <a:srgbClr val="D6EF5B"/>
                </a:solidFill>
                <a:latin typeface="Arial"/>
              </a:rPr>
              <a:t>Play route</a:t>
            </a:r>
            <a:r>
              <a:rPr sz="1350" b="0" i="0" dirty="0">
                <a:solidFill>
                  <a:srgbClr val="EAF5EE"/>
                </a:solidFill>
                <a:latin typeface="Arial"/>
              </a:rPr>
              <a:t> or drag the timeline to watch it again. If it says "No route found",</a:t>
            </a:r>
            <a:r>
              <a:rPr lang="en-US" sz="1350" b="0" i="0" dirty="0">
                <a:solidFill>
                  <a:srgbClr val="EAF5EE"/>
                </a:solidFill>
                <a:latin typeface="Arial"/>
              </a:rPr>
              <a:t> try again or change the furniture.</a:t>
            </a:r>
            <a:endParaRPr sz="1350" b="0" i="0" dirty="0">
              <a:solidFill>
                <a:srgbClr val="EAF5EE"/>
              </a:solidFill>
              <a:latin typeface="Arial"/>
            </a:endParaRPr>
          </a:p>
        </p:txBody>
      </p:sp>
      <p:pic>
        <p:nvPicPr>
          <p:cNvPr id="14" name="Audio 13">
            <a:extLst>
              <a:ext uri="{FF2B5EF4-FFF2-40B4-BE49-F238E27FC236}">
                <a16:creationId xmlns:a16="http://schemas.microsoft.com/office/drawing/2014/main" id="{05F6F4D1-9730-488A-D4F6-D61151BE9CC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3310"/>
    </mc:Choice>
    <mc:Fallback>
      <p:transition spd="slow" advTm="633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audio isNarration="1">
              <p:cMediaNode vol="80000" showWhenStopped="0">
                <p:cTn id="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29401" objId="4"/>
        <p14:stopEvt time="63310" objId="4"/>
      </p14:showEvt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B5A45"/>
            </a:gs>
            <a:gs pos="100000">
              <a:srgbClr val="08140F"/>
            </a:gs>
          </a:gsLst>
          <a:lin ang="19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1866900" cy="292100"/>
          </a:xfrm>
          <a:prstGeom prst="roundRect">
            <a:avLst>
              <a:gd name="adj" fmla="val 50000"/>
            </a:avLst>
          </a:prstGeom>
          <a:solidFill>
            <a:srgbClr val="2F4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D6EF5B"/>
                </a:solidFill>
                <a:latin typeface="Arial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1587500"/>
            <a:ext cx="10795000" cy="23391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000" b="1" i="0" dirty="0">
                <a:solidFill>
                  <a:srgbClr val="EEF5F0"/>
                </a:solidFill>
                <a:latin typeface="Arial"/>
              </a:rPr>
              <a:t>How does it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000" b="1" i="0" dirty="0">
                <a:solidFill>
                  <a:srgbClr val="D6EF5B"/>
                </a:solidFill>
                <a:latin typeface="Arial"/>
              </a:rPr>
              <a:t>actually </a:t>
            </a:r>
            <a:r>
              <a:rPr lang="en-US" sz="8000" b="1" dirty="0">
                <a:solidFill>
                  <a:srgbClr val="D6EF5B"/>
                </a:solidFill>
                <a:latin typeface="Arial"/>
              </a:rPr>
              <a:t>work</a:t>
            </a:r>
            <a:r>
              <a:rPr sz="8000" b="1" i="0" dirty="0">
                <a:solidFill>
                  <a:srgbClr val="D6EF5B"/>
                </a:solidFill>
                <a:latin typeface="Arial"/>
              </a:rPr>
              <a:t>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8500" y="4318000"/>
            <a:ext cx="3429000" cy="1397000"/>
          </a:xfrm>
          <a:prstGeom prst="roundRect">
            <a:avLst>
              <a:gd name="adj" fmla="val 7000"/>
            </a:avLst>
          </a:prstGeom>
          <a:solidFill>
            <a:srgbClr val="27483C"/>
          </a:solidFill>
          <a:ln w="12700">
            <a:solidFill>
              <a:srgbClr val="3E5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9800" y="4603750"/>
            <a:ext cx="2921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D6EF5B"/>
                </a:solidFill>
                <a:latin typeface="Arial"/>
              </a:rPr>
              <a:t>1 · 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9800" y="5080000"/>
            <a:ext cx="2921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C9DAD1"/>
                </a:solidFill>
                <a:latin typeface="Arial"/>
              </a:rPr>
              <a:t>How is a position stored?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1500" y="4318000"/>
            <a:ext cx="3429000" cy="1397000"/>
          </a:xfrm>
          <a:prstGeom prst="roundRect">
            <a:avLst>
              <a:gd name="adj" fmla="val 7000"/>
            </a:avLst>
          </a:prstGeom>
          <a:solidFill>
            <a:srgbClr val="27483C"/>
          </a:solidFill>
          <a:ln w="12700">
            <a:solidFill>
              <a:srgbClr val="3E5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22800" y="4603750"/>
            <a:ext cx="2921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D6EF5B"/>
                </a:solidFill>
                <a:latin typeface="Arial"/>
              </a:rPr>
              <a:t>2 · Collision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2800" y="5080000"/>
            <a:ext cx="2921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C9DAD1"/>
                </a:solidFill>
                <a:latin typeface="Arial"/>
              </a:rPr>
              <a:t>How do we know it's legal?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4500" y="4318000"/>
            <a:ext cx="3429000" cy="1397000"/>
          </a:xfrm>
          <a:prstGeom prst="roundRect">
            <a:avLst>
              <a:gd name="adj" fmla="val 7000"/>
            </a:avLst>
          </a:prstGeom>
          <a:solidFill>
            <a:srgbClr val="27483C"/>
          </a:solidFill>
          <a:ln w="12700">
            <a:solidFill>
              <a:srgbClr val="3E5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5800" y="4603750"/>
            <a:ext cx="2921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D6EF5B"/>
                </a:solidFill>
                <a:latin typeface="Arial"/>
              </a:rPr>
              <a:t>3 ·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800" y="5080000"/>
            <a:ext cx="2921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C9DAD1"/>
                </a:solidFill>
                <a:latin typeface="Arial"/>
              </a:rPr>
              <a:t>How do we find a path?</a:t>
            </a:r>
          </a:p>
        </p:txBody>
      </p:sp>
      <p:pic>
        <p:nvPicPr>
          <p:cNvPr id="19" name="Audio 18">
            <a:extLst>
              <a:ext uri="{FF2B5EF4-FFF2-40B4-BE49-F238E27FC236}">
                <a16:creationId xmlns:a16="http://schemas.microsoft.com/office/drawing/2014/main" id="{4F0856F1-06D5-810B-2E2D-864F8C02DB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573"/>
    </mc:Choice>
    <mc:Fallback>
      <p:transition spd="slow" advTm="185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1758949" cy="292100"/>
          </a:xfrm>
          <a:prstGeom prst="roundRect">
            <a:avLst>
              <a:gd name="adj" fmla="val 50000"/>
            </a:avLst>
          </a:prstGeom>
          <a:solidFill>
            <a:srgbClr val="0E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D6EF5B"/>
                </a:solidFill>
                <a:latin typeface="Arial"/>
              </a:rPr>
              <a:t>TECHNIQUE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A position is </a:t>
            </a:r>
            <a:r>
              <a:rPr sz="3800" b="1" i="0">
                <a:solidFill>
                  <a:srgbClr val="166B50"/>
                </a:solidFill>
                <a:latin typeface="Arial"/>
              </a:rPr>
              <a:t>six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8500" y="2095500"/>
            <a:ext cx="4445000" cy="1270000"/>
          </a:xfrm>
          <a:prstGeom prst="roundRect">
            <a:avLst>
              <a:gd name="adj" fmla="val 8000"/>
            </a:avLst>
          </a:prstGeom>
          <a:solidFill>
            <a:srgbClr val="0F1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9400" rtlCol="0" anchor="ctr"/>
          <a:lstStyle/>
          <a:p>
            <a:pPr algn="l"/>
            <a:r>
              <a:rPr sz="2000" b="0" i="0">
                <a:solidFill>
                  <a:srgbClr val="6F8F80"/>
                </a:solidFill>
                <a:latin typeface="Courier New"/>
              </a:rPr>
              <a:t>// furniture pose</a:t>
            </a:r>
          </a:p>
          <a:p>
            <a:pPr algn="l"/>
            <a:r>
              <a:rPr sz="2000" b="0" i="0">
                <a:solidFill>
                  <a:srgbClr val="D7EFE2"/>
                </a:solidFill>
                <a:latin typeface="Courier New"/>
              </a:rPr>
              <a:t>{ x, y, z,</a:t>
            </a:r>
          </a:p>
          <a:p>
            <a:pPr algn="l"/>
            <a:r>
              <a:rPr sz="2000" b="0" i="0">
                <a:solidFill>
                  <a:srgbClr val="D7EFE2"/>
                </a:solidFill>
                <a:latin typeface="Courier New"/>
              </a:rPr>
              <a:t>  yaw, pitch, roll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3683000"/>
            <a:ext cx="4826000" cy="209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Char char="■"/>
            </a:pPr>
            <a:r>
              <a:rPr sz="1600" b="0" i="0" dirty="0">
                <a:solidFill>
                  <a:srgbClr val="17211D"/>
                </a:solidFill>
                <a:latin typeface="Arial"/>
              </a:rPr>
              <a:t>3 to translate, 3 to rotate</a:t>
            </a:r>
          </a:p>
          <a:p>
            <a:pPr marL="457200" indent="-457200">
              <a:lnSpc>
                <a:spcPct val="108000"/>
              </a:lnSpc>
              <a:spcAft>
                <a:spcPts val="1400"/>
              </a:spcAft>
              <a:buClr>
                <a:srgbClr val="166B50"/>
              </a:buClr>
              <a:buSzPct val="100000"/>
              <a:buFont typeface="Arial"/>
              <a:buChar char="■"/>
            </a:pPr>
            <a:r>
              <a:rPr sz="1600" b="0" i="0" dirty="0">
                <a:solidFill>
                  <a:srgbClr val="17211D"/>
                </a:solidFill>
                <a:latin typeface="Arial"/>
              </a:rPr>
              <a:t>Rotations use Euler order </a:t>
            </a:r>
            <a:r>
              <a:rPr sz="1600" b="1" i="0" dirty="0">
                <a:solidFill>
                  <a:srgbClr val="17211D"/>
                </a:solidFill>
                <a:latin typeface="Courier New"/>
              </a:rPr>
              <a:t>ZYX</a:t>
            </a:r>
            <a:r>
              <a:rPr sz="1600" b="0" i="0" dirty="0">
                <a:solidFill>
                  <a:srgbClr val="17211D"/>
                </a:solidFill>
                <a:latin typeface="Arial"/>
              </a:rPr>
              <a:t>, converted to a </a:t>
            </a:r>
            <a:r>
              <a:rPr sz="1600" b="1" i="0" dirty="0">
                <a:solidFill>
                  <a:srgbClr val="17211D"/>
                </a:solidFill>
                <a:latin typeface="Arial"/>
              </a:rPr>
              <a:t>quaternion</a:t>
            </a:r>
          </a:p>
        </p:txBody>
      </p:sp>
      <p:pic>
        <p:nvPicPr>
          <p:cNvPr id="6" name="Picture 5" descr="d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905000"/>
            <a:ext cx="5397500" cy="4318000"/>
          </a:xfrm>
          <a:prstGeom prst="rect">
            <a:avLst/>
          </a:prstGeom>
        </p:spPr>
      </p:pic>
      <p:pic>
        <p:nvPicPr>
          <p:cNvPr id="17" name="Audio 16">
            <a:extLst>
              <a:ext uri="{FF2B5EF4-FFF2-40B4-BE49-F238E27FC236}">
                <a16:creationId xmlns:a16="http://schemas.microsoft.com/office/drawing/2014/main" id="{B9D32EDF-11EC-BE4B-6A6F-44A8569AF3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418"/>
    </mc:Choice>
    <mc:Fallback>
      <p:transition spd="slow" advTm="284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1758949" cy="292100"/>
          </a:xfrm>
          <a:prstGeom prst="roundRect">
            <a:avLst>
              <a:gd name="adj" fmla="val 50000"/>
            </a:avLst>
          </a:prstGeom>
          <a:solidFill>
            <a:srgbClr val="0E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D6EF5B"/>
                </a:solidFill>
                <a:latin typeface="Arial"/>
              </a:rPr>
              <a:t>TECHNIQUE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Is this pose </a:t>
            </a:r>
            <a:r>
              <a:rPr sz="3800" b="1" i="0">
                <a:solidFill>
                  <a:srgbClr val="166B50"/>
                </a:solidFill>
                <a:latin typeface="Arial"/>
              </a:rPr>
              <a:t>legal?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2870752"/>
            <a:ext cx="5080000" cy="15767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57200" indent="-457200">
              <a:lnSpc>
                <a:spcPct val="108000"/>
              </a:lnSpc>
              <a:spcAft>
                <a:spcPts val="1200"/>
              </a:spcAft>
              <a:buClr>
                <a:srgbClr val="166B50"/>
              </a:buClr>
              <a:buSzPct val="100000"/>
              <a:buFont typeface="Arial"/>
              <a:buChar char="■"/>
            </a:pPr>
            <a:r>
              <a:rPr sz="1550" b="1" i="0" dirty="0">
                <a:solidFill>
                  <a:srgbClr val="17211D"/>
                </a:solidFill>
                <a:latin typeface="Arial"/>
              </a:rPr>
              <a:t>Every</a:t>
            </a:r>
            <a:r>
              <a:rPr sz="1550" b="0" i="0" dirty="0">
                <a:solidFill>
                  <a:srgbClr val="17211D"/>
                </a:solidFill>
                <a:latin typeface="Arial"/>
              </a:rPr>
              <a:t> point must be inside the room</a:t>
            </a:r>
          </a:p>
          <a:p>
            <a:pPr marL="457200" indent="-457200">
              <a:lnSpc>
                <a:spcPct val="108000"/>
              </a:lnSpc>
              <a:spcAft>
                <a:spcPts val="1200"/>
              </a:spcAft>
              <a:buClr>
                <a:srgbClr val="166B50"/>
              </a:buClr>
              <a:buSzPct val="100000"/>
              <a:buFont typeface="Arial"/>
              <a:buChar char="■"/>
            </a:pPr>
            <a:r>
              <a:rPr sz="1550" b="0" i="0" dirty="0">
                <a:solidFill>
                  <a:srgbClr val="17211D"/>
                </a:solidFill>
                <a:latin typeface="Arial"/>
              </a:rPr>
              <a:t>Between two poses we </a:t>
            </a:r>
            <a:r>
              <a:rPr sz="1550" b="1" i="0" dirty="0">
                <a:solidFill>
                  <a:srgbClr val="17211D"/>
                </a:solidFill>
                <a:latin typeface="Arial"/>
              </a:rPr>
              <a:t>interpolate</a:t>
            </a:r>
            <a:r>
              <a:rPr sz="1550" b="0" i="0" dirty="0">
                <a:solidFill>
                  <a:srgbClr val="17211D"/>
                </a:solidFill>
                <a:latin typeface="Arial"/>
              </a:rPr>
              <a:t> and check every step</a:t>
            </a:r>
          </a:p>
          <a:p>
            <a:pPr marL="457200" indent="-457200">
              <a:lnSpc>
                <a:spcPct val="108000"/>
              </a:lnSpc>
              <a:spcAft>
                <a:spcPts val="1200"/>
              </a:spcAft>
              <a:buClr>
                <a:srgbClr val="166B50"/>
              </a:buClr>
              <a:buSzPct val="100000"/>
              <a:buFont typeface="Arial"/>
              <a:buChar char="■"/>
            </a:pPr>
            <a:r>
              <a:rPr sz="1550" b="0" i="0" dirty="0">
                <a:solidFill>
                  <a:srgbClr val="17211D"/>
                </a:solidFill>
                <a:latin typeface="Arial"/>
              </a:rPr>
              <a:t>Crossing a wall is allowed </a:t>
            </a:r>
            <a:r>
              <a:rPr sz="1550" b="1" i="0" dirty="0">
                <a:solidFill>
                  <a:srgbClr val="17211D"/>
                </a:solidFill>
                <a:latin typeface="Arial"/>
              </a:rPr>
              <a:t>only through</a:t>
            </a:r>
            <a:r>
              <a:rPr sz="1550" b="0" i="0" dirty="0">
                <a:solidFill>
                  <a:srgbClr val="17211D"/>
                </a:solidFill>
                <a:latin typeface="Arial"/>
              </a:rPr>
              <a:t> the entrance / exit polygon</a:t>
            </a:r>
          </a:p>
        </p:txBody>
      </p:sp>
      <p:pic>
        <p:nvPicPr>
          <p:cNvPr id="5" name="Picture 4" descr="d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905000"/>
            <a:ext cx="5397500" cy="3973620"/>
          </a:xfrm>
          <a:prstGeom prst="rect">
            <a:avLst/>
          </a:prstGeom>
        </p:spPr>
      </p:pic>
      <p:pic>
        <p:nvPicPr>
          <p:cNvPr id="21" name="Audio 20">
            <a:extLst>
              <a:ext uri="{FF2B5EF4-FFF2-40B4-BE49-F238E27FC236}">
                <a16:creationId xmlns:a16="http://schemas.microsoft.com/office/drawing/2014/main" id="{8AEC28EC-114E-E14E-29BA-53F8DA80F3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815"/>
    </mc:Choice>
    <mc:Fallback xmlns="">
      <p:transition spd="slow" advTm="288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1758949" cy="292100"/>
          </a:xfrm>
          <a:prstGeom prst="roundRect">
            <a:avLst>
              <a:gd name="adj" fmla="val 50000"/>
            </a:avLst>
          </a:prstGeom>
          <a:solidFill>
            <a:srgbClr val="0E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D6EF5B"/>
                </a:solidFill>
                <a:latin typeface="Arial"/>
              </a:rPr>
              <a:t>TECHNIQUE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RRT-Connect: two trees, </a:t>
            </a:r>
            <a:r>
              <a:rPr sz="3800" b="1" i="0">
                <a:solidFill>
                  <a:srgbClr val="166B50"/>
                </a:solidFill>
                <a:latin typeface="Arial"/>
              </a:rPr>
              <a:t>one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2032000"/>
            <a:ext cx="4953000" cy="1319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57200" indent="-457200">
              <a:lnSpc>
                <a:spcPct val="108000"/>
              </a:lnSpc>
              <a:spcAft>
                <a:spcPts val="12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550" b="0" i="0" dirty="0">
                <a:solidFill>
                  <a:srgbClr val="17211D"/>
                </a:solidFill>
                <a:latin typeface="Arial"/>
              </a:rPr>
              <a:t>One tree grows from the </a:t>
            </a:r>
            <a:r>
              <a:rPr sz="1550" b="1" i="0" dirty="0">
                <a:solidFill>
                  <a:srgbClr val="2F9A5E"/>
                </a:solidFill>
                <a:latin typeface="Arial"/>
              </a:rPr>
              <a:t>start</a:t>
            </a:r>
            <a:r>
              <a:rPr sz="1550" b="0" i="0" dirty="0">
                <a:solidFill>
                  <a:srgbClr val="17211D"/>
                </a:solidFill>
                <a:latin typeface="Arial"/>
              </a:rPr>
              <a:t>, one from the </a:t>
            </a:r>
            <a:r>
              <a:rPr sz="1550" b="1" i="0" dirty="0">
                <a:solidFill>
                  <a:srgbClr val="D97F1A"/>
                </a:solidFill>
                <a:latin typeface="Arial"/>
              </a:rPr>
              <a:t>goal</a:t>
            </a:r>
          </a:p>
          <a:p>
            <a:pPr marL="457200" indent="-457200">
              <a:lnSpc>
                <a:spcPct val="108000"/>
              </a:lnSpc>
              <a:spcAft>
                <a:spcPts val="12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550" b="0" i="0" dirty="0">
                <a:solidFill>
                  <a:srgbClr val="17211D"/>
                </a:solidFill>
                <a:latin typeface="Arial"/>
              </a:rPr>
              <a:t>Then the </a:t>
            </a:r>
            <a:r>
              <a:rPr sz="1550" b="1" i="0" dirty="0">
                <a:solidFill>
                  <a:srgbClr val="17211D"/>
                </a:solidFill>
                <a:latin typeface="Arial"/>
              </a:rPr>
              <a:t>other tree</a:t>
            </a:r>
            <a:r>
              <a:rPr sz="1550" b="0" i="0" dirty="0">
                <a:solidFill>
                  <a:srgbClr val="17211D"/>
                </a:solidFill>
                <a:latin typeface="Arial"/>
              </a:rPr>
              <a:t> greedily chases that new node</a:t>
            </a:r>
            <a:endParaRPr lang="en-US" sz="1550" b="0" i="0" dirty="0">
              <a:solidFill>
                <a:srgbClr val="17211D"/>
              </a:solidFill>
              <a:latin typeface="Arial"/>
            </a:endParaRPr>
          </a:p>
          <a:p>
            <a:pPr marL="457200" indent="-457200">
              <a:lnSpc>
                <a:spcPct val="108000"/>
              </a:lnSpc>
              <a:spcAft>
                <a:spcPts val="12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550" b="0" i="0" dirty="0">
                <a:solidFill>
                  <a:srgbClr val="17211D"/>
                </a:solidFill>
                <a:latin typeface="Arial"/>
              </a:rPr>
              <a:t>Trees touch → </a:t>
            </a:r>
            <a:r>
              <a:rPr sz="1550" b="1" i="0" dirty="0">
                <a:solidFill>
                  <a:srgbClr val="17211D"/>
                </a:solidFill>
                <a:latin typeface="Arial"/>
              </a:rPr>
              <a:t>path found</a:t>
            </a:r>
            <a:r>
              <a:rPr sz="1550" b="0" i="0" dirty="0">
                <a:solidFill>
                  <a:srgbClr val="17211D"/>
                </a:solidFill>
                <a:latin typeface="Arial"/>
              </a:rPr>
              <a:t>. Smooth it, resample it, animate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8500" y="5080000"/>
            <a:ext cx="10795000" cy="825500"/>
          </a:xfrm>
          <a:prstGeom prst="roundRect">
            <a:avLst>
              <a:gd name="adj" fmla="val 14000"/>
            </a:avLst>
          </a:prstGeom>
          <a:solidFill>
            <a:srgbClr val="0E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01600" rIns="177800" bIns="101600" rtlCol="0" anchor="ctr"/>
          <a:lstStyle/>
          <a:p>
            <a:pPr algn="l">
              <a:lnSpc>
                <a:spcPct val="110000"/>
              </a:lnSpc>
            </a:pPr>
            <a:r>
              <a:rPr sz="1400" b="1" i="0" dirty="0">
                <a:solidFill>
                  <a:srgbClr val="D6EF5B"/>
                </a:solidFill>
                <a:latin typeface="Arial"/>
              </a:rPr>
              <a:t>Probabilistic:</a:t>
            </a:r>
            <a:r>
              <a:rPr sz="1400" b="0" i="0" dirty="0">
                <a:solidFill>
                  <a:srgbClr val="EAF5EE"/>
                </a:solidFill>
                <a:latin typeface="Arial"/>
              </a:rPr>
              <a:t> finding a route proves it fits — </a:t>
            </a:r>
            <a:r>
              <a:rPr sz="1400" b="1" i="0" dirty="0">
                <a:solidFill>
                  <a:srgbClr val="D6EF5B"/>
                </a:solidFill>
                <a:latin typeface="Arial"/>
              </a:rPr>
              <a:t>failing doesn't prove it can't</a:t>
            </a:r>
            <a:r>
              <a:rPr sz="1400" b="0" i="0" dirty="0">
                <a:solidFill>
                  <a:srgbClr val="EAF5EE"/>
                </a:solidFill>
                <a:latin typeface="Arial"/>
              </a:rPr>
              <a:t>. Run it again or raise iterations. </a:t>
            </a:r>
            <a:r>
              <a:rPr lang="en-US" sz="1400" b="0" i="0" dirty="0">
                <a:solidFill>
                  <a:srgbClr val="EAF5EE"/>
                </a:solidFill>
                <a:latin typeface="Arial"/>
              </a:rPr>
              <a:t>We never "fix" failures by quietly shrinking clearance.</a:t>
            </a:r>
            <a:endParaRPr sz="1400" b="0" i="0" dirty="0">
              <a:solidFill>
                <a:srgbClr val="EAF5EE"/>
              </a:solidFill>
              <a:latin typeface="Arial"/>
            </a:endParaRPr>
          </a:p>
        </p:txBody>
      </p:sp>
      <p:pic>
        <p:nvPicPr>
          <p:cNvPr id="7" name="Picture 6" descr="Path Planning for Mobile Robots Based on Improved RRT-Connect and DWA Fusion">
            <a:extLst>
              <a:ext uri="{FF2B5EF4-FFF2-40B4-BE49-F238E27FC236}">
                <a16:creationId xmlns:a16="http://schemas.microsoft.com/office/drawing/2014/main" id="{A845819E-B596-3A6E-E541-250DBB4B3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811683"/>
            <a:ext cx="5745313" cy="3228561"/>
          </a:xfrm>
          <a:prstGeom prst="rect">
            <a:avLst/>
          </a:prstGeom>
        </p:spPr>
      </p:pic>
      <p:pic>
        <p:nvPicPr>
          <p:cNvPr id="10" name="Audio 9">
            <a:extLst>
              <a:ext uri="{FF2B5EF4-FFF2-40B4-BE49-F238E27FC236}">
                <a16:creationId xmlns:a16="http://schemas.microsoft.com/office/drawing/2014/main" id="{00A869D4-29DF-536C-C8F1-B068CAA3FB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153"/>
    </mc:Choice>
    <mc:Fallback xmlns="">
      <p:transition spd="slow" advTm="501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1758949" cy="292100"/>
          </a:xfrm>
          <a:prstGeom prst="roundRect">
            <a:avLst>
              <a:gd name="adj" fmla="val 50000"/>
            </a:avLst>
          </a:prstGeom>
          <a:solidFill>
            <a:srgbClr val="0E2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D6EF5B"/>
                </a:solidFill>
                <a:latin typeface="Arial"/>
              </a:rPr>
              <a:t>TECHNIQUE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Smart starts beat </a:t>
            </a:r>
            <a:r>
              <a:rPr sz="3800" b="1" i="0">
                <a:solidFill>
                  <a:srgbClr val="166B50"/>
                </a:solidFill>
                <a:latin typeface="Arial"/>
              </a:rPr>
              <a:t>pure luck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1968500"/>
            <a:ext cx="4826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5D6963"/>
                </a:solidFill>
                <a:latin typeface="Arial"/>
              </a:rPr>
              <a:t>Random sampling alone rarely threads a tight doorway. So we seed the search: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2730500"/>
            <a:ext cx="4953000" cy="30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57200" indent="-457200">
              <a:lnSpc>
                <a:spcPct val="108000"/>
              </a:lnSpc>
              <a:spcAft>
                <a:spcPts val="10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550" b="0" i="0">
                <a:solidFill>
                  <a:srgbClr val="17211D"/>
                </a:solidFill>
                <a:latin typeface="Arial"/>
              </a:rPr>
              <a:t>Sample offsets across the opening × </a:t>
            </a:r>
            <a:r>
              <a:rPr sz="1550" b="1" i="0">
                <a:solidFill>
                  <a:srgbClr val="17211D"/>
                </a:solidFill>
                <a:latin typeface="Arial"/>
              </a:rPr>
              <a:t>15°</a:t>
            </a:r>
            <a:r>
              <a:rPr sz="1550" b="0" i="0">
                <a:solidFill>
                  <a:srgbClr val="17211D"/>
                </a:solidFill>
                <a:latin typeface="Arial"/>
              </a:rPr>
              <a:t> yaw / pitch / roll orientations</a:t>
            </a:r>
          </a:p>
          <a:p>
            <a:pPr marL="457200" indent="-457200">
              <a:lnSpc>
                <a:spcPct val="108000"/>
              </a:lnSpc>
              <a:spcAft>
                <a:spcPts val="10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550" b="1" i="0">
                <a:solidFill>
                  <a:srgbClr val="17211D"/>
                </a:solidFill>
                <a:latin typeface="Arial"/>
              </a:rPr>
              <a:t>Refine</a:t>
            </a:r>
            <a:r>
              <a:rPr sz="1550" b="0" i="0">
                <a:solidFill>
                  <a:srgbClr val="17211D"/>
                </a:solidFill>
                <a:latin typeface="Arial"/>
              </a:rPr>
              <a:t> the promising ones at 5°</a:t>
            </a:r>
          </a:p>
          <a:p>
            <a:pPr marL="457200" indent="-457200">
              <a:lnSpc>
                <a:spcPct val="108000"/>
              </a:lnSpc>
              <a:spcAft>
                <a:spcPts val="10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550" b="1" i="0">
                <a:solidFill>
                  <a:srgbClr val="17211D"/>
                </a:solidFill>
                <a:latin typeface="Arial"/>
              </a:rPr>
              <a:t>Probe inward</a:t>
            </a:r>
            <a:r>
              <a:rPr sz="1550" b="0" i="0">
                <a:solidFill>
                  <a:srgbClr val="17211D"/>
                </a:solidFill>
                <a:latin typeface="Arial"/>
              </a:rPr>
              <a:t>: how deep does each candidate get?</a:t>
            </a:r>
          </a:p>
          <a:p>
            <a:pPr marL="457200" indent="-457200">
              <a:lnSpc>
                <a:spcPct val="108000"/>
              </a:lnSpc>
              <a:spcAft>
                <a:spcPts val="10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550" b="1" i="0">
                <a:solidFill>
                  <a:srgbClr val="17211D"/>
                </a:solidFill>
                <a:latin typeface="Arial"/>
              </a:rPr>
              <a:t>Rank</a:t>
            </a:r>
            <a:r>
              <a:rPr sz="1550" b="0" i="0">
                <a:solidFill>
                  <a:srgbClr val="17211D"/>
                </a:solidFill>
                <a:latin typeface="Arial"/>
              </a:rPr>
              <a:t> by depth, clearance, alignment, offset, tilt</a:t>
            </a:r>
          </a:p>
          <a:p>
            <a:pPr marL="457200" indent="-457200">
              <a:lnSpc>
                <a:spcPct val="108000"/>
              </a:lnSpc>
              <a:spcAft>
                <a:spcPts val="10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550" b="0" i="0">
                <a:solidFill>
                  <a:srgbClr val="17211D"/>
                </a:solidFill>
                <a:latin typeface="Arial"/>
              </a:rPr>
              <a:t>Feed the top poses as </a:t>
            </a:r>
            <a:r>
              <a:rPr sz="1550" b="1" i="0">
                <a:solidFill>
                  <a:srgbClr val="17211D"/>
                </a:solidFill>
                <a:latin typeface="Arial"/>
              </a:rPr>
              <a:t>many starts and goals</a:t>
            </a:r>
          </a:p>
        </p:txBody>
      </p:sp>
      <p:pic>
        <p:nvPicPr>
          <p:cNvPr id="6" name="Picture 5" descr="d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500" y="1841500"/>
            <a:ext cx="4826000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1327150" cy="29210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166B50"/>
                </a:solidFill>
                <a:latin typeface="Arial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7211D"/>
                </a:solidFill>
                <a:latin typeface="Arial"/>
              </a:rPr>
              <a:t>Challenge: find the </a:t>
            </a:r>
            <a:r>
              <a:rPr sz="3800" b="1" i="0">
                <a:solidFill>
                  <a:srgbClr val="166B50"/>
                </a:solidFill>
                <a:latin typeface="Arial"/>
              </a:rPr>
              <a:t>tipping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2095500"/>
            <a:ext cx="5080000" cy="2494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57200" indent="-457200">
              <a:lnSpc>
                <a:spcPct val="108000"/>
              </a:lnSpc>
              <a:spcAft>
                <a:spcPts val="16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 dirty="0">
                <a:solidFill>
                  <a:srgbClr val="17211D"/>
                </a:solidFill>
                <a:latin typeface="Arial"/>
              </a:rPr>
              <a:t>Build an </a:t>
            </a:r>
            <a:r>
              <a:rPr sz="1700" b="1" i="0" dirty="0">
                <a:solidFill>
                  <a:srgbClr val="17211D"/>
                </a:solidFill>
                <a:latin typeface="Arial"/>
              </a:rPr>
              <a:t>L-shaped hallway</a:t>
            </a:r>
            <a:r>
              <a:rPr sz="1700" b="0" i="0" dirty="0">
                <a:solidFill>
                  <a:srgbClr val="17211D"/>
                </a:solidFill>
                <a:latin typeface="Arial"/>
              </a:rPr>
              <a:t>: two blocks</a:t>
            </a:r>
            <a:r>
              <a:rPr lang="en-US" sz="1700" b="0" i="0" dirty="0">
                <a:solidFill>
                  <a:srgbClr val="17211D"/>
                </a:solidFill>
                <a:latin typeface="Arial"/>
              </a:rPr>
              <a:t> (5 * 2 * 2)</a:t>
            </a:r>
            <a:r>
              <a:rPr sz="1700" b="0" i="0" dirty="0">
                <a:solidFill>
                  <a:srgbClr val="17211D"/>
                </a:solidFill>
                <a:latin typeface="Arial"/>
              </a:rPr>
              <a:t>, connected end to end</a:t>
            </a:r>
          </a:p>
          <a:p>
            <a:pPr marL="457200" indent="-457200">
              <a:lnSpc>
                <a:spcPct val="108000"/>
              </a:lnSpc>
              <a:spcAft>
                <a:spcPts val="16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 dirty="0">
                <a:solidFill>
                  <a:srgbClr val="17211D"/>
                </a:solidFill>
                <a:latin typeface="Arial"/>
              </a:rPr>
              <a:t>Furniture </a:t>
            </a:r>
            <a:r>
              <a:rPr lang="en-US" sz="1700" b="0" i="0" dirty="0">
                <a:solidFill>
                  <a:srgbClr val="17211D"/>
                </a:solidFill>
                <a:latin typeface="Arial"/>
              </a:rPr>
              <a:t>(</a:t>
            </a:r>
            <a:r>
              <a:rPr lang="en-US" sz="1700" b="1" dirty="0">
                <a:solidFill>
                  <a:srgbClr val="17211D"/>
                </a:solidFill>
                <a:latin typeface="Courier New"/>
              </a:rPr>
              <a:t>1</a:t>
            </a:r>
            <a:r>
              <a:rPr sz="1700" b="1" i="0" dirty="0">
                <a:solidFill>
                  <a:srgbClr val="17211D"/>
                </a:solidFill>
                <a:latin typeface="Courier New"/>
              </a:rPr>
              <a:t>.5</a:t>
            </a:r>
            <a:r>
              <a:rPr lang="en-US" sz="1700" b="1" i="0" dirty="0">
                <a:solidFill>
                  <a:srgbClr val="17211D"/>
                </a:solidFill>
                <a:latin typeface="Courier New"/>
              </a:rPr>
              <a:t> * </a:t>
            </a:r>
            <a:r>
              <a:rPr sz="1700" b="1" i="0" dirty="0">
                <a:solidFill>
                  <a:srgbClr val="17211D"/>
                </a:solidFill>
                <a:latin typeface="Courier New"/>
              </a:rPr>
              <a:t>1.2 </a:t>
            </a:r>
            <a:r>
              <a:rPr lang="en-US" sz="1700" b="1" i="0" dirty="0">
                <a:solidFill>
                  <a:srgbClr val="17211D"/>
                </a:solidFill>
                <a:latin typeface="Courier New"/>
              </a:rPr>
              <a:t>* </a:t>
            </a:r>
            <a:r>
              <a:rPr sz="1700" b="1" i="0" dirty="0">
                <a:solidFill>
                  <a:srgbClr val="17211D"/>
                </a:solidFill>
                <a:latin typeface="Courier New"/>
              </a:rPr>
              <a:t>1.2</a:t>
            </a:r>
            <a:r>
              <a:rPr lang="en-US" sz="1700" b="1" i="0" dirty="0">
                <a:solidFill>
                  <a:srgbClr val="17211D"/>
                </a:solidFill>
                <a:latin typeface="Courier New"/>
              </a:rPr>
              <a:t>)</a:t>
            </a:r>
            <a:r>
              <a:rPr sz="1700" b="0" i="0" dirty="0">
                <a:solidFill>
                  <a:srgbClr val="17211D"/>
                </a:solidFill>
                <a:latin typeface="Arial"/>
              </a:rPr>
              <a:t>, clearance </a:t>
            </a:r>
            <a:r>
              <a:rPr sz="1700" b="1" i="0" dirty="0">
                <a:solidFill>
                  <a:srgbClr val="17211D"/>
                </a:solidFill>
                <a:latin typeface="Courier New"/>
              </a:rPr>
              <a:t>0.1</a:t>
            </a:r>
          </a:p>
          <a:p>
            <a:pPr marL="457200" indent="-457200">
              <a:lnSpc>
                <a:spcPct val="108000"/>
              </a:lnSpc>
              <a:spcAft>
                <a:spcPts val="16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sz="1700" b="0" i="0" dirty="0">
                <a:solidFill>
                  <a:srgbClr val="17211D"/>
                </a:solidFill>
                <a:latin typeface="Arial"/>
              </a:rPr>
              <a:t>Try it </a:t>
            </a:r>
            <a:r>
              <a:rPr sz="1700" b="1" i="0" dirty="0">
                <a:solidFill>
                  <a:srgbClr val="17211D"/>
                </a:solidFill>
                <a:latin typeface="Arial"/>
              </a:rPr>
              <a:t>manually</a:t>
            </a:r>
            <a:r>
              <a:rPr sz="1700" b="0" i="0" dirty="0">
                <a:solidFill>
                  <a:srgbClr val="17211D"/>
                </a:solidFill>
                <a:latin typeface="Arial"/>
              </a:rPr>
              <a:t>, then run </a:t>
            </a:r>
            <a:r>
              <a:rPr sz="1700" b="1" i="0" dirty="0">
                <a:solidFill>
                  <a:srgbClr val="17211D"/>
                </a:solidFill>
                <a:latin typeface="Arial"/>
              </a:rPr>
              <a:t>the auto-solver</a:t>
            </a:r>
          </a:p>
          <a:p>
            <a:pPr marL="457200" indent="-457200">
              <a:lnSpc>
                <a:spcPct val="108000"/>
              </a:lnSpc>
              <a:spcAft>
                <a:spcPts val="1600"/>
              </a:spcAft>
              <a:buClr>
                <a:srgbClr val="166B50"/>
              </a:buClr>
              <a:buSzPct val="100000"/>
              <a:buFont typeface="Arial"/>
              <a:buAutoNum type="arabicPeriod"/>
            </a:pPr>
            <a:r>
              <a:rPr lang="en-US" sz="1700" b="0" i="0" dirty="0">
                <a:solidFill>
                  <a:srgbClr val="17211D"/>
                </a:solidFill>
                <a:latin typeface="Arial"/>
              </a:rPr>
              <a:t>Increase the furniture size</a:t>
            </a:r>
            <a:r>
              <a:rPr sz="1700" b="0" i="0" dirty="0">
                <a:solidFill>
                  <a:srgbClr val="17211D"/>
                </a:solidFill>
                <a:latin typeface="Arial"/>
              </a:rPr>
              <a:t> until it </a:t>
            </a:r>
            <a:r>
              <a:rPr sz="1700" b="1" i="0" dirty="0">
                <a:solidFill>
                  <a:srgbClr val="17211D"/>
                </a:solidFill>
                <a:latin typeface="Arial"/>
              </a:rPr>
              <a:t>stops fitting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0" y="2159000"/>
            <a:ext cx="5143500" cy="2794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0000" y="2476500"/>
            <a:ext cx="51435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6000" b="0" i="0">
                <a:solidFill>
                  <a:srgbClr val="17211D"/>
                </a:solidFill>
                <a:latin typeface="Arial"/>
              </a:rPr>
              <a:t>🛋️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3556000"/>
            <a:ext cx="4381500" cy="745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 dirty="0">
                <a:solidFill>
                  <a:srgbClr val="17211D"/>
                </a:solidFill>
                <a:latin typeface="Arial"/>
              </a:rPr>
              <a:t>What's the </a:t>
            </a:r>
            <a:r>
              <a:rPr lang="en-US" sz="2200" b="1" i="0" dirty="0">
                <a:solidFill>
                  <a:srgbClr val="17211D"/>
                </a:solidFill>
                <a:latin typeface="Arial"/>
              </a:rPr>
              <a:t>largest sofa that fits your hallway</a:t>
            </a:r>
            <a:r>
              <a:rPr sz="2200" b="1" i="0" dirty="0">
                <a:solidFill>
                  <a:srgbClr val="17211D"/>
                </a:solidFill>
                <a:latin typeface="Arial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0" y="4381500"/>
            <a:ext cx="43815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5D6963"/>
                </a:solidFill>
                <a:latin typeface="Arial"/>
              </a:rPr>
              <a:t>Share your number in the comments.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52F4E8-DAE5-BD11-0FE5-AADE50D7AF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2696" y="4699000"/>
            <a:ext cx="1991306" cy="193344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8EC915-34A4-8D52-7BB7-92C6FD63FE32}"/>
              </a:ext>
            </a:extLst>
          </p:cNvPr>
          <p:cNvCxnSpPr/>
          <p:nvPr/>
        </p:nvCxnSpPr>
        <p:spPr>
          <a:xfrm flipH="1">
            <a:off x="3467819" y="4953000"/>
            <a:ext cx="638355" cy="136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D9A6F3-C46D-A38F-8F5D-E2B5F340021C}"/>
              </a:ext>
            </a:extLst>
          </p:cNvPr>
          <p:cNvCxnSpPr/>
          <p:nvPr/>
        </p:nvCxnSpPr>
        <p:spPr>
          <a:xfrm flipH="1">
            <a:off x="1777202" y="6528930"/>
            <a:ext cx="638355" cy="136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52F06BB-3C43-321D-839B-F08688EFA4C5}"/>
              </a:ext>
            </a:extLst>
          </p:cNvPr>
          <p:cNvSpPr txBox="1"/>
          <p:nvPr/>
        </p:nvSpPr>
        <p:spPr>
          <a:xfrm>
            <a:off x="4106174" y="4836626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entrance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8B4FFB-1F16-2042-7C57-59A2D3BE8135}"/>
              </a:ext>
            </a:extLst>
          </p:cNvPr>
          <p:cNvSpPr txBox="1"/>
          <p:nvPr/>
        </p:nvSpPr>
        <p:spPr>
          <a:xfrm>
            <a:off x="1157568" y="6447781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exit</a:t>
            </a:r>
          </a:p>
        </p:txBody>
      </p:sp>
      <p:pic>
        <p:nvPicPr>
          <p:cNvPr id="27" name="Audio 26">
            <a:extLst>
              <a:ext uri="{FF2B5EF4-FFF2-40B4-BE49-F238E27FC236}">
                <a16:creationId xmlns:a16="http://schemas.microsoft.com/office/drawing/2014/main" id="{AE815F0D-F97D-EB68-0E5A-A7F7EBAB76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465"/>
    </mc:Choice>
    <mc:Fallback xmlns="">
      <p:transition spd="slow" advTm="354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B5A45"/>
            </a:gs>
            <a:gs pos="100000">
              <a:srgbClr val="08140F"/>
            </a:gs>
          </a:gsLst>
          <a:lin ang="19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8500" y="533400"/>
            <a:ext cx="1435100" cy="292100"/>
          </a:xfrm>
          <a:prstGeom prst="roundRect">
            <a:avLst>
              <a:gd name="adj" fmla="val 50000"/>
            </a:avLst>
          </a:prstGeom>
          <a:solidFill>
            <a:srgbClr val="2F4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 spc="150">
                <a:solidFill>
                  <a:srgbClr val="D6EF5B"/>
                </a:solidFill>
                <a:latin typeface="Arial"/>
              </a:rPr>
              <a:t>TRY IT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500" y="952500"/>
            <a:ext cx="1079500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EF5F0"/>
                </a:solidFill>
                <a:latin typeface="Arial"/>
              </a:rPr>
              <a:t>Open it in your browser</a:t>
            </a:r>
          </a:p>
        </p:txBody>
      </p:sp>
      <p:sp>
        <p:nvSpPr>
          <p:cNvPr id="4" name="Rounded Rectangle 3">
            <a:hlinkClick r:id="rId5"/>
          </p:cNvPr>
          <p:cNvSpPr/>
          <p:nvPr/>
        </p:nvSpPr>
        <p:spPr>
          <a:xfrm>
            <a:off x="698500" y="2095500"/>
            <a:ext cx="6604000" cy="1206500"/>
          </a:xfrm>
          <a:prstGeom prst="roundRect">
            <a:avLst>
              <a:gd name="adj" fmla="val 14000"/>
            </a:avLst>
          </a:prstGeom>
          <a:solidFill>
            <a:srgbClr val="D6E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rIns="254000" rtlCol="0" anchor="ctr"/>
          <a:lstStyle/>
          <a:p>
            <a:pPr algn="l"/>
            <a:r>
              <a:rPr sz="1200" b="1" i="0" spc="150" dirty="0">
                <a:solidFill>
                  <a:srgbClr val="0E2F26"/>
                </a:solidFill>
                <a:latin typeface="Arial"/>
              </a:rPr>
              <a:t>LAUNCH THE APP  —  NO INSTALL</a:t>
            </a:r>
          </a:p>
          <a:p>
            <a:pPr algn="l">
              <a:spcBef>
                <a:spcPts val="400"/>
              </a:spcBef>
            </a:pPr>
            <a:r>
              <a:rPr sz="2600" b="1" i="0" dirty="0">
                <a:solidFill>
                  <a:srgbClr val="0E2F26"/>
                </a:solidFill>
                <a:latin typeface="Arial"/>
              </a:rPr>
              <a:t>volcano1998.github.io/FurnitureSim_3D</a:t>
            </a:r>
          </a:p>
        </p:txBody>
      </p:sp>
      <p:sp>
        <p:nvSpPr>
          <p:cNvPr id="5" name="Rounded Rectangle 4">
            <a:hlinkClick r:id="rId6"/>
          </p:cNvPr>
          <p:cNvSpPr/>
          <p:nvPr/>
        </p:nvSpPr>
        <p:spPr>
          <a:xfrm>
            <a:off x="698500" y="3492500"/>
            <a:ext cx="6604000" cy="762000"/>
          </a:xfrm>
          <a:prstGeom prst="roundRect">
            <a:avLst>
              <a:gd name="adj" fmla="val 14000"/>
            </a:avLst>
          </a:prstGeom>
          <a:solidFill>
            <a:srgbClr val="27483C"/>
          </a:solidFill>
          <a:ln w="12700">
            <a:solidFill>
              <a:srgbClr val="3E5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rIns="254000" rtlCol="0" anchor="ctr"/>
          <a:lstStyle/>
          <a:p>
            <a:pPr algn="l"/>
            <a:r>
              <a:rPr sz="1200" b="1" i="0" spc="150">
                <a:solidFill>
                  <a:srgbClr val="D6EF5B"/>
                </a:solidFill>
                <a:latin typeface="Arial"/>
              </a:rPr>
              <a:t>SLIDES + POWERPOINT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EEF5F0"/>
                </a:solidFill>
                <a:latin typeface="Arial"/>
              </a:rPr>
              <a:t>volcano1998.github.io/FurnitureSim_3D/slides</a:t>
            </a:r>
          </a:p>
        </p:txBody>
      </p:sp>
      <p:sp>
        <p:nvSpPr>
          <p:cNvPr id="6" name="Rounded Rectangle 5">
            <a:hlinkClick r:id="rId7"/>
          </p:cNvPr>
          <p:cNvSpPr/>
          <p:nvPr/>
        </p:nvSpPr>
        <p:spPr>
          <a:xfrm>
            <a:off x="698500" y="4381500"/>
            <a:ext cx="6604000" cy="762000"/>
          </a:xfrm>
          <a:prstGeom prst="roundRect">
            <a:avLst>
              <a:gd name="adj" fmla="val 14000"/>
            </a:avLst>
          </a:prstGeom>
          <a:solidFill>
            <a:srgbClr val="27483C"/>
          </a:solidFill>
          <a:ln w="12700">
            <a:solidFill>
              <a:srgbClr val="3E5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rIns="254000" rtlCol="0" anchor="ctr"/>
          <a:lstStyle/>
          <a:p>
            <a:pPr algn="l"/>
            <a:r>
              <a:rPr sz="1200" b="1" i="0" spc="150">
                <a:solidFill>
                  <a:srgbClr val="D6EF5B"/>
                </a:solidFill>
                <a:latin typeface="Arial"/>
              </a:rPr>
              <a:t>SOURCE CODE ON GITHUB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EEF5F0"/>
                </a:solidFill>
                <a:latin typeface="Arial"/>
              </a:rPr>
              <a:t>github.com/volcano1998/FurnitureSim_3D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4445000"/>
            <a:ext cx="37465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DB5AA"/>
                </a:solidFill>
                <a:latin typeface="Arial"/>
              </a:rPr>
              <a:t>Click any card to open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" y="5397500"/>
            <a:ext cx="6604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9DB5AA"/>
                </a:solidFill>
                <a:latin typeface="Arial"/>
              </a:rPr>
              <a:t>Prefer to run it locally? One command: </a:t>
            </a:r>
            <a:r>
              <a:rPr sz="1300" b="1" i="0">
                <a:solidFill>
                  <a:srgbClr val="D7EFE2"/>
                </a:solidFill>
                <a:latin typeface="Courier New"/>
              </a:rPr>
              <a:t>python3 -m http.server 8000</a:t>
            </a:r>
            <a:r>
              <a:rPr sz="1300" b="0" i="0">
                <a:solidFill>
                  <a:srgbClr val="9DB5AA"/>
                </a:solidFill>
                <a:latin typeface="Arial"/>
              </a:rPr>
              <a:t> — see the README.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" y="5842000"/>
            <a:ext cx="10795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3400" b="1" i="0">
                <a:solidFill>
                  <a:srgbClr val="EEF5F0"/>
                </a:solidFill>
                <a:latin typeface="Arial"/>
              </a:rPr>
              <a:t>Thanks for watching — </a:t>
            </a:r>
            <a:r>
              <a:rPr sz="3400" b="1" i="0">
                <a:solidFill>
                  <a:srgbClr val="D6EF5B"/>
                </a:solidFill>
                <a:latin typeface="Arial"/>
              </a:rPr>
              <a:t>go move some couches.</a:t>
            </a:r>
          </a:p>
        </p:txBody>
      </p:sp>
      <p:pic>
        <p:nvPicPr>
          <p:cNvPr id="18" name="Audio 17">
            <a:extLst>
              <a:ext uri="{FF2B5EF4-FFF2-40B4-BE49-F238E27FC236}">
                <a16:creationId xmlns:a16="http://schemas.microsoft.com/office/drawing/2014/main" id="{28A8BAC5-D357-9E07-A61D-C0A204D04C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  <p:pic>
        <p:nvPicPr>
          <p:cNvPr id="19" name="Picture 18" descr="r_n_f80.jpg">
            <a:hlinkClick r:id="rId5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7000" y="2095500"/>
            <a:ext cx="3746500" cy="2341562"/>
          </a:xfrm>
          <a:prstGeom prst="rect">
            <a:avLst/>
          </a:prstGeom>
          <a:ln w="12700">
            <a:solidFill>
              <a:srgbClr val="CFD8D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146"/>
    </mc:Choice>
    <mc:Fallback xmlns="">
      <p:transition spd="slow" advTm="231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2.1|6.1|3.5|6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1|5|4.2|5.6|6.5|1.6|1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2734</Words>
  <Application>Microsoft Macintosh PowerPoint</Application>
  <PresentationFormat>Widescreen</PresentationFormat>
  <Paragraphs>267</Paragraphs>
  <Slides>16</Slides>
  <Notes>16</Notes>
  <HiddenSlides>1</HiddenSlides>
  <MMClips>17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Can Luo</cp:lastModifiedBy>
  <cp:revision>11</cp:revision>
  <dcterms:created xsi:type="dcterms:W3CDTF">2013-01-27T09:14:16Z</dcterms:created>
  <dcterms:modified xsi:type="dcterms:W3CDTF">2026-10-24T19:31:28Z</dcterms:modified>
  <cp:category/>
</cp:coreProperties>
</file>