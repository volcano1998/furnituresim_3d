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9" r:id="rId5"/>
    <p:sldId id="280" r:id="rId6"/>
    <p:sldId id="281" r:id="rId7"/>
    <p:sldId id="276" r:id="rId8"/>
    <p:sldId id="277" r:id="rId9"/>
    <p:sldId id="278" r:id="rId10"/>
    <p:sldId id="264" r:id="rId11"/>
    <p:sldId id="265" r:id="rId12"/>
    <p:sldId id="266" r:id="rId13"/>
    <p:sldId id="267" r:id="rId14"/>
    <p:sldId id="268"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95"/>
    <p:restoredTop sz="68915"/>
  </p:normalViewPr>
  <p:slideViewPr>
    <p:cSldViewPr snapToGrid="0" snapToObjects="1">
      <p:cViewPr varScale="1">
        <p:scale>
          <a:sx n="74" d="100"/>
          <a:sy n="74" d="100"/>
        </p:scale>
        <p:origin x="136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
            </a:r>
            <a:r>
              <a:rPr lang="en-US" dirty="0"/>
              <a:t>is</a:t>
            </a:r>
            <a:r>
              <a:rPr dirty="0"/>
              <a:t> app gives you three ways to answer the question.</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First, </a:t>
            </a:r>
            <a:r>
              <a:rPr lang="en-US" dirty="0"/>
              <a:t>manual mode, where you grab the furniture yourself and try it virtually.</a:t>
            </a:r>
          </a:p>
          <a:p>
            <a:endParaRPr dirty="0"/>
          </a:p>
          <a:p>
            <a:r>
              <a:rPr dirty="0"/>
              <a:t>Second, a deterministic straight-shot heuristic.</a:t>
            </a:r>
          </a:p>
          <a:p>
            <a:endParaRPr dirty="0"/>
          </a:p>
          <a:p>
            <a:r>
              <a:rPr dirty="0"/>
              <a:t>Third, </a:t>
            </a:r>
            <a:r>
              <a:rPr lang="en-US" dirty="0"/>
              <a:t>a probabilistic solver using motion planning algorithm called RRT-Connect, </a:t>
            </a:r>
          </a:p>
          <a:p>
            <a:endParaRPr lang="en-US" dirty="0"/>
          </a:p>
          <a:p>
            <a:r>
              <a:rPr lang="en-US" dirty="0"/>
              <a:t>and </a:t>
            </a:r>
            <a:r>
              <a:rPr dirty="0"/>
              <a:t>Everything follows four simple steps: build the room, choose the entrance and exit, describe the furniture, and solve. Let's walk through each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for the fun part: building the place your furniture has to travel through.</a:t>
            </a:r>
          </a:p>
          <a:p>
            <a:endParaRPr dirty="0"/>
          </a:p>
          <a:p>
            <a:r>
              <a:rPr dirty="0"/>
              <a:t>And here's the best thing about this app: you're not stuck with one shape. Look at these five</a:t>
            </a:r>
            <a:r>
              <a:rPr lang="en-US" dirty="0"/>
              <a:t> models</a:t>
            </a:r>
            <a:r>
              <a:rPr dirty="0"/>
              <a:t>. </a:t>
            </a:r>
            <a:r>
              <a:rPr lang="en-US" dirty="0"/>
              <a:t>An L-shaped hallway, a zig-zag hallway, U-shaped, S-shaped staircase, and a post-modern super twisted staircase. </a:t>
            </a:r>
            <a:r>
              <a:rPr dirty="0"/>
              <a:t> They're all made from </a:t>
            </a:r>
            <a:r>
              <a:rPr lang="en-US" dirty="0"/>
              <a:t>simple </a:t>
            </a:r>
            <a:r>
              <a:rPr dirty="0"/>
              <a:t>blocks. The only difference is how the blocks are shaped and connected.</a:t>
            </a:r>
          </a:p>
          <a:p>
            <a:endParaRPr dirty="0"/>
          </a:p>
          <a:p>
            <a:r>
              <a:rPr dirty="0"/>
              <a:t>The recipe is always the same. You shape some blocks, you connect them together, and then you test your furniture inside.</a:t>
            </a:r>
          </a:p>
          <a:p>
            <a:endParaRPr dirty="0"/>
          </a:p>
          <a:p>
            <a:r>
              <a:rPr dirty="0"/>
              <a:t>So whatever your own home looks like, a narrow stair, a tight corner, a crooked hallway, you can build it. Let me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shape your blocks. There are just three things to learn.</a:t>
            </a:r>
          </a:p>
          <a:p>
            <a:endParaRPr/>
          </a:p>
          <a:p>
            <a:r>
              <a:t>First, stretch. Every block has length sliders. Drag one and the block gets longer, wider or taller. Here's a short block, and here's the same block stretched out into a long hallway.</a:t>
            </a:r>
          </a:p>
          <a:p>
            <a:endParaRPr/>
          </a:p>
          <a:p>
            <a:r>
              <a:t>Second, tilt. The angle sliders lean the block over. A box with right angles is a plain hallway, but pull one angle down to sixty degrees and you get a slanted block. That's how you make a ramp, or the slope of a staircase.</a:t>
            </a:r>
          </a:p>
          <a:p>
            <a:endParaRPr/>
          </a:p>
          <a:p>
            <a:r>
              <a:t>And third, add more. Press "Add object" and another block appears. Add as many as you need.</a:t>
            </a:r>
          </a:p>
          <a:p>
            <a:endParaRPr/>
          </a:p>
          <a:p>
            <a:r>
              <a:t>That's the whole toolbox: stretch, tilt, add. The next step is gluing them together.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two: connect the blocks. Press "Connect two objects", then click one face on each block you want to join.</a:t>
            </a:r>
          </a:p>
          <a:p>
            <a:endParaRPr/>
          </a:p>
          <a:p>
            <a:r>
              <a:t>A small preview window opens with three sliders. When two blocks first snap together, they can stick out the wrong way, like on the left.</a:t>
            </a:r>
          </a:p>
          <a:p>
            <a:endParaRPr/>
          </a:p>
          <a:p>
            <a:r>
              <a:t>So you drag the sliders. One rotates the block around the surface it's attached to, and the other two slide it along that surface. Rotating changes the angle between the two surfaces, and that's the trick that bends a hallway, or turns a flat block into stairs.</a:t>
            </a:r>
          </a:p>
          <a:p>
            <a:endParaRPr/>
          </a:p>
          <a:p>
            <a:r>
              <a:t>Watch the right-hand picture: the same two blocks, now lined up into one continuous staircase. When it looks right, press Apply, then repeat for the next joint.</a:t>
            </a:r>
          </a:p>
          <a:p>
            <a:endParaRPr/>
          </a:p>
          <a:p>
            <a:r>
              <a:t>Shape, connect, adjust. With those three moves you can build whatever your own home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two and three are quick.</a:t>
            </a:r>
          </a:p>
          <a:p>
            <a:endParaRPr/>
          </a:p>
          <a:p>
            <a:r>
              <a:t>First, tell the app where the furniture comes in and where it has to come out. Click the end of the bottom hallway for the entrance, and the top for the exit. Press "Confirm 3D model" and the walls turn see-through.</a:t>
            </a:r>
          </a:p>
          <a:p>
            <a:endParaRPr/>
          </a:p>
          <a:p>
            <a:r>
              <a:t>Those two faces are the only doorways. Every other wall is solid, so the furniture can't cheat by walking through one.</a:t>
            </a:r>
          </a:p>
          <a:p>
            <a:endParaRPr/>
          </a:p>
          <a:p>
            <a:r>
              <a:t>Then type in the size of your furniture: length, width and height. The green box next to the building is a preview of it. I'll start with a big sofa, two and a half by one point two by one point two.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let the computer try, try it yourself. Press "Try manually" and the furniture starts just outside the entrance.</a:t>
            </a:r>
          </a:p>
          <a:p>
            <a:endParaRPr/>
          </a:p>
          <a:p>
            <a:r>
              <a:t>Hold the M key and drag it into the building. The box turns green when it's legal, yellow when it's outside, and red when it hits a wall. Use the sliders to tilt and lift it.</a:t>
            </a:r>
          </a:p>
          <a:p>
            <a:endParaRPr/>
          </a:p>
          <a:p>
            <a:r>
              <a:t>If you get stuck, Auto Pilot lines the furniture up with a wall for you. Reach the exit and you win.</a:t>
            </a:r>
          </a:p>
          <a:p>
            <a:endParaRPr/>
          </a:p>
          <a:p>
            <a:r>
              <a:t>It's trickier than it looks, which is exactly why a planner is so useful.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the computer try. Press "Run selected solver", and the planner searches for a path.</a:t>
            </a:r>
          </a:p>
          <a:p>
            <a:endParaRPr/>
          </a:p>
          <a:p>
            <a:r>
              <a:t>With the big sofa, it comes back: "No route found". Now, be careful how you read that. The search is random, so it can't prove that no route exists. It's strong evidence, not a guarantee. So we change something.</a:t>
            </a:r>
          </a:p>
          <a:p>
            <a:endParaRPr/>
          </a:p>
          <a:p>
            <a:r>
              <a:t>I'll shrink the furniture and run it again. And this time: "It fits!" You can drag the timeline and watch the box travel up the stairs, tilting to follow the slope.</a:t>
            </a:r>
          </a:p>
          <a:p>
            <a:endParaRPr/>
          </a:p>
          <a:p>
            <a:r>
              <a:t>Same building, same solver. The only thing that changed was the size of the furniture. That's the whole point: you can test a move before you ever lift a couch.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one: how do you describe where a couch is?</a:t>
            </a:r>
          </a:p>
          <a:p>
            <a:endParaRPr dirty="0"/>
          </a:p>
          <a:p>
            <a:r>
              <a:rPr dirty="0"/>
              <a:t>With six numbers. X, Y and Z for position, and yaw, pitch and roll for rotation.</a:t>
            </a:r>
          </a:p>
          <a:p>
            <a:endParaRPr dirty="0"/>
          </a:p>
          <a:p>
            <a:r>
              <a:rPr dirty="0"/>
              <a:t>The code stores that as a simple object, and converts the three angles into a quaternion, using Z-Y-X Euler order. We use the same convention everywhere, so rendering, collision checking and saving always agree.</a:t>
            </a:r>
          </a:p>
          <a:p>
            <a:endParaRPr dirty="0"/>
          </a:p>
          <a:p>
            <a:r>
              <a:rPr dirty="0"/>
              <a:t>And here's a neat trick: turn off "Allow roll sampling" and the search drops from six dimensions to five. That makes it faster, and most furniture never needs to barrel-roll anyway.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two: given a pose, is it legal?</a:t>
            </a:r>
          </a:p>
          <a:p>
            <a:endParaRPr dirty="0"/>
          </a:p>
          <a:p>
            <a:r>
              <a:rPr dirty="0"/>
              <a:t>If every </a:t>
            </a:r>
            <a:r>
              <a:rPr lang="en-US" dirty="0"/>
              <a:t>boundary point of the furniture </a:t>
            </a:r>
            <a:r>
              <a:rPr dirty="0"/>
              <a:t>is inside the room, the pose is legal.</a:t>
            </a:r>
          </a:p>
          <a:p>
            <a:endParaRPr dirty="0"/>
          </a:p>
          <a:p>
            <a:r>
              <a:rPr dirty="0"/>
              <a:t>To check a move between two poses, we interpolate and test every little step along the way.</a:t>
            </a:r>
          </a:p>
          <a:p>
            <a:endParaRPr dirty="0"/>
          </a:p>
          <a:p>
            <a:r>
              <a:rPr dirty="0"/>
              <a:t>And crossing a wall? That's only allowed through the entrance or exit.</a:t>
            </a:r>
          </a:p>
          <a:p>
            <a:endParaRPr dirty="0"/>
          </a:p>
          <a:p>
            <a:r>
              <a:rPr dirty="0"/>
              <a:t>It's the exact same check for manual mode and for both solvers.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second solver is the straight-shot heuristic, and it's the opposite of random.</a:t>
            </a:r>
          </a:p>
          <a:p>
            <a:endParaRPr dirty="0"/>
          </a:p>
          <a:p>
            <a:r>
              <a:rPr dirty="0"/>
              <a:t>The travel direction is the room edge that isn't part of the entrance face. We line up the furniture's longest axis with it, project the doorway along that direction, and check whether the furniture's cross-section, with clearance, fits through.</a:t>
            </a:r>
          </a:p>
          <a:p>
            <a:endParaRPr dirty="0"/>
          </a:p>
          <a:p>
            <a:r>
              <a:rPr dirty="0"/>
              <a:t>If it does, we </a:t>
            </a:r>
            <a:r>
              <a:rPr dirty="0" err="1"/>
              <a:t>centre</a:t>
            </a:r>
            <a:r>
              <a:rPr dirty="0"/>
              <a:t> it, park it outside, and slide it straight in.</a:t>
            </a:r>
          </a:p>
          <a:p>
            <a:endParaRPr dirty="0"/>
          </a:p>
          <a:p>
            <a:r>
              <a:rPr dirty="0"/>
              <a:t>For rooms made of several blocks, it hands off between blocks using a short RRT.</a:t>
            </a:r>
          </a:p>
          <a:p>
            <a:endParaRPr dirty="0"/>
          </a:p>
          <a:p>
            <a:r>
              <a:rPr dirty="0"/>
              <a:t>My rule of thumb: use the heuristic for a fast yes on </a:t>
            </a:r>
            <a:r>
              <a:rPr lang="en-US" dirty="0"/>
              <a:t>simple straight room</a:t>
            </a:r>
            <a:r>
              <a:rPr dirty="0"/>
              <a:t>, and RRT-Connect when you need real </a:t>
            </a:r>
            <a:r>
              <a:rPr dirty="0" err="1"/>
              <a:t>manoeuvring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it's your turn.</a:t>
            </a:r>
          </a:p>
          <a:p>
            <a:endParaRPr dirty="0"/>
          </a:p>
          <a:p>
            <a:r>
              <a:rPr dirty="0"/>
              <a:t>Build an L-shaped hallway out of two connected blocks. </a:t>
            </a:r>
            <a:r>
              <a:rPr lang="en-US" dirty="0"/>
              <a:t>You can make</a:t>
            </a:r>
            <a:r>
              <a:rPr dirty="0"/>
              <a:t> furniture </a:t>
            </a:r>
            <a:r>
              <a:rPr lang="en-US" dirty="0"/>
              <a:t>and clearance </a:t>
            </a:r>
            <a:r>
              <a:rPr dirty="0"/>
              <a:t>of</a:t>
            </a:r>
            <a:r>
              <a:rPr lang="en-US" dirty="0"/>
              <a:t> this size</a:t>
            </a:r>
          </a:p>
          <a:p>
            <a:endParaRPr dirty="0"/>
          </a:p>
          <a:p>
            <a:r>
              <a:rPr dirty="0"/>
              <a:t>Try it manually first. Then run both solvers.</a:t>
            </a:r>
          </a:p>
          <a:p>
            <a:endParaRPr dirty="0"/>
          </a:p>
          <a:p>
            <a:r>
              <a:rPr dirty="0"/>
              <a:t>Then </a:t>
            </a:r>
            <a:r>
              <a:rPr lang="en-US" dirty="0"/>
              <a:t>increase the furniture size </a:t>
            </a:r>
            <a:r>
              <a:rPr dirty="0"/>
              <a:t>until it stops fitting, and see whether roll sampling rescues it.</a:t>
            </a:r>
          </a:p>
          <a:p>
            <a:endParaRPr dirty="0"/>
          </a:p>
          <a:p>
            <a:r>
              <a:rPr dirty="0"/>
              <a:t>So here's the question: what's the</a:t>
            </a:r>
            <a:r>
              <a:rPr lang="en-US" dirty="0"/>
              <a:t> </a:t>
            </a:r>
            <a:r>
              <a:rPr lang="en-US" sz="1200" b="1" i="0" dirty="0">
                <a:solidFill>
                  <a:srgbClr val="17211D"/>
                </a:solidFill>
                <a:latin typeface="Arial"/>
              </a:rPr>
              <a:t>largest sofa that fits your hallway</a:t>
            </a:r>
            <a:r>
              <a:rPr dirty="0"/>
              <a:t>?</a:t>
            </a:r>
          </a:p>
          <a:p>
            <a:endParaRPr dirty="0"/>
          </a:p>
          <a:p>
            <a:r>
              <a:rPr dirty="0"/>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audio" Target="../media/media2.m4a"/><Relationship Id="rId2" Type="http://schemas.microsoft.com/office/2007/relationships/media" Target="../media/media2.m4a"/><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2" Type="http://schemas.microsoft.com/office/2007/relationships/media" Target="../media/media3.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png"/><Relationship Id="rId5" Type="http://schemas.openxmlformats.org/officeDocument/2006/relationships/image" Target="../media/image24.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3.png"/><Relationship Id="rId5" Type="http://schemas.openxmlformats.org/officeDocument/2006/relationships/image" Target="../media/image2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slideLayout" Target="../slideLayouts/slideLayout7.xml"/><Relationship Id="rId7" Type="http://schemas.openxmlformats.org/officeDocument/2006/relationships/hyperlink" Target="https://github.com/volcano1998/FurnitureSim_3D" TargetMode="Externa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https://volcano1998.github.io/FurnitureSim_3D/slides/" TargetMode="External"/><Relationship Id="rId5" Type="http://schemas.openxmlformats.org/officeDocument/2006/relationships/hyperlink" Target="https://volcano1998.github.io/FurnitureSim_3D/" TargetMode="External"/><Relationship Id="rId4" Type="http://schemas.openxmlformats.org/officeDocument/2006/relationships/notesSlide" Target="../notesSlides/notesSlide17.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three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819658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4" name="Group 23">
            <a:extLst>
              <a:ext uri="{FF2B5EF4-FFF2-40B4-BE49-F238E27FC236}">
                <a16:creationId xmlns:a16="http://schemas.microsoft.com/office/drawing/2014/main" id="{6397C192-1A80-1117-96B7-11AAAFB625F1}"/>
              </a:ext>
            </a:extLst>
          </p:cNvPr>
          <p:cNvGrpSpPr/>
          <p:nvPr/>
        </p:nvGrpSpPr>
        <p:grpSpPr>
          <a:xfrm>
            <a:off x="4381500" y="2095500"/>
            <a:ext cx="3429000" cy="2095500"/>
            <a:chOff x="4381500" y="2095500"/>
            <a:chExt cx="3429000" cy="2095500"/>
          </a:xfrm>
        </p:grpSpPr>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2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dirty="0">
                  <a:solidFill>
                    <a:srgbClr val="17211D"/>
                  </a:solidFill>
                  <a:latin typeface="Arial"/>
                </a:rPr>
                <a:t>Deterministic solver</a:t>
              </a:r>
              <a:endParaRPr sz="2000" b="1" i="0" dirty="0">
                <a:solidFill>
                  <a:srgbClr val="17211D"/>
                </a:solidFill>
                <a:latin typeface="Arial"/>
              </a:endParaRPr>
            </a:p>
          </p:txBody>
        </p:sp>
        <p:sp>
          <p:nvSpPr>
            <p:cNvPr id="11" name="TextBox 10"/>
            <p:cNvSpPr txBox="1"/>
            <p:nvPr/>
          </p:nvSpPr>
          <p:spPr>
            <a:xfrm>
              <a:off x="4622800" y="3048000"/>
              <a:ext cx="2952750" cy="510909"/>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a deterministic straight-shot heuristic.</a:t>
              </a: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5080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any shape you can imagine</a:t>
            </a:r>
          </a:p>
        </p:txBody>
      </p:sp>
      <p:sp>
        <p:nvSpPr>
          <p:cNvPr id="4" name="TextBox 3"/>
          <p:cNvSpPr txBox="1"/>
          <p:nvPr/>
        </p:nvSpPr>
        <p:spPr>
          <a:xfrm>
            <a:off x="698500" y="1619250"/>
            <a:ext cx="10795000" cy="285271"/>
          </a:xfrm>
          <a:prstGeom prst="rect">
            <a:avLst/>
          </a:prstGeom>
          <a:noFill/>
        </p:spPr>
        <p:txBody>
          <a:bodyPr wrap="square" lIns="0" tIns="0" rIns="0" bIns="0" anchor="t">
            <a:spAutoFit/>
          </a:bodyPr>
          <a:lstStyle/>
          <a:p>
            <a:pPr algn="l">
              <a:lnSpc>
                <a:spcPct val="112000"/>
              </a:lnSpc>
              <a:spcAft>
                <a:spcPts val="0"/>
              </a:spcAft>
            </a:pPr>
            <a:r>
              <a:rPr lang="en-US" sz="1800" b="0" i="0" dirty="0">
                <a:solidFill>
                  <a:srgbClr val="5D6963"/>
                </a:solidFill>
                <a:latin typeface="Arial"/>
              </a:rPr>
              <a:t>They are all built in my app!</a:t>
            </a:r>
            <a:endParaRPr sz="1800" b="0" i="0" dirty="0">
              <a:solidFill>
                <a:srgbClr val="5D6963"/>
              </a:solidFill>
              <a:latin typeface="Arial"/>
            </a:endParaRPr>
          </a:p>
        </p:txBody>
      </p:sp>
      <p:sp>
        <p:nvSpPr>
          <p:cNvPr id="7" name="TextBox 6"/>
          <p:cNvSpPr txBox="1"/>
          <p:nvPr/>
        </p:nvSpPr>
        <p:spPr>
          <a:xfrm>
            <a:off x="698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L-shaped hallway</a:t>
            </a:r>
            <a:endParaRPr sz="1600" b="1" i="0" dirty="0">
              <a:solidFill>
                <a:srgbClr val="17211D"/>
              </a:solidFill>
              <a:latin typeface="Arial"/>
            </a:endParaRPr>
          </a:p>
        </p:txBody>
      </p:sp>
      <p:sp>
        <p:nvSpPr>
          <p:cNvPr id="10" name="TextBox 9"/>
          <p:cNvSpPr txBox="1"/>
          <p:nvPr/>
        </p:nvSpPr>
        <p:spPr>
          <a:xfrm>
            <a:off x="2889250" y="4241800"/>
            <a:ext cx="2032000" cy="253531"/>
          </a:xfrm>
          <a:prstGeom prst="rect">
            <a:avLst/>
          </a:prstGeom>
          <a:noFill/>
        </p:spPr>
        <p:txBody>
          <a:bodyPr wrap="square" lIns="0" tIns="0" rIns="0" bIns="0" anchor="t">
            <a:spAutoFit/>
          </a:bodyPr>
          <a:lstStyle/>
          <a:p>
            <a:pPr algn="ctr">
              <a:lnSpc>
                <a:spcPct val="112000"/>
              </a:lnSpc>
              <a:spcAft>
                <a:spcPts val="0"/>
              </a:spcAft>
            </a:pPr>
            <a:r>
              <a:rPr sz="1600" b="1" i="0" dirty="0">
                <a:solidFill>
                  <a:srgbClr val="17211D"/>
                </a:solidFill>
                <a:latin typeface="Arial"/>
              </a:rPr>
              <a:t>Zig-zag</a:t>
            </a:r>
            <a:r>
              <a:rPr lang="en-US" sz="1600" b="1" i="0" dirty="0">
                <a:solidFill>
                  <a:srgbClr val="17211D"/>
                </a:solidFill>
                <a:latin typeface="Arial"/>
              </a:rPr>
              <a:t> hallway</a:t>
            </a:r>
            <a:endParaRPr sz="1600" b="1" i="0" dirty="0">
              <a:solidFill>
                <a:srgbClr val="17211D"/>
              </a:solidFill>
              <a:latin typeface="Arial"/>
            </a:endParaRPr>
          </a:p>
        </p:txBody>
      </p:sp>
      <p:sp>
        <p:nvSpPr>
          <p:cNvPr id="13" name="TextBox 12"/>
          <p:cNvSpPr txBox="1"/>
          <p:nvPr/>
        </p:nvSpPr>
        <p:spPr>
          <a:xfrm>
            <a:off x="50800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U-shaped staircase</a:t>
            </a:r>
            <a:endParaRPr sz="1600" b="1" i="0" dirty="0">
              <a:solidFill>
                <a:srgbClr val="17211D"/>
              </a:solidFill>
              <a:latin typeface="Arial"/>
            </a:endParaRPr>
          </a:p>
        </p:txBody>
      </p:sp>
      <p:sp>
        <p:nvSpPr>
          <p:cNvPr id="16" name="TextBox 15"/>
          <p:cNvSpPr txBox="1"/>
          <p:nvPr/>
        </p:nvSpPr>
        <p:spPr>
          <a:xfrm>
            <a:off x="727075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S-shaped staircase</a:t>
            </a:r>
            <a:endParaRPr sz="1600" b="1" i="0" dirty="0">
              <a:solidFill>
                <a:srgbClr val="17211D"/>
              </a:solidFill>
              <a:latin typeface="Arial"/>
            </a:endParaRPr>
          </a:p>
        </p:txBody>
      </p:sp>
      <p:sp>
        <p:nvSpPr>
          <p:cNvPr id="19" name="TextBox 18"/>
          <p:cNvSpPr txBox="1"/>
          <p:nvPr/>
        </p:nvSpPr>
        <p:spPr>
          <a:xfrm>
            <a:off x="9461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Super twisty</a:t>
            </a:r>
            <a:endParaRPr sz="1600" b="1" i="0" dirty="0">
              <a:solidFill>
                <a:srgbClr val="17211D"/>
              </a:solidFill>
              <a:latin typeface="Arial"/>
            </a:endParaRPr>
          </a:p>
        </p:txBody>
      </p:sp>
      <p:sp>
        <p:nvSpPr>
          <p:cNvPr id="20" name="Rounded Rectangle 19"/>
          <p:cNvSpPr/>
          <p:nvPr/>
        </p:nvSpPr>
        <p:spPr>
          <a:xfrm>
            <a:off x="6985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1  Shape blocks</a:t>
            </a:r>
          </a:p>
        </p:txBody>
      </p:sp>
      <p:sp>
        <p:nvSpPr>
          <p:cNvPr id="21" name="Right Arrow 20"/>
          <p:cNvSpPr/>
          <p:nvPr/>
        </p:nvSpPr>
        <p:spPr>
          <a:xfrm>
            <a:off x="28448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1750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2  Connect them</a:t>
            </a:r>
          </a:p>
        </p:txBody>
      </p:sp>
      <p:sp>
        <p:nvSpPr>
          <p:cNvPr id="23" name="Right Arrow 22"/>
          <p:cNvSpPr/>
          <p:nvPr/>
        </p:nvSpPr>
        <p:spPr>
          <a:xfrm>
            <a:off x="53213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1500" y="4889500"/>
            <a:ext cx="25400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3  Test your furniture</a:t>
            </a:r>
          </a:p>
        </p:txBody>
      </p:sp>
      <p:sp>
        <p:nvSpPr>
          <p:cNvPr id="25" name="Rounded Rectangle 24"/>
          <p:cNvSpPr/>
          <p:nvPr/>
        </p:nvSpPr>
        <p:spPr>
          <a:xfrm>
            <a:off x="698500" y="5588000"/>
            <a:ext cx="10795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600" b="0" i="0" dirty="0">
                <a:solidFill>
                  <a:srgbClr val="EAF5EE"/>
                </a:solidFill>
                <a:latin typeface="Arial"/>
              </a:rPr>
              <a:t>Each of these </a:t>
            </a:r>
            <a:r>
              <a:rPr lang="en-US" sz="1600" dirty="0">
                <a:solidFill>
                  <a:srgbClr val="EAF5EE"/>
                </a:solidFill>
                <a:latin typeface="Arial"/>
              </a:rPr>
              <a:t>are built from simple blocks</a:t>
            </a:r>
            <a:r>
              <a:rPr sz="1600" b="0" i="0" dirty="0">
                <a:solidFill>
                  <a:srgbClr val="EAF5EE"/>
                </a:solidFill>
                <a:latin typeface="Arial"/>
              </a:rPr>
              <a:t>. Change how the blocks are shaped or connected, and you get a different building.</a:t>
            </a:r>
          </a:p>
        </p:txBody>
      </p:sp>
      <p:pic>
        <p:nvPicPr>
          <p:cNvPr id="27" name="Picture 26">
            <a:extLst>
              <a:ext uri="{FF2B5EF4-FFF2-40B4-BE49-F238E27FC236}">
                <a16:creationId xmlns:a16="http://schemas.microsoft.com/office/drawing/2014/main" id="{540886F5-DB66-AC12-9517-47691BA66946}"/>
              </a:ext>
            </a:extLst>
          </p:cNvPr>
          <p:cNvPicPr>
            <a:picLocks noChangeAspect="1"/>
          </p:cNvPicPr>
          <p:nvPr/>
        </p:nvPicPr>
        <p:blipFill>
          <a:blip r:embed="rId3"/>
          <a:stretch>
            <a:fillRect/>
          </a:stretch>
        </p:blipFill>
        <p:spPr>
          <a:xfrm>
            <a:off x="968904" y="2152650"/>
            <a:ext cx="1649942" cy="1850442"/>
          </a:xfrm>
          <a:prstGeom prst="rect">
            <a:avLst/>
          </a:prstGeom>
        </p:spPr>
      </p:pic>
      <p:pic>
        <p:nvPicPr>
          <p:cNvPr id="29" name="Picture 28">
            <a:extLst>
              <a:ext uri="{FF2B5EF4-FFF2-40B4-BE49-F238E27FC236}">
                <a16:creationId xmlns:a16="http://schemas.microsoft.com/office/drawing/2014/main" id="{9A03F0B2-BCAE-C436-35CA-1A80F8685145}"/>
              </a:ext>
            </a:extLst>
          </p:cNvPr>
          <p:cNvPicPr>
            <a:picLocks noChangeAspect="1"/>
          </p:cNvPicPr>
          <p:nvPr/>
        </p:nvPicPr>
        <p:blipFill>
          <a:blip r:embed="rId4"/>
          <a:stretch>
            <a:fillRect/>
          </a:stretch>
        </p:blipFill>
        <p:spPr>
          <a:xfrm>
            <a:off x="3034164" y="2603500"/>
            <a:ext cx="1746113" cy="1234492"/>
          </a:xfrm>
          <a:prstGeom prst="rect">
            <a:avLst/>
          </a:prstGeom>
        </p:spPr>
      </p:pic>
      <p:pic>
        <p:nvPicPr>
          <p:cNvPr id="31" name="Picture 30">
            <a:extLst>
              <a:ext uri="{FF2B5EF4-FFF2-40B4-BE49-F238E27FC236}">
                <a16:creationId xmlns:a16="http://schemas.microsoft.com/office/drawing/2014/main" id="{BEA655C2-8092-4637-6169-9086FC28B095}"/>
              </a:ext>
            </a:extLst>
          </p:cNvPr>
          <p:cNvPicPr>
            <a:picLocks noChangeAspect="1"/>
          </p:cNvPicPr>
          <p:nvPr/>
        </p:nvPicPr>
        <p:blipFill>
          <a:blip r:embed="rId5"/>
          <a:stretch>
            <a:fillRect/>
          </a:stretch>
        </p:blipFill>
        <p:spPr>
          <a:xfrm>
            <a:off x="5001683" y="2234379"/>
            <a:ext cx="2054888" cy="1621367"/>
          </a:xfrm>
          <a:prstGeom prst="rect">
            <a:avLst/>
          </a:prstGeom>
        </p:spPr>
      </p:pic>
      <p:pic>
        <p:nvPicPr>
          <p:cNvPr id="33" name="Picture 32">
            <a:extLst>
              <a:ext uri="{FF2B5EF4-FFF2-40B4-BE49-F238E27FC236}">
                <a16:creationId xmlns:a16="http://schemas.microsoft.com/office/drawing/2014/main" id="{433082D9-4226-858A-D81D-36DE938A2CBD}"/>
              </a:ext>
            </a:extLst>
          </p:cNvPr>
          <p:cNvPicPr>
            <a:picLocks noChangeAspect="1"/>
          </p:cNvPicPr>
          <p:nvPr/>
        </p:nvPicPr>
        <p:blipFill>
          <a:blip r:embed="rId6"/>
          <a:stretch>
            <a:fillRect/>
          </a:stretch>
        </p:blipFill>
        <p:spPr>
          <a:xfrm>
            <a:off x="7425267" y="2355850"/>
            <a:ext cx="1459887" cy="1670050"/>
          </a:xfrm>
          <a:prstGeom prst="rect">
            <a:avLst/>
          </a:prstGeom>
        </p:spPr>
      </p:pic>
      <p:pic>
        <p:nvPicPr>
          <p:cNvPr id="35" name="Picture 34">
            <a:extLst>
              <a:ext uri="{FF2B5EF4-FFF2-40B4-BE49-F238E27FC236}">
                <a16:creationId xmlns:a16="http://schemas.microsoft.com/office/drawing/2014/main" id="{1B642F22-8159-182C-C23E-B75D7AE4BA1B}"/>
              </a:ext>
            </a:extLst>
          </p:cNvPr>
          <p:cNvPicPr>
            <a:picLocks noChangeAspect="1"/>
          </p:cNvPicPr>
          <p:nvPr/>
        </p:nvPicPr>
        <p:blipFill>
          <a:blip r:embed="rId7"/>
          <a:stretch>
            <a:fillRect/>
          </a:stretch>
        </p:blipFill>
        <p:spPr>
          <a:xfrm>
            <a:off x="9353550" y="2156095"/>
            <a:ext cx="2015596" cy="17965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SHAPE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Shape the blocks</a:t>
            </a:r>
          </a:p>
        </p:txBody>
      </p:sp>
      <p:sp>
        <p:nvSpPr>
          <p:cNvPr id="4" name="TextBox 3"/>
          <p:cNvSpPr txBox="1"/>
          <p:nvPr/>
        </p:nvSpPr>
        <p:spPr>
          <a:xfrm>
            <a:off x="698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Stretch it</a:t>
            </a:r>
          </a:p>
        </p:txBody>
      </p:sp>
      <p:sp>
        <p:nvSpPr>
          <p:cNvPr id="5" name="TextBox 4"/>
          <p:cNvSpPr txBox="1"/>
          <p:nvPr/>
        </p:nvSpPr>
        <p:spPr>
          <a:xfrm>
            <a:off x="698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length sliders to make a block longer, wider or taller.</a:t>
            </a:r>
          </a:p>
        </p:txBody>
      </p:sp>
      <p:pic>
        <p:nvPicPr>
          <p:cNvPr id="6" name="Picture 5" descr="s5_st_a.jpg"/>
          <p:cNvPicPr>
            <a:picLocks noChangeAspect="1"/>
          </p:cNvPicPr>
          <p:nvPr/>
        </p:nvPicPr>
        <p:blipFill>
          <a:blip r:embed="rId3"/>
          <a:srcRect l="15278" t="14815" r="42130" b="17037"/>
          <a:stretch>
            <a:fillRect/>
          </a:stretch>
        </p:blipFill>
        <p:spPr>
          <a:xfrm>
            <a:off x="698500" y="2571750"/>
            <a:ext cx="1524000" cy="1524000"/>
          </a:xfrm>
          <a:prstGeom prst="rect">
            <a:avLst/>
          </a:prstGeom>
          <a:ln w="12700">
            <a:solidFill>
              <a:srgbClr val="CFD8D1"/>
            </a:solidFill>
          </a:ln>
        </p:spPr>
      </p:pic>
      <p:pic>
        <p:nvPicPr>
          <p:cNvPr id="7" name="Picture 6" descr="s5_st_b.jpg"/>
          <p:cNvPicPr>
            <a:picLocks noChangeAspect="1"/>
          </p:cNvPicPr>
          <p:nvPr/>
        </p:nvPicPr>
        <p:blipFill>
          <a:blip r:embed="rId4"/>
          <a:srcRect l="15278" t="14815" r="42130" b="17037"/>
          <a:stretch>
            <a:fillRect/>
          </a:stretch>
        </p:blipFill>
        <p:spPr>
          <a:xfrm>
            <a:off x="2349500" y="2571750"/>
            <a:ext cx="1524000" cy="1524000"/>
          </a:xfrm>
          <a:prstGeom prst="rect">
            <a:avLst/>
          </a:prstGeom>
          <a:ln w="12700">
            <a:solidFill>
              <a:srgbClr val="CFD8D1"/>
            </a:solidFill>
          </a:ln>
        </p:spPr>
      </p:pic>
      <p:sp>
        <p:nvSpPr>
          <p:cNvPr id="8" name="TextBox 7"/>
          <p:cNvSpPr txBox="1"/>
          <p:nvPr/>
        </p:nvSpPr>
        <p:spPr>
          <a:xfrm>
            <a:off x="698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Length 3.0</a:t>
            </a:r>
          </a:p>
        </p:txBody>
      </p:sp>
      <p:sp>
        <p:nvSpPr>
          <p:cNvPr id="9" name="TextBox 8"/>
          <p:cNvSpPr txBox="1"/>
          <p:nvPr/>
        </p:nvSpPr>
        <p:spPr>
          <a:xfrm>
            <a:off x="2349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Length 7.0</a:t>
            </a:r>
          </a:p>
        </p:txBody>
      </p:sp>
      <p:pic>
        <p:nvPicPr>
          <p:cNvPr id="10" name="Picture 9" descr="s5_st_b.jpg"/>
          <p:cNvPicPr>
            <a:picLocks noChangeAspect="1"/>
          </p:cNvPicPr>
          <p:nvPr/>
        </p:nvPicPr>
        <p:blipFill>
          <a:blip r:embed="rId4"/>
          <a:srcRect l="74537" t="57778" r="1389" b="14815"/>
          <a:stretch>
            <a:fillRect/>
          </a:stretch>
        </p:blipFill>
        <p:spPr>
          <a:xfrm>
            <a:off x="698500" y="4476750"/>
            <a:ext cx="2921000" cy="2078403"/>
          </a:xfrm>
          <a:prstGeom prst="rect">
            <a:avLst/>
          </a:prstGeom>
          <a:ln w="12700">
            <a:solidFill>
              <a:srgbClr val="CFD8D1"/>
            </a:solidFill>
          </a:ln>
        </p:spPr>
      </p:pic>
      <p:sp>
        <p:nvSpPr>
          <p:cNvPr id="11" name="TextBox 10"/>
          <p:cNvSpPr txBox="1"/>
          <p:nvPr/>
        </p:nvSpPr>
        <p:spPr>
          <a:xfrm>
            <a:off x="44450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Tilt it</a:t>
            </a:r>
          </a:p>
        </p:txBody>
      </p:sp>
      <p:sp>
        <p:nvSpPr>
          <p:cNvPr id="12" name="TextBox 11"/>
          <p:cNvSpPr txBox="1"/>
          <p:nvPr/>
        </p:nvSpPr>
        <p:spPr>
          <a:xfrm>
            <a:off x="44450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angle sliders. A tilted block becomes a ramp or stairs.</a:t>
            </a:r>
          </a:p>
        </p:txBody>
      </p:sp>
      <p:pic>
        <p:nvPicPr>
          <p:cNvPr id="13" name="Picture 12" descr="s5_ti_a.jpg"/>
          <p:cNvPicPr>
            <a:picLocks noChangeAspect="1"/>
          </p:cNvPicPr>
          <p:nvPr/>
        </p:nvPicPr>
        <p:blipFill>
          <a:blip r:embed="rId5"/>
          <a:srcRect l="15278" t="14815" r="42130" b="17037"/>
          <a:stretch>
            <a:fillRect/>
          </a:stretch>
        </p:blipFill>
        <p:spPr>
          <a:xfrm>
            <a:off x="4445000" y="2571750"/>
            <a:ext cx="1524000" cy="1524000"/>
          </a:xfrm>
          <a:prstGeom prst="rect">
            <a:avLst/>
          </a:prstGeom>
          <a:ln w="12700">
            <a:solidFill>
              <a:srgbClr val="CFD8D1"/>
            </a:solidFill>
          </a:ln>
        </p:spPr>
      </p:pic>
      <p:pic>
        <p:nvPicPr>
          <p:cNvPr id="14" name="Picture 13" descr="s5_ti_b.jpg"/>
          <p:cNvPicPr>
            <a:picLocks noChangeAspect="1"/>
          </p:cNvPicPr>
          <p:nvPr/>
        </p:nvPicPr>
        <p:blipFill>
          <a:blip r:embed="rId6"/>
          <a:srcRect l="15278" t="14815" r="42130" b="17037"/>
          <a:stretch>
            <a:fillRect/>
          </a:stretch>
        </p:blipFill>
        <p:spPr>
          <a:xfrm>
            <a:off x="6096000" y="2571750"/>
            <a:ext cx="1524000" cy="1524000"/>
          </a:xfrm>
          <a:prstGeom prst="rect">
            <a:avLst/>
          </a:prstGeom>
          <a:ln w="12700">
            <a:solidFill>
              <a:srgbClr val="CFD8D1"/>
            </a:solidFill>
          </a:ln>
        </p:spPr>
      </p:pic>
      <p:sp>
        <p:nvSpPr>
          <p:cNvPr id="15" name="TextBox 14"/>
          <p:cNvSpPr txBox="1"/>
          <p:nvPr/>
        </p:nvSpPr>
        <p:spPr>
          <a:xfrm>
            <a:off x="4445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Angle 90°</a:t>
            </a:r>
          </a:p>
        </p:txBody>
      </p:sp>
      <p:sp>
        <p:nvSpPr>
          <p:cNvPr id="16" name="TextBox 15"/>
          <p:cNvSpPr txBox="1"/>
          <p:nvPr/>
        </p:nvSpPr>
        <p:spPr>
          <a:xfrm>
            <a:off x="6096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Angle 60°</a:t>
            </a:r>
          </a:p>
        </p:txBody>
      </p:sp>
      <p:pic>
        <p:nvPicPr>
          <p:cNvPr id="17" name="Picture 16" descr="s5_ti_b_scroll.jpg"/>
          <p:cNvPicPr>
            <a:picLocks noChangeAspect="1"/>
          </p:cNvPicPr>
          <p:nvPr/>
        </p:nvPicPr>
        <p:blipFill>
          <a:blip r:embed="rId7"/>
          <a:srcRect l="74537" t="20741" r="1389" b="50370"/>
          <a:stretch>
            <a:fillRect/>
          </a:stretch>
        </p:blipFill>
        <p:spPr>
          <a:xfrm>
            <a:off x="4445000" y="4476750"/>
            <a:ext cx="2921000" cy="2190750"/>
          </a:xfrm>
          <a:prstGeom prst="rect">
            <a:avLst/>
          </a:prstGeom>
          <a:ln w="12700">
            <a:solidFill>
              <a:srgbClr val="CFD8D1"/>
            </a:solidFill>
          </a:ln>
        </p:spPr>
      </p:pic>
      <p:sp>
        <p:nvSpPr>
          <p:cNvPr id="18" name="TextBox 17"/>
          <p:cNvSpPr txBox="1"/>
          <p:nvPr/>
        </p:nvSpPr>
        <p:spPr>
          <a:xfrm>
            <a:off x="8191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Add more</a:t>
            </a:r>
          </a:p>
        </p:txBody>
      </p:sp>
      <p:sp>
        <p:nvSpPr>
          <p:cNvPr id="19" name="TextBox 18"/>
          <p:cNvSpPr txBox="1"/>
          <p:nvPr/>
        </p:nvSpPr>
        <p:spPr>
          <a:xfrm>
            <a:off x="8191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Press + Add object for another block. Build as many as you need.</a:t>
            </a:r>
          </a:p>
        </p:txBody>
      </p:sp>
      <p:pic>
        <p:nvPicPr>
          <p:cNvPr id="20" name="Picture 19" descr="s5_ti_a.jpg"/>
          <p:cNvPicPr>
            <a:picLocks noChangeAspect="1"/>
          </p:cNvPicPr>
          <p:nvPr/>
        </p:nvPicPr>
        <p:blipFill>
          <a:blip r:embed="rId5"/>
          <a:srcRect l="15278" t="14815" r="42130" b="17037"/>
          <a:stretch>
            <a:fillRect/>
          </a:stretch>
        </p:blipFill>
        <p:spPr>
          <a:xfrm>
            <a:off x="8191500" y="2571750"/>
            <a:ext cx="1524000" cy="1524000"/>
          </a:xfrm>
          <a:prstGeom prst="rect">
            <a:avLst/>
          </a:prstGeom>
          <a:ln w="12700">
            <a:solidFill>
              <a:srgbClr val="CFD8D1"/>
            </a:solidFill>
          </a:ln>
        </p:spPr>
      </p:pic>
      <p:pic>
        <p:nvPicPr>
          <p:cNvPr id="21" name="Picture 20" descr="s5_ad_b.jpg"/>
          <p:cNvPicPr>
            <a:picLocks noChangeAspect="1"/>
          </p:cNvPicPr>
          <p:nvPr/>
        </p:nvPicPr>
        <p:blipFill>
          <a:blip r:embed="rId8"/>
          <a:srcRect l="15278" t="14815" r="42130" b="17037"/>
          <a:stretch>
            <a:fillRect/>
          </a:stretch>
        </p:blipFill>
        <p:spPr>
          <a:xfrm>
            <a:off x="9842500" y="2571750"/>
            <a:ext cx="1524000" cy="1524000"/>
          </a:xfrm>
          <a:prstGeom prst="rect">
            <a:avLst/>
          </a:prstGeom>
          <a:ln w="12700">
            <a:solidFill>
              <a:srgbClr val="CFD8D1"/>
            </a:solidFill>
          </a:ln>
        </p:spPr>
      </p:pic>
      <p:sp>
        <p:nvSpPr>
          <p:cNvPr id="22" name="TextBox 21"/>
          <p:cNvSpPr txBox="1"/>
          <p:nvPr/>
        </p:nvSpPr>
        <p:spPr>
          <a:xfrm>
            <a:off x="8191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1 block</a:t>
            </a:r>
          </a:p>
        </p:txBody>
      </p:sp>
      <p:sp>
        <p:nvSpPr>
          <p:cNvPr id="23" name="TextBox 22"/>
          <p:cNvSpPr txBox="1"/>
          <p:nvPr/>
        </p:nvSpPr>
        <p:spPr>
          <a:xfrm>
            <a:off x="9842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3 blocks</a:t>
            </a:r>
          </a:p>
        </p:txBody>
      </p:sp>
      <p:pic>
        <p:nvPicPr>
          <p:cNvPr id="24" name="Picture 23" descr="s5_ad_b.jpg"/>
          <p:cNvPicPr>
            <a:picLocks noChangeAspect="1"/>
          </p:cNvPicPr>
          <p:nvPr/>
        </p:nvPicPr>
        <p:blipFill>
          <a:blip r:embed="rId8"/>
          <a:srcRect l="74537" t="34815" r="1389" b="48148"/>
          <a:stretch>
            <a:fillRect/>
          </a:stretch>
        </p:blipFill>
        <p:spPr>
          <a:xfrm>
            <a:off x="8191500" y="4476750"/>
            <a:ext cx="2921000" cy="1291980"/>
          </a:xfrm>
          <a:prstGeom prst="rect">
            <a:avLst/>
          </a:prstGeom>
          <a:ln w="12700">
            <a:solidFill>
              <a:srgbClr val="CFD8D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0828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CONNECT</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Connect them together</a:t>
            </a:r>
          </a:p>
        </p:txBody>
      </p:sp>
      <p:sp>
        <p:nvSpPr>
          <p:cNvPr id="4" name="TextBox 3"/>
          <p:cNvSpPr txBox="1"/>
          <p:nvPr/>
        </p:nvSpPr>
        <p:spPr>
          <a:xfrm>
            <a:off x="698500" y="2032000"/>
            <a:ext cx="4064000" cy="2794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Connect two objects</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one face on each block.</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Drag the sliders to </a:t>
            </a:r>
            <a:r>
              <a:rPr sz="1700" b="1" i="0">
                <a:solidFill>
                  <a:srgbClr val="17211D"/>
                </a:solidFill>
                <a:latin typeface="Arial"/>
              </a:rPr>
              <a:t>rotate</a:t>
            </a:r>
            <a:r>
              <a:rPr sz="1700" b="0" i="0">
                <a:solidFill>
                  <a:srgbClr val="17211D"/>
                </a:solidFill>
                <a:latin typeface="Arial"/>
              </a:rPr>
              <a:t> and </a:t>
            </a:r>
            <a:r>
              <a:rPr sz="1700" b="1" i="0">
                <a:solidFill>
                  <a:srgbClr val="17211D"/>
                </a:solidFill>
                <a:latin typeface="Arial"/>
              </a:rPr>
              <a:t>slide</a:t>
            </a:r>
            <a:r>
              <a:rPr sz="1700" b="0" i="0">
                <a:solidFill>
                  <a:srgbClr val="17211D"/>
                </a:solidFill>
                <a:latin typeface="Arial"/>
              </a:rPr>
              <a:t> them until they line up.</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Apply</a:t>
            </a:r>
            <a:r>
              <a:rPr sz="1700" b="0" i="0">
                <a:solidFill>
                  <a:srgbClr val="17211D"/>
                </a:solidFill>
                <a:latin typeface="Arial"/>
              </a:rPr>
              <a:t>. Repeat for every joint.</a:t>
            </a:r>
          </a:p>
        </p:txBody>
      </p:sp>
      <p:sp>
        <p:nvSpPr>
          <p:cNvPr id="5" name="Rounded Rectangle 4"/>
          <p:cNvSpPr/>
          <p:nvPr/>
        </p:nvSpPr>
        <p:spPr>
          <a:xfrm>
            <a:off x="698500" y="5143500"/>
            <a:ext cx="4064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Rotating one block against the other changes the angle between the two surfaces. That's how you bend a hallway.</a:t>
            </a:r>
          </a:p>
        </p:txBody>
      </p:sp>
      <p:pic>
        <p:nvPicPr>
          <p:cNvPr id="6" name="Picture 5" descr="j_before.jpg"/>
          <p:cNvPicPr>
            <a:picLocks noChangeAspect="1"/>
          </p:cNvPicPr>
          <p:nvPr/>
        </p:nvPicPr>
        <p:blipFill>
          <a:blip r:embed="rId3"/>
          <a:srcRect t="2222" r="49074" b="19259"/>
          <a:stretch>
            <a:fillRect/>
          </a:stretch>
        </p:blipFill>
        <p:spPr>
          <a:xfrm>
            <a:off x="5080000" y="1841500"/>
            <a:ext cx="3175000" cy="3059545"/>
          </a:xfrm>
          <a:prstGeom prst="rect">
            <a:avLst/>
          </a:prstGeom>
          <a:ln w="12700">
            <a:solidFill>
              <a:srgbClr val="CFD8D1"/>
            </a:solidFill>
          </a:ln>
        </p:spPr>
      </p:pic>
      <p:pic>
        <p:nvPicPr>
          <p:cNvPr id="7" name="Picture 6" descr="j_after.jpg"/>
          <p:cNvPicPr>
            <a:picLocks noChangeAspect="1"/>
          </p:cNvPicPr>
          <p:nvPr/>
        </p:nvPicPr>
        <p:blipFill>
          <a:blip r:embed="rId4"/>
          <a:srcRect t="2222" r="49074" b="19259"/>
          <a:stretch>
            <a:fillRect/>
          </a:stretch>
        </p:blipFill>
        <p:spPr>
          <a:xfrm>
            <a:off x="8382000" y="1841500"/>
            <a:ext cx="3175000" cy="3059545"/>
          </a:xfrm>
          <a:prstGeom prst="rect">
            <a:avLst/>
          </a:prstGeom>
          <a:ln w="12700">
            <a:solidFill>
              <a:srgbClr val="CFD8D1"/>
            </a:solidFill>
          </a:ln>
        </p:spPr>
      </p:pic>
      <p:sp>
        <p:nvSpPr>
          <p:cNvPr id="8" name="TextBox 7"/>
          <p:cNvSpPr txBox="1"/>
          <p:nvPr/>
        </p:nvSpPr>
        <p:spPr>
          <a:xfrm>
            <a:off x="5080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Just attached</a:t>
            </a:r>
          </a:p>
        </p:txBody>
      </p:sp>
      <p:sp>
        <p:nvSpPr>
          <p:cNvPr id="9" name="TextBox 8"/>
          <p:cNvSpPr txBox="1"/>
          <p:nvPr/>
        </p:nvSpPr>
        <p:spPr>
          <a:xfrm>
            <a:off x="8382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After rotating and sliding</a:t>
            </a:r>
          </a:p>
        </p:txBody>
      </p:sp>
      <p:sp>
        <p:nvSpPr>
          <p:cNvPr id="10" name="TextBox 9"/>
          <p:cNvSpPr txBox="1"/>
          <p:nvPr/>
        </p:nvSpPr>
        <p:spPr>
          <a:xfrm>
            <a:off x="5080000" y="5282045"/>
            <a:ext cx="6477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a:t>
            </a:r>
            <a:r>
              <a:rPr sz="1400" b="1" i="0">
                <a:solidFill>
                  <a:srgbClr val="17211D"/>
                </a:solidFill>
                <a:latin typeface="Arial"/>
              </a:rPr>
              <a:t>Rotate moving surface</a:t>
            </a:r>
            <a:r>
              <a:rPr sz="1400" b="0" i="0">
                <a:solidFill>
                  <a:srgbClr val="5D6963"/>
                </a:solidFill>
                <a:latin typeface="Arial"/>
              </a:rPr>
              <a:t> and </a:t>
            </a:r>
            <a:r>
              <a:rPr sz="1400" b="1" i="0">
                <a:solidFill>
                  <a:srgbClr val="17211D"/>
                </a:solidFill>
                <a:latin typeface="Arial"/>
              </a:rPr>
              <a:t>Move horizontally / vertically</a:t>
            </a:r>
            <a:r>
              <a:rPr sz="1400" b="0" i="0">
                <a:solidFill>
                  <a:srgbClr val="5D6963"/>
                </a:solidFill>
                <a:latin typeface="Arial"/>
              </a:rPr>
              <a:t> in the preview, and watch the blocks line up.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7305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STEPS 2 &amp;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Pick the doors, set the furniture</a:t>
            </a:r>
          </a:p>
        </p:txBody>
      </p:sp>
      <p:sp>
        <p:nvSpPr>
          <p:cNvPr id="4" name="TextBox 3"/>
          <p:cNvSpPr txBox="1"/>
          <p:nvPr/>
        </p:nvSpPr>
        <p:spPr>
          <a:xfrm>
            <a:off x="698500" y="2032000"/>
            <a:ext cx="4064000" cy="2667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where the furniture goes </a:t>
            </a:r>
            <a:r>
              <a:rPr sz="1700" b="1" i="0">
                <a:solidFill>
                  <a:srgbClr val="17211D"/>
                </a:solidFill>
                <a:latin typeface="Arial"/>
              </a:rPr>
              <a:t>in</a:t>
            </a:r>
            <a:r>
              <a:rPr sz="1700" b="0" i="0">
                <a:solidFill>
                  <a:srgbClr val="17211D"/>
                </a:solidFill>
                <a:latin typeface="Arial"/>
              </a:rPr>
              <a:t> (</a:t>
            </a:r>
            <a:r>
              <a:rPr sz="1700" b="1" i="0">
                <a:solidFill>
                  <a:srgbClr val="2F9A5E"/>
                </a:solidFill>
                <a:latin typeface="Arial"/>
              </a:rPr>
              <a:t>green</a:t>
            </a:r>
            <a:r>
              <a:rPr sz="1700" b="0" i="0">
                <a:solidFill>
                  <a:srgbClr val="17211D"/>
                </a:solidFill>
                <a:latin typeface="Arial"/>
              </a:rPr>
              <a:t>) and </a:t>
            </a:r>
            <a:r>
              <a:rPr sz="1700" b="1" i="0">
                <a:solidFill>
                  <a:srgbClr val="17211D"/>
                </a:solidFill>
                <a:latin typeface="Arial"/>
              </a:rPr>
              <a:t>out</a:t>
            </a:r>
            <a:r>
              <a:rPr sz="1700" b="0" i="0">
                <a:solidFill>
                  <a:srgbClr val="17211D"/>
                </a:solidFill>
                <a:latin typeface="Arial"/>
              </a:rPr>
              <a:t> (</a:t>
            </a:r>
            <a:r>
              <a:rPr sz="1700" b="1" i="0">
                <a:solidFill>
                  <a:srgbClr val="D97F1A"/>
                </a:solidFill>
                <a:latin typeface="Arial"/>
              </a:rPr>
              <a:t>orange</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Confirm 3D model</a:t>
            </a:r>
            <a:r>
              <a:rPr sz="1700" b="0" i="0">
                <a:solidFill>
                  <a:srgbClr val="17211D"/>
                </a:solidFill>
                <a:latin typeface="Arial"/>
              </a:rPr>
              <a:t>. The walls turn see-through.</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Type the furniture's </a:t>
            </a:r>
            <a:r>
              <a:rPr sz="1700" b="1" i="0">
                <a:solidFill>
                  <a:srgbClr val="17211D"/>
                </a:solidFill>
                <a:latin typeface="Arial"/>
              </a:rPr>
              <a:t>length, width and height</a:t>
            </a:r>
            <a:r>
              <a:rPr sz="1700" b="0" i="0">
                <a:solidFill>
                  <a:srgbClr val="17211D"/>
                </a:solidFill>
                <a:latin typeface="Arial"/>
              </a:rPr>
              <a:t>. The </a:t>
            </a:r>
            <a:r>
              <a:rPr sz="1700" b="1" i="0">
                <a:solidFill>
                  <a:srgbClr val="2F9A5E"/>
                </a:solidFill>
                <a:latin typeface="Arial"/>
              </a:rPr>
              <a:t>green box</a:t>
            </a:r>
            <a:r>
              <a:rPr sz="1700" b="0" i="0">
                <a:solidFill>
                  <a:srgbClr val="17211D"/>
                </a:solidFill>
                <a:latin typeface="Arial"/>
              </a:rPr>
              <a:t> previews it.</a:t>
            </a:r>
          </a:p>
        </p:txBody>
      </p:sp>
      <p:sp>
        <p:nvSpPr>
          <p:cNvPr id="5" name="Rounded Rectangle 4"/>
          <p:cNvSpPr/>
          <p:nvPr/>
        </p:nvSpPr>
        <p:spPr>
          <a:xfrm>
            <a:off x="698500" y="4635500"/>
            <a:ext cx="4064000" cy="1016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Only those two faces are doorways. Every other wall stays solid, so the furniture can't cheat.</a:t>
            </a:r>
          </a:p>
        </p:txBody>
      </p:sp>
      <p:pic>
        <p:nvPicPr>
          <p:cNvPr id="6" name="Picture 5" descr="f_open_try2.jpg"/>
          <p:cNvPicPr>
            <a:picLocks noChangeAspect="1"/>
          </p:cNvPicPr>
          <p:nvPr/>
        </p:nvPicPr>
        <p:blipFill>
          <a:blip r:embed="rId3"/>
          <a:srcRect r="27037"/>
          <a:stretch>
            <a:fillRect/>
          </a:stretch>
        </p:blipFill>
        <p:spPr>
          <a:xfrm>
            <a:off x="5080000" y="2032000"/>
            <a:ext cx="3111500" cy="2665307"/>
          </a:xfrm>
          <a:prstGeom prst="rect">
            <a:avLst/>
          </a:prstGeom>
          <a:ln w="12700">
            <a:solidFill>
              <a:srgbClr val="CFD8D1"/>
            </a:solidFill>
          </a:ln>
        </p:spPr>
      </p:pic>
      <p:pic>
        <p:nvPicPr>
          <p:cNvPr id="7" name="Picture 6" descr="f_furniture.jpg"/>
          <p:cNvPicPr>
            <a:picLocks noChangeAspect="1"/>
          </p:cNvPicPr>
          <p:nvPr/>
        </p:nvPicPr>
        <p:blipFill>
          <a:blip r:embed="rId4"/>
          <a:srcRect r="27037"/>
          <a:stretch>
            <a:fillRect/>
          </a:stretch>
        </p:blipFill>
        <p:spPr>
          <a:xfrm>
            <a:off x="8382000" y="2032000"/>
            <a:ext cx="3111500" cy="2665307"/>
          </a:xfrm>
          <a:prstGeom prst="rect">
            <a:avLst/>
          </a:prstGeom>
          <a:ln w="12700">
            <a:solidFill>
              <a:srgbClr val="CFD8D1"/>
            </a:solidFill>
          </a:ln>
        </p:spPr>
      </p:pic>
      <p:sp>
        <p:nvSpPr>
          <p:cNvPr id="8" name="TextBox 7"/>
          <p:cNvSpPr txBox="1"/>
          <p:nvPr/>
        </p:nvSpPr>
        <p:spPr>
          <a:xfrm>
            <a:off x="5080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Entrance and exit</a:t>
            </a:r>
          </a:p>
        </p:txBody>
      </p:sp>
      <p:sp>
        <p:nvSpPr>
          <p:cNvPr id="9" name="TextBox 8"/>
          <p:cNvSpPr txBox="1"/>
          <p:nvPr/>
        </p:nvSpPr>
        <p:spPr>
          <a:xfrm>
            <a:off x="8382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Furniture preview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2413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Try manually</a:t>
            </a:r>
            <a:r>
              <a:rPr sz="1700" b="0" i="0">
                <a:solidFill>
                  <a:srgbClr val="17211D"/>
                </a:solidFill>
                <a:latin typeface="Arial"/>
              </a:rPr>
              <a:t>. The furniture starts outside the entrance.</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Hold </a:t>
            </a:r>
            <a:r>
              <a:rPr sz="1700" b="1" i="0">
                <a:solidFill>
                  <a:srgbClr val="17211D"/>
                </a:solidFill>
                <a:latin typeface="Courier New"/>
              </a:rPr>
              <a:t>M</a:t>
            </a:r>
            <a:r>
              <a:rPr sz="1700" b="0" i="0">
                <a:solidFill>
                  <a:srgbClr val="17211D"/>
                </a:solidFill>
                <a:latin typeface="Arial"/>
              </a:rPr>
              <a:t> and drag it through. Sliders tilt and lift it.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Stuck? </a:t>
            </a:r>
            <a:r>
              <a:rPr sz="1700" b="1" i="0">
                <a:solidFill>
                  <a:srgbClr val="17211D"/>
                </a:solidFill>
                <a:latin typeface="Arial"/>
              </a:rPr>
              <a:t>Auto Pilot</a:t>
            </a:r>
            <a:r>
              <a:rPr sz="1700" b="0" i="0">
                <a:solidFill>
                  <a:srgbClr val="17211D"/>
                </a:solidFill>
                <a:latin typeface="Arial"/>
              </a:rPr>
              <a:t> lines it up for you.</a:t>
            </a:r>
          </a:p>
        </p:txBody>
      </p:sp>
      <p:sp>
        <p:nvSpPr>
          <p:cNvPr id="5" name="TextBox 4"/>
          <p:cNvSpPr txBox="1"/>
          <p:nvPr/>
        </p:nvSpPr>
        <p:spPr>
          <a:xfrm>
            <a:off x="698500" y="4699000"/>
            <a:ext cx="4064000" cy="254000"/>
          </a:xfrm>
          <a:prstGeom prst="rect">
            <a:avLst/>
          </a:prstGeom>
          <a:noFill/>
        </p:spPr>
        <p:txBody>
          <a:bodyPr wrap="square" lIns="0" tIns="0" rIns="0" bIns="0" anchor="t">
            <a:spAutoFit/>
          </a:bodyPr>
          <a:lstStyle/>
          <a:p>
            <a:pPr algn="l">
              <a:lnSpc>
                <a:spcPct val="112000"/>
              </a:lnSpc>
              <a:spcAft>
                <a:spcPts val="0"/>
              </a:spcAft>
            </a:pPr>
            <a:r>
              <a:rPr sz="1300" b="1" i="0">
                <a:solidFill>
                  <a:srgbClr val="2F9A5E"/>
                </a:solidFill>
                <a:latin typeface="Arial"/>
              </a:rPr>
              <a:t>■ legal</a:t>
            </a:r>
            <a:r>
              <a:rPr sz="1300" b="1" i="0">
                <a:solidFill>
                  <a:srgbClr val="B08A1E"/>
                </a:solidFill>
                <a:latin typeface="Arial"/>
              </a:rPr>
              <a:t>     ■ outside     </a:t>
            </a:r>
            <a:r>
              <a:rPr sz="1300" b="1" i="0">
                <a:solidFill>
                  <a:srgbClr val="D94D45"/>
                </a:solidFill>
                <a:latin typeface="Arial"/>
              </a:rPr>
              <a:t>■ collision</a:t>
            </a:r>
          </a:p>
        </p:txBody>
      </p:sp>
      <p:sp>
        <p:nvSpPr>
          <p:cNvPr id="6" name="Rounded Rectangle 5"/>
          <p:cNvSpPr/>
          <p:nvPr/>
        </p:nvSpPr>
        <p:spPr>
          <a:xfrm>
            <a:off x="698500" y="50800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Reach the exit and </a:t>
            </a:r>
            <a:r>
              <a:rPr sz="1400" b="1" i="0">
                <a:solidFill>
                  <a:srgbClr val="D6EF5B"/>
                </a:solidFill>
                <a:latin typeface="Arial"/>
              </a:rPr>
              <a:t>you win</a:t>
            </a:r>
            <a:r>
              <a:rPr sz="1400" b="0" i="0">
                <a:solidFill>
                  <a:srgbClr val="EAF5EE"/>
                </a:solidFill>
                <a:latin typeface="Arial"/>
              </a:rPr>
              <a:t>. A pop-up tells you.</a:t>
            </a:r>
          </a:p>
        </p:txBody>
      </p:sp>
      <p:pic>
        <p:nvPicPr>
          <p:cNvPr id="7" name="Picture 6" descr="f_manual.jpg"/>
          <p:cNvPicPr>
            <a:picLocks noChangeAspect="1"/>
          </p:cNvPicPr>
          <p:nvPr/>
        </p:nvPicPr>
        <p:blipFill>
          <a:blip r:embed="rId3"/>
          <a:stretch>
            <a:fillRect/>
          </a:stretch>
        </p:blipFill>
        <p:spPr>
          <a:xfrm>
            <a:off x="5080000" y="1841500"/>
            <a:ext cx="6413500" cy="4008438"/>
          </a:xfrm>
          <a:prstGeom prst="rect">
            <a:avLst/>
          </a:prstGeom>
          <a:ln w="12700">
            <a:solidFill>
              <a:srgbClr val="CFD8D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pic>
        <p:nvPicPr>
          <p:cNvPr id="4" name="Picture 3" descr="f_solver_fail.jpg"/>
          <p:cNvPicPr>
            <a:picLocks noChangeAspect="1"/>
          </p:cNvPicPr>
          <p:nvPr/>
        </p:nvPicPr>
        <p:blipFill>
          <a:blip r:embed="rId3"/>
          <a:srcRect/>
          <a:stretch>
            <a:fillRect/>
          </a:stretch>
        </p:blipFill>
        <p:spPr>
          <a:xfrm>
            <a:off x="698500" y="1841500"/>
            <a:ext cx="5080000" cy="3175000"/>
          </a:xfrm>
          <a:prstGeom prst="rect">
            <a:avLst/>
          </a:prstGeom>
          <a:ln w="12700">
            <a:solidFill>
              <a:srgbClr val="CFD8D1"/>
            </a:solidFill>
          </a:ln>
        </p:spPr>
      </p:pic>
      <p:pic>
        <p:nvPicPr>
          <p:cNvPr id="5" name="Picture 4" descr="f_route_mid.jpg"/>
          <p:cNvPicPr>
            <a:picLocks noChangeAspect="1"/>
          </p:cNvPicPr>
          <p:nvPr/>
        </p:nvPicPr>
        <p:blipFill>
          <a:blip r:embed="rId4"/>
          <a:srcRect/>
          <a:stretch>
            <a:fillRect/>
          </a:stretch>
        </p:blipFill>
        <p:spPr>
          <a:xfrm>
            <a:off x="6413500" y="1841500"/>
            <a:ext cx="5080000" cy="3175000"/>
          </a:xfrm>
          <a:prstGeom prst="rect">
            <a:avLst/>
          </a:prstGeom>
          <a:ln w="12700">
            <a:solidFill>
              <a:srgbClr val="CFD8D1"/>
            </a:solidFill>
          </a:ln>
        </p:spPr>
      </p:pic>
      <p:sp>
        <p:nvSpPr>
          <p:cNvPr id="6" name="TextBox 5"/>
          <p:cNvSpPr txBox="1"/>
          <p:nvPr/>
        </p:nvSpPr>
        <p:spPr>
          <a:xfrm>
            <a:off x="698500" y="5092700"/>
            <a:ext cx="5080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D94D45"/>
                </a:solidFill>
                <a:latin typeface="Arial"/>
              </a:rPr>
              <a:t>Big sofa  ·  2.5 × 1.2 × 1.2:  No route found</a:t>
            </a:r>
          </a:p>
        </p:txBody>
      </p:sp>
      <p:sp>
        <p:nvSpPr>
          <p:cNvPr id="7" name="TextBox 6"/>
          <p:cNvSpPr txBox="1"/>
          <p:nvPr/>
        </p:nvSpPr>
        <p:spPr>
          <a:xfrm>
            <a:off x="6413500" y="5092700"/>
            <a:ext cx="5080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2F9A5E"/>
                </a:solidFill>
                <a:latin typeface="Arial"/>
              </a:rPr>
              <a:t>Smaller  ·  1.6 × 0.9 × 0.9:  It fits!</a:t>
            </a:r>
          </a:p>
        </p:txBody>
      </p:sp>
      <p:sp>
        <p:nvSpPr>
          <p:cNvPr id="8" name="Rounded Rectangle 7"/>
          <p:cNvSpPr/>
          <p:nvPr/>
        </p:nvSpPr>
        <p:spPr>
          <a:xfrm>
            <a:off x="698500" y="5461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500" b="0" i="0">
                <a:solidFill>
                  <a:srgbClr val="EAF5EE"/>
                </a:solidFill>
                <a:latin typeface="Arial"/>
              </a:rPr>
              <a:t>Press </a:t>
            </a:r>
            <a:r>
              <a:rPr sz="1500" b="1" i="0">
                <a:solidFill>
                  <a:srgbClr val="D6EF5B"/>
                </a:solidFill>
                <a:latin typeface="Arial"/>
              </a:rPr>
              <a:t>Run selected solver</a:t>
            </a:r>
            <a:r>
              <a:rPr sz="1500" b="0" i="0">
                <a:solidFill>
                  <a:srgbClr val="EAF5EE"/>
                </a:solidFill>
                <a:latin typeface="Arial"/>
              </a:rPr>
              <a:t>. Same building, same solver, only the furniture changed. "No route found" isn't proof, so change something and try again.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71500">
                <a:tc>
                  <a:txBody>
                    <a:bodyPr/>
                    <a:lstStyle/>
                    <a:p>
                      <a:endParaRPr/>
                    </a:p>
                  </a:txBody>
                  <a:tcPr marL="152400" marR="152400" anchor="ctr">
                    <a:solidFill>
                      <a:srgbClr val="0E2F26"/>
                    </a:solidFill>
                  </a:tcPr>
                </a:tc>
                <a:tc>
                  <a:txBody>
                    <a:bodyPr/>
                    <a:lstStyle/>
                    <a:p>
                      <a:r>
                        <a:rPr sz="1300" b="1" i="0">
                          <a:solidFill>
                            <a:srgbClr val="FFFFFF"/>
                          </a:solidFill>
                          <a:latin typeface="Arial"/>
                        </a:rPr>
                        <a:t>RRT-Connect</a:t>
                      </a:r>
                    </a:p>
                  </a:txBody>
                  <a:tcPr marL="152400" marR="152400" anchor="ctr">
                    <a:solidFill>
                      <a:srgbClr val="0E2F26"/>
                    </a:solidFill>
                  </a:tcPr>
                </a:tc>
                <a:tc>
                  <a:txBody>
                    <a:bodyPr/>
                    <a:lstStyle/>
                    <a:p>
                      <a:r>
                        <a:rPr sz="1300" b="1" i="0">
                          <a:solidFill>
                            <a:srgbClr val="FFFFFF"/>
                          </a:solidFill>
                          <a:latin typeface="Arial"/>
                        </a:rPr>
                        <a:t>Heuristic</a:t>
                      </a:r>
                    </a:p>
                  </a:txBody>
                  <a:tcPr marL="152400" marR="152400" anchor="ctr">
                    <a:solidFill>
                      <a:srgbClr val="0E2F26"/>
                    </a:solidFill>
                  </a:tcPr>
                </a:tc>
                <a:extLst>
                  <a:ext uri="{0D108BD9-81ED-4DB2-BD59-A6C34878D82A}">
                    <a16:rowId xmlns:a16="http://schemas.microsoft.com/office/drawing/2014/main" val="10000"/>
                  </a:ext>
                </a:extLst>
              </a:tr>
              <a:tr h="571500">
                <a:tc>
                  <a:txBody>
                    <a:bodyPr/>
                    <a:lstStyle/>
                    <a:p>
                      <a:r>
                        <a:rPr sz="1450" b="1" i="0">
                          <a:solidFill>
                            <a:srgbClr val="166B50"/>
                          </a:solidFill>
                          <a:latin typeface="Arial"/>
                        </a:rPr>
                        <a:t>Idea</a:t>
                      </a:r>
                    </a:p>
                  </a:txBody>
                  <a:tcPr marL="152400" marR="152400" anchor="ctr">
                    <a:solidFill>
                      <a:srgbClr val="FFFFFF"/>
                    </a:solidFill>
                  </a:tcPr>
                </a:tc>
                <a:tc>
                  <a:txBody>
                    <a:bodyPr/>
                    <a:lstStyle/>
                    <a:p>
                      <a:r>
                        <a:rPr sz="1450" b="0" i="0">
                          <a:solidFill>
                            <a:srgbClr val="17211D"/>
                          </a:solidFill>
                          <a:latin typeface="Arial"/>
                        </a:rPr>
                        <a:t>Random search</a:t>
                      </a:r>
                    </a:p>
                  </a:txBody>
                  <a:tcPr marL="152400" marR="152400" anchor="ctr">
                    <a:solidFill>
                      <a:srgbClr val="FFFFFF"/>
                    </a:solidFill>
                  </a:tcPr>
                </a:tc>
                <a:tc>
                  <a:txBody>
                    <a:bodyPr/>
                    <a:lstStyle/>
                    <a:p>
                      <a:r>
                        <a:rPr sz="1450" b="0" i="0">
                          <a:solidFill>
                            <a:srgbClr val="17211D"/>
                          </a:solidFill>
                          <a:latin typeface="Arial"/>
                        </a:rPr>
                        <a:t>Slide it in straight</a:t>
                      </a:r>
                    </a:p>
                  </a:txBody>
                  <a:tcPr marL="152400" marR="152400" anchor="ctr">
                    <a:solidFill>
                      <a:srgbClr val="FFFFFF"/>
                    </a:solidFill>
                  </a:tcPr>
                </a:tc>
                <a:extLst>
                  <a:ext uri="{0D108BD9-81ED-4DB2-BD59-A6C34878D82A}">
                    <a16:rowId xmlns:a16="http://schemas.microsoft.com/office/drawing/2014/main" val="10001"/>
                  </a:ext>
                </a:extLst>
              </a:tr>
              <a:tr h="571500">
                <a:tc>
                  <a:txBody>
                    <a:bodyPr/>
                    <a:lstStyle/>
                    <a:p>
                      <a:r>
                        <a:rPr sz="1450" b="1" i="0">
                          <a:solidFill>
                            <a:srgbClr val="166B50"/>
                          </a:solidFill>
                          <a:latin typeface="Arial"/>
                        </a:rPr>
                        <a:t>Result</a:t>
                      </a:r>
                    </a:p>
                  </a:txBody>
                  <a:tcPr marL="152400" marR="152400" anchor="ctr">
                    <a:solidFill>
                      <a:srgbClr val="FFFFFF"/>
                    </a:solidFill>
                  </a:tcPr>
                </a:tc>
                <a:tc>
                  <a:txBody>
                    <a:bodyPr/>
                    <a:lstStyle/>
                    <a:p>
                      <a:r>
                        <a:rPr sz="1450" b="0" i="0">
                          <a:solidFill>
                            <a:srgbClr val="17211D"/>
                          </a:solidFill>
                          <a:latin typeface="Arial"/>
                        </a:rPr>
                        <a:t>Different each run</a:t>
                      </a:r>
                    </a:p>
                  </a:txBody>
                  <a:tcPr marL="152400" marR="152400" anchor="ctr">
                    <a:solidFill>
                      <a:srgbClr val="FFFFFF"/>
                    </a:solidFill>
                  </a:tcPr>
                </a:tc>
                <a:tc>
                  <a:txBody>
                    <a:bodyPr/>
                    <a:lstStyle/>
                    <a:p>
                      <a:r>
                        <a:rPr sz="1450" b="0" i="0">
                          <a:solidFill>
                            <a:srgbClr val="17211D"/>
                          </a:solidFill>
                          <a:latin typeface="Arial"/>
                        </a:rPr>
                        <a:t>Same every run</a:t>
                      </a:r>
                    </a:p>
                  </a:txBody>
                  <a:tcPr marL="152400" marR="152400" anchor="ctr">
                    <a:solidFill>
                      <a:srgbClr val="FFFFFF"/>
                    </a:solidFill>
                  </a:tcPr>
                </a:tc>
                <a:extLst>
                  <a:ext uri="{0D108BD9-81ED-4DB2-BD59-A6C34878D82A}">
                    <a16:rowId xmlns:a16="http://schemas.microsoft.com/office/drawing/2014/main" val="10002"/>
                  </a:ext>
                </a:extLst>
              </a:tr>
              <a:tr h="571500">
                <a:tc>
                  <a:txBody>
                    <a:bodyPr/>
                    <a:lstStyle/>
                    <a:p>
                      <a:r>
                        <a:rPr sz="1450" b="1" i="0">
                          <a:solidFill>
                            <a:srgbClr val="166B50"/>
                          </a:solidFill>
                          <a:latin typeface="Arial"/>
                        </a:rPr>
                        <a:t>Handles turns</a:t>
                      </a:r>
                    </a:p>
                  </a:txBody>
                  <a:tcPr marL="152400" marR="152400" anchor="ctr">
                    <a:solidFill>
                      <a:srgbClr val="FFFFFF"/>
                    </a:solidFill>
                  </a:tcPr>
                </a:tc>
                <a:tc>
                  <a:txBody>
                    <a:bodyPr/>
                    <a:lstStyle/>
                    <a:p>
                      <a:r>
                        <a:rPr sz="1450" b="0" i="0">
                          <a:solidFill>
                            <a:srgbClr val="17211D"/>
                          </a:solidFill>
                          <a:latin typeface="Arial"/>
                        </a:rPr>
                        <a:t>Yes</a:t>
                      </a:r>
                    </a:p>
                  </a:txBody>
                  <a:tcPr marL="152400" marR="152400" anchor="ctr">
                    <a:solidFill>
                      <a:srgbClr val="FFFFFF"/>
                    </a:solidFill>
                  </a:tcPr>
                </a:tc>
                <a:tc>
                  <a:txBody>
                    <a:bodyPr/>
                    <a:lstStyle/>
                    <a:p>
                      <a:r>
                        <a:rPr sz="1450" b="0" i="0">
                          <a:solidFill>
                            <a:srgbClr val="17211D"/>
                          </a:solidFill>
                          <a:latin typeface="Arial"/>
                        </a:rPr>
                        <a:t>Via handoffs</a:t>
                      </a:r>
                    </a:p>
                  </a:txBody>
                  <a:tcPr marL="152400" marR="152400" anchor="ctr">
                    <a:solidFill>
                      <a:srgbClr val="FFFFFF"/>
                    </a:solidFill>
                  </a:tcPr>
                </a:tc>
                <a:extLst>
                  <a:ext uri="{0D108BD9-81ED-4DB2-BD59-A6C34878D82A}">
                    <a16:rowId xmlns:a16="http://schemas.microsoft.com/office/drawing/2014/main" val="10003"/>
                  </a:ext>
                </a:extLst>
              </a:tr>
              <a:tr h="571500">
                <a:tc>
                  <a:txBody>
                    <a:bodyPr/>
                    <a:lstStyle/>
                    <a:p>
                      <a:r>
                        <a:rPr sz="1450" b="1" i="0">
                          <a:solidFill>
                            <a:srgbClr val="166B50"/>
                          </a:solidFill>
                          <a:latin typeface="Arial"/>
                        </a:rPr>
                        <a:t>On failure</a:t>
                      </a:r>
                    </a:p>
                  </a:txBody>
                  <a:tcPr marL="152400" marR="152400" anchor="ctr">
                    <a:solidFill>
                      <a:srgbClr val="FFFFFF"/>
                    </a:solidFill>
                  </a:tcPr>
                </a:tc>
                <a:tc>
                  <a:txBody>
                    <a:bodyPr/>
                    <a:lstStyle/>
                    <a:p>
                      <a:r>
                        <a:rPr sz="1450" b="0" i="0">
                          <a:solidFill>
                            <a:srgbClr val="17211D"/>
                          </a:solidFill>
                          <a:latin typeface="Arial"/>
                        </a:rPr>
                        <a:t>Try again</a:t>
                      </a:r>
                    </a:p>
                  </a:txBody>
                  <a:tcPr marL="152400" marR="152400" anchor="ctr">
                    <a:solidFill>
                      <a:srgbClr val="FFFFFF"/>
                    </a:solidFill>
                  </a:tcPr>
                </a:tc>
                <a:tc>
                  <a:txBody>
                    <a:bodyPr/>
                    <a:lstStyle/>
                    <a:p>
                      <a:r>
                        <a:rPr sz="1450" b="0" i="0">
                          <a:solidFill>
                            <a:srgbClr val="17211D"/>
                          </a:solidFill>
                          <a:latin typeface="Arial"/>
                        </a:rPr>
                        <a:t>Shows the stuck spot</a:t>
                      </a:r>
                    </a:p>
                  </a:txBody>
                  <a:tcPr marL="152400" marR="152400" anchor="ctr">
                    <a:solidFill>
                      <a:srgbClr val="FFFFFF"/>
                    </a:solidFill>
                  </a:tcPr>
                </a:tc>
                <a:extLst>
                  <a:ext uri="{0D108BD9-81ED-4DB2-BD59-A6C34878D82A}">
                    <a16:rowId xmlns:a16="http://schemas.microsoft.com/office/drawing/2014/main" val="10004"/>
                  </a:ext>
                </a:extLst>
              </a:tr>
            </a:tbl>
          </a:graphicData>
        </a:graphic>
      </p:graphicFrame>
      <p:pic>
        <p:nvPicPr>
          <p:cNvPr id="21" name="Audio 20">
            <a:extLst>
              <a:ext uri="{FF2B5EF4-FFF2-40B4-BE49-F238E27FC236}">
                <a16:creationId xmlns:a16="http://schemas.microsoft.com/office/drawing/2014/main" id="{1B58BA4A-96FE-C24C-741B-D46BD621CF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31"/>
    </mc:Choice>
    <mc:Fallback xmlns="">
      <p:transition spd="slow" advTm="4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Does </a:t>
            </a:r>
            <a:r>
              <a:rPr sz="1700" b="1" i="0" dirty="0">
                <a:solidFill>
                  <a:srgbClr val="17211D"/>
                </a:solidFill>
                <a:latin typeface="Arial"/>
              </a:rPr>
              <a:t>roll sampling</a:t>
            </a:r>
            <a:r>
              <a:rPr sz="1700" b="0" i="0" dirty="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3018</Words>
  <Application>Microsoft Macintosh PowerPoint</Application>
  <PresentationFormat>Widescreen</PresentationFormat>
  <Paragraphs>299</Paragraphs>
  <Slides>17</Slides>
  <Notes>17</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9</cp:revision>
  <dcterms:created xsi:type="dcterms:W3CDTF">2013-01-27T09:14:16Z</dcterms:created>
  <dcterms:modified xsi:type="dcterms:W3CDTF">2026-10-24T17:34:08Z</dcterms:modified>
  <cp:category/>
</cp:coreProperties>
</file>