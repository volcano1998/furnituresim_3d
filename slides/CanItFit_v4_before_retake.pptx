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4a" ContentType="audio/mp4"/>
  <Override PartName="/ppt/media/media10.m4a" ContentType="audio/mp4"/>
  <Override PartName="/ppt/media/media2.m4a" ContentType="audio/mp4"/>
  <Override PartName="/ppt/media/media3.m4a" ContentType="audio/mp4"/>
  <Override PartName="/ppt/media/media4.m4a" ContentType="audio/mp4"/>
  <Override PartName="/ppt/media/media5.m4a" ContentType="audio/mp4"/>
  <Override PartName="/ppt/media/media6.m4a" ContentType="audio/mp4"/>
  <Override PartName="/ppt/media/media7.m4a" ContentType="audio/mp4"/>
  <Override PartName="/ppt/media/media9.m4a" ContentType="audio/mp4"/>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82" r:id="rId24"/>
    <p:sldId id="279" r:id="rId5"/>
    <p:sldId id="280" r:id="rId6"/>
    <p:sldId id="281" r:id="rId7"/>
    <p:sldId id="276" r:id="rId8"/>
    <p:sldId id="277" r:id="rId9"/>
    <p:sldId id="278" r:id="rId10"/>
    <p:sldId id="264" r:id="rId11"/>
    <p:sldId id="265" r:id="rId12"/>
    <p:sldId id="266" r:id="rId13"/>
    <p:sldId id="267" r:id="rId14"/>
    <p:sldId id="268" r:id="rId15"/>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309"/>
    <p:restoredTop sz="68963"/>
  </p:normalViewPr>
  <p:slideViewPr>
    <p:cSldViewPr snapToGrid="0" snapToObjects="1">
      <p:cViewPr varScale="1">
        <p:scale>
          <a:sx n="75" d="100"/>
          <a:sy n="75" d="100"/>
        </p:scale>
        <p:origin x="952" y="1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9869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Hi Everyone, I'm Can! </a:t>
            </a:r>
            <a:r>
              <a:rPr dirty="0"/>
              <a:t>Have you ever been stuck on a staircase, holding one end of a couch, thinking: "there is no way this fits"?</a:t>
            </a:r>
          </a:p>
          <a:p>
            <a:endParaRPr dirty="0"/>
          </a:p>
          <a:p>
            <a:r>
              <a:rPr dirty="0"/>
              <a:t>Today we're going to settle that argument with math.</a:t>
            </a:r>
          </a:p>
          <a:p>
            <a:endParaRPr dirty="0"/>
          </a:p>
          <a:p>
            <a:r>
              <a:rPr dirty="0"/>
              <a:t>I built a browser app called Can It Fit</a:t>
            </a:r>
            <a:r>
              <a:rPr lang="en-US" dirty="0"/>
              <a:t>, where y</a:t>
            </a:r>
            <a:r>
              <a:rPr dirty="0"/>
              <a:t>ou </a:t>
            </a:r>
            <a:r>
              <a:rPr lang="en-US" dirty="0"/>
              <a:t>can </a:t>
            </a:r>
            <a:r>
              <a:rPr dirty="0"/>
              <a:t>design a room in 3D, drop in a piece of furniture, and a motion planner</a:t>
            </a:r>
            <a:r>
              <a:rPr lang="en-US" dirty="0"/>
              <a:t> will</a:t>
            </a:r>
            <a:r>
              <a:rPr dirty="0"/>
              <a:t> figure out whether it can actually get through.</a:t>
            </a:r>
          </a:p>
          <a:p>
            <a:endParaRPr dirty="0"/>
          </a:p>
          <a:p>
            <a:r>
              <a:rPr dirty="0"/>
              <a:t>In the next few minutes I'll show you how to use it, and then, the fun part, how the planner really </a:t>
            </a:r>
            <a:r>
              <a:rPr lang="en-US" dirty="0"/>
              <a:t>solve the problem</a:t>
            </a:r>
            <a:r>
              <a:rPr dirty="0"/>
              <a:t>. No installs. No build step. Just a browser.</a:t>
            </a:r>
          </a:p>
          <a:p>
            <a:endParaRPr dirty="0"/>
          </a:p>
          <a:p>
            <a:r>
              <a:rPr dirty="0"/>
              <a:t>Let's go.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Here's why this is harder than it looks.</a:t>
            </a:r>
          </a:p>
          <a:p>
            <a:endParaRPr dirty="0"/>
          </a:p>
          <a:p>
            <a:r>
              <a:rPr dirty="0"/>
              <a:t>A couch isn't just sliding along a hallway. It can move in three directions, and it can rotate in three ways: yaw, pitch and roll. That's six degrees of freedom.</a:t>
            </a:r>
          </a:p>
          <a:p>
            <a:endParaRPr dirty="0"/>
          </a:p>
          <a:p>
            <a:r>
              <a:rPr dirty="0"/>
              <a:t>So "does it fit?" is secretly a question about finding a path through six-dimensional space, where every single pose along the way has to avoid every wall.</a:t>
            </a:r>
          </a:p>
          <a:p>
            <a:endParaRPr dirty="0"/>
          </a:p>
          <a:p>
            <a:r>
              <a:rPr dirty="0"/>
              <a:t>Look at this corner. The sofa can't just slide through. It has to turn, at exactly the right moment, by exactly the right amount.</a:t>
            </a:r>
          </a:p>
          <a:p>
            <a:endParaRPr dirty="0"/>
          </a:p>
          <a:p>
            <a:r>
              <a:rPr dirty="0"/>
              <a:t>That turning is what makes this problem interesting.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app gives you two ways to answer the question.</a:t>
            </a:r>
          </a:p>
          <a:p/>
          <a:p>
            <a:r>
              <a:t>First, manual mode, where you grab the furniture yourself and try it virtually.</a:t>
            </a:r>
          </a:p>
          <a:p/>
          <a:p>
            <a:r>
              <a:t>Second, an automatic solver that uses a motion planning algorithm called RRT-Connect, and I'll show you how it thinks later on.</a:t>
            </a:r>
          </a:p>
          <a:p/>
          <a:p>
            <a:r>
              <a:t>Either way, the workflow is the same four steps: build the room, choose the entrance and exit, describe the furniture, and solve.</a:t>
            </a:r>
          </a:p>
          <a:p/>
          <a:p>
            <a:r>
              <a:t>That's plenty of talking, so let's open the app and walk through those four steps together.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app. The big window on the left is the 3D view, and that's where everything you build will appear. On the right is the control panel, and at the top of it you can see the four steps, one through four, with a progress bar that follows you along.</a:t>
            </a:r>
          </a:p>
          <a:p/>
          <a:p>
            <a:r>
              <a:t>You never have to hunt for the next button, because the app always tells you what to do next.</a:t>
            </a:r>
          </a:p>
          <a:p/>
          <a:p>
            <a:r>
              <a:t>We'll start with step one, building the room.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one is the fun part: building the place your furniture has to travel through.</a:t>
            </a:r>
          </a:p>
          <a:p/>
          <a:p>
            <a:r>
              <a:t>And here's the best thing about this app: you're not stuck with one shape. Look at these five models. An L-shaped hallway, a zig-zag hallway, U-shaped, S-shaped staircase, and a post-modern super twisted staircase.  They're all made from simple blocks. The only difference is how the blocks are shaped and connected.</a:t>
            </a:r>
          </a:p>
          <a:p/>
          <a:p>
            <a:r>
              <a:t>The recipe is always the same. You shape some blocks, you connect them together, and then you test your furniture inside.</a:t>
            </a:r>
          </a:p>
          <a:p/>
          <a:p>
            <a:r>
              <a:t>So whatever your own home looks like, a narrow stair, a tight corner, a crooked hallway, you can build it. Let me show you how.</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one: shape your blocks. There are just three things to learn.</a:t>
            </a:r>
          </a:p>
          <a:p>
            <a:endParaRPr/>
          </a:p>
          <a:p>
            <a:r>
              <a:t>First, stretch. Every block has length sliders. Drag one and the block gets longer, wider or taller. Here's a short block, and here's the same block stretched out into a long hallway.</a:t>
            </a:r>
          </a:p>
          <a:p>
            <a:endParaRPr/>
          </a:p>
          <a:p>
            <a:r>
              <a:t>Second, tilt. The angle sliders lean the block over. A box with right angles is a plain hallway, but pull one angle down to sixty degrees and you get a slanted block. That's how you make a ramp, or the slope of a staircase.</a:t>
            </a:r>
          </a:p>
          <a:p>
            <a:endParaRPr/>
          </a:p>
          <a:p>
            <a:r>
              <a:t>And third, add more. Press "Add object" and another block appears. Add as many as you need.</a:t>
            </a:r>
          </a:p>
          <a:p>
            <a:endParaRPr/>
          </a:p>
          <a:p>
            <a:r>
              <a:t>That's the whole toolbox: stretch, tilt, add. The next step is gluing them together.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two: connect the blocks. Press "Connect two objects", then click one face on each block you want to join.</a:t>
            </a:r>
          </a:p>
          <a:p>
            <a:endParaRPr/>
          </a:p>
          <a:p>
            <a:r>
              <a:t>A small preview window opens with three sliders. When two blocks first snap together, they can stick out the wrong way, like on the left.</a:t>
            </a:r>
          </a:p>
          <a:p>
            <a:endParaRPr/>
          </a:p>
          <a:p>
            <a:r>
              <a:t>So you drag the sliders. One rotates the block around the surface it's attached to, and the other two slide it along that surface. Rotating changes the angle between the two surfaces, and that's the trick that bends a hallway, or turns a flat block into stairs.</a:t>
            </a:r>
          </a:p>
          <a:p>
            <a:endParaRPr/>
          </a:p>
          <a:p>
            <a:r>
              <a:t>Watch the right-hand picture: the same two blocks, now lined up into one continuous staircase. When it looks right, press Apply, then repeat for the next joint.</a:t>
            </a:r>
          </a:p>
          <a:p>
            <a:endParaRPr/>
          </a:p>
          <a:p>
            <a:r>
              <a:t>Shape, connect, adjust. With those three moves you can build whatever your own home looks like.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Steps two and three are quick.</a:t>
            </a:r>
          </a:p>
          <a:p/>
          <a:p>
            <a:r>
              <a:t>First, tell the app where the furniture comes in and where it has to come out. Click the end of the top hallway for the entrance, and it turns green. Then click the end of the bottom hallway for the exit, and it turns orange. Press "Confirm 3D model" and the walls turn see-through.</a:t>
            </a:r>
          </a:p>
          <a:p/>
          <a:p>
            <a:r>
              <a:t>Those two faces are the only doorways. Every other wall is solid, so the furniture can't cheat by walking through one.</a:t>
            </a:r>
          </a:p>
          <a:p/>
          <a:p>
            <a:r>
              <a:t>Then type in the size of your furniture: length, width and height. The green box next to the building is a preview of it. I'll start with a big sofa, two and a half by one point two by one point two.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we let the computer try, try it yourself. Press "Try manually" and the furniture starts just outside the entrance.</a:t>
            </a:r>
          </a:p>
          <a:p>
            <a:endParaRPr/>
          </a:p>
          <a:p>
            <a:r>
              <a:t>Hold the M key and drag it into the building. The box turns green when it's legal, yellow when it's outside, and red when it hits a wall. Use the sliders to tilt and lift it.</a:t>
            </a:r>
          </a:p>
          <a:p>
            <a:endParaRPr/>
          </a:p>
          <a:p>
            <a:r>
              <a:t>If you get stuck, Auto Pilot lines the furniture up with a wall for you. Reach the exit and you win.</a:t>
            </a:r>
          </a:p>
          <a:p>
            <a:endParaRPr/>
          </a:p>
          <a:p>
            <a:r>
              <a:t>It's trickier than it looks, which is exactly why a planner is so useful.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 the computer try. Press "Run selected solver", and the planner searches for a path.</a:t>
            </a:r>
          </a:p>
          <a:p/>
          <a:p>
            <a:r>
              <a:t>There's one setting worth knowing about, and it's already switched on for you: "Allow roll sampling". It lets the planner roll the sofa onto its side, as well as tilt it and turn it. In a tight stairwell, that's exactly the extra move that makes the difference.</a:t>
            </a:r>
          </a:p>
          <a:p/>
          <a:p>
            <a:r>
              <a:t>To see why, I turned it off. Our big sofa, two and a half by one point two by one point two, comes back with: "No route found". Now, be careful how you read that. The search is random, so it can't prove that no route exists. It just didn't find one.</a:t>
            </a:r>
          </a:p>
          <a:p/>
          <a:p>
            <a:r>
              <a:t>With roll sampling on, the way it is by default, the same sofa comes back with: "It fits!" A hundred and fifty-four collision-free frames. Drag the timeline and you can watch the sofa roll its way up through the stairs.</a:t>
            </a:r>
          </a:p>
          <a:p/>
          <a:p>
            <a:r>
              <a:t>Same building, same sofa, one checkbox. That's the whole point of the tool: you can test a move before you ever lift a couch.</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far you've seen what it does. Now let's open the hood.</a:t>
            </a:r>
          </a:p>
          <a:p>
            <a:endParaRPr dirty="0"/>
          </a:p>
          <a:p>
            <a:r>
              <a:rPr dirty="0"/>
              <a:t>Three questions. How is a position stored? How do we know a position is legal? And how do we search for a path?</a:t>
            </a:r>
          </a:p>
          <a:p>
            <a:endParaRPr dirty="0"/>
          </a:p>
          <a:p>
            <a:r>
              <a:rPr lang="en-US" dirty="0"/>
              <a:t>By a</a:t>
            </a:r>
            <a:r>
              <a:rPr dirty="0"/>
              <a:t>nswer</a:t>
            </a:r>
            <a:r>
              <a:rPr lang="en-US" dirty="0"/>
              <a:t>ing</a:t>
            </a:r>
            <a:r>
              <a:rPr dirty="0"/>
              <a:t> those three</a:t>
            </a:r>
            <a:r>
              <a:rPr lang="en-US" dirty="0"/>
              <a:t> questions</a:t>
            </a:r>
            <a:r>
              <a:rPr dirty="0"/>
              <a:t>, </a:t>
            </a:r>
            <a:r>
              <a:rPr lang="en-US" dirty="0"/>
              <a:t>y</a:t>
            </a:r>
            <a:r>
              <a:rPr dirty="0"/>
              <a:t>ou </a:t>
            </a:r>
            <a:r>
              <a:rPr lang="en-US" dirty="0"/>
              <a:t>will </a:t>
            </a:r>
            <a:r>
              <a:rPr dirty="0"/>
              <a:t>understand the whole planner.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 one: how do you describe where a couch is?</a:t>
            </a:r>
          </a:p>
          <a:p/>
          <a:p>
            <a:r>
              <a:t>With six numbers. X, Y and Z for position, and yaw, pitch and roll for rotation.</a:t>
            </a:r>
          </a:p>
          <a:p/>
          <a:p>
            <a:r>
              <a:t>The code stores that as a simple object, and converts the three angles into a quaternion, using Z-Y-X Euler order. We use the same convention everywhere, so rendering, collision checking and saving always agree.</a:t>
            </a:r>
          </a:p>
          <a:p/>
          <a:p>
            <a:r>
              <a:t>And here's a neat trick: "Allow roll sampling" is on by default, so the search uses all six dimensions. Turn it off and it drops to five, which is faster, but as you saw on the solver slide, some tight spots, like our staircase, can only be solved by rolling the furniture.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 two: given a pose, is it legal?</a:t>
            </a:r>
          </a:p>
          <a:p/>
          <a:p>
            <a:r>
              <a:t>If every boundary point of the furniture is inside the room, the pose is legal.</a:t>
            </a:r>
          </a:p>
          <a:p/>
          <a:p>
            <a:r>
              <a:t>To check a move between two poses, we interpolate and test every little step along the way.</a:t>
            </a:r>
          </a:p>
          <a:p/>
          <a:p>
            <a:r>
              <a:t>And crossing a wall? That's only allowed through the entrance or exit.</a:t>
            </a:r>
          </a:p>
          <a:p/>
          <a:p>
            <a:r>
              <a:t>It's the exact same check for manual mode and for the solver. Nobody gets special treatment.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Question three: how do we find a path through six-dimensional space?</a:t>
            </a:r>
          </a:p>
          <a:p>
            <a:endParaRPr dirty="0"/>
          </a:p>
          <a:p>
            <a:r>
              <a:rPr dirty="0"/>
              <a:t>With an algorithm called RRT-Connect. RRT stands for Rapidly-exploring Random Tree.</a:t>
            </a:r>
          </a:p>
          <a:p>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Specifically, RRT-Connect grows two trees, one from the start and one from the goal.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randomly samples new nodes in each iteration, attempting to connect the two trees while avoiding the obstacles.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dirty="0"/>
              <a:t>When the two trees touch, we have a path. We smooth it, resample it, and animate it.</a:t>
            </a:r>
          </a:p>
          <a:p>
            <a:endParaRPr dirty="0"/>
          </a:p>
          <a:p>
            <a:r>
              <a:rPr dirty="0"/>
              <a:t>One honest caveat. It's probabilistic.</a:t>
            </a:r>
            <a:r>
              <a:rPr lang="en-US" dirty="0"/>
              <a:t> So</a:t>
            </a:r>
            <a:r>
              <a:rPr dirty="0"/>
              <a:t> Finding a route proves the </a:t>
            </a:r>
            <a:r>
              <a:rPr lang="en-US" dirty="0"/>
              <a:t>furniture</a:t>
            </a:r>
            <a:r>
              <a:rPr dirty="0"/>
              <a:t> fits. </a:t>
            </a:r>
            <a:endParaRPr lang="en-US" dirty="0"/>
          </a:p>
          <a:p>
            <a:endParaRPr lang="en-US" dirty="0"/>
          </a:p>
          <a:p>
            <a:r>
              <a:rPr lang="en-US" dirty="0"/>
              <a:t>But f</a:t>
            </a:r>
            <a:r>
              <a:rPr dirty="0"/>
              <a:t>ailing to find one does not prove it can't. </a:t>
            </a:r>
            <a:r>
              <a:rPr lang="en-US" dirty="0"/>
              <a:t>You may try</a:t>
            </a:r>
            <a:r>
              <a:rPr dirty="0"/>
              <a:t> run it again,  raise the iterations</a:t>
            </a:r>
            <a:r>
              <a:rPr lang="en-US" dirty="0"/>
              <a:t>, or use the manual solver.</a:t>
            </a:r>
            <a:endParaRPr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Pure random sampling struggles with a tight doorway. The chance of randomly guessing a good entrance pose is tiny.</a:t>
            </a:r>
          </a:p>
          <a:p>
            <a:endParaRPr dirty="0"/>
          </a:p>
          <a:p>
            <a:r>
              <a:rPr dirty="0"/>
              <a:t>So we don't start blind. We sample offsets across the opening, combined with fifteen-degree yaw, pitch and roll orientations. We refine the promising ones at five degrees. Then we probe each candidate inward, to see how deep it gets.</a:t>
            </a:r>
          </a:p>
          <a:p>
            <a:endParaRPr dirty="0"/>
          </a:p>
          <a:p>
            <a:r>
              <a:rPr dirty="0"/>
              <a:t>We rank them by depth, clearance, alignment, offset and tilt, and feed the best ones to the planner as</a:t>
            </a:r>
            <a:r>
              <a:rPr lang="en-US" dirty="0"/>
              <a:t> candidate starting poses</a:t>
            </a:r>
            <a:r>
              <a:rPr dirty="0"/>
              <a:t>.</a:t>
            </a:r>
          </a:p>
          <a:p>
            <a:endParaRPr lang="en-US" dirty="0"/>
          </a:p>
          <a:p>
            <a:r>
              <a:rPr lang="en-US" dirty="0"/>
              <a:t>And this will increase the chance of successfully finding a path.</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it's your turn.</a:t>
            </a:r>
          </a:p>
          <a:p/>
          <a:p>
            <a:r>
              <a:t>Build an L-shaped hallway out of two connected blocks. You can make furniture and clearance of this size</a:t>
            </a:r>
          </a:p>
          <a:p/>
          <a:p>
            <a:r>
              <a:t>Try it manually first. Then run the solver.</a:t>
            </a:r>
          </a:p>
          <a:p/>
          <a:p>
            <a:r>
              <a:t>Then increase the furniture size until it stops fitting, and then turn roll sampling off and see what changes.</a:t>
            </a:r>
          </a:p>
          <a:p/>
          <a:p>
            <a:r>
              <a:t>So here's the question: what's the largest sofa that fits your hallway?</a:t>
            </a:r>
          </a:p>
          <a:p/>
          <a:p>
            <a:r>
              <a:t>Pause the video, give it a go, and drop your number in the comments. I'm really curious what you find.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That's everything. And the best part: you can try it right now.</a:t>
            </a:r>
          </a:p>
          <a:p>
            <a:endParaRPr dirty="0"/>
          </a:p>
          <a:p>
            <a:r>
              <a:rPr dirty="0"/>
              <a:t>The app is live in your browser. No install, no account. The link is on screen and in the description</a:t>
            </a:r>
            <a:r>
              <a:rPr lang="en-US" dirty="0"/>
              <a:t>.</a:t>
            </a:r>
          </a:p>
          <a:p>
            <a:endParaRPr dirty="0"/>
          </a:p>
          <a:p>
            <a:r>
              <a:rPr lang="en-US" dirty="0"/>
              <a:t>T</a:t>
            </a:r>
            <a:r>
              <a:rPr dirty="0"/>
              <a:t>he full source code is on GitHub, so you can read the planner, change it, or even add your own solver.</a:t>
            </a:r>
          </a:p>
          <a:p>
            <a:endParaRPr dirty="0"/>
          </a:p>
          <a:p>
            <a:r>
              <a:rPr dirty="0"/>
              <a:t>Thanks so much for watching. Now go move some couches.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microsoft.com/office/2007/relationships/media" Target="../media/media1.m4a"/><Relationship Id="rId2" Type="http://schemas.openxmlformats.org/officeDocument/2006/relationships/audio" Target="../media/media1.m4a"/><Relationship Id="rId3" Type="http://schemas.openxmlformats.org/officeDocument/2006/relationships/slideLayout" Target="../slideLayouts/slideLayout7.xml"/><Relationship Id="rId4" Type="http://schemas.openxmlformats.org/officeDocument/2006/relationships/notesSlide" Target="../notesSlides/notesSlide1.xml"/><Relationship Id="rId5" Type="http://schemas.openxmlformats.org/officeDocument/2006/relationships/image" Target="../media/image1.png"/><Relationship Id="rId6" Type="http://schemas.openxmlformats.org/officeDocument/2006/relationships/image" Target="../media/image2.jpeg"/><Relationship Id="rId7"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tags" Target="../tags/tag1.xml"/><Relationship Id="rId2" Type="http://schemas.microsoft.com/office/2007/relationships/media" Target="../media/media2.m4a"/><Relationship Id="rId3" Type="http://schemas.openxmlformats.org/officeDocument/2006/relationships/audio" Target="../media/media2.m4a"/><Relationship Id="rId4" Type="http://schemas.openxmlformats.org/officeDocument/2006/relationships/slideLayout" Target="../slideLayouts/slideLayout7.xml"/><Relationship Id="rId5" Type="http://schemas.openxmlformats.org/officeDocument/2006/relationships/notesSlide" Target="../notesSlides/notesSlide2.xml"/><Relationship Id="rId6"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tags" Target="../tags/tag2.xml"/><Relationship Id="rId2" Type="http://schemas.microsoft.com/office/2007/relationships/media" Target="../media/media3.m4a"/><Relationship Id="rId3" Type="http://schemas.openxmlformats.org/officeDocument/2006/relationships/audio" Target="../media/media3.m4a"/><Relationship Id="rId4" Type="http://schemas.openxmlformats.org/officeDocument/2006/relationships/slideLayout" Target="../slideLayouts/slideLayout7.xml"/><Relationship Id="rId5" Type="http://schemas.openxmlformats.org/officeDocument/2006/relationships/notesSlide" Target="../notesSlides/notesSlide3.xml"/><Relationship Id="rId6"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12.jpg"/><Relationship Id="rId7" Type="http://schemas.openxmlformats.org/officeDocument/2006/relationships/image" Target="../media/image13.jpg"/><Relationship Id="rId8"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5.jpg"/><Relationship Id="rId4" Type="http://schemas.openxmlformats.org/officeDocument/2006/relationships/image" Target="../media/image1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7.jpg"/><Relationship Id="rId4" Type="http://schemas.openxmlformats.org/officeDocument/2006/relationships/image" Target="../media/image18.jpg"/><Relationship Id="rId5" Type="http://schemas.openxmlformats.org/officeDocument/2006/relationships/image" Target="../media/image2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9.jpg"/><Relationship Id="rId4" Type="http://schemas.openxmlformats.org/officeDocument/2006/relationships/image" Target="../media/image29.jpg"/><Relationship Id="rId5" Type="http://schemas.openxmlformats.org/officeDocument/2006/relationships/image" Target="../media/image3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0.jpg"/><Relationship Id="rId4" Type="http://schemas.openxmlformats.org/officeDocument/2006/relationships/image" Target="../media/image21.jpg"/><Relationship Id="rId5" Type="http://schemas.openxmlformats.org/officeDocument/2006/relationships/image" Target="../media/image30.jpg"/><Relationship Id="rId6" Type="http://schemas.openxmlformats.org/officeDocument/2006/relationships/image" Target="../media/image31.jpg"/><Relationship Id="rId7" Type="http://schemas.openxmlformats.org/officeDocument/2006/relationships/image" Target="../media/image32.jpg"/></Relationships>
</file>

<file path=ppt/slides/_rels/slide11.xml.rels><?xml version='1.0' encoding='UTF-8' standalone='yes'?>
<Relationships xmlns="http://schemas.openxmlformats.org/package/2006/relationships"><Relationship Id="rId1" Type="http://schemas.microsoft.com/office/2007/relationships/media" Target="../media/media4.m4a"/><Relationship Id="rId2" Type="http://schemas.openxmlformats.org/officeDocument/2006/relationships/audio" Target="../media/media4.m4a"/><Relationship Id="rId3" Type="http://schemas.openxmlformats.org/officeDocument/2006/relationships/slideLayout" Target="../slideLayouts/slideLayout7.xml"/><Relationship Id="rId4" Type="http://schemas.openxmlformats.org/officeDocument/2006/relationships/notesSlide" Target="../notesSlides/notesSlide11.xml"/><Relationship Id="rId5"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microsoft.com/office/2007/relationships/media" Target="../media/media5.m4a"/><Relationship Id="rId2" Type="http://schemas.openxmlformats.org/officeDocument/2006/relationships/audio" Target="../media/media5.m4a"/><Relationship Id="rId3" Type="http://schemas.openxmlformats.org/officeDocument/2006/relationships/slideLayout" Target="../slideLayouts/slideLayout7.xml"/><Relationship Id="rId4" Type="http://schemas.openxmlformats.org/officeDocument/2006/relationships/notesSlide" Target="../notesSlides/notesSlide12.xml"/><Relationship Id="rId5" Type="http://schemas.openxmlformats.org/officeDocument/2006/relationships/image" Target="../media/image22.png"/><Relationship Id="rId6"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microsoft.com/office/2007/relationships/media" Target="../media/media6.m4a"/><Relationship Id="rId2" Type="http://schemas.openxmlformats.org/officeDocument/2006/relationships/audio" Target="../media/media6.m4a"/><Relationship Id="rId3" Type="http://schemas.openxmlformats.org/officeDocument/2006/relationships/slideLayout" Target="../slideLayouts/slideLayout7.xml"/><Relationship Id="rId4" Type="http://schemas.openxmlformats.org/officeDocument/2006/relationships/notesSlide" Target="../notesSlides/notesSlide13.xml"/><Relationship Id="rId5" Type="http://schemas.openxmlformats.org/officeDocument/2006/relationships/image" Target="../media/image23.png"/><Relationship Id="rId6"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microsoft.com/office/2007/relationships/media" Target="../media/media7.m4a"/><Relationship Id="rId2" Type="http://schemas.openxmlformats.org/officeDocument/2006/relationships/audio" Target="../media/media7.m4a"/><Relationship Id="rId3" Type="http://schemas.openxmlformats.org/officeDocument/2006/relationships/slideLayout" Target="../slideLayouts/slideLayout7.xml"/><Relationship Id="rId4" Type="http://schemas.openxmlformats.org/officeDocument/2006/relationships/notesSlide" Target="../notesSlides/notesSlide14.xml"/><Relationship Id="rId5" Type="http://schemas.openxmlformats.org/officeDocument/2006/relationships/image" Target="../media/image24.jpg"/><Relationship Id="rId6"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microsoft.com/office/2007/relationships/media" Target="../media/media9.m4a"/><Relationship Id="rId2" Type="http://schemas.openxmlformats.org/officeDocument/2006/relationships/audio" Target="../media/media9.m4a"/><Relationship Id="rId3" Type="http://schemas.openxmlformats.org/officeDocument/2006/relationships/slideLayout" Target="../slideLayouts/slideLayout7.xml"/><Relationship Id="rId4" Type="http://schemas.openxmlformats.org/officeDocument/2006/relationships/notesSlide" Target="../notesSlides/notesSlide16.xml"/><Relationship Id="rId5" Type="http://schemas.openxmlformats.org/officeDocument/2006/relationships/image" Target="../media/image26.png"/><Relationship Id="rId6"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microsoft.com/office/2007/relationships/media" Target="../media/media10.m4a"/><Relationship Id="rId2" Type="http://schemas.openxmlformats.org/officeDocument/2006/relationships/audio" Target="../media/media10.m4a"/><Relationship Id="rId3" Type="http://schemas.openxmlformats.org/officeDocument/2006/relationships/slideLayout" Target="../slideLayouts/slideLayout7.xml"/><Relationship Id="rId4" Type="http://schemas.openxmlformats.org/officeDocument/2006/relationships/notesSlide" Target="../notesSlides/notesSlide17.xml"/><Relationship Id="rId5" Type="http://schemas.openxmlformats.org/officeDocument/2006/relationships/hyperlink" Target="https://volcano1998.github.io/FurnitureSim_3D/" TargetMode="External"/><Relationship Id="rId6" Type="http://schemas.openxmlformats.org/officeDocument/2006/relationships/hyperlink" Target="https://volcano1998.github.io/FurnitureSim_3D/slides/" TargetMode="External"/><Relationship Id="rId7" Type="http://schemas.openxmlformats.org/officeDocument/2006/relationships/hyperlink" Target="https://github.com/volcano1998/FurnitureSim_3D" TargetMode="External"/><Relationship Id="rId8" Type="http://schemas.openxmlformats.org/officeDocument/2006/relationships/image" Target="../media/image27.jpg"/><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B5A45"/>
            </a:gs>
            <a:gs pos="100000">
              <a:srgbClr val="08140F"/>
            </a:gs>
          </a:gsLst>
          <a:lin ang="19500000" scaled="0"/>
        </a:gra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3594100" cy="2921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MOTION PLANNING IN THE BROWSER</a:t>
            </a:r>
          </a:p>
        </p:txBody>
      </p:sp>
      <p:sp>
        <p:nvSpPr>
          <p:cNvPr id="3" name="TextBox 2"/>
          <p:cNvSpPr txBox="1"/>
          <p:nvPr/>
        </p:nvSpPr>
        <p:spPr>
          <a:xfrm>
            <a:off x="698500" y="1524000"/>
            <a:ext cx="6350000" cy="2413000"/>
          </a:xfrm>
          <a:prstGeom prst="rect">
            <a:avLst/>
          </a:prstGeom>
          <a:noFill/>
        </p:spPr>
        <p:txBody>
          <a:bodyPr wrap="square" lIns="0" tIns="0" rIns="0" bIns="0" anchor="t">
            <a:spAutoFit/>
          </a:bodyPr>
          <a:lstStyle/>
          <a:p>
            <a:pPr algn="l">
              <a:lnSpc>
                <a:spcPct val="90000"/>
              </a:lnSpc>
              <a:spcAft>
                <a:spcPts val="0"/>
              </a:spcAft>
            </a:pPr>
            <a:r>
              <a:rPr sz="8800" b="1" i="0">
                <a:solidFill>
                  <a:srgbClr val="EEF5F0"/>
                </a:solidFill>
                <a:latin typeface="Arial"/>
              </a:rPr>
              <a:t>Can It</a:t>
            </a:r>
          </a:p>
          <a:p>
            <a:pPr algn="l">
              <a:lnSpc>
                <a:spcPct val="90000"/>
              </a:lnSpc>
              <a:spcAft>
                <a:spcPts val="0"/>
              </a:spcAft>
            </a:pPr>
            <a:r>
              <a:rPr sz="8800" b="1" i="0">
                <a:solidFill>
                  <a:srgbClr val="D6EF5B"/>
                </a:solidFill>
                <a:latin typeface="Arial"/>
              </a:rPr>
              <a:t>Fit?</a:t>
            </a:r>
          </a:p>
        </p:txBody>
      </p:sp>
      <p:sp>
        <p:nvSpPr>
          <p:cNvPr id="4" name="TextBox 3"/>
          <p:cNvSpPr txBox="1"/>
          <p:nvPr/>
        </p:nvSpPr>
        <p:spPr>
          <a:xfrm>
            <a:off x="698500" y="4191000"/>
            <a:ext cx="5969000" cy="1397000"/>
          </a:xfrm>
          <a:prstGeom prst="rect">
            <a:avLst/>
          </a:prstGeom>
          <a:noFill/>
        </p:spPr>
        <p:txBody>
          <a:bodyPr wrap="square" lIns="0" tIns="0" rIns="0" bIns="0" anchor="t">
            <a:spAutoFit/>
          </a:bodyPr>
          <a:lstStyle/>
          <a:p>
            <a:pPr algn="l">
              <a:lnSpc>
                <a:spcPct val="120000"/>
              </a:lnSpc>
              <a:spcAft>
                <a:spcPts val="0"/>
              </a:spcAft>
            </a:pPr>
            <a:r>
              <a:rPr sz="1900" b="0" i="0" dirty="0">
                <a:solidFill>
                  <a:srgbClr val="B7CBC1"/>
                </a:solidFill>
                <a:latin typeface="Arial"/>
              </a:rPr>
              <a:t>Will the sofa make it through the hallway? Let's build the room, then let a robot-style planner figure it out — and learn how it thinks.</a:t>
            </a:r>
          </a:p>
        </p:txBody>
      </p:sp>
      <p:pic>
        <p:nvPicPr>
          <p:cNvPr id="8" name="Picture 7" descr="d1.png"/>
          <p:cNvPicPr>
            <a:picLocks noChangeAspect="1"/>
          </p:cNvPicPr>
          <p:nvPr/>
        </p:nvPicPr>
        <p:blipFill>
          <a:blip r:embed="rId5"/>
          <a:stretch>
            <a:fillRect/>
          </a:stretch>
        </p:blipFill>
        <p:spPr>
          <a:xfrm>
            <a:off x="6667500" y="1206500"/>
            <a:ext cx="4572000" cy="4572000"/>
          </a:xfrm>
          <a:prstGeom prst="rect">
            <a:avLst/>
          </a:prstGeom>
        </p:spPr>
      </p:pic>
      <p:pic>
        <p:nvPicPr>
          <p:cNvPr id="9" name="Picture 8" descr="When the couch looks at the staircase and realizes what’s about to happen.  😅, Narrow stairs, tight turns, and oversized furniture can turn moving day  into a challenge—but that’s exactly where ...">
            <a:extLst>
              <a:ext uri="{FF2B5EF4-FFF2-40B4-BE49-F238E27FC236}">
                <a16:creationId xmlns:a16="http://schemas.microsoft.com/office/drawing/2014/main" id="{60F272D0-55AF-F3CD-13B3-B80AD81D58D8}"/>
              </a:ext>
            </a:extLst>
          </p:cNvPr>
          <p:cNvPicPr>
            <a:picLocks noChangeAspect="1"/>
          </p:cNvPicPr>
          <p:nvPr/>
        </p:nvPicPr>
        <p:blipFill>
          <a:blip r:embed="rId6"/>
          <a:stretch>
            <a:fillRect/>
          </a:stretch>
        </p:blipFill>
        <p:spPr>
          <a:xfrm>
            <a:off x="7048500" y="0"/>
            <a:ext cx="3797780" cy="6769956"/>
          </a:xfrm>
          <a:prstGeom prst="rect">
            <a:avLst/>
          </a:prstGeom>
        </p:spPr>
      </p:pic>
      <p:pic>
        <p:nvPicPr>
          <p:cNvPr id="49" name="Audio 48">
            <a:extLst>
              <a:ext uri="{FF2B5EF4-FFF2-40B4-BE49-F238E27FC236}">
                <a16:creationId xmlns:a16="http://schemas.microsoft.com/office/drawing/2014/main" id="{572FA9DF-4DF6-79A5-23FC-0F7B24756117}"/>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4566"/>
    </mc:Choice>
    <mc:Fallback xmlns="">
      <p:transition spd="slow" advTm="345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9"/>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5430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THE PROBLEM</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Moving a couch is a </a:t>
            </a:r>
            <a:r>
              <a:rPr sz="3800" b="1" i="0">
                <a:solidFill>
                  <a:srgbClr val="166B50"/>
                </a:solidFill>
                <a:latin typeface="Arial"/>
              </a:rPr>
              <a:t>6-dimensional</a:t>
            </a:r>
            <a:r>
              <a:rPr sz="3800" b="1" i="0">
                <a:solidFill>
                  <a:srgbClr val="17211D"/>
                </a:solidFill>
                <a:latin typeface="Arial"/>
              </a:rPr>
              <a:t> puzzle</a:t>
            </a:r>
          </a:p>
        </p:txBody>
      </p:sp>
      <p:sp>
        <p:nvSpPr>
          <p:cNvPr id="4" name="TextBox 3"/>
          <p:cNvSpPr txBox="1"/>
          <p:nvPr/>
        </p:nvSpPr>
        <p:spPr>
          <a:xfrm>
            <a:off x="698500" y="2095500"/>
            <a:ext cx="5080000" cy="3302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It slides in </a:t>
            </a:r>
            <a:r>
              <a:rPr sz="1700" b="1" i="0" dirty="0">
                <a:solidFill>
                  <a:srgbClr val="17211D"/>
                </a:solidFill>
                <a:latin typeface="Arial"/>
              </a:rPr>
              <a:t>3</a:t>
            </a:r>
            <a:r>
              <a:rPr sz="1700" b="0" i="0" dirty="0">
                <a:solidFill>
                  <a:srgbClr val="17211D"/>
                </a:solidFill>
                <a:latin typeface="Arial"/>
              </a:rPr>
              <a:t> directions: x, y, z</a:t>
            </a:r>
          </a:p>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It spins in </a:t>
            </a:r>
            <a:r>
              <a:rPr sz="1700" b="1" i="0" dirty="0">
                <a:solidFill>
                  <a:srgbClr val="17211D"/>
                </a:solidFill>
                <a:latin typeface="Arial"/>
              </a:rPr>
              <a:t>3</a:t>
            </a:r>
            <a:r>
              <a:rPr sz="1700" b="0" i="0" dirty="0">
                <a:solidFill>
                  <a:srgbClr val="17211D"/>
                </a:solidFill>
                <a:latin typeface="Arial"/>
              </a:rPr>
              <a:t> ways: yaw, pitch, roll</a:t>
            </a:r>
          </a:p>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Walls, corners and doorways don't care how clever you are</a:t>
            </a:r>
          </a:p>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"Does it fit?" really means: </a:t>
            </a:r>
            <a:r>
              <a:rPr sz="1700" b="1" i="0" dirty="0">
                <a:solidFill>
                  <a:srgbClr val="17211D"/>
                </a:solidFill>
                <a:latin typeface="Arial"/>
              </a:rPr>
              <a:t>is there a collision-free path through 6-D space?</a:t>
            </a:r>
          </a:p>
        </p:txBody>
      </p:sp>
      <p:pic>
        <p:nvPicPr>
          <p:cNvPr id="77" name="Audio 76">
            <a:extLst>
              <a:ext uri="{FF2B5EF4-FFF2-40B4-BE49-F238E27FC236}">
                <a16:creationId xmlns:a16="http://schemas.microsoft.com/office/drawing/2014/main" id="{6AB69DEA-1D1E-4C37-85AF-6F87EEFAA331}"/>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226800" y="5892800"/>
            <a:ext cx="812800" cy="812800"/>
          </a:xfrm>
          <a:prstGeom prst="rect">
            <a:avLst/>
          </a:prstGeom>
        </p:spPr>
      </p:pic>
      <p:sp>
        <p:nvSpPr>
          <p:cNvPr id="6" name="L-Shape 5">
            <a:extLst>
              <a:ext uri="{FF2B5EF4-FFF2-40B4-BE49-F238E27FC236}">
                <a16:creationId xmlns:a16="http://schemas.microsoft.com/office/drawing/2014/main" id="{9ED8F876-85F2-C418-91F1-8238F7236E55}"/>
              </a:ext>
            </a:extLst>
          </p:cNvPr>
          <p:cNvSpPr/>
          <p:nvPr/>
        </p:nvSpPr>
        <p:spPr>
          <a:xfrm>
            <a:off x="7037502" y="2566036"/>
            <a:ext cx="3191774" cy="2878587"/>
          </a:xfrm>
          <a:prstGeom prst="corner">
            <a:avLst>
              <a:gd name="adj1" fmla="val 35016"/>
              <a:gd name="adj2" fmla="val 38613"/>
            </a:avLst>
          </a:prstGeom>
          <a:solidFill>
            <a:schemeClr val="accent3">
              <a:lumMod val="60000"/>
              <a:lumOff val="40000"/>
            </a:schemeClr>
          </a:solidFill>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59F54195-285E-3EBA-5D7D-F00E62A7733C}"/>
              </a:ext>
            </a:extLst>
          </p:cNvPr>
          <p:cNvSpPr/>
          <p:nvPr/>
        </p:nvSpPr>
        <p:spPr>
          <a:xfrm rot="20348982">
            <a:off x="7282254" y="3101729"/>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6C883E7C-7BAF-3D7E-30C3-C252AC893848}"/>
              </a:ext>
            </a:extLst>
          </p:cNvPr>
          <p:cNvSpPr/>
          <p:nvPr/>
        </p:nvSpPr>
        <p:spPr>
          <a:xfrm rot="20348982">
            <a:off x="7425972" y="3896470"/>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5C4D6DD2-5CCB-7C79-D544-9D72E1CE1D3D}"/>
              </a:ext>
            </a:extLst>
          </p:cNvPr>
          <p:cNvSpPr/>
          <p:nvPr/>
        </p:nvSpPr>
        <p:spPr>
          <a:xfrm rot="17993297">
            <a:off x="7849032" y="4081339"/>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F1B1D2DC-B852-4AB7-FAAA-AA83B8C09DA4}"/>
              </a:ext>
            </a:extLst>
          </p:cNvPr>
          <p:cNvSpPr/>
          <p:nvPr/>
        </p:nvSpPr>
        <p:spPr>
          <a:xfrm rot="16200000">
            <a:off x="8950000" y="4218135"/>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6457021B-3C88-8307-5080-9A8A9ABEB78C}"/>
              </a:ext>
            </a:extLst>
          </p:cNvPr>
          <p:cNvSpPr/>
          <p:nvPr/>
        </p:nvSpPr>
        <p:spPr>
          <a:xfrm>
            <a:off x="7309558" y="2234349"/>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3" name="Down Arrow 12">
            <a:extLst>
              <a:ext uri="{FF2B5EF4-FFF2-40B4-BE49-F238E27FC236}">
                <a16:creationId xmlns:a16="http://schemas.microsoft.com/office/drawing/2014/main" id="{B2DE73CA-9E96-E294-4DBA-9FABC9141F53}"/>
              </a:ext>
            </a:extLst>
          </p:cNvPr>
          <p:cNvSpPr/>
          <p:nvPr/>
        </p:nvSpPr>
        <p:spPr>
          <a:xfrm>
            <a:off x="7226686" y="1778000"/>
            <a:ext cx="666075" cy="31750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Down Arrow 13">
            <a:extLst>
              <a:ext uri="{FF2B5EF4-FFF2-40B4-BE49-F238E27FC236}">
                <a16:creationId xmlns:a16="http://schemas.microsoft.com/office/drawing/2014/main" id="{7355B772-AAA4-E7F7-B16F-176B37F5980B}"/>
              </a:ext>
            </a:extLst>
          </p:cNvPr>
          <p:cNvSpPr/>
          <p:nvPr/>
        </p:nvSpPr>
        <p:spPr>
          <a:xfrm rot="16200000">
            <a:off x="10350427" y="4804428"/>
            <a:ext cx="666075" cy="31750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7737"/>
    </mc:Choice>
    <mc:Fallback xmlns="">
      <p:transition spd="slow" advTm="377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7"/>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3" fill="hold" display="0">
                  <p:stCondLst>
                    <p:cond delay="indefinite"/>
                  </p:stCondLst>
                  <p:endCondLst>
                    <p:cond evt="onStopAudio" delay="0">
                      <p:tgtEl>
                        <p:sldTgt/>
                      </p:tgtEl>
                    </p:cond>
                  </p:endCondLst>
                </p:cTn>
                <p:tgtEl>
                  <p:spTgt spid="77"/>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9748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WHAT YOU'LL SEE</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One app, two ways to answer it</a:t>
            </a:r>
          </a:p>
        </p:txBody>
      </p:sp>
      <p:grpSp>
        <p:nvGrpSpPr>
          <p:cNvPr id="25" name="Group 24">
            <a:extLst>
              <a:ext uri="{FF2B5EF4-FFF2-40B4-BE49-F238E27FC236}">
                <a16:creationId xmlns:a16="http://schemas.microsoft.com/office/drawing/2014/main" id="{DA1D2B47-0F27-6219-F843-7778037EEA42}"/>
              </a:ext>
            </a:extLst>
          </p:cNvPr>
          <p:cNvGrpSpPr/>
          <p:nvPr/>
        </p:nvGrpSpPr>
        <p:grpSpPr>
          <a:xfrm>
            <a:off x="6667500" y="2095500"/>
            <a:ext cx="3429000" cy="2095500"/>
            <a:chOff x="698500" y="2095500"/>
            <a:chExt cx="3429000" cy="2095500"/>
          </a:xfrm>
        </p:grpSpPr>
        <p:sp>
          <p:nvSpPr>
            <p:cNvPr id="4" name="Rounded Rectangle 3"/>
            <p:cNvSpPr/>
            <p:nvPr/>
          </p:nvSpPr>
          <p:spPr>
            <a:xfrm>
              <a:off x="698500" y="2095500"/>
              <a:ext cx="3429000" cy="20955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39800" y="2362200"/>
              <a:ext cx="444500" cy="63500"/>
            </a:xfrm>
            <a:prstGeom prst="rect">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9800" y="2603500"/>
              <a:ext cx="2952750" cy="317500"/>
            </a:xfrm>
            <a:prstGeom prst="rect">
              <a:avLst/>
            </a:prstGeom>
            <a:noFill/>
          </p:spPr>
          <p:txBody>
            <a:bodyPr wrap="square" lIns="0" tIns="0" rIns="0" bIns="0" anchor="t">
              <a:spAutoFit/>
            </a:bodyPr>
            <a:lstStyle/>
            <a:p>
              <a:pPr algn="l">
                <a:lnSpc>
                  <a:spcPct val="112000"/>
                </a:lnSpc>
                <a:spcAft>
                  <a:spcPts val="0"/>
                </a:spcAft>
              </a:pPr>
              <a:r>
                <a:rPr lang="en-US" sz="2000" b="1" i="0" dirty="0">
                  <a:solidFill>
                    <a:srgbClr val="17211D"/>
                  </a:solidFill>
                  <a:latin typeface="Arial"/>
                </a:rPr>
                <a:t>Probabilistic solver</a:t>
              </a:r>
              <a:endParaRPr sz="2000" b="1" i="0" dirty="0">
                <a:solidFill>
                  <a:srgbClr val="17211D"/>
                </a:solidFill>
                <a:latin typeface="Arial"/>
              </a:endParaRPr>
            </a:p>
          </p:txBody>
        </p:sp>
        <p:sp>
          <p:nvSpPr>
            <p:cNvPr id="7" name="TextBox 6"/>
            <p:cNvSpPr txBox="1"/>
            <p:nvPr/>
          </p:nvSpPr>
          <p:spPr>
            <a:xfrm>
              <a:off x="939800" y="3048000"/>
              <a:ext cx="2952750" cy="243143"/>
            </a:xfrm>
            <a:prstGeom prst="rect">
              <a:avLst/>
            </a:prstGeom>
            <a:noFill/>
          </p:spPr>
          <p:txBody>
            <a:bodyPr wrap="square" lIns="0" tIns="0" rIns="0" bIns="0" anchor="t">
              <a:spAutoFit/>
            </a:bodyPr>
            <a:lstStyle/>
            <a:p>
              <a:pPr>
                <a:lnSpc>
                  <a:spcPct val="120000"/>
                </a:lnSpc>
              </a:pPr>
              <a:r>
                <a:rPr lang="en-US" sz="1450" dirty="0">
                  <a:solidFill>
                    <a:srgbClr val="5D6963"/>
                  </a:solidFill>
                  <a:latin typeface="Arial"/>
                </a:rPr>
                <a:t>RRT-Connect.</a:t>
              </a:r>
              <a:endParaRPr sz="1450" b="0" i="0" dirty="0">
                <a:solidFill>
                  <a:srgbClr val="5D6963"/>
                </a:solidFill>
                <a:latin typeface="Arial"/>
              </a:endParaRPr>
            </a:p>
          </p:txBody>
        </p:sp>
      </p:grpSp>
      <p:grpSp>
        <p:nvGrpSpPr>
          <p:cNvPr id="23" name="Group 22">
            <a:extLst>
              <a:ext uri="{FF2B5EF4-FFF2-40B4-BE49-F238E27FC236}">
                <a16:creationId xmlns:a16="http://schemas.microsoft.com/office/drawing/2014/main" id="{6663DFEC-92F9-3C38-CA82-500AE93F7FB2}"/>
              </a:ext>
            </a:extLst>
          </p:cNvPr>
          <p:cNvGrpSpPr/>
          <p:nvPr/>
        </p:nvGrpSpPr>
        <p:grpSpPr>
          <a:xfrm>
            <a:off x="2095500" y="2095500"/>
            <a:ext cx="3429000" cy="2095500"/>
            <a:chOff x="-330200" y="5655564"/>
            <a:chExt cx="3429000" cy="2095500"/>
          </a:xfrm>
        </p:grpSpPr>
        <p:sp>
          <p:nvSpPr>
            <p:cNvPr id="12" name="Rounded Rectangle 11"/>
            <p:cNvSpPr/>
            <p:nvPr/>
          </p:nvSpPr>
          <p:spPr>
            <a:xfrm>
              <a:off x="-330200" y="5655564"/>
              <a:ext cx="3429000" cy="20955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8900" y="5922264"/>
              <a:ext cx="444500" cy="63500"/>
            </a:xfrm>
            <a:prstGeom prst="rect">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8900" y="6163564"/>
              <a:ext cx="2952750" cy="317500"/>
            </a:xfrm>
            <a:prstGeom prst="rect">
              <a:avLst/>
            </a:prstGeom>
            <a:noFill/>
          </p:spPr>
          <p:txBody>
            <a:bodyPr wrap="square" lIns="0" tIns="0" rIns="0" bIns="0" anchor="t">
              <a:spAutoFit/>
            </a:bodyPr>
            <a:lstStyle/>
            <a:p>
              <a:pPr algn="l">
                <a:lnSpc>
                  <a:spcPct val="112000"/>
                </a:lnSpc>
                <a:spcAft>
                  <a:spcPts val="0"/>
                </a:spcAft>
              </a:pPr>
              <a:r>
                <a:rPr sz="2000" b="1" i="0">
                  <a:solidFill>
                    <a:srgbClr val="17211D"/>
                  </a:solidFill>
                  <a:latin typeface="Arial"/>
                </a:rPr>
                <a:t>Manual mode</a:t>
              </a:r>
            </a:p>
          </p:txBody>
        </p:sp>
        <p:sp>
          <p:nvSpPr>
            <p:cNvPr id="15" name="TextBox 14"/>
            <p:cNvSpPr txBox="1"/>
            <p:nvPr/>
          </p:nvSpPr>
          <p:spPr>
            <a:xfrm>
              <a:off x="-88900" y="6608064"/>
              <a:ext cx="2952750" cy="1079500"/>
            </a:xfrm>
            <a:prstGeom prst="rect">
              <a:avLst/>
            </a:prstGeom>
            <a:noFill/>
          </p:spPr>
          <p:txBody>
            <a:bodyPr wrap="square" lIns="0" tIns="0" rIns="0" bIns="0" anchor="t">
              <a:spAutoFit/>
            </a:bodyPr>
            <a:lstStyle/>
            <a:p>
              <a:pPr algn="l">
                <a:lnSpc>
                  <a:spcPct val="120000"/>
                </a:lnSpc>
                <a:spcAft>
                  <a:spcPts val="0"/>
                </a:spcAft>
              </a:pPr>
              <a:r>
                <a:rPr sz="1450" b="0" i="0" dirty="0">
                  <a:solidFill>
                    <a:srgbClr val="5D6963"/>
                  </a:solidFill>
                  <a:latin typeface="Arial"/>
                </a:rPr>
                <a:t>Hold </a:t>
              </a:r>
              <a:r>
                <a:rPr sz="1450" b="1" i="0" dirty="0">
                  <a:solidFill>
                    <a:srgbClr val="5D6963"/>
                  </a:solidFill>
                  <a:latin typeface="Courier New"/>
                </a:rPr>
                <a:t>M</a:t>
              </a:r>
              <a:r>
                <a:rPr sz="1450" b="0" i="0" dirty="0">
                  <a:solidFill>
                    <a:srgbClr val="5D6963"/>
                  </a:solidFill>
                  <a:latin typeface="Arial"/>
                </a:rPr>
                <a:t>, drag the furniture yourself. The app tells you when you collide.</a:t>
              </a:r>
            </a:p>
          </p:txBody>
        </p:sp>
      </p:grpSp>
      <p:sp>
        <p:nvSpPr>
          <p:cNvPr id="16" name="Rounded Rectangle 15"/>
          <p:cNvSpPr/>
          <p:nvPr/>
        </p:nvSpPr>
        <p:spPr>
          <a:xfrm>
            <a:off x="698500" y="4826000"/>
            <a:ext cx="1333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1  Build</a:t>
            </a:r>
          </a:p>
        </p:txBody>
      </p:sp>
      <p:sp>
        <p:nvSpPr>
          <p:cNvPr id="17" name="Right Arrow 16"/>
          <p:cNvSpPr/>
          <p:nvPr/>
        </p:nvSpPr>
        <p:spPr>
          <a:xfrm>
            <a:off x="2082800" y="497205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2413000" y="4826000"/>
            <a:ext cx="1714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2  Entrance &amp; exit</a:t>
            </a:r>
          </a:p>
        </p:txBody>
      </p:sp>
      <p:sp>
        <p:nvSpPr>
          <p:cNvPr id="19" name="Right Arrow 18"/>
          <p:cNvSpPr/>
          <p:nvPr/>
        </p:nvSpPr>
        <p:spPr>
          <a:xfrm>
            <a:off x="4178300" y="497205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508500" y="4826000"/>
            <a:ext cx="1333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3  Furniture</a:t>
            </a:r>
          </a:p>
        </p:txBody>
      </p:sp>
      <p:sp>
        <p:nvSpPr>
          <p:cNvPr id="21" name="Right Arrow 20"/>
          <p:cNvSpPr/>
          <p:nvPr/>
        </p:nvSpPr>
        <p:spPr>
          <a:xfrm>
            <a:off x="5892800" y="497205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223000" y="4826000"/>
            <a:ext cx="1333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4  Solve</a:t>
            </a:r>
          </a:p>
        </p:txBody>
      </p:sp>
      <p:pic>
        <p:nvPicPr>
          <p:cNvPr id="104" name="Audio 103">
            <a:extLst>
              <a:ext uri="{FF2B5EF4-FFF2-40B4-BE49-F238E27FC236}">
                <a16:creationId xmlns:a16="http://schemas.microsoft.com/office/drawing/2014/main" id="{7D285E8D-20C1-D9EC-A818-95B43006E65C}"/>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3300"/>
    </mc:Choice>
    <mc:Fallback xmlns="">
      <p:transition spd="slow" advTm="33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4"/>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41" fill="hold" display="0">
                  <p:stCondLst>
                    <p:cond delay="indefinite"/>
                  </p:stCondLst>
                  <p:endCondLst>
                    <p:cond evt="onStopAudio" delay="0">
                      <p:tgtEl>
                        <p:sldTgt/>
                      </p:tgtEl>
                    </p:cond>
                  </p:endCondLst>
                </p:cTn>
                <p:tgtEl>
                  <p:spTgt spid="104"/>
                </p:tgtEl>
              </p:cMediaNode>
            </p:audio>
          </p:childTnLst>
        </p:cTn>
      </p:par>
    </p:tnLst>
    <p:bldLst>
      <p:bldP spid="16" grpId="0" animBg="1"/>
      <p:bldP spid="17" grpId="0" animBg="1"/>
      <p:bldP spid="18" grpId="0" animBg="1"/>
      <p:bldP spid="19" grpId="0" animBg="1"/>
      <p:bldP spid="20" grpId="0" animBg="1"/>
      <p:bldP spid="21" grpId="0" animBg="1"/>
      <p:bldP spid="22"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2"/>
        </a:solidFill>
        <a:effectLst/>
      </p:bgPr>
    </p:bg>
    <p:spTree>
      <p:nvGrpSpPr>
        <p:cNvPr id="1" name=""/>
        <p:cNvGrpSpPr/>
        <p:nvPr/>
      </p:nvGrpSpPr>
      <p:grpSpPr/>
      <p:sp>
        <p:nvSpPr>
          <p:cNvPr id="2" name="Rounded Rectangle 1"/>
          <p:cNvSpPr/>
          <p:nvPr/>
        </p:nvSpPr>
        <p:spPr>
          <a:xfrm>
            <a:off x="698500" y="533400"/>
            <a:ext cx="22987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spc="150">
                <a:solidFill>
                  <a:srgbClr val="166B50"/>
                </a:solidFill>
                <a:latin typeface="Arial"/>
              </a:rPr>
              <a:t>LET'S OPEN THE APP</a:t>
            </a:r>
          </a:p>
        </p:txBody>
      </p:sp>
      <p:sp>
        <p:nvSpPr>
          <p:cNvPr id="3" name="TextBox 2"/>
          <p:cNvSpPr txBox="1"/>
          <p:nvPr/>
        </p:nvSpPr>
        <p:spPr>
          <a:xfrm>
            <a:off x="698500" y="952500"/>
            <a:ext cx="10795000" cy="825500"/>
          </a:xfrm>
          <a:prstGeom prst="rect">
            <a:avLst/>
          </a:prstGeom>
          <a:noFill/>
        </p:spPr>
        <p:txBody>
          <a:bodyPr wrap="square" lIns="0" rIns="0" tIns="0" bIns="0" anchor="t">
            <a:spAutoFit/>
          </a:bodyPr>
          <a:lstStyle/>
          <a:p>
            <a:pPr algn="l">
              <a:lnSpc>
                <a:spcPct val="100000"/>
              </a:lnSpc>
              <a:spcAft>
                <a:spcPts val="0"/>
              </a:spcAft>
            </a:pPr>
            <a:r>
              <a:rPr sz="3800" b="1" i="0">
                <a:solidFill>
                  <a:srgbClr val="17211D"/>
                </a:solidFill>
                <a:latin typeface="Arial"/>
              </a:rPr>
              <a:t>Four steps, one screen</a:t>
            </a:r>
          </a:p>
        </p:txBody>
      </p:sp>
      <p:pic>
        <p:nvPicPr>
          <p:cNvPr id="4" name="Picture 3" descr="r_overview.jpg"/>
          <p:cNvPicPr>
            <a:picLocks noChangeAspect="1"/>
          </p:cNvPicPr>
          <p:nvPr/>
        </p:nvPicPr>
        <p:blipFill>
          <a:blip r:embed="rId2"/>
          <a:stretch>
            <a:fillRect/>
          </a:stretch>
        </p:blipFill>
        <p:spPr>
          <a:xfrm>
            <a:off x="698500" y="1587500"/>
            <a:ext cx="7747000" cy="4841875"/>
          </a:xfrm>
          <a:prstGeom prst="rect">
            <a:avLst/>
          </a:prstGeom>
          <a:ln w="12700">
            <a:solidFill>
              <a:srgbClr val="CFD8D1"/>
            </a:solidFill>
          </a:ln>
        </p:spPr>
      </p:pic>
      <p:sp>
        <p:nvSpPr>
          <p:cNvPr id="5" name="Rounded Rectangle 4"/>
          <p:cNvSpPr/>
          <p:nvPr/>
        </p:nvSpPr>
        <p:spPr>
          <a:xfrm>
            <a:off x="8699500" y="1663699"/>
            <a:ext cx="2794000" cy="8890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90000" y="1778000"/>
            <a:ext cx="381000" cy="317500"/>
          </a:xfrm>
          <a:prstGeom prst="rect">
            <a:avLst/>
          </a:prstGeom>
          <a:noFill/>
        </p:spPr>
        <p:txBody>
          <a:bodyPr wrap="square" lIns="0" rIns="0" tIns="0" bIns="0" anchor="t">
            <a:spAutoFit/>
          </a:bodyPr>
          <a:lstStyle/>
          <a:p>
            <a:pPr algn="l">
              <a:lnSpc>
                <a:spcPct val="112000"/>
              </a:lnSpc>
              <a:spcAft>
                <a:spcPts val="0"/>
              </a:spcAft>
            </a:pPr>
            <a:r>
              <a:rPr sz="2400" b="1" i="0">
                <a:solidFill>
                  <a:srgbClr val="166B50"/>
                </a:solidFill>
                <a:latin typeface="Arial"/>
              </a:rPr>
              <a:t>1</a:t>
            </a:r>
          </a:p>
        </p:txBody>
      </p:sp>
      <p:sp>
        <p:nvSpPr>
          <p:cNvPr id="7" name="TextBox 6"/>
          <p:cNvSpPr txBox="1"/>
          <p:nvPr/>
        </p:nvSpPr>
        <p:spPr>
          <a:xfrm>
            <a:off x="9271000" y="1790700"/>
            <a:ext cx="2095500" cy="254000"/>
          </a:xfrm>
          <a:prstGeom prst="rect">
            <a:avLst/>
          </a:prstGeom>
          <a:noFill/>
        </p:spPr>
        <p:txBody>
          <a:bodyPr wrap="square" lIns="0" rIns="0" tIns="0" bIns="0" anchor="t">
            <a:spAutoFit/>
          </a:bodyPr>
          <a:lstStyle/>
          <a:p>
            <a:pPr algn="l">
              <a:lnSpc>
                <a:spcPct val="112000"/>
              </a:lnSpc>
              <a:spcAft>
                <a:spcPts val="0"/>
              </a:spcAft>
            </a:pPr>
            <a:r>
              <a:rPr sz="1900" b="1" i="0">
                <a:solidFill>
                  <a:srgbClr val="17211D"/>
                </a:solidFill>
                <a:latin typeface="Arial"/>
              </a:rPr>
              <a:t>Build</a:t>
            </a:r>
          </a:p>
        </p:txBody>
      </p:sp>
      <p:sp>
        <p:nvSpPr>
          <p:cNvPr id="8" name="TextBox 7"/>
          <p:cNvSpPr txBox="1"/>
          <p:nvPr/>
        </p:nvSpPr>
        <p:spPr>
          <a:xfrm>
            <a:off x="9271000" y="2070100"/>
            <a:ext cx="2095500" cy="444500"/>
          </a:xfrm>
          <a:prstGeom prst="rect">
            <a:avLst/>
          </a:prstGeom>
          <a:noFill/>
        </p:spPr>
        <p:txBody>
          <a:bodyPr wrap="square" lIns="0" rIns="0" tIns="0" bIns="0" anchor="t">
            <a:spAutoFit/>
          </a:bodyPr>
          <a:lstStyle/>
          <a:p>
            <a:pPr algn="l">
              <a:lnSpc>
                <a:spcPct val="115000"/>
              </a:lnSpc>
              <a:spcAft>
                <a:spcPts val="0"/>
              </a:spcAft>
            </a:pPr>
            <a:r>
              <a:rPr sz="1350" b="0" i="0">
                <a:solidFill>
                  <a:srgbClr val="5D6963"/>
                </a:solidFill>
                <a:latin typeface="Arial"/>
              </a:rPr>
              <a:t>Shape blocks and connect them</a:t>
            </a:r>
          </a:p>
        </p:txBody>
      </p:sp>
      <p:sp>
        <p:nvSpPr>
          <p:cNvPr id="9" name="Rounded Rectangle 8"/>
          <p:cNvSpPr/>
          <p:nvPr/>
        </p:nvSpPr>
        <p:spPr>
          <a:xfrm>
            <a:off x="8699500" y="2679700"/>
            <a:ext cx="2794000" cy="8890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90000" y="2794000"/>
            <a:ext cx="381000" cy="317500"/>
          </a:xfrm>
          <a:prstGeom prst="rect">
            <a:avLst/>
          </a:prstGeom>
          <a:noFill/>
        </p:spPr>
        <p:txBody>
          <a:bodyPr wrap="square" lIns="0" rIns="0" tIns="0" bIns="0" anchor="t">
            <a:spAutoFit/>
          </a:bodyPr>
          <a:lstStyle/>
          <a:p>
            <a:pPr algn="l">
              <a:lnSpc>
                <a:spcPct val="112000"/>
              </a:lnSpc>
              <a:spcAft>
                <a:spcPts val="0"/>
              </a:spcAft>
            </a:pPr>
            <a:r>
              <a:rPr sz="2400" b="1" i="0">
                <a:solidFill>
                  <a:srgbClr val="166B50"/>
                </a:solidFill>
                <a:latin typeface="Arial"/>
              </a:rPr>
              <a:t>2</a:t>
            </a:r>
          </a:p>
        </p:txBody>
      </p:sp>
      <p:sp>
        <p:nvSpPr>
          <p:cNvPr id="11" name="TextBox 10"/>
          <p:cNvSpPr txBox="1"/>
          <p:nvPr/>
        </p:nvSpPr>
        <p:spPr>
          <a:xfrm>
            <a:off x="9271000" y="2806700"/>
            <a:ext cx="2095500" cy="254000"/>
          </a:xfrm>
          <a:prstGeom prst="rect">
            <a:avLst/>
          </a:prstGeom>
          <a:noFill/>
        </p:spPr>
        <p:txBody>
          <a:bodyPr wrap="square" lIns="0" rIns="0" tIns="0" bIns="0" anchor="t">
            <a:spAutoFit/>
          </a:bodyPr>
          <a:lstStyle/>
          <a:p>
            <a:pPr algn="l">
              <a:lnSpc>
                <a:spcPct val="112000"/>
              </a:lnSpc>
              <a:spcAft>
                <a:spcPts val="0"/>
              </a:spcAft>
            </a:pPr>
            <a:r>
              <a:rPr sz="1900" b="1" i="0">
                <a:solidFill>
                  <a:srgbClr val="17211D"/>
                </a:solidFill>
                <a:latin typeface="Arial"/>
              </a:rPr>
              <a:t>Openings</a:t>
            </a:r>
          </a:p>
        </p:txBody>
      </p:sp>
      <p:sp>
        <p:nvSpPr>
          <p:cNvPr id="12" name="TextBox 11"/>
          <p:cNvSpPr txBox="1"/>
          <p:nvPr/>
        </p:nvSpPr>
        <p:spPr>
          <a:xfrm>
            <a:off x="9271000" y="3086100"/>
            <a:ext cx="2095500" cy="444500"/>
          </a:xfrm>
          <a:prstGeom prst="rect">
            <a:avLst/>
          </a:prstGeom>
          <a:noFill/>
        </p:spPr>
        <p:txBody>
          <a:bodyPr wrap="square" lIns="0" rIns="0" tIns="0" bIns="0" anchor="t">
            <a:spAutoFit/>
          </a:bodyPr>
          <a:lstStyle/>
          <a:p>
            <a:pPr algn="l">
              <a:lnSpc>
                <a:spcPct val="115000"/>
              </a:lnSpc>
              <a:spcAft>
                <a:spcPts val="0"/>
              </a:spcAft>
            </a:pPr>
            <a:r>
              <a:rPr sz="1350" b="0" i="0">
                <a:solidFill>
                  <a:srgbClr val="5D6963"/>
                </a:solidFill>
                <a:latin typeface="Arial"/>
              </a:rPr>
              <a:t>Pick where the furniture goes in and out</a:t>
            </a:r>
          </a:p>
        </p:txBody>
      </p:sp>
      <p:sp>
        <p:nvSpPr>
          <p:cNvPr id="13" name="Rounded Rectangle 12"/>
          <p:cNvSpPr/>
          <p:nvPr/>
        </p:nvSpPr>
        <p:spPr>
          <a:xfrm>
            <a:off x="8699500" y="3695699"/>
            <a:ext cx="2794000" cy="8890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90000" y="3810000"/>
            <a:ext cx="381000" cy="317500"/>
          </a:xfrm>
          <a:prstGeom prst="rect">
            <a:avLst/>
          </a:prstGeom>
          <a:noFill/>
        </p:spPr>
        <p:txBody>
          <a:bodyPr wrap="square" lIns="0" rIns="0" tIns="0" bIns="0" anchor="t">
            <a:spAutoFit/>
          </a:bodyPr>
          <a:lstStyle/>
          <a:p>
            <a:pPr algn="l">
              <a:lnSpc>
                <a:spcPct val="112000"/>
              </a:lnSpc>
              <a:spcAft>
                <a:spcPts val="0"/>
              </a:spcAft>
            </a:pPr>
            <a:r>
              <a:rPr sz="2400" b="1" i="0">
                <a:solidFill>
                  <a:srgbClr val="166B50"/>
                </a:solidFill>
                <a:latin typeface="Arial"/>
              </a:rPr>
              <a:t>3</a:t>
            </a:r>
          </a:p>
        </p:txBody>
      </p:sp>
      <p:sp>
        <p:nvSpPr>
          <p:cNvPr id="15" name="TextBox 14"/>
          <p:cNvSpPr txBox="1"/>
          <p:nvPr/>
        </p:nvSpPr>
        <p:spPr>
          <a:xfrm>
            <a:off x="9271000" y="3822700"/>
            <a:ext cx="2095500" cy="254000"/>
          </a:xfrm>
          <a:prstGeom prst="rect">
            <a:avLst/>
          </a:prstGeom>
          <a:noFill/>
        </p:spPr>
        <p:txBody>
          <a:bodyPr wrap="square" lIns="0" rIns="0" tIns="0" bIns="0" anchor="t">
            <a:spAutoFit/>
          </a:bodyPr>
          <a:lstStyle/>
          <a:p>
            <a:pPr algn="l">
              <a:lnSpc>
                <a:spcPct val="112000"/>
              </a:lnSpc>
              <a:spcAft>
                <a:spcPts val="0"/>
              </a:spcAft>
            </a:pPr>
            <a:r>
              <a:rPr sz="1900" b="1" i="0">
                <a:solidFill>
                  <a:srgbClr val="17211D"/>
                </a:solidFill>
                <a:latin typeface="Arial"/>
              </a:rPr>
              <a:t>Furniture</a:t>
            </a:r>
          </a:p>
        </p:txBody>
      </p:sp>
      <p:sp>
        <p:nvSpPr>
          <p:cNvPr id="16" name="TextBox 15"/>
          <p:cNvSpPr txBox="1"/>
          <p:nvPr/>
        </p:nvSpPr>
        <p:spPr>
          <a:xfrm>
            <a:off x="9271000" y="4102100"/>
            <a:ext cx="2095500" cy="444500"/>
          </a:xfrm>
          <a:prstGeom prst="rect">
            <a:avLst/>
          </a:prstGeom>
          <a:noFill/>
        </p:spPr>
        <p:txBody>
          <a:bodyPr wrap="square" lIns="0" rIns="0" tIns="0" bIns="0" anchor="t">
            <a:spAutoFit/>
          </a:bodyPr>
          <a:lstStyle/>
          <a:p>
            <a:pPr algn="l">
              <a:lnSpc>
                <a:spcPct val="115000"/>
              </a:lnSpc>
              <a:spcAft>
                <a:spcPts val="0"/>
              </a:spcAft>
            </a:pPr>
            <a:r>
              <a:rPr sz="1350" b="0" i="0">
                <a:solidFill>
                  <a:srgbClr val="5D6963"/>
                </a:solidFill>
                <a:latin typeface="Arial"/>
              </a:rPr>
              <a:t>Set the size</a:t>
            </a:r>
          </a:p>
        </p:txBody>
      </p:sp>
      <p:sp>
        <p:nvSpPr>
          <p:cNvPr id="17" name="Rounded Rectangle 16"/>
          <p:cNvSpPr/>
          <p:nvPr/>
        </p:nvSpPr>
        <p:spPr>
          <a:xfrm>
            <a:off x="8699500" y="4711700"/>
            <a:ext cx="2794000" cy="8890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90000" y="4826000"/>
            <a:ext cx="381000" cy="317500"/>
          </a:xfrm>
          <a:prstGeom prst="rect">
            <a:avLst/>
          </a:prstGeom>
          <a:noFill/>
        </p:spPr>
        <p:txBody>
          <a:bodyPr wrap="square" lIns="0" rIns="0" tIns="0" bIns="0" anchor="t">
            <a:spAutoFit/>
          </a:bodyPr>
          <a:lstStyle/>
          <a:p>
            <a:pPr algn="l">
              <a:lnSpc>
                <a:spcPct val="112000"/>
              </a:lnSpc>
              <a:spcAft>
                <a:spcPts val="0"/>
              </a:spcAft>
            </a:pPr>
            <a:r>
              <a:rPr sz="2400" b="1" i="0">
                <a:solidFill>
                  <a:srgbClr val="166B50"/>
                </a:solidFill>
                <a:latin typeface="Arial"/>
              </a:rPr>
              <a:t>4</a:t>
            </a:r>
          </a:p>
        </p:txBody>
      </p:sp>
      <p:sp>
        <p:nvSpPr>
          <p:cNvPr id="19" name="TextBox 18"/>
          <p:cNvSpPr txBox="1"/>
          <p:nvPr/>
        </p:nvSpPr>
        <p:spPr>
          <a:xfrm>
            <a:off x="9271000" y="4838700"/>
            <a:ext cx="2095500" cy="254000"/>
          </a:xfrm>
          <a:prstGeom prst="rect">
            <a:avLst/>
          </a:prstGeom>
          <a:noFill/>
        </p:spPr>
        <p:txBody>
          <a:bodyPr wrap="square" lIns="0" rIns="0" tIns="0" bIns="0" anchor="t">
            <a:spAutoFit/>
          </a:bodyPr>
          <a:lstStyle/>
          <a:p>
            <a:pPr algn="l">
              <a:lnSpc>
                <a:spcPct val="112000"/>
              </a:lnSpc>
              <a:spcAft>
                <a:spcPts val="0"/>
              </a:spcAft>
            </a:pPr>
            <a:r>
              <a:rPr sz="1900" b="1" i="0">
                <a:solidFill>
                  <a:srgbClr val="17211D"/>
                </a:solidFill>
                <a:latin typeface="Arial"/>
              </a:rPr>
              <a:t>Solve</a:t>
            </a:r>
          </a:p>
        </p:txBody>
      </p:sp>
      <p:sp>
        <p:nvSpPr>
          <p:cNvPr id="20" name="TextBox 19"/>
          <p:cNvSpPr txBox="1"/>
          <p:nvPr/>
        </p:nvSpPr>
        <p:spPr>
          <a:xfrm>
            <a:off x="9271000" y="5118100"/>
            <a:ext cx="2095500" cy="444500"/>
          </a:xfrm>
          <a:prstGeom prst="rect">
            <a:avLst/>
          </a:prstGeom>
          <a:noFill/>
        </p:spPr>
        <p:txBody>
          <a:bodyPr wrap="square" lIns="0" rIns="0" tIns="0" bIns="0" anchor="t">
            <a:spAutoFit/>
          </a:bodyPr>
          <a:lstStyle/>
          <a:p>
            <a:pPr algn="l">
              <a:lnSpc>
                <a:spcPct val="115000"/>
              </a:lnSpc>
              <a:spcAft>
                <a:spcPts val="0"/>
              </a:spcAft>
            </a:pPr>
            <a:r>
              <a:rPr sz="1350" b="0" i="0">
                <a:solidFill>
                  <a:srgbClr val="5D6963"/>
                </a:solidFill>
                <a:latin typeface="Arial"/>
              </a:rPr>
              <a:t>Try it yourself or let the planner try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1907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 1</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Build any shape you can imagine</a:t>
            </a:r>
          </a:p>
        </p:txBody>
      </p:sp>
      <p:sp>
        <p:nvSpPr>
          <p:cNvPr id="4" name="TextBox 3"/>
          <p:cNvSpPr txBox="1"/>
          <p:nvPr/>
        </p:nvSpPr>
        <p:spPr>
          <a:xfrm>
            <a:off x="698500" y="1619250"/>
            <a:ext cx="10795000" cy="285271"/>
          </a:xfrm>
          <a:prstGeom prst="rect">
            <a:avLst/>
          </a:prstGeom>
          <a:noFill/>
        </p:spPr>
        <p:txBody>
          <a:bodyPr wrap="square" lIns="0" tIns="0" rIns="0" bIns="0" anchor="t">
            <a:spAutoFit/>
          </a:bodyPr>
          <a:lstStyle/>
          <a:p>
            <a:pPr algn="l">
              <a:lnSpc>
                <a:spcPct val="112000"/>
              </a:lnSpc>
              <a:spcAft>
                <a:spcPts val="0"/>
              </a:spcAft>
            </a:pPr>
            <a:r>
              <a:rPr lang="en-US" sz="1800" b="0" i="0" dirty="0">
                <a:solidFill>
                  <a:srgbClr val="5D6963"/>
                </a:solidFill>
                <a:latin typeface="Arial"/>
              </a:rPr>
              <a:t>They are all built in my app!</a:t>
            </a:r>
            <a:endParaRPr sz="1800" b="0" i="0" dirty="0">
              <a:solidFill>
                <a:srgbClr val="5D6963"/>
              </a:solidFill>
              <a:latin typeface="Arial"/>
            </a:endParaRPr>
          </a:p>
        </p:txBody>
      </p:sp>
      <p:sp>
        <p:nvSpPr>
          <p:cNvPr id="7" name="TextBox 6"/>
          <p:cNvSpPr txBox="1"/>
          <p:nvPr/>
        </p:nvSpPr>
        <p:spPr>
          <a:xfrm>
            <a:off x="698500" y="4241800"/>
            <a:ext cx="2032000" cy="253531"/>
          </a:xfrm>
          <a:prstGeom prst="rect">
            <a:avLst/>
          </a:prstGeom>
          <a:noFill/>
        </p:spPr>
        <p:txBody>
          <a:bodyPr wrap="square" lIns="0" tIns="0" rIns="0" bIns="0" anchor="t">
            <a:spAutoFit/>
          </a:bodyPr>
          <a:lstStyle/>
          <a:p>
            <a:pPr algn="ctr">
              <a:lnSpc>
                <a:spcPct val="112000"/>
              </a:lnSpc>
              <a:spcAft>
                <a:spcPts val="0"/>
              </a:spcAft>
            </a:pPr>
            <a:r>
              <a:rPr lang="en-US" sz="1600" b="1" i="0" dirty="0">
                <a:solidFill>
                  <a:srgbClr val="17211D"/>
                </a:solidFill>
                <a:latin typeface="Arial"/>
              </a:rPr>
              <a:t>L-shaped hallway</a:t>
            </a:r>
            <a:endParaRPr sz="1600" b="1" i="0" dirty="0">
              <a:solidFill>
                <a:srgbClr val="17211D"/>
              </a:solidFill>
              <a:latin typeface="Arial"/>
            </a:endParaRPr>
          </a:p>
        </p:txBody>
      </p:sp>
      <p:sp>
        <p:nvSpPr>
          <p:cNvPr id="10" name="TextBox 9"/>
          <p:cNvSpPr txBox="1"/>
          <p:nvPr/>
        </p:nvSpPr>
        <p:spPr>
          <a:xfrm>
            <a:off x="2889250" y="4241800"/>
            <a:ext cx="2032000" cy="253531"/>
          </a:xfrm>
          <a:prstGeom prst="rect">
            <a:avLst/>
          </a:prstGeom>
          <a:noFill/>
        </p:spPr>
        <p:txBody>
          <a:bodyPr wrap="square" lIns="0" tIns="0" rIns="0" bIns="0" anchor="t">
            <a:spAutoFit/>
          </a:bodyPr>
          <a:lstStyle/>
          <a:p>
            <a:pPr algn="ctr">
              <a:lnSpc>
                <a:spcPct val="112000"/>
              </a:lnSpc>
              <a:spcAft>
                <a:spcPts val="0"/>
              </a:spcAft>
            </a:pPr>
            <a:r>
              <a:rPr sz="1600" b="1" i="0" dirty="0">
                <a:solidFill>
                  <a:srgbClr val="17211D"/>
                </a:solidFill>
                <a:latin typeface="Arial"/>
              </a:rPr>
              <a:t>Zig-zag</a:t>
            </a:r>
            <a:r>
              <a:rPr lang="en-US" sz="1600" b="1" i="0" dirty="0">
                <a:solidFill>
                  <a:srgbClr val="17211D"/>
                </a:solidFill>
                <a:latin typeface="Arial"/>
              </a:rPr>
              <a:t> hallway</a:t>
            </a:r>
            <a:endParaRPr sz="1600" b="1" i="0" dirty="0">
              <a:solidFill>
                <a:srgbClr val="17211D"/>
              </a:solidFill>
              <a:latin typeface="Arial"/>
            </a:endParaRPr>
          </a:p>
        </p:txBody>
      </p:sp>
      <p:sp>
        <p:nvSpPr>
          <p:cNvPr id="13" name="TextBox 12"/>
          <p:cNvSpPr txBox="1"/>
          <p:nvPr/>
        </p:nvSpPr>
        <p:spPr>
          <a:xfrm>
            <a:off x="5080000" y="4241800"/>
            <a:ext cx="2032000" cy="253531"/>
          </a:xfrm>
          <a:prstGeom prst="rect">
            <a:avLst/>
          </a:prstGeom>
          <a:noFill/>
        </p:spPr>
        <p:txBody>
          <a:bodyPr wrap="square" lIns="0" tIns="0" rIns="0" bIns="0" anchor="t">
            <a:spAutoFit/>
          </a:bodyPr>
          <a:lstStyle/>
          <a:p>
            <a:pPr algn="ctr">
              <a:lnSpc>
                <a:spcPct val="112000"/>
              </a:lnSpc>
              <a:spcAft>
                <a:spcPts val="0"/>
              </a:spcAft>
            </a:pPr>
            <a:r>
              <a:rPr lang="en-US" sz="1600" b="1" i="0" dirty="0">
                <a:solidFill>
                  <a:srgbClr val="17211D"/>
                </a:solidFill>
                <a:latin typeface="Arial"/>
              </a:rPr>
              <a:t>U shaped staircase</a:t>
            </a:r>
            <a:endParaRPr sz="1600" b="1" i="0" dirty="0">
              <a:solidFill>
                <a:srgbClr val="17211D"/>
              </a:solidFill>
              <a:latin typeface="Arial"/>
            </a:endParaRPr>
          </a:p>
        </p:txBody>
      </p:sp>
      <p:sp>
        <p:nvSpPr>
          <p:cNvPr id="16" name="TextBox 15"/>
          <p:cNvSpPr txBox="1"/>
          <p:nvPr/>
        </p:nvSpPr>
        <p:spPr>
          <a:xfrm>
            <a:off x="7270750" y="4241800"/>
            <a:ext cx="2032000" cy="253531"/>
          </a:xfrm>
          <a:prstGeom prst="rect">
            <a:avLst/>
          </a:prstGeom>
          <a:noFill/>
        </p:spPr>
        <p:txBody>
          <a:bodyPr wrap="square" lIns="0" tIns="0" rIns="0" bIns="0" anchor="t">
            <a:spAutoFit/>
          </a:bodyPr>
          <a:lstStyle/>
          <a:p>
            <a:pPr algn="ctr">
              <a:lnSpc>
                <a:spcPct val="112000"/>
              </a:lnSpc>
              <a:spcAft>
                <a:spcPts val="0"/>
              </a:spcAft>
            </a:pPr>
            <a:r>
              <a:rPr lang="en-US" sz="1600" b="1" i="0" dirty="0">
                <a:solidFill>
                  <a:srgbClr val="17211D"/>
                </a:solidFill>
                <a:latin typeface="Arial"/>
              </a:rPr>
              <a:t>S shaped staircase</a:t>
            </a:r>
            <a:endParaRPr sz="1600" b="1" i="0" dirty="0">
              <a:solidFill>
                <a:srgbClr val="17211D"/>
              </a:solidFill>
              <a:latin typeface="Arial"/>
            </a:endParaRPr>
          </a:p>
        </p:txBody>
      </p:sp>
      <p:sp>
        <p:nvSpPr>
          <p:cNvPr id="19" name="TextBox 18"/>
          <p:cNvSpPr txBox="1"/>
          <p:nvPr/>
        </p:nvSpPr>
        <p:spPr>
          <a:xfrm>
            <a:off x="9461500" y="4241800"/>
            <a:ext cx="2032000" cy="253531"/>
          </a:xfrm>
          <a:prstGeom prst="rect">
            <a:avLst/>
          </a:prstGeom>
          <a:noFill/>
        </p:spPr>
        <p:txBody>
          <a:bodyPr wrap="square" lIns="0" tIns="0" rIns="0" bIns="0" anchor="t">
            <a:spAutoFit/>
          </a:bodyPr>
          <a:lstStyle/>
          <a:p>
            <a:pPr algn="ctr">
              <a:lnSpc>
                <a:spcPct val="112000"/>
              </a:lnSpc>
              <a:spcAft>
                <a:spcPts val="0"/>
              </a:spcAft>
            </a:pPr>
            <a:r>
              <a:rPr lang="en-US" sz="1600" b="1" i="0" dirty="0">
                <a:solidFill>
                  <a:srgbClr val="17211D"/>
                </a:solidFill>
                <a:latin typeface="Arial"/>
              </a:rPr>
              <a:t>Super twisty</a:t>
            </a:r>
            <a:endParaRPr sz="1600" b="1" i="0" dirty="0">
              <a:solidFill>
                <a:srgbClr val="17211D"/>
              </a:solidFill>
              <a:latin typeface="Arial"/>
            </a:endParaRPr>
          </a:p>
        </p:txBody>
      </p:sp>
      <p:sp>
        <p:nvSpPr>
          <p:cNvPr id="20" name="Rounded Rectangle 19"/>
          <p:cNvSpPr/>
          <p:nvPr/>
        </p:nvSpPr>
        <p:spPr>
          <a:xfrm>
            <a:off x="698500" y="4889500"/>
            <a:ext cx="2095500" cy="4826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17211D"/>
                </a:solidFill>
                <a:latin typeface="Arial"/>
              </a:rPr>
              <a:t>1  Shape blocks</a:t>
            </a:r>
          </a:p>
        </p:txBody>
      </p:sp>
      <p:sp>
        <p:nvSpPr>
          <p:cNvPr id="21" name="Right Arrow 20"/>
          <p:cNvSpPr/>
          <p:nvPr/>
        </p:nvSpPr>
        <p:spPr>
          <a:xfrm>
            <a:off x="2844800" y="501650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3175000" y="4889500"/>
            <a:ext cx="2095500" cy="4826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17211D"/>
                </a:solidFill>
                <a:latin typeface="Arial"/>
              </a:rPr>
              <a:t>2  Connect them</a:t>
            </a:r>
          </a:p>
        </p:txBody>
      </p:sp>
      <p:sp>
        <p:nvSpPr>
          <p:cNvPr id="23" name="Right Arrow 22"/>
          <p:cNvSpPr/>
          <p:nvPr/>
        </p:nvSpPr>
        <p:spPr>
          <a:xfrm>
            <a:off x="5321300" y="501650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651500" y="4889500"/>
            <a:ext cx="2540000" cy="4826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17211D"/>
                </a:solidFill>
                <a:latin typeface="Arial"/>
              </a:rPr>
              <a:t>3  Test your furniture</a:t>
            </a:r>
          </a:p>
        </p:txBody>
      </p:sp>
      <p:sp>
        <p:nvSpPr>
          <p:cNvPr id="25" name="Rounded Rectangle 24"/>
          <p:cNvSpPr/>
          <p:nvPr/>
        </p:nvSpPr>
        <p:spPr>
          <a:xfrm>
            <a:off x="698500" y="5588000"/>
            <a:ext cx="10795000" cy="698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600" b="0" i="0" dirty="0">
                <a:solidFill>
                  <a:srgbClr val="EAF5EE"/>
                </a:solidFill>
                <a:latin typeface="Arial"/>
              </a:rPr>
              <a:t>Each of these </a:t>
            </a:r>
            <a:r>
              <a:rPr lang="en-US" sz="1600" dirty="0">
                <a:solidFill>
                  <a:srgbClr val="EAF5EE"/>
                </a:solidFill>
                <a:latin typeface="Arial"/>
              </a:rPr>
              <a:t>are built from simple blocks</a:t>
            </a:r>
            <a:r>
              <a:rPr sz="1600" b="0" i="0" dirty="0">
                <a:solidFill>
                  <a:srgbClr val="EAF5EE"/>
                </a:solidFill>
                <a:latin typeface="Arial"/>
              </a:rPr>
              <a:t>. Change how the blocks are shaped or connected, and you get a different building.</a:t>
            </a:r>
          </a:p>
        </p:txBody>
      </p:sp>
      <p:pic>
        <p:nvPicPr>
          <p:cNvPr id="27" name="Picture 26">
            <a:extLst>
              <a:ext uri="{FF2B5EF4-FFF2-40B4-BE49-F238E27FC236}">
                <a16:creationId xmlns:a16="http://schemas.microsoft.com/office/drawing/2014/main" id="{540886F5-DB66-AC12-9517-47691BA66946}"/>
              </a:ext>
            </a:extLst>
          </p:cNvPr>
          <p:cNvPicPr>
            <a:picLocks noChangeAspect="1"/>
          </p:cNvPicPr>
          <p:nvPr/>
        </p:nvPicPr>
        <p:blipFill>
          <a:blip r:embed="rId3"/>
          <a:stretch>
            <a:fillRect/>
          </a:stretch>
        </p:blipFill>
        <p:spPr>
          <a:xfrm>
            <a:off x="968904" y="2152650"/>
            <a:ext cx="1649942" cy="1850442"/>
          </a:xfrm>
          <a:prstGeom prst="rect">
            <a:avLst/>
          </a:prstGeom>
        </p:spPr>
      </p:pic>
      <p:pic>
        <p:nvPicPr>
          <p:cNvPr id="29" name="Picture 28">
            <a:extLst>
              <a:ext uri="{FF2B5EF4-FFF2-40B4-BE49-F238E27FC236}">
                <a16:creationId xmlns:a16="http://schemas.microsoft.com/office/drawing/2014/main" id="{9A03F0B2-BCAE-C436-35CA-1A80F8685145}"/>
              </a:ext>
            </a:extLst>
          </p:cNvPr>
          <p:cNvPicPr>
            <a:picLocks noChangeAspect="1"/>
          </p:cNvPicPr>
          <p:nvPr/>
        </p:nvPicPr>
        <p:blipFill>
          <a:blip r:embed="rId4"/>
          <a:stretch>
            <a:fillRect/>
          </a:stretch>
        </p:blipFill>
        <p:spPr>
          <a:xfrm>
            <a:off x="3034164" y="2603500"/>
            <a:ext cx="1746113" cy="1234492"/>
          </a:xfrm>
          <a:prstGeom prst="rect">
            <a:avLst/>
          </a:prstGeom>
        </p:spPr>
      </p:pic>
      <p:pic>
        <p:nvPicPr>
          <p:cNvPr id="31" name="Picture 30">
            <a:extLst>
              <a:ext uri="{FF2B5EF4-FFF2-40B4-BE49-F238E27FC236}">
                <a16:creationId xmlns:a16="http://schemas.microsoft.com/office/drawing/2014/main" id="{BEA655C2-8092-4637-6169-9086FC28B095}"/>
              </a:ext>
            </a:extLst>
          </p:cNvPr>
          <p:cNvPicPr>
            <a:picLocks noChangeAspect="1"/>
          </p:cNvPicPr>
          <p:nvPr/>
        </p:nvPicPr>
        <p:blipFill>
          <a:blip r:embed="rId5"/>
          <a:stretch>
            <a:fillRect/>
          </a:stretch>
        </p:blipFill>
        <p:spPr>
          <a:xfrm>
            <a:off x="5001683" y="2234379"/>
            <a:ext cx="2054888" cy="1621367"/>
          </a:xfrm>
          <a:prstGeom prst="rect">
            <a:avLst/>
          </a:prstGeom>
        </p:spPr>
      </p:pic>
      <p:pic>
        <p:nvPicPr>
          <p:cNvPr id="33" name="Picture 32">
            <a:extLst>
              <a:ext uri="{FF2B5EF4-FFF2-40B4-BE49-F238E27FC236}">
                <a16:creationId xmlns:a16="http://schemas.microsoft.com/office/drawing/2014/main" id="{433082D9-4226-858A-D81D-36DE938A2CBD}"/>
              </a:ext>
            </a:extLst>
          </p:cNvPr>
          <p:cNvPicPr>
            <a:picLocks noChangeAspect="1"/>
          </p:cNvPicPr>
          <p:nvPr/>
        </p:nvPicPr>
        <p:blipFill>
          <a:blip r:embed="rId6"/>
          <a:stretch>
            <a:fillRect/>
          </a:stretch>
        </p:blipFill>
        <p:spPr>
          <a:xfrm>
            <a:off x="7425267" y="2355850"/>
            <a:ext cx="1459887" cy="1670050"/>
          </a:xfrm>
          <a:prstGeom prst="rect">
            <a:avLst/>
          </a:prstGeom>
        </p:spPr>
      </p:pic>
      <p:pic>
        <p:nvPicPr>
          <p:cNvPr id="35" name="Picture 34">
            <a:extLst>
              <a:ext uri="{FF2B5EF4-FFF2-40B4-BE49-F238E27FC236}">
                <a16:creationId xmlns:a16="http://schemas.microsoft.com/office/drawing/2014/main" id="{1B642F22-8159-182C-C23E-B75D7AE4BA1B}"/>
              </a:ext>
            </a:extLst>
          </p:cNvPr>
          <p:cNvPicPr>
            <a:picLocks noChangeAspect="1"/>
          </p:cNvPicPr>
          <p:nvPr/>
        </p:nvPicPr>
        <p:blipFill>
          <a:blip r:embed="rId7"/>
          <a:stretch>
            <a:fillRect/>
          </a:stretch>
        </p:blipFill>
        <p:spPr>
          <a:xfrm>
            <a:off x="9353550" y="2156095"/>
            <a:ext cx="2015596" cy="179650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8669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STEP 1 · SHAPE</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Shape the blocks</a:t>
            </a:r>
          </a:p>
        </p:txBody>
      </p:sp>
      <p:sp>
        <p:nvSpPr>
          <p:cNvPr id="4" name="TextBox 3"/>
          <p:cNvSpPr txBox="1"/>
          <p:nvPr/>
        </p:nvSpPr>
        <p:spPr>
          <a:xfrm>
            <a:off x="698500" y="1790700"/>
            <a:ext cx="3302000" cy="254000"/>
          </a:xfrm>
          <a:prstGeom prst="rect">
            <a:avLst/>
          </a:prstGeom>
          <a:noFill/>
        </p:spPr>
        <p:txBody>
          <a:bodyPr wrap="square" lIns="0" tIns="0" rIns="0" bIns="0" anchor="t">
            <a:spAutoFit/>
          </a:bodyPr>
          <a:lstStyle/>
          <a:p>
            <a:pPr algn="l">
              <a:lnSpc>
                <a:spcPct val="112000"/>
              </a:lnSpc>
              <a:spcAft>
                <a:spcPts val="0"/>
              </a:spcAft>
            </a:pPr>
            <a:r>
              <a:rPr sz="2100" b="1" i="0">
                <a:solidFill>
                  <a:srgbClr val="166B50"/>
                </a:solidFill>
                <a:latin typeface="Arial"/>
              </a:rPr>
              <a:t>Stretch it</a:t>
            </a:r>
          </a:p>
        </p:txBody>
      </p:sp>
      <p:sp>
        <p:nvSpPr>
          <p:cNvPr id="5" name="TextBox 4"/>
          <p:cNvSpPr txBox="1"/>
          <p:nvPr/>
        </p:nvSpPr>
        <p:spPr>
          <a:xfrm>
            <a:off x="698500" y="2070100"/>
            <a:ext cx="3302000" cy="381000"/>
          </a:xfrm>
          <a:prstGeom prst="rect">
            <a:avLst/>
          </a:prstGeom>
          <a:noFill/>
        </p:spPr>
        <p:txBody>
          <a:bodyPr wrap="square" lIns="0" tIns="0" rIns="0" bIns="0" anchor="t">
            <a:spAutoFit/>
          </a:bodyPr>
          <a:lstStyle/>
          <a:p>
            <a:pPr algn="l">
              <a:lnSpc>
                <a:spcPct val="115000"/>
              </a:lnSpc>
              <a:spcAft>
                <a:spcPts val="0"/>
              </a:spcAft>
            </a:pPr>
            <a:r>
              <a:rPr sz="1400" b="0" i="0">
                <a:solidFill>
                  <a:srgbClr val="5D6963"/>
                </a:solidFill>
                <a:latin typeface="Arial"/>
              </a:rPr>
              <a:t>Drag the length sliders to make a block longer, wider or taller.</a:t>
            </a:r>
          </a:p>
        </p:txBody>
      </p:sp>
      <p:pic>
        <p:nvPicPr>
          <p:cNvPr id="6" name="Picture 5" descr="s5_st_a.jpg"/>
          <p:cNvPicPr>
            <a:picLocks noChangeAspect="1"/>
          </p:cNvPicPr>
          <p:nvPr/>
        </p:nvPicPr>
        <p:blipFill>
          <a:blip r:embed="rId3"/>
          <a:srcRect l="15278" t="14815" r="42130" b="17037"/>
          <a:stretch>
            <a:fillRect/>
          </a:stretch>
        </p:blipFill>
        <p:spPr>
          <a:xfrm>
            <a:off x="698500" y="2571750"/>
            <a:ext cx="1524000" cy="1524000"/>
          </a:xfrm>
          <a:prstGeom prst="rect">
            <a:avLst/>
          </a:prstGeom>
          <a:ln w="12700">
            <a:solidFill>
              <a:srgbClr val="CFD8D1"/>
            </a:solidFill>
          </a:ln>
        </p:spPr>
      </p:pic>
      <p:pic>
        <p:nvPicPr>
          <p:cNvPr id="7" name="Picture 6" descr="s5_st_b.jpg"/>
          <p:cNvPicPr>
            <a:picLocks noChangeAspect="1"/>
          </p:cNvPicPr>
          <p:nvPr/>
        </p:nvPicPr>
        <p:blipFill>
          <a:blip r:embed="rId4"/>
          <a:srcRect l="15278" t="14815" r="42130" b="17037"/>
          <a:stretch>
            <a:fillRect/>
          </a:stretch>
        </p:blipFill>
        <p:spPr>
          <a:xfrm>
            <a:off x="2349500" y="2571750"/>
            <a:ext cx="1524000" cy="1524000"/>
          </a:xfrm>
          <a:prstGeom prst="rect">
            <a:avLst/>
          </a:prstGeom>
          <a:ln w="12700">
            <a:solidFill>
              <a:srgbClr val="CFD8D1"/>
            </a:solidFill>
          </a:ln>
        </p:spPr>
      </p:pic>
      <p:sp>
        <p:nvSpPr>
          <p:cNvPr id="8" name="TextBox 7"/>
          <p:cNvSpPr txBox="1"/>
          <p:nvPr/>
        </p:nvSpPr>
        <p:spPr>
          <a:xfrm>
            <a:off x="6985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5D6963"/>
                </a:solidFill>
                <a:latin typeface="Arial"/>
              </a:rPr>
              <a:t>Length 3.0</a:t>
            </a:r>
          </a:p>
        </p:txBody>
      </p:sp>
      <p:sp>
        <p:nvSpPr>
          <p:cNvPr id="9" name="TextBox 8"/>
          <p:cNvSpPr txBox="1"/>
          <p:nvPr/>
        </p:nvSpPr>
        <p:spPr>
          <a:xfrm>
            <a:off x="23495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17211D"/>
                </a:solidFill>
                <a:latin typeface="Arial"/>
              </a:rPr>
              <a:t>Length 7.0</a:t>
            </a:r>
          </a:p>
        </p:txBody>
      </p:sp>
      <p:pic>
        <p:nvPicPr>
          <p:cNvPr id="10" name="Picture 9" descr="s5_st_b.jpg"/>
          <p:cNvPicPr>
            <a:picLocks noChangeAspect="1"/>
          </p:cNvPicPr>
          <p:nvPr/>
        </p:nvPicPr>
        <p:blipFill>
          <a:blip r:embed="rId4"/>
          <a:srcRect l="74537" t="57778" r="1389" b="14815"/>
          <a:stretch>
            <a:fillRect/>
          </a:stretch>
        </p:blipFill>
        <p:spPr>
          <a:xfrm>
            <a:off x="698500" y="4476750"/>
            <a:ext cx="2921000" cy="2078403"/>
          </a:xfrm>
          <a:prstGeom prst="rect">
            <a:avLst/>
          </a:prstGeom>
          <a:ln w="12700">
            <a:solidFill>
              <a:srgbClr val="CFD8D1"/>
            </a:solidFill>
          </a:ln>
        </p:spPr>
      </p:pic>
      <p:sp>
        <p:nvSpPr>
          <p:cNvPr id="11" name="TextBox 10"/>
          <p:cNvSpPr txBox="1"/>
          <p:nvPr/>
        </p:nvSpPr>
        <p:spPr>
          <a:xfrm>
            <a:off x="4445000" y="1790700"/>
            <a:ext cx="3302000" cy="254000"/>
          </a:xfrm>
          <a:prstGeom prst="rect">
            <a:avLst/>
          </a:prstGeom>
          <a:noFill/>
        </p:spPr>
        <p:txBody>
          <a:bodyPr wrap="square" lIns="0" tIns="0" rIns="0" bIns="0" anchor="t">
            <a:spAutoFit/>
          </a:bodyPr>
          <a:lstStyle/>
          <a:p>
            <a:pPr algn="l">
              <a:lnSpc>
                <a:spcPct val="112000"/>
              </a:lnSpc>
              <a:spcAft>
                <a:spcPts val="0"/>
              </a:spcAft>
            </a:pPr>
            <a:r>
              <a:rPr sz="2100" b="1" i="0">
                <a:solidFill>
                  <a:srgbClr val="166B50"/>
                </a:solidFill>
                <a:latin typeface="Arial"/>
              </a:rPr>
              <a:t>Tilt it</a:t>
            </a:r>
          </a:p>
        </p:txBody>
      </p:sp>
      <p:sp>
        <p:nvSpPr>
          <p:cNvPr id="12" name="TextBox 11"/>
          <p:cNvSpPr txBox="1"/>
          <p:nvPr/>
        </p:nvSpPr>
        <p:spPr>
          <a:xfrm>
            <a:off x="4445000" y="2070100"/>
            <a:ext cx="3302000" cy="381000"/>
          </a:xfrm>
          <a:prstGeom prst="rect">
            <a:avLst/>
          </a:prstGeom>
          <a:noFill/>
        </p:spPr>
        <p:txBody>
          <a:bodyPr wrap="square" lIns="0" tIns="0" rIns="0" bIns="0" anchor="t">
            <a:spAutoFit/>
          </a:bodyPr>
          <a:lstStyle/>
          <a:p>
            <a:pPr algn="l">
              <a:lnSpc>
                <a:spcPct val="115000"/>
              </a:lnSpc>
              <a:spcAft>
                <a:spcPts val="0"/>
              </a:spcAft>
            </a:pPr>
            <a:r>
              <a:rPr sz="1400" b="0" i="0">
                <a:solidFill>
                  <a:srgbClr val="5D6963"/>
                </a:solidFill>
                <a:latin typeface="Arial"/>
              </a:rPr>
              <a:t>Drag the angle sliders. A tilted block becomes a ramp or stairs.</a:t>
            </a:r>
          </a:p>
        </p:txBody>
      </p:sp>
      <p:pic>
        <p:nvPicPr>
          <p:cNvPr id="13" name="Picture 12" descr="s5_ti_a.jpg"/>
          <p:cNvPicPr>
            <a:picLocks noChangeAspect="1"/>
          </p:cNvPicPr>
          <p:nvPr/>
        </p:nvPicPr>
        <p:blipFill>
          <a:blip r:embed="rId5"/>
          <a:srcRect l="15278" t="14815" r="42130" b="17037"/>
          <a:stretch>
            <a:fillRect/>
          </a:stretch>
        </p:blipFill>
        <p:spPr>
          <a:xfrm>
            <a:off x="4445000" y="2571750"/>
            <a:ext cx="1524000" cy="1524000"/>
          </a:xfrm>
          <a:prstGeom prst="rect">
            <a:avLst/>
          </a:prstGeom>
          <a:ln w="12700">
            <a:solidFill>
              <a:srgbClr val="CFD8D1"/>
            </a:solidFill>
          </a:ln>
        </p:spPr>
      </p:pic>
      <p:pic>
        <p:nvPicPr>
          <p:cNvPr id="14" name="Picture 13" descr="s5_ti_b.jpg"/>
          <p:cNvPicPr>
            <a:picLocks noChangeAspect="1"/>
          </p:cNvPicPr>
          <p:nvPr/>
        </p:nvPicPr>
        <p:blipFill>
          <a:blip r:embed="rId6"/>
          <a:srcRect l="15278" t="14815" r="42130" b="17037"/>
          <a:stretch>
            <a:fillRect/>
          </a:stretch>
        </p:blipFill>
        <p:spPr>
          <a:xfrm>
            <a:off x="6096000" y="2571750"/>
            <a:ext cx="1524000" cy="1524000"/>
          </a:xfrm>
          <a:prstGeom prst="rect">
            <a:avLst/>
          </a:prstGeom>
          <a:ln w="12700">
            <a:solidFill>
              <a:srgbClr val="CFD8D1"/>
            </a:solidFill>
          </a:ln>
        </p:spPr>
      </p:pic>
      <p:sp>
        <p:nvSpPr>
          <p:cNvPr id="15" name="TextBox 14"/>
          <p:cNvSpPr txBox="1"/>
          <p:nvPr/>
        </p:nvSpPr>
        <p:spPr>
          <a:xfrm>
            <a:off x="44450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5D6963"/>
                </a:solidFill>
                <a:latin typeface="Arial"/>
              </a:rPr>
              <a:t>Angle 90°</a:t>
            </a:r>
          </a:p>
        </p:txBody>
      </p:sp>
      <p:sp>
        <p:nvSpPr>
          <p:cNvPr id="16" name="TextBox 15"/>
          <p:cNvSpPr txBox="1"/>
          <p:nvPr/>
        </p:nvSpPr>
        <p:spPr>
          <a:xfrm>
            <a:off x="60960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17211D"/>
                </a:solidFill>
                <a:latin typeface="Arial"/>
              </a:rPr>
              <a:t>Angle 60°</a:t>
            </a:r>
          </a:p>
        </p:txBody>
      </p:sp>
      <p:pic>
        <p:nvPicPr>
          <p:cNvPr id="17" name="Picture 16" descr="s5_ti_b_scroll.jpg"/>
          <p:cNvPicPr>
            <a:picLocks noChangeAspect="1"/>
          </p:cNvPicPr>
          <p:nvPr/>
        </p:nvPicPr>
        <p:blipFill>
          <a:blip r:embed="rId7"/>
          <a:srcRect l="74537" t="20741" r="1389" b="50370"/>
          <a:stretch>
            <a:fillRect/>
          </a:stretch>
        </p:blipFill>
        <p:spPr>
          <a:xfrm>
            <a:off x="4445000" y="4476750"/>
            <a:ext cx="2921000" cy="2190750"/>
          </a:xfrm>
          <a:prstGeom prst="rect">
            <a:avLst/>
          </a:prstGeom>
          <a:ln w="12700">
            <a:solidFill>
              <a:srgbClr val="CFD8D1"/>
            </a:solidFill>
          </a:ln>
        </p:spPr>
      </p:pic>
      <p:sp>
        <p:nvSpPr>
          <p:cNvPr id="18" name="TextBox 17"/>
          <p:cNvSpPr txBox="1"/>
          <p:nvPr/>
        </p:nvSpPr>
        <p:spPr>
          <a:xfrm>
            <a:off x="8191500" y="1790700"/>
            <a:ext cx="3302000" cy="254000"/>
          </a:xfrm>
          <a:prstGeom prst="rect">
            <a:avLst/>
          </a:prstGeom>
          <a:noFill/>
        </p:spPr>
        <p:txBody>
          <a:bodyPr wrap="square" lIns="0" tIns="0" rIns="0" bIns="0" anchor="t">
            <a:spAutoFit/>
          </a:bodyPr>
          <a:lstStyle/>
          <a:p>
            <a:pPr algn="l">
              <a:lnSpc>
                <a:spcPct val="112000"/>
              </a:lnSpc>
              <a:spcAft>
                <a:spcPts val="0"/>
              </a:spcAft>
            </a:pPr>
            <a:r>
              <a:rPr sz="2100" b="1" i="0">
                <a:solidFill>
                  <a:srgbClr val="166B50"/>
                </a:solidFill>
                <a:latin typeface="Arial"/>
              </a:rPr>
              <a:t>Add more</a:t>
            </a:r>
          </a:p>
        </p:txBody>
      </p:sp>
      <p:sp>
        <p:nvSpPr>
          <p:cNvPr id="19" name="TextBox 18"/>
          <p:cNvSpPr txBox="1"/>
          <p:nvPr/>
        </p:nvSpPr>
        <p:spPr>
          <a:xfrm>
            <a:off x="8191500" y="2070100"/>
            <a:ext cx="3302000" cy="381000"/>
          </a:xfrm>
          <a:prstGeom prst="rect">
            <a:avLst/>
          </a:prstGeom>
          <a:noFill/>
        </p:spPr>
        <p:txBody>
          <a:bodyPr wrap="square" lIns="0" tIns="0" rIns="0" bIns="0" anchor="t">
            <a:spAutoFit/>
          </a:bodyPr>
          <a:lstStyle/>
          <a:p>
            <a:pPr algn="l">
              <a:lnSpc>
                <a:spcPct val="115000"/>
              </a:lnSpc>
              <a:spcAft>
                <a:spcPts val="0"/>
              </a:spcAft>
            </a:pPr>
            <a:r>
              <a:rPr sz="1400" b="0" i="0">
                <a:solidFill>
                  <a:srgbClr val="5D6963"/>
                </a:solidFill>
                <a:latin typeface="Arial"/>
              </a:rPr>
              <a:t>Press + Add object for another block. Build as many as you need.</a:t>
            </a:r>
          </a:p>
        </p:txBody>
      </p:sp>
      <p:pic>
        <p:nvPicPr>
          <p:cNvPr id="20" name="Picture 19" descr="s5_ti_a.jpg"/>
          <p:cNvPicPr>
            <a:picLocks noChangeAspect="1"/>
          </p:cNvPicPr>
          <p:nvPr/>
        </p:nvPicPr>
        <p:blipFill>
          <a:blip r:embed="rId5"/>
          <a:srcRect l="15278" t="14815" r="42130" b="17037"/>
          <a:stretch>
            <a:fillRect/>
          </a:stretch>
        </p:blipFill>
        <p:spPr>
          <a:xfrm>
            <a:off x="8191500" y="2571750"/>
            <a:ext cx="1524000" cy="1524000"/>
          </a:xfrm>
          <a:prstGeom prst="rect">
            <a:avLst/>
          </a:prstGeom>
          <a:ln w="12700">
            <a:solidFill>
              <a:srgbClr val="CFD8D1"/>
            </a:solidFill>
          </a:ln>
        </p:spPr>
      </p:pic>
      <p:pic>
        <p:nvPicPr>
          <p:cNvPr id="21" name="Picture 20" descr="s5_ad_b.jpg"/>
          <p:cNvPicPr>
            <a:picLocks noChangeAspect="1"/>
          </p:cNvPicPr>
          <p:nvPr/>
        </p:nvPicPr>
        <p:blipFill>
          <a:blip r:embed="rId8"/>
          <a:srcRect l="15278" t="14815" r="42130" b="17037"/>
          <a:stretch>
            <a:fillRect/>
          </a:stretch>
        </p:blipFill>
        <p:spPr>
          <a:xfrm>
            <a:off x="9842500" y="2571750"/>
            <a:ext cx="1524000" cy="1524000"/>
          </a:xfrm>
          <a:prstGeom prst="rect">
            <a:avLst/>
          </a:prstGeom>
          <a:ln w="12700">
            <a:solidFill>
              <a:srgbClr val="CFD8D1"/>
            </a:solidFill>
          </a:ln>
        </p:spPr>
      </p:pic>
      <p:sp>
        <p:nvSpPr>
          <p:cNvPr id="22" name="TextBox 21"/>
          <p:cNvSpPr txBox="1"/>
          <p:nvPr/>
        </p:nvSpPr>
        <p:spPr>
          <a:xfrm>
            <a:off x="81915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5D6963"/>
                </a:solidFill>
                <a:latin typeface="Arial"/>
              </a:rPr>
              <a:t>1 block</a:t>
            </a:r>
          </a:p>
        </p:txBody>
      </p:sp>
      <p:sp>
        <p:nvSpPr>
          <p:cNvPr id="23" name="TextBox 22"/>
          <p:cNvSpPr txBox="1"/>
          <p:nvPr/>
        </p:nvSpPr>
        <p:spPr>
          <a:xfrm>
            <a:off x="98425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17211D"/>
                </a:solidFill>
                <a:latin typeface="Arial"/>
              </a:rPr>
              <a:t>3 blocks</a:t>
            </a:r>
          </a:p>
        </p:txBody>
      </p:sp>
      <p:pic>
        <p:nvPicPr>
          <p:cNvPr id="24" name="Picture 23" descr="s5_ad_b.jpg"/>
          <p:cNvPicPr>
            <a:picLocks noChangeAspect="1"/>
          </p:cNvPicPr>
          <p:nvPr/>
        </p:nvPicPr>
        <p:blipFill>
          <a:blip r:embed="rId8"/>
          <a:srcRect l="74537" t="34815" r="1389" b="48148"/>
          <a:stretch>
            <a:fillRect/>
          </a:stretch>
        </p:blipFill>
        <p:spPr>
          <a:xfrm>
            <a:off x="8191500" y="4476750"/>
            <a:ext cx="2921000" cy="1291980"/>
          </a:xfrm>
          <a:prstGeom prst="rect">
            <a:avLst/>
          </a:prstGeom>
          <a:ln w="12700">
            <a:solidFill>
              <a:srgbClr val="CFD8D1"/>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0828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STEP 1 · CONNECT</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Connect them together</a:t>
            </a:r>
          </a:p>
        </p:txBody>
      </p:sp>
      <p:sp>
        <p:nvSpPr>
          <p:cNvPr id="4" name="TextBox 3"/>
          <p:cNvSpPr txBox="1"/>
          <p:nvPr/>
        </p:nvSpPr>
        <p:spPr>
          <a:xfrm>
            <a:off x="698500" y="2032000"/>
            <a:ext cx="4064000" cy="2794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Press </a:t>
            </a:r>
            <a:r>
              <a:rPr sz="1700" b="1" i="0">
                <a:solidFill>
                  <a:srgbClr val="17211D"/>
                </a:solidFill>
                <a:latin typeface="Arial"/>
              </a:rPr>
              <a:t>Connect two objects</a:t>
            </a:r>
            <a:r>
              <a:rPr sz="1700" b="0" i="0">
                <a:solidFill>
                  <a:srgbClr val="17211D"/>
                </a:solidFill>
                <a:latin typeface="Arial"/>
              </a:rPr>
              <a:t>.</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Click one face on each block.</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Drag the sliders to </a:t>
            </a:r>
            <a:r>
              <a:rPr sz="1700" b="1" i="0">
                <a:solidFill>
                  <a:srgbClr val="17211D"/>
                </a:solidFill>
                <a:latin typeface="Arial"/>
              </a:rPr>
              <a:t>rotate</a:t>
            </a:r>
            <a:r>
              <a:rPr sz="1700" b="0" i="0">
                <a:solidFill>
                  <a:srgbClr val="17211D"/>
                </a:solidFill>
                <a:latin typeface="Arial"/>
              </a:rPr>
              <a:t> and </a:t>
            </a:r>
            <a:r>
              <a:rPr sz="1700" b="1" i="0">
                <a:solidFill>
                  <a:srgbClr val="17211D"/>
                </a:solidFill>
                <a:latin typeface="Arial"/>
              </a:rPr>
              <a:t>slide</a:t>
            </a:r>
            <a:r>
              <a:rPr sz="1700" b="0" i="0">
                <a:solidFill>
                  <a:srgbClr val="17211D"/>
                </a:solidFill>
                <a:latin typeface="Arial"/>
              </a:rPr>
              <a:t> them until they line up.</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Press </a:t>
            </a:r>
            <a:r>
              <a:rPr sz="1700" b="1" i="0">
                <a:solidFill>
                  <a:srgbClr val="17211D"/>
                </a:solidFill>
                <a:latin typeface="Arial"/>
              </a:rPr>
              <a:t>Apply</a:t>
            </a:r>
            <a:r>
              <a:rPr sz="1700" b="0" i="0">
                <a:solidFill>
                  <a:srgbClr val="17211D"/>
                </a:solidFill>
                <a:latin typeface="Arial"/>
              </a:rPr>
              <a:t>. Repeat for every joint.</a:t>
            </a:r>
          </a:p>
        </p:txBody>
      </p:sp>
      <p:sp>
        <p:nvSpPr>
          <p:cNvPr id="5" name="Rounded Rectangle 4"/>
          <p:cNvSpPr/>
          <p:nvPr/>
        </p:nvSpPr>
        <p:spPr>
          <a:xfrm>
            <a:off x="698500" y="5143500"/>
            <a:ext cx="4064000" cy="825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0" i="0">
                <a:solidFill>
                  <a:srgbClr val="EAF5EE"/>
                </a:solidFill>
                <a:latin typeface="Arial"/>
              </a:rPr>
              <a:t>Rotating one block against the other changes the angle between the two surfaces. That's how you bend a hallway.</a:t>
            </a:r>
          </a:p>
        </p:txBody>
      </p:sp>
      <p:pic>
        <p:nvPicPr>
          <p:cNvPr id="6" name="Picture 5" descr="j_before.jpg"/>
          <p:cNvPicPr>
            <a:picLocks noChangeAspect="1"/>
          </p:cNvPicPr>
          <p:nvPr/>
        </p:nvPicPr>
        <p:blipFill>
          <a:blip r:embed="rId3"/>
          <a:srcRect t="2222" r="49074" b="19259"/>
          <a:stretch>
            <a:fillRect/>
          </a:stretch>
        </p:blipFill>
        <p:spPr>
          <a:xfrm>
            <a:off x="5080000" y="1841500"/>
            <a:ext cx="3175000" cy="3059545"/>
          </a:xfrm>
          <a:prstGeom prst="rect">
            <a:avLst/>
          </a:prstGeom>
          <a:ln w="12700">
            <a:solidFill>
              <a:srgbClr val="CFD8D1"/>
            </a:solidFill>
          </a:ln>
        </p:spPr>
      </p:pic>
      <p:pic>
        <p:nvPicPr>
          <p:cNvPr id="7" name="Picture 6" descr="j_after.jpg"/>
          <p:cNvPicPr>
            <a:picLocks noChangeAspect="1"/>
          </p:cNvPicPr>
          <p:nvPr/>
        </p:nvPicPr>
        <p:blipFill>
          <a:blip r:embed="rId4"/>
          <a:srcRect t="2222" r="49074" b="19259"/>
          <a:stretch>
            <a:fillRect/>
          </a:stretch>
        </p:blipFill>
        <p:spPr>
          <a:xfrm>
            <a:off x="8382000" y="1841500"/>
            <a:ext cx="3175000" cy="3059545"/>
          </a:xfrm>
          <a:prstGeom prst="rect">
            <a:avLst/>
          </a:prstGeom>
          <a:ln w="12700">
            <a:solidFill>
              <a:srgbClr val="CFD8D1"/>
            </a:solidFill>
          </a:ln>
        </p:spPr>
      </p:pic>
      <p:sp>
        <p:nvSpPr>
          <p:cNvPr id="8" name="TextBox 7"/>
          <p:cNvSpPr txBox="1"/>
          <p:nvPr/>
        </p:nvSpPr>
        <p:spPr>
          <a:xfrm>
            <a:off x="5080000" y="4989945"/>
            <a:ext cx="3175000" cy="254000"/>
          </a:xfrm>
          <a:prstGeom prst="rect">
            <a:avLst/>
          </a:prstGeom>
          <a:noFill/>
        </p:spPr>
        <p:txBody>
          <a:bodyPr wrap="square" lIns="0" tIns="0" rIns="0" bIns="0" anchor="t">
            <a:spAutoFit/>
          </a:bodyPr>
          <a:lstStyle/>
          <a:p>
            <a:pPr algn="ctr">
              <a:lnSpc>
                <a:spcPct val="112000"/>
              </a:lnSpc>
              <a:spcAft>
                <a:spcPts val="0"/>
              </a:spcAft>
            </a:pPr>
            <a:r>
              <a:rPr sz="1500" b="1" i="0">
                <a:solidFill>
                  <a:srgbClr val="17211D"/>
                </a:solidFill>
                <a:latin typeface="Arial"/>
              </a:rPr>
              <a:t>Just attached</a:t>
            </a:r>
          </a:p>
        </p:txBody>
      </p:sp>
      <p:sp>
        <p:nvSpPr>
          <p:cNvPr id="9" name="TextBox 8"/>
          <p:cNvSpPr txBox="1"/>
          <p:nvPr/>
        </p:nvSpPr>
        <p:spPr>
          <a:xfrm>
            <a:off x="8382000" y="4989945"/>
            <a:ext cx="3175000" cy="254000"/>
          </a:xfrm>
          <a:prstGeom prst="rect">
            <a:avLst/>
          </a:prstGeom>
          <a:noFill/>
        </p:spPr>
        <p:txBody>
          <a:bodyPr wrap="square" lIns="0" tIns="0" rIns="0" bIns="0" anchor="t">
            <a:spAutoFit/>
          </a:bodyPr>
          <a:lstStyle/>
          <a:p>
            <a:pPr algn="ctr">
              <a:lnSpc>
                <a:spcPct val="112000"/>
              </a:lnSpc>
              <a:spcAft>
                <a:spcPts val="0"/>
              </a:spcAft>
            </a:pPr>
            <a:r>
              <a:rPr sz="1500" b="1" i="0">
                <a:solidFill>
                  <a:srgbClr val="17211D"/>
                </a:solidFill>
                <a:latin typeface="Arial"/>
              </a:rPr>
              <a:t>After rotating and sliding</a:t>
            </a:r>
          </a:p>
        </p:txBody>
      </p:sp>
      <p:sp>
        <p:nvSpPr>
          <p:cNvPr id="10" name="TextBox 9"/>
          <p:cNvSpPr txBox="1"/>
          <p:nvPr/>
        </p:nvSpPr>
        <p:spPr>
          <a:xfrm>
            <a:off x="5080000" y="5282045"/>
            <a:ext cx="6477000" cy="381000"/>
          </a:xfrm>
          <a:prstGeom prst="rect">
            <a:avLst/>
          </a:prstGeom>
          <a:noFill/>
        </p:spPr>
        <p:txBody>
          <a:bodyPr wrap="square" lIns="0" tIns="0" rIns="0" bIns="0" anchor="t">
            <a:spAutoFit/>
          </a:bodyPr>
          <a:lstStyle/>
          <a:p>
            <a:pPr algn="l">
              <a:lnSpc>
                <a:spcPct val="115000"/>
              </a:lnSpc>
              <a:spcAft>
                <a:spcPts val="0"/>
              </a:spcAft>
            </a:pPr>
            <a:r>
              <a:rPr sz="1400" b="0" i="0">
                <a:solidFill>
                  <a:srgbClr val="5D6963"/>
                </a:solidFill>
                <a:latin typeface="Arial"/>
              </a:rPr>
              <a:t>Drag </a:t>
            </a:r>
            <a:r>
              <a:rPr sz="1400" b="1" i="0">
                <a:solidFill>
                  <a:srgbClr val="17211D"/>
                </a:solidFill>
                <a:latin typeface="Arial"/>
              </a:rPr>
              <a:t>Rotate moving surface</a:t>
            </a:r>
            <a:r>
              <a:rPr sz="1400" b="0" i="0">
                <a:solidFill>
                  <a:srgbClr val="5D6963"/>
                </a:solidFill>
                <a:latin typeface="Arial"/>
              </a:rPr>
              <a:t> and </a:t>
            </a:r>
            <a:r>
              <a:rPr sz="1400" b="1" i="0">
                <a:solidFill>
                  <a:srgbClr val="17211D"/>
                </a:solidFill>
                <a:latin typeface="Arial"/>
              </a:rPr>
              <a:t>Move horizontally / vertically</a:t>
            </a:r>
            <a:r>
              <a:rPr sz="1400" b="0" i="0">
                <a:solidFill>
                  <a:srgbClr val="5D6963"/>
                </a:solidFill>
                <a:latin typeface="Arial"/>
              </a:rPr>
              <a:t> in the preview, and watch the blocks line up.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7305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STEPS 2 &amp; 3</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Pick the doors, set the furniture</a:t>
            </a:r>
          </a:p>
        </p:txBody>
      </p:sp>
      <p:sp>
        <p:nvSpPr>
          <p:cNvPr id="4" name="TextBox 3"/>
          <p:cNvSpPr txBox="1"/>
          <p:nvPr/>
        </p:nvSpPr>
        <p:spPr>
          <a:xfrm>
            <a:off x="698500" y="2032000"/>
            <a:ext cx="4064000" cy="2667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Click where the furniture goes </a:t>
            </a:r>
            <a:r>
              <a:rPr sz="1700" b="1" i="0">
                <a:solidFill>
                  <a:srgbClr val="17211D"/>
                </a:solidFill>
                <a:latin typeface="Arial"/>
              </a:rPr>
              <a:t>in</a:t>
            </a:r>
            <a:r>
              <a:rPr sz="1700" b="0" i="0">
                <a:solidFill>
                  <a:srgbClr val="17211D"/>
                </a:solidFill>
                <a:latin typeface="Arial"/>
              </a:rPr>
              <a:t> (</a:t>
            </a:r>
            <a:r>
              <a:rPr sz="1700" b="1" i="0">
                <a:solidFill>
                  <a:srgbClr val="2F9A5E"/>
                </a:solidFill>
                <a:latin typeface="Arial"/>
              </a:rPr>
              <a:t>green</a:t>
            </a:r>
            <a:r>
              <a:rPr sz="1700" b="0" i="0">
                <a:solidFill>
                  <a:srgbClr val="17211D"/>
                </a:solidFill>
                <a:latin typeface="Arial"/>
              </a:rPr>
              <a:t>) and </a:t>
            </a:r>
            <a:r>
              <a:rPr sz="1700" b="1" i="0">
                <a:solidFill>
                  <a:srgbClr val="17211D"/>
                </a:solidFill>
                <a:latin typeface="Arial"/>
              </a:rPr>
              <a:t>out</a:t>
            </a:r>
            <a:r>
              <a:rPr sz="1700" b="0" i="0">
                <a:solidFill>
                  <a:srgbClr val="17211D"/>
                </a:solidFill>
                <a:latin typeface="Arial"/>
              </a:rPr>
              <a:t> (</a:t>
            </a:r>
            <a:r>
              <a:rPr sz="1700" b="1" i="0">
                <a:solidFill>
                  <a:srgbClr val="D97F1A"/>
                </a:solidFill>
                <a:latin typeface="Arial"/>
              </a:rPr>
              <a:t>orange</a:t>
            </a:r>
            <a:r>
              <a:rPr sz="1700" b="0" i="0">
                <a:solidFill>
                  <a:srgbClr val="17211D"/>
                </a:solidFill>
                <a:latin typeface="Arial"/>
              </a:rPr>
              <a:t>).</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Press </a:t>
            </a:r>
            <a:r>
              <a:rPr sz="1700" b="1" i="0">
                <a:solidFill>
                  <a:srgbClr val="17211D"/>
                </a:solidFill>
                <a:latin typeface="Arial"/>
              </a:rPr>
              <a:t>Confirm 3D model</a:t>
            </a:r>
            <a:r>
              <a:rPr sz="1700" b="0" i="0">
                <a:solidFill>
                  <a:srgbClr val="17211D"/>
                </a:solidFill>
                <a:latin typeface="Arial"/>
              </a:rPr>
              <a:t>. The walls turn see-through.</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Type the furniture's </a:t>
            </a:r>
            <a:r>
              <a:rPr sz="1700" b="1" i="0">
                <a:solidFill>
                  <a:srgbClr val="17211D"/>
                </a:solidFill>
                <a:latin typeface="Arial"/>
              </a:rPr>
              <a:t>length, width and height</a:t>
            </a:r>
            <a:r>
              <a:rPr sz="1700" b="0" i="0">
                <a:solidFill>
                  <a:srgbClr val="17211D"/>
                </a:solidFill>
                <a:latin typeface="Arial"/>
              </a:rPr>
              <a:t>. The </a:t>
            </a:r>
            <a:r>
              <a:rPr sz="1700" b="1" i="0">
                <a:solidFill>
                  <a:srgbClr val="2F9A5E"/>
                </a:solidFill>
                <a:latin typeface="Arial"/>
              </a:rPr>
              <a:t>green box</a:t>
            </a:r>
            <a:r>
              <a:rPr sz="1700" b="0" i="0">
                <a:solidFill>
                  <a:srgbClr val="17211D"/>
                </a:solidFill>
                <a:latin typeface="Arial"/>
              </a:rPr>
              <a:t> previews it.</a:t>
            </a:r>
          </a:p>
        </p:txBody>
      </p:sp>
      <p:sp>
        <p:nvSpPr>
          <p:cNvPr id="5" name="Rounded Rectangle 4"/>
          <p:cNvSpPr/>
          <p:nvPr/>
        </p:nvSpPr>
        <p:spPr>
          <a:xfrm>
            <a:off x="698500" y="4635500"/>
            <a:ext cx="4064000" cy="10160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0" i="0">
                <a:solidFill>
                  <a:srgbClr val="EAF5EE"/>
                </a:solidFill>
                <a:latin typeface="Arial"/>
              </a:rPr>
              <a:t>Only those two faces are doorways. Every other wall stays solid, so the furniture can't cheat.</a:t>
            </a:r>
          </a:p>
        </p:txBody>
      </p:sp>
      <p:sp>
        <p:nvSpPr>
          <p:cNvPr id="8" name="TextBox 7"/>
          <p:cNvSpPr txBox="1"/>
          <p:nvPr/>
        </p:nvSpPr>
        <p:spPr>
          <a:xfrm>
            <a:off x="5080000" y="4786207"/>
            <a:ext cx="3111500" cy="254000"/>
          </a:xfrm>
          <a:prstGeom prst="rect">
            <a:avLst/>
          </a:prstGeom>
          <a:noFill/>
        </p:spPr>
        <p:txBody>
          <a:bodyPr wrap="square" lIns="0" tIns="0" rIns="0" bIns="0" anchor="t">
            <a:spAutoFit/>
          </a:bodyPr>
          <a:lstStyle/>
          <a:p>
            <a:pPr algn="ctr">
              <a:lnSpc>
                <a:spcPct val="112000"/>
              </a:lnSpc>
              <a:spcAft>
                <a:spcPts val="0"/>
              </a:spcAft>
            </a:pPr>
            <a:r>
              <a:rPr sz="1500" b="1" i="0">
                <a:solidFill>
                  <a:srgbClr val="17211D"/>
                </a:solidFill>
                <a:latin typeface="Arial"/>
              </a:rPr>
              <a:t>Entrance and exit</a:t>
            </a:r>
          </a:p>
        </p:txBody>
      </p:sp>
      <p:sp>
        <p:nvSpPr>
          <p:cNvPr id="9" name="TextBox 8"/>
          <p:cNvSpPr txBox="1"/>
          <p:nvPr/>
        </p:nvSpPr>
        <p:spPr>
          <a:xfrm>
            <a:off x="8382000" y="4786207"/>
            <a:ext cx="3111500" cy="254000"/>
          </a:xfrm>
          <a:prstGeom prst="rect">
            <a:avLst/>
          </a:prstGeom>
          <a:noFill/>
        </p:spPr>
        <p:txBody>
          <a:bodyPr wrap="square" lIns="0" tIns="0" rIns="0" bIns="0" anchor="t">
            <a:spAutoFit/>
          </a:bodyPr>
          <a:lstStyle/>
          <a:p>
            <a:pPr algn="ctr">
              <a:lnSpc>
                <a:spcPct val="112000"/>
              </a:lnSpc>
              <a:spcAft>
                <a:spcPts val="0"/>
              </a:spcAft>
            </a:pPr>
            <a:r>
              <a:rPr sz="1500" b="1" i="0">
                <a:solidFill>
                  <a:srgbClr val="17211D"/>
                </a:solidFill>
                <a:latin typeface="Arial"/>
              </a:rPr>
              <a:t>Furniture preview</a:t>
            </a:r>
          </a:p>
        </p:txBody>
      </p:sp>
      <p:pic>
        <p:nvPicPr>
          <p:cNvPr id="10" name="Picture 9" descr="r_s7_open.jpg"/>
          <p:cNvPicPr>
            <a:picLocks noChangeAspect="1"/>
          </p:cNvPicPr>
          <p:nvPr/>
        </p:nvPicPr>
        <p:blipFill>
          <a:blip r:embed="rId5"/>
          <a:srcRect r="27037"/>
          <a:stretch>
            <a:fillRect/>
          </a:stretch>
        </p:blipFill>
        <p:spPr>
          <a:xfrm>
            <a:off x="5080000" y="2032000"/>
            <a:ext cx="3111500" cy="2665307"/>
          </a:xfrm>
          <a:prstGeom prst="rect">
            <a:avLst/>
          </a:prstGeom>
          <a:ln w="12700">
            <a:solidFill>
              <a:srgbClr val="CFD8D1"/>
            </a:solidFill>
          </a:ln>
        </p:spPr>
      </p:pic>
      <p:pic>
        <p:nvPicPr>
          <p:cNvPr id="11" name="Picture 10" descr="r_s7_open.jpg"/>
          <p:cNvPicPr>
            <a:picLocks noChangeAspect="1"/>
          </p:cNvPicPr>
          <p:nvPr/>
        </p:nvPicPr>
        <p:blipFill>
          <a:blip r:embed="rId5"/>
          <a:srcRect r="27037"/>
          <a:stretch>
            <a:fillRect/>
          </a:stretch>
        </p:blipFill>
        <p:spPr>
          <a:xfrm>
            <a:off x="8382000" y="2032000"/>
            <a:ext cx="3111500" cy="2665307"/>
          </a:xfrm>
          <a:prstGeom prst="rect">
            <a:avLst/>
          </a:prstGeom>
          <a:ln w="12700">
            <a:solidFill>
              <a:srgbClr val="CFD8D1"/>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2987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 4A</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Try it yourself first</a:t>
            </a:r>
          </a:p>
        </p:txBody>
      </p:sp>
      <p:sp>
        <p:nvSpPr>
          <p:cNvPr id="4" name="TextBox 3"/>
          <p:cNvSpPr txBox="1"/>
          <p:nvPr/>
        </p:nvSpPr>
        <p:spPr>
          <a:xfrm>
            <a:off x="698500" y="2032000"/>
            <a:ext cx="4064000" cy="2413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Press </a:t>
            </a:r>
            <a:r>
              <a:rPr sz="1700" b="1" i="0">
                <a:solidFill>
                  <a:srgbClr val="17211D"/>
                </a:solidFill>
                <a:latin typeface="Arial"/>
              </a:rPr>
              <a:t>Try manually</a:t>
            </a:r>
            <a:r>
              <a:rPr sz="1700" b="0" i="0">
                <a:solidFill>
                  <a:srgbClr val="17211D"/>
                </a:solidFill>
                <a:latin typeface="Arial"/>
              </a:rPr>
              <a:t>. The furniture starts outside the entrance.</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Hold </a:t>
            </a:r>
            <a:r>
              <a:rPr sz="1700" b="1" i="0">
                <a:solidFill>
                  <a:srgbClr val="17211D"/>
                </a:solidFill>
                <a:latin typeface="Courier New"/>
              </a:rPr>
              <a:t>M</a:t>
            </a:r>
            <a:r>
              <a:rPr sz="1700" b="0" i="0">
                <a:solidFill>
                  <a:srgbClr val="17211D"/>
                </a:solidFill>
                <a:latin typeface="Arial"/>
              </a:rPr>
              <a:t> and drag it through. Sliders tilt and lift it.</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Stuck? </a:t>
            </a:r>
            <a:r>
              <a:rPr sz="1700" b="1" i="0">
                <a:solidFill>
                  <a:srgbClr val="17211D"/>
                </a:solidFill>
                <a:latin typeface="Arial"/>
              </a:rPr>
              <a:t>Auto Pilot</a:t>
            </a:r>
            <a:r>
              <a:rPr sz="1700" b="0" i="0">
                <a:solidFill>
                  <a:srgbClr val="17211D"/>
                </a:solidFill>
                <a:latin typeface="Arial"/>
              </a:rPr>
              <a:t> lines it up for you.</a:t>
            </a:r>
          </a:p>
        </p:txBody>
      </p:sp>
      <p:sp>
        <p:nvSpPr>
          <p:cNvPr id="5" name="TextBox 4"/>
          <p:cNvSpPr txBox="1"/>
          <p:nvPr/>
        </p:nvSpPr>
        <p:spPr>
          <a:xfrm>
            <a:off x="698500" y="4699000"/>
            <a:ext cx="4064000" cy="254000"/>
          </a:xfrm>
          <a:prstGeom prst="rect">
            <a:avLst/>
          </a:prstGeom>
          <a:noFill/>
        </p:spPr>
        <p:txBody>
          <a:bodyPr wrap="square" lIns="0" tIns="0" rIns="0" bIns="0" anchor="t">
            <a:spAutoFit/>
          </a:bodyPr>
          <a:lstStyle/>
          <a:p>
            <a:pPr algn="l">
              <a:lnSpc>
                <a:spcPct val="112000"/>
              </a:lnSpc>
              <a:spcAft>
                <a:spcPts val="0"/>
              </a:spcAft>
            </a:pPr>
            <a:r>
              <a:rPr sz="1300" b="1" i="0">
                <a:solidFill>
                  <a:srgbClr val="2F9A5E"/>
                </a:solidFill>
                <a:latin typeface="Arial"/>
              </a:rPr>
              <a:t>■ legal</a:t>
            </a:r>
            <a:r>
              <a:rPr sz="1300" b="1" i="0">
                <a:solidFill>
                  <a:srgbClr val="B08A1E"/>
                </a:solidFill>
                <a:latin typeface="Arial"/>
              </a:rPr>
              <a:t>     ■ outside     </a:t>
            </a:r>
            <a:r>
              <a:rPr sz="1300" b="1" i="0">
                <a:solidFill>
                  <a:srgbClr val="D94D45"/>
                </a:solidFill>
                <a:latin typeface="Arial"/>
              </a:rPr>
              <a:t>■ collision</a:t>
            </a:r>
          </a:p>
        </p:txBody>
      </p:sp>
      <p:sp>
        <p:nvSpPr>
          <p:cNvPr id="6" name="Rounded Rectangle 5"/>
          <p:cNvSpPr/>
          <p:nvPr/>
        </p:nvSpPr>
        <p:spPr>
          <a:xfrm>
            <a:off x="698500" y="5080000"/>
            <a:ext cx="4064000" cy="698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0" i="0">
                <a:solidFill>
                  <a:srgbClr val="EAF5EE"/>
                </a:solidFill>
                <a:latin typeface="Arial"/>
              </a:rPr>
              <a:t>Reach the exit and </a:t>
            </a:r>
            <a:r>
              <a:rPr sz="1400" b="1" i="0">
                <a:solidFill>
                  <a:srgbClr val="D6EF5B"/>
                </a:solidFill>
                <a:latin typeface="Arial"/>
              </a:rPr>
              <a:t>you win</a:t>
            </a:r>
            <a:r>
              <a:rPr sz="1400" b="0" i="0">
                <a:solidFill>
                  <a:srgbClr val="EAF5EE"/>
                </a:solidFill>
                <a:latin typeface="Arial"/>
              </a:rPr>
              <a:t>. A pop-up tells you.</a:t>
            </a:r>
          </a:p>
        </p:txBody>
      </p:sp>
      <p:pic>
        <p:nvPicPr>
          <p:cNvPr id="7" name="Picture 6" descr="r_s8_manual2.jpg"/>
          <p:cNvPicPr>
            <a:picLocks noChangeAspect="1"/>
          </p:cNvPicPr>
          <p:nvPr/>
        </p:nvPicPr>
        <p:blipFill>
          <a:blip r:embed="rId5"/>
          <a:stretch>
            <a:fillRect/>
          </a:stretch>
        </p:blipFill>
        <p:spPr>
          <a:xfrm>
            <a:off x="5080000" y="1841500"/>
            <a:ext cx="6413500" cy="4008437"/>
          </a:xfrm>
          <a:prstGeom prst="rect">
            <a:avLst/>
          </a:prstGeom>
          <a:ln w="12700">
            <a:solidFill>
              <a:srgbClr val="CFD8D1"/>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2987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 4B</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Now let the solver try</a:t>
            </a:r>
          </a:p>
        </p:txBody>
      </p:sp>
      <p:pic>
        <p:nvPicPr>
          <p:cNvPr id="4" name="Picture 3" descr="r_s9_fail.jpg"/>
          <p:cNvPicPr>
            <a:picLocks noChangeAspect="1"/>
          </p:cNvPicPr>
          <p:nvPr/>
        </p:nvPicPr>
        <p:blipFill>
          <a:blip r:embed="rId5"/>
          <a:srcRect/>
          <a:stretch>
            <a:fillRect/>
          </a:stretch>
        </p:blipFill>
        <p:spPr>
          <a:xfrm>
            <a:off x="698500" y="1841500"/>
            <a:ext cx="3657600" cy="2286000"/>
          </a:xfrm>
          <a:prstGeom prst="rect">
            <a:avLst/>
          </a:prstGeom>
          <a:ln w="12700">
            <a:solidFill>
              <a:srgbClr val="CFD8D1"/>
            </a:solidFill>
          </a:ln>
        </p:spPr>
      </p:pic>
      <p:sp>
        <p:nvSpPr>
          <p:cNvPr id="5" name="TextBox 4"/>
          <p:cNvSpPr txBox="1"/>
          <p:nvPr/>
        </p:nvSpPr>
        <p:spPr>
          <a:xfrm>
            <a:off x="698500" y="4216400"/>
            <a:ext cx="3657600" cy="381000"/>
          </a:xfrm>
          <a:prstGeom prst="rect">
            <a:avLst/>
          </a:prstGeom>
          <a:noFill/>
        </p:spPr>
        <p:txBody>
          <a:bodyPr wrap="square" lIns="0" rIns="0" tIns="0" bIns="0" anchor="t">
            <a:spAutoFit/>
          </a:bodyPr>
          <a:lstStyle/>
          <a:p>
            <a:pPr algn="ctr">
              <a:lnSpc>
                <a:spcPct val="112000"/>
              </a:lnSpc>
              <a:spcAft>
                <a:spcPts val="0"/>
              </a:spcAft>
            </a:pPr>
            <a:r>
              <a:rPr sz="1600" b="1" i="0">
                <a:solidFill>
                  <a:srgbClr val="D94D45"/>
                </a:solidFill>
                <a:latin typeface="Arial"/>
              </a:rPr>
              <a:t>Roll sampling OFF:  No route found</a:t>
            </a:r>
          </a:p>
        </p:txBody>
      </p:sp>
      <p:pic>
        <p:nvPicPr>
          <p:cNvPr id="6" name="Picture 5" descr="r_s9_ok.jpg"/>
          <p:cNvPicPr>
            <a:picLocks noChangeAspect="1"/>
          </p:cNvPicPr>
          <p:nvPr/>
        </p:nvPicPr>
        <p:blipFill>
          <a:blip r:embed="rId6"/>
          <a:srcRect/>
          <a:stretch>
            <a:fillRect/>
          </a:stretch>
        </p:blipFill>
        <p:spPr>
          <a:xfrm>
            <a:off x="4761653" y="1841500"/>
            <a:ext cx="3657600" cy="2286000"/>
          </a:xfrm>
          <a:prstGeom prst="rect">
            <a:avLst/>
          </a:prstGeom>
          <a:ln w="12700">
            <a:solidFill>
              <a:srgbClr val="CFD8D1"/>
            </a:solidFill>
          </a:ln>
        </p:spPr>
      </p:pic>
      <p:sp>
        <p:nvSpPr>
          <p:cNvPr id="7" name="TextBox 6"/>
          <p:cNvSpPr txBox="1"/>
          <p:nvPr/>
        </p:nvSpPr>
        <p:spPr>
          <a:xfrm>
            <a:off x="4761653" y="4216400"/>
            <a:ext cx="3657600" cy="381000"/>
          </a:xfrm>
          <a:prstGeom prst="rect">
            <a:avLst/>
          </a:prstGeom>
          <a:noFill/>
        </p:spPr>
        <p:txBody>
          <a:bodyPr wrap="square" lIns="0" rIns="0" tIns="0" bIns="0" anchor="t">
            <a:spAutoFit/>
          </a:bodyPr>
          <a:lstStyle/>
          <a:p>
            <a:pPr algn="ctr">
              <a:lnSpc>
                <a:spcPct val="112000"/>
              </a:lnSpc>
              <a:spcAft>
                <a:spcPts val="0"/>
              </a:spcAft>
            </a:pPr>
            <a:r>
              <a:rPr sz="1600" b="1" i="0">
                <a:solidFill>
                  <a:srgbClr val="2F9A5E"/>
                </a:solidFill>
                <a:latin typeface="Arial"/>
              </a:rPr>
              <a:t>Roll sampling ON (default):  It fits!</a:t>
            </a:r>
          </a:p>
        </p:txBody>
      </p:sp>
      <p:pic>
        <p:nvPicPr>
          <p:cNvPr id="8" name="Picture 7" descr="r_s9_f80.jpg"/>
          <p:cNvPicPr>
            <a:picLocks noChangeAspect="1"/>
          </p:cNvPicPr>
          <p:nvPr/>
        </p:nvPicPr>
        <p:blipFill>
          <a:blip r:embed="rId7"/>
          <a:srcRect r="27037"/>
          <a:stretch>
            <a:fillRect/>
          </a:stretch>
        </p:blipFill>
        <p:spPr>
          <a:xfrm>
            <a:off x="8824806" y="1841500"/>
            <a:ext cx="2668693" cy="2286000"/>
          </a:xfrm>
          <a:prstGeom prst="rect">
            <a:avLst/>
          </a:prstGeom>
          <a:ln w="12700">
            <a:solidFill>
              <a:srgbClr val="CFD8D1"/>
            </a:solidFill>
          </a:ln>
        </p:spPr>
      </p:pic>
      <p:sp>
        <p:nvSpPr>
          <p:cNvPr id="9" name="TextBox 8"/>
          <p:cNvSpPr txBox="1"/>
          <p:nvPr/>
        </p:nvSpPr>
        <p:spPr>
          <a:xfrm>
            <a:off x="8824806" y="4216400"/>
            <a:ext cx="2668693" cy="381000"/>
          </a:xfrm>
          <a:prstGeom prst="rect">
            <a:avLst/>
          </a:prstGeom>
          <a:noFill/>
        </p:spPr>
        <p:txBody>
          <a:bodyPr wrap="square" lIns="0" rIns="0" tIns="0" bIns="0" anchor="t">
            <a:spAutoFit/>
          </a:bodyPr>
          <a:lstStyle/>
          <a:p>
            <a:pPr algn="ctr">
              <a:lnSpc>
                <a:spcPct val="112000"/>
              </a:lnSpc>
              <a:spcAft>
                <a:spcPts val="0"/>
              </a:spcAft>
            </a:pPr>
            <a:r>
              <a:rPr sz="1600" b="1" i="0">
                <a:solidFill>
                  <a:srgbClr val="17211D"/>
                </a:solidFill>
                <a:latin typeface="Arial"/>
              </a:rPr>
              <a:t>The sofa rolls through the stairs</a:t>
            </a:r>
          </a:p>
        </p:txBody>
      </p:sp>
      <p:sp>
        <p:nvSpPr>
          <p:cNvPr id="10" name="Rounded Rectangle 9"/>
          <p:cNvSpPr/>
          <p:nvPr/>
        </p:nvSpPr>
        <p:spPr>
          <a:xfrm>
            <a:off x="698500" y="4889500"/>
            <a:ext cx="6731000" cy="12700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101600" bIns="101600"/>
          <a:lstStyle/>
          <a:p>
            <a:pPr algn="l">
              <a:lnSpc>
                <a:spcPct val="110000"/>
              </a:lnSpc>
            </a:pPr>
            <a:r>
              <a:rPr sz="1500" b="0" i="0">
                <a:solidFill>
                  <a:srgbClr val="EAF5EE"/>
                </a:solidFill>
                <a:latin typeface="Arial"/>
              </a:rPr>
              <a:t>Same building, same sofa, one checkbox. Allow roll sampling is on by default. It lets the planner roll the sofa as well as tilt and turn it, and in tight stairs that's what finds the way. Turn it off and the search fails. "No route found" never proves it's impossible, so change a setting and try again.</a:t>
            </a:r>
            <a:r>
              <a:rPr sz="1500" b="1" i="0">
                <a:solidFill>
                  <a:srgbClr val="D6EF5B"/>
                </a:solidFill>
                <a:latin typeface="Arial"/>
              </a:rPr>
              <a:t/>
            </a:r>
            <a:r>
              <a:rPr sz="1500" b="0" i="0">
                <a:solidFill>
                  <a:srgbClr val="EAF5EE"/>
                </a:solidFill>
                <a:latin typeface="Arial"/>
              </a:rPr>
              <a:t/>
            </a:r>
            <a:r>
              <a:rPr sz="1500" b="1" i="0">
                <a:solidFill>
                  <a:srgbClr val="D6EF5B"/>
                </a:solidFill>
                <a:latin typeface="Arial"/>
              </a:rPr>
              <a:t/>
            </a:r>
            <a:r>
              <a:rPr sz="1500" b="0" i="0">
                <a:solidFill>
                  <a:srgbClr val="EAF5EE"/>
                </a:solidFill>
                <a:latin typeface="Arial"/>
              </a:rPr>
              <a:t/>
            </a:r>
          </a:p>
        </p:txBody>
      </p:sp>
      <p:pic>
        <p:nvPicPr>
          <p:cNvPr id="11" name="Picture 10" descr="r_s9_f80.jpg"/>
          <p:cNvPicPr>
            <a:picLocks noChangeAspect="1"/>
          </p:cNvPicPr>
          <p:nvPr/>
        </p:nvPicPr>
        <p:blipFill>
          <a:blip r:embed="rId7"/>
          <a:srcRect l="75231" r="1620" t="60000" b="14815"/>
          <a:stretch>
            <a:fillRect/>
          </a:stretch>
        </p:blipFill>
        <p:spPr>
          <a:xfrm>
            <a:off x="7937500" y="4889500"/>
            <a:ext cx="2413000" cy="1640840"/>
          </a:xfrm>
          <a:prstGeom prst="rect">
            <a:avLst/>
          </a:prstGeom>
          <a:ln w="12700">
            <a:solidFill>
              <a:srgbClr val="CFD8D1"/>
            </a:solidFill>
          </a:ln>
        </p:spPr>
      </p:pic>
      <p:sp>
        <p:nvSpPr>
          <p:cNvPr id="12" name="TextBox 11"/>
          <p:cNvSpPr txBox="1"/>
          <p:nvPr/>
        </p:nvSpPr>
        <p:spPr>
          <a:xfrm>
            <a:off x="7937500" y="6581140"/>
            <a:ext cx="2413000" cy="190500"/>
          </a:xfrm>
          <a:prstGeom prst="rect">
            <a:avLst/>
          </a:prstGeom>
          <a:noFill/>
        </p:spPr>
        <p:txBody>
          <a:bodyPr wrap="square" lIns="0" rIns="0" tIns="0" bIns="0" anchor="t">
            <a:spAutoFit/>
          </a:bodyPr>
          <a:lstStyle/>
          <a:p>
            <a:pPr algn="ctr">
              <a:lnSpc>
                <a:spcPct val="112000"/>
              </a:lnSpc>
              <a:spcAft>
                <a:spcPts val="0"/>
              </a:spcAft>
            </a:pPr>
            <a:r>
              <a:rPr sz="1200" b="1" i="0">
                <a:solidFill>
                  <a:srgbClr val="5D6963"/>
                </a:solidFill>
                <a:latin typeface="Arial"/>
              </a:rPr>
              <a:t>Solve settings in the app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B5A45"/>
            </a:gs>
            <a:gs pos="100000">
              <a:srgbClr val="08140F"/>
            </a:gs>
          </a:gsLst>
          <a:lin ang="19500000" scaled="0"/>
        </a:gra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866900" cy="2921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UNDER THE HOOD</a:t>
            </a:r>
          </a:p>
        </p:txBody>
      </p:sp>
      <p:sp>
        <p:nvSpPr>
          <p:cNvPr id="3" name="TextBox 2"/>
          <p:cNvSpPr txBox="1"/>
          <p:nvPr/>
        </p:nvSpPr>
        <p:spPr>
          <a:xfrm>
            <a:off x="698500" y="1587500"/>
            <a:ext cx="10795000" cy="2339102"/>
          </a:xfrm>
          <a:prstGeom prst="rect">
            <a:avLst/>
          </a:prstGeom>
          <a:noFill/>
        </p:spPr>
        <p:txBody>
          <a:bodyPr wrap="square" lIns="0" tIns="0" rIns="0" bIns="0" anchor="t">
            <a:spAutoFit/>
          </a:bodyPr>
          <a:lstStyle/>
          <a:p>
            <a:pPr algn="l">
              <a:lnSpc>
                <a:spcPct val="95000"/>
              </a:lnSpc>
              <a:spcAft>
                <a:spcPts val="0"/>
              </a:spcAft>
            </a:pPr>
            <a:r>
              <a:rPr sz="8000" b="1" i="0" dirty="0">
                <a:solidFill>
                  <a:srgbClr val="EEF5F0"/>
                </a:solidFill>
                <a:latin typeface="Arial"/>
              </a:rPr>
              <a:t>How does it</a:t>
            </a:r>
          </a:p>
          <a:p>
            <a:pPr algn="l">
              <a:lnSpc>
                <a:spcPct val="95000"/>
              </a:lnSpc>
              <a:spcAft>
                <a:spcPts val="0"/>
              </a:spcAft>
            </a:pPr>
            <a:r>
              <a:rPr sz="8000" b="1" i="0" dirty="0">
                <a:solidFill>
                  <a:srgbClr val="D6EF5B"/>
                </a:solidFill>
                <a:latin typeface="Arial"/>
              </a:rPr>
              <a:t>actually </a:t>
            </a:r>
            <a:r>
              <a:rPr lang="en-US" sz="8000" b="1" dirty="0">
                <a:solidFill>
                  <a:srgbClr val="D6EF5B"/>
                </a:solidFill>
                <a:latin typeface="Arial"/>
              </a:rPr>
              <a:t>work</a:t>
            </a:r>
            <a:r>
              <a:rPr sz="8000" b="1" i="0" dirty="0">
                <a:solidFill>
                  <a:srgbClr val="D6EF5B"/>
                </a:solidFill>
                <a:latin typeface="Arial"/>
              </a:rPr>
              <a:t>?</a:t>
            </a:r>
          </a:p>
        </p:txBody>
      </p:sp>
      <p:sp>
        <p:nvSpPr>
          <p:cNvPr id="4" name="Rounded Rectangle 3"/>
          <p:cNvSpPr/>
          <p:nvPr/>
        </p:nvSpPr>
        <p:spPr>
          <a:xfrm>
            <a:off x="698500" y="4318000"/>
            <a:ext cx="3429000" cy="13970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39800" y="4603750"/>
            <a:ext cx="2921000" cy="317500"/>
          </a:xfrm>
          <a:prstGeom prst="rect">
            <a:avLst/>
          </a:prstGeom>
          <a:noFill/>
        </p:spPr>
        <p:txBody>
          <a:bodyPr wrap="square" lIns="0" tIns="0" rIns="0" bIns="0" anchor="t">
            <a:spAutoFit/>
          </a:bodyPr>
          <a:lstStyle/>
          <a:p>
            <a:pPr algn="l">
              <a:lnSpc>
                <a:spcPct val="112000"/>
              </a:lnSpc>
              <a:spcAft>
                <a:spcPts val="0"/>
              </a:spcAft>
            </a:pPr>
            <a:r>
              <a:rPr sz="2200" b="1" i="0">
                <a:solidFill>
                  <a:srgbClr val="D6EF5B"/>
                </a:solidFill>
                <a:latin typeface="Arial"/>
              </a:rPr>
              <a:t>1 · Pose</a:t>
            </a:r>
          </a:p>
        </p:txBody>
      </p:sp>
      <p:sp>
        <p:nvSpPr>
          <p:cNvPr id="6" name="TextBox 5"/>
          <p:cNvSpPr txBox="1"/>
          <p:nvPr/>
        </p:nvSpPr>
        <p:spPr>
          <a:xfrm>
            <a:off x="939800" y="5080000"/>
            <a:ext cx="2921000" cy="508000"/>
          </a:xfrm>
          <a:prstGeom prst="rect">
            <a:avLst/>
          </a:prstGeom>
          <a:noFill/>
        </p:spPr>
        <p:txBody>
          <a:bodyPr wrap="square" lIns="0" tIns="0" rIns="0" bIns="0" anchor="t">
            <a:spAutoFit/>
          </a:bodyPr>
          <a:lstStyle/>
          <a:p>
            <a:pPr algn="l">
              <a:lnSpc>
                <a:spcPct val="112000"/>
              </a:lnSpc>
              <a:spcAft>
                <a:spcPts val="0"/>
              </a:spcAft>
            </a:pPr>
            <a:r>
              <a:rPr sz="1700" b="0" i="0">
                <a:solidFill>
                  <a:srgbClr val="C9DAD1"/>
                </a:solidFill>
                <a:latin typeface="Arial"/>
              </a:rPr>
              <a:t>How is a position stored?</a:t>
            </a:r>
          </a:p>
        </p:txBody>
      </p:sp>
      <p:sp>
        <p:nvSpPr>
          <p:cNvPr id="7" name="Rounded Rectangle 6"/>
          <p:cNvSpPr/>
          <p:nvPr/>
        </p:nvSpPr>
        <p:spPr>
          <a:xfrm>
            <a:off x="4381500" y="4318000"/>
            <a:ext cx="3429000" cy="13970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22800" y="4603750"/>
            <a:ext cx="2921000" cy="317500"/>
          </a:xfrm>
          <a:prstGeom prst="rect">
            <a:avLst/>
          </a:prstGeom>
          <a:noFill/>
        </p:spPr>
        <p:txBody>
          <a:bodyPr wrap="square" lIns="0" tIns="0" rIns="0" bIns="0" anchor="t">
            <a:spAutoFit/>
          </a:bodyPr>
          <a:lstStyle/>
          <a:p>
            <a:pPr algn="l">
              <a:lnSpc>
                <a:spcPct val="112000"/>
              </a:lnSpc>
              <a:spcAft>
                <a:spcPts val="0"/>
              </a:spcAft>
            </a:pPr>
            <a:r>
              <a:rPr sz="2200" b="1" i="0">
                <a:solidFill>
                  <a:srgbClr val="D6EF5B"/>
                </a:solidFill>
                <a:latin typeface="Arial"/>
              </a:rPr>
              <a:t>2 · Collision</a:t>
            </a:r>
          </a:p>
        </p:txBody>
      </p:sp>
      <p:sp>
        <p:nvSpPr>
          <p:cNvPr id="9" name="TextBox 8"/>
          <p:cNvSpPr txBox="1"/>
          <p:nvPr/>
        </p:nvSpPr>
        <p:spPr>
          <a:xfrm>
            <a:off x="4622800" y="5080000"/>
            <a:ext cx="2921000" cy="508000"/>
          </a:xfrm>
          <a:prstGeom prst="rect">
            <a:avLst/>
          </a:prstGeom>
          <a:noFill/>
        </p:spPr>
        <p:txBody>
          <a:bodyPr wrap="square" lIns="0" tIns="0" rIns="0" bIns="0" anchor="t">
            <a:spAutoFit/>
          </a:bodyPr>
          <a:lstStyle/>
          <a:p>
            <a:pPr algn="l">
              <a:lnSpc>
                <a:spcPct val="112000"/>
              </a:lnSpc>
              <a:spcAft>
                <a:spcPts val="0"/>
              </a:spcAft>
            </a:pPr>
            <a:r>
              <a:rPr sz="1700" b="0" i="0">
                <a:solidFill>
                  <a:srgbClr val="C9DAD1"/>
                </a:solidFill>
                <a:latin typeface="Arial"/>
              </a:rPr>
              <a:t>How do we know it's legal?</a:t>
            </a:r>
          </a:p>
        </p:txBody>
      </p:sp>
      <p:sp>
        <p:nvSpPr>
          <p:cNvPr id="10" name="Rounded Rectangle 9"/>
          <p:cNvSpPr/>
          <p:nvPr/>
        </p:nvSpPr>
        <p:spPr>
          <a:xfrm>
            <a:off x="8064500" y="4318000"/>
            <a:ext cx="3429000" cy="13970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05800" y="4603750"/>
            <a:ext cx="2921000" cy="317500"/>
          </a:xfrm>
          <a:prstGeom prst="rect">
            <a:avLst/>
          </a:prstGeom>
          <a:noFill/>
        </p:spPr>
        <p:txBody>
          <a:bodyPr wrap="square" lIns="0" tIns="0" rIns="0" bIns="0" anchor="t">
            <a:spAutoFit/>
          </a:bodyPr>
          <a:lstStyle/>
          <a:p>
            <a:pPr algn="l">
              <a:lnSpc>
                <a:spcPct val="112000"/>
              </a:lnSpc>
              <a:spcAft>
                <a:spcPts val="0"/>
              </a:spcAft>
            </a:pPr>
            <a:r>
              <a:rPr sz="2200" b="1" i="0">
                <a:solidFill>
                  <a:srgbClr val="D6EF5B"/>
                </a:solidFill>
                <a:latin typeface="Arial"/>
              </a:rPr>
              <a:t>3 · Search</a:t>
            </a:r>
          </a:p>
        </p:txBody>
      </p:sp>
      <p:sp>
        <p:nvSpPr>
          <p:cNvPr id="12" name="TextBox 11"/>
          <p:cNvSpPr txBox="1"/>
          <p:nvPr/>
        </p:nvSpPr>
        <p:spPr>
          <a:xfrm>
            <a:off x="8305800" y="5080000"/>
            <a:ext cx="2921000" cy="508000"/>
          </a:xfrm>
          <a:prstGeom prst="rect">
            <a:avLst/>
          </a:prstGeom>
          <a:noFill/>
        </p:spPr>
        <p:txBody>
          <a:bodyPr wrap="square" lIns="0" tIns="0" rIns="0" bIns="0" anchor="t">
            <a:spAutoFit/>
          </a:bodyPr>
          <a:lstStyle/>
          <a:p>
            <a:pPr algn="l">
              <a:lnSpc>
                <a:spcPct val="112000"/>
              </a:lnSpc>
              <a:spcAft>
                <a:spcPts val="0"/>
              </a:spcAft>
            </a:pPr>
            <a:r>
              <a:rPr sz="1700" b="0" i="0">
                <a:solidFill>
                  <a:srgbClr val="C9DAD1"/>
                </a:solidFill>
                <a:latin typeface="Arial"/>
              </a:rPr>
              <a:t>How do we find a path?</a:t>
            </a:r>
          </a:p>
        </p:txBody>
      </p:sp>
      <p:pic>
        <p:nvPicPr>
          <p:cNvPr id="21" name="Audio 20">
            <a:extLst>
              <a:ext uri="{FF2B5EF4-FFF2-40B4-BE49-F238E27FC236}">
                <a16:creationId xmlns:a16="http://schemas.microsoft.com/office/drawing/2014/main" id="{7D960516-4E07-9F1E-A81A-A06441009C9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6446"/>
    </mc:Choice>
    <mc:Fallback xmlns="">
      <p:transition spd="slow" advTm="164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1</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A position is </a:t>
            </a:r>
            <a:r>
              <a:rPr sz="3800" b="1" i="0">
                <a:solidFill>
                  <a:srgbClr val="166B50"/>
                </a:solidFill>
                <a:latin typeface="Arial"/>
              </a:rPr>
              <a:t>six numbers</a:t>
            </a:r>
          </a:p>
        </p:txBody>
      </p:sp>
      <p:sp>
        <p:nvSpPr>
          <p:cNvPr id="4" name="Rounded Rectangle 3"/>
          <p:cNvSpPr/>
          <p:nvPr/>
        </p:nvSpPr>
        <p:spPr>
          <a:xfrm>
            <a:off x="698500" y="2095500"/>
            <a:ext cx="4445000" cy="1270000"/>
          </a:xfrm>
          <a:prstGeom prst="roundRect">
            <a:avLst>
              <a:gd name="adj" fmla="val 8000"/>
            </a:avLst>
          </a:prstGeom>
          <a:solidFill>
            <a:srgbClr val="0F1C17"/>
          </a:solidFill>
          <a:ln>
            <a:noFill/>
          </a:ln>
          <a:effectLst/>
        </p:spPr>
        <p:style>
          <a:lnRef idx="1">
            <a:schemeClr val="accent1"/>
          </a:lnRef>
          <a:fillRef idx="3">
            <a:schemeClr val="accent1"/>
          </a:fillRef>
          <a:effectRef idx="2">
            <a:schemeClr val="accent1"/>
          </a:effectRef>
          <a:fontRef idx="minor">
            <a:schemeClr val="lt1"/>
          </a:fontRef>
        </p:style>
        <p:txBody>
          <a:bodyPr wrap="square" lIns="279400" rtlCol="0" anchor="ctr"/>
          <a:lstStyle/>
          <a:p>
            <a:pPr algn="l"/>
            <a:r>
              <a:rPr sz="2000" b="0" i="0">
                <a:solidFill>
                  <a:srgbClr val="6F8F80"/>
                </a:solidFill>
                <a:latin typeface="Courier New"/>
              </a:rPr>
              <a:t>// furniture pose</a:t>
            </a:r>
          </a:p>
          <a:p>
            <a:pPr algn="l"/>
            <a:r>
              <a:rPr sz="2000" b="0" i="0">
                <a:solidFill>
                  <a:srgbClr val="D7EFE2"/>
                </a:solidFill>
                <a:latin typeface="Courier New"/>
              </a:rPr>
              <a:t>{ x, y, z,</a:t>
            </a:r>
          </a:p>
          <a:p>
            <a:pPr algn="l"/>
            <a:r>
              <a:rPr sz="2000" b="0" i="0">
                <a:solidFill>
                  <a:srgbClr val="D7EFE2"/>
                </a:solidFill>
                <a:latin typeface="Courier New"/>
              </a:rPr>
              <a:t>  yaw, pitch, roll }</a:t>
            </a:r>
          </a:p>
        </p:txBody>
      </p:sp>
      <p:sp>
        <p:nvSpPr>
          <p:cNvPr id="5" name="TextBox 4"/>
          <p:cNvSpPr txBox="1"/>
          <p:nvPr/>
        </p:nvSpPr>
        <p:spPr>
          <a:xfrm>
            <a:off x="698500" y="3683000"/>
            <a:ext cx="4826000" cy="20955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Char char="■"/>
            </a:pPr>
            <a:r>
              <a:rPr sz="1600" b="0" i="0" dirty="0">
                <a:solidFill>
                  <a:srgbClr val="17211D"/>
                </a:solidFill>
                <a:latin typeface="Arial"/>
              </a:rPr>
              <a:t>3 to translate, 3 to rotate</a:t>
            </a:r>
          </a:p>
          <a:p>
            <a:pPr marL="457200" indent="-457200">
              <a:lnSpc>
                <a:spcPct val="108000"/>
              </a:lnSpc>
              <a:spcAft>
                <a:spcPts val="1400"/>
              </a:spcAft>
              <a:buClr>
                <a:srgbClr val="166B50"/>
              </a:buClr>
              <a:buSzPct val="100000"/>
              <a:buFont typeface="Arial"/>
              <a:buChar char="■"/>
            </a:pPr>
            <a:r>
              <a:rPr sz="1600" b="0" i="0" dirty="0">
                <a:solidFill>
                  <a:srgbClr val="17211D"/>
                </a:solidFill>
                <a:latin typeface="Arial"/>
              </a:rPr>
              <a:t>Rotations use Euler order </a:t>
            </a:r>
            <a:r>
              <a:rPr sz="1600" b="1" i="0" dirty="0">
                <a:solidFill>
                  <a:srgbClr val="17211D"/>
                </a:solidFill>
                <a:latin typeface="Courier New"/>
              </a:rPr>
              <a:t>ZYX</a:t>
            </a:r>
            <a:r>
              <a:rPr sz="1600" b="0" i="0" dirty="0">
                <a:solidFill>
                  <a:srgbClr val="17211D"/>
                </a:solidFill>
                <a:latin typeface="Arial"/>
              </a:rPr>
              <a:t>, converted to a </a:t>
            </a:r>
            <a:r>
              <a:rPr sz="1600" b="1" i="0" dirty="0">
                <a:solidFill>
                  <a:srgbClr val="17211D"/>
                </a:solidFill>
                <a:latin typeface="Arial"/>
              </a:rPr>
              <a:t>quaternion</a:t>
            </a:r>
          </a:p>
          <a:p>
            <a:pPr marL="457200" indent="-457200">
              <a:lnSpc>
                <a:spcPct val="108000"/>
              </a:lnSpc>
              <a:spcAft>
                <a:spcPts val="1400"/>
              </a:spcAft>
              <a:buClr>
                <a:srgbClr val="166B50"/>
              </a:buClr>
              <a:buSzPct val="100000"/>
              <a:buFont typeface="Arial"/>
              <a:buChar char="■"/>
            </a:pPr>
            <a:r>
              <a:rPr sz="1600" b="1" i="0" dirty="0">
                <a:solidFill>
                  <a:srgbClr val="17211D"/>
                </a:solidFill>
                <a:latin typeface="Arial"/>
              </a:rPr>
              <a:t>Allow roll sampling</a:t>
            </a:r>
            <a:r>
              <a:rPr sz="1600" b="0" i="0" dirty="0">
                <a:solidFill>
                  <a:srgbClr val="17211D"/>
                </a:solidFill>
                <a:latin typeface="Arial"/>
              </a:rPr>
              <a:t> off? The search drops to 5-D — faster</a:t>
            </a:r>
          </a:p>
        </p:txBody>
      </p:sp>
      <p:pic>
        <p:nvPicPr>
          <p:cNvPr id="6" name="Picture 5" descr="d10.png"/>
          <p:cNvPicPr>
            <a:picLocks noChangeAspect="1"/>
          </p:cNvPicPr>
          <p:nvPr/>
        </p:nvPicPr>
        <p:blipFill>
          <a:blip r:embed="rId5"/>
          <a:stretch>
            <a:fillRect/>
          </a:stretch>
        </p:blipFill>
        <p:spPr>
          <a:xfrm>
            <a:off x="6096000" y="1905000"/>
            <a:ext cx="5397500" cy="4318000"/>
          </a:xfrm>
          <a:prstGeom prst="rect">
            <a:avLst/>
          </a:prstGeom>
        </p:spPr>
      </p:pic>
      <p:pic>
        <p:nvPicPr>
          <p:cNvPr id="22" name="Audio 21">
            <a:extLst>
              <a:ext uri="{FF2B5EF4-FFF2-40B4-BE49-F238E27FC236}">
                <a16:creationId xmlns:a16="http://schemas.microsoft.com/office/drawing/2014/main" id="{B6472139-475B-E937-AAC7-7087453EEE6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0393"/>
    </mc:Choice>
    <mc:Fallback xmlns="">
      <p:transition spd="slow" advTm="403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2</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Is this pose </a:t>
            </a:r>
            <a:r>
              <a:rPr sz="3800" b="1" i="0">
                <a:solidFill>
                  <a:srgbClr val="166B50"/>
                </a:solidFill>
                <a:latin typeface="Arial"/>
              </a:rPr>
              <a:t>legal?</a:t>
            </a:r>
          </a:p>
        </p:txBody>
      </p:sp>
      <p:sp>
        <p:nvSpPr>
          <p:cNvPr id="4" name="TextBox 3"/>
          <p:cNvSpPr txBox="1"/>
          <p:nvPr/>
        </p:nvSpPr>
        <p:spPr>
          <a:xfrm>
            <a:off x="1016000" y="2870752"/>
            <a:ext cx="5080000" cy="1576778"/>
          </a:xfrm>
          <a:prstGeom prst="rect">
            <a:avLst/>
          </a:prstGeom>
          <a:noFill/>
        </p:spPr>
        <p:txBody>
          <a:bodyPr wrap="square" lIns="0" tIns="0" rIns="0" bIns="0">
            <a:spAutoFit/>
          </a:bodyPr>
          <a:lstStyle/>
          <a:p>
            <a:pPr marL="457200" indent="-457200">
              <a:lnSpc>
                <a:spcPct val="108000"/>
              </a:lnSpc>
              <a:spcAft>
                <a:spcPts val="1200"/>
              </a:spcAft>
              <a:buClr>
                <a:srgbClr val="166B50"/>
              </a:buClr>
              <a:buSzPct val="100000"/>
              <a:buFont typeface="Arial"/>
              <a:buChar char="■"/>
            </a:pPr>
            <a:r>
              <a:rPr sz="1550" b="1" i="0" dirty="0">
                <a:solidFill>
                  <a:srgbClr val="17211D"/>
                </a:solidFill>
                <a:latin typeface="Arial"/>
              </a:rPr>
              <a:t>Every</a:t>
            </a:r>
            <a:r>
              <a:rPr sz="1550" b="0" i="0" dirty="0">
                <a:solidFill>
                  <a:srgbClr val="17211D"/>
                </a:solidFill>
                <a:latin typeface="Arial"/>
              </a:rPr>
              <a:t> point must be inside the room</a:t>
            </a:r>
          </a:p>
          <a:p>
            <a:pPr marL="457200" indent="-457200">
              <a:lnSpc>
                <a:spcPct val="108000"/>
              </a:lnSpc>
              <a:spcAft>
                <a:spcPts val="1200"/>
              </a:spcAft>
              <a:buClr>
                <a:srgbClr val="166B50"/>
              </a:buClr>
              <a:buSzPct val="100000"/>
              <a:buFont typeface="Arial"/>
              <a:buChar char="■"/>
            </a:pPr>
            <a:r>
              <a:rPr sz="1550" b="0" i="0" dirty="0">
                <a:solidFill>
                  <a:srgbClr val="17211D"/>
                </a:solidFill>
                <a:latin typeface="Arial"/>
              </a:rPr>
              <a:t>Between two poses we </a:t>
            </a:r>
            <a:r>
              <a:rPr sz="1550" b="1" i="0" dirty="0">
                <a:solidFill>
                  <a:srgbClr val="17211D"/>
                </a:solidFill>
                <a:latin typeface="Arial"/>
              </a:rPr>
              <a:t>interpolate</a:t>
            </a:r>
            <a:r>
              <a:rPr sz="1550" b="0" i="0" dirty="0">
                <a:solidFill>
                  <a:srgbClr val="17211D"/>
                </a:solidFill>
                <a:latin typeface="Arial"/>
              </a:rPr>
              <a:t> and check every step</a:t>
            </a:r>
          </a:p>
          <a:p>
            <a:pPr marL="457200" indent="-457200">
              <a:lnSpc>
                <a:spcPct val="108000"/>
              </a:lnSpc>
              <a:spcAft>
                <a:spcPts val="1200"/>
              </a:spcAft>
              <a:buClr>
                <a:srgbClr val="166B50"/>
              </a:buClr>
              <a:buSzPct val="100000"/>
              <a:buFont typeface="Arial"/>
              <a:buChar char="■"/>
            </a:pPr>
            <a:r>
              <a:rPr sz="1550" b="0" i="0" dirty="0">
                <a:solidFill>
                  <a:srgbClr val="17211D"/>
                </a:solidFill>
                <a:latin typeface="Arial"/>
              </a:rPr>
              <a:t>Crossing a wall is allowed </a:t>
            </a:r>
            <a:r>
              <a:rPr sz="1550" b="1" i="0" dirty="0">
                <a:solidFill>
                  <a:srgbClr val="17211D"/>
                </a:solidFill>
                <a:latin typeface="Arial"/>
              </a:rPr>
              <a:t>only through</a:t>
            </a:r>
            <a:r>
              <a:rPr sz="1550" b="0" i="0" dirty="0">
                <a:solidFill>
                  <a:srgbClr val="17211D"/>
                </a:solidFill>
                <a:latin typeface="Arial"/>
              </a:rPr>
              <a:t> the entrance / exit polygon</a:t>
            </a:r>
          </a:p>
        </p:txBody>
      </p:sp>
      <p:pic>
        <p:nvPicPr>
          <p:cNvPr id="5" name="Picture 4" descr="d11.png"/>
          <p:cNvPicPr>
            <a:picLocks noChangeAspect="1"/>
          </p:cNvPicPr>
          <p:nvPr/>
        </p:nvPicPr>
        <p:blipFill>
          <a:blip r:embed="rId5"/>
          <a:stretch>
            <a:fillRect/>
          </a:stretch>
        </p:blipFill>
        <p:spPr>
          <a:xfrm>
            <a:off x="6096000" y="1905000"/>
            <a:ext cx="5397500" cy="3973620"/>
          </a:xfrm>
          <a:prstGeom prst="rect">
            <a:avLst/>
          </a:prstGeom>
        </p:spPr>
      </p:pic>
      <p:pic>
        <p:nvPicPr>
          <p:cNvPr id="21" name="Audio 20">
            <a:extLst>
              <a:ext uri="{FF2B5EF4-FFF2-40B4-BE49-F238E27FC236}">
                <a16:creationId xmlns:a16="http://schemas.microsoft.com/office/drawing/2014/main" id="{8AEC28EC-114E-E14E-29BA-53F8DA80F3B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8815"/>
    </mc:Choice>
    <mc:Fallback xmlns="">
      <p:transition spd="slow" advTm="288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3</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RRT-Connect: two trees, </a:t>
            </a:r>
            <a:r>
              <a:rPr sz="3800" b="1" i="0">
                <a:solidFill>
                  <a:srgbClr val="166B50"/>
                </a:solidFill>
                <a:latin typeface="Arial"/>
              </a:rPr>
              <a:t>one path</a:t>
            </a:r>
          </a:p>
        </p:txBody>
      </p:sp>
      <p:sp>
        <p:nvSpPr>
          <p:cNvPr id="4" name="TextBox 3"/>
          <p:cNvSpPr txBox="1"/>
          <p:nvPr/>
        </p:nvSpPr>
        <p:spPr>
          <a:xfrm>
            <a:off x="698500" y="2032000"/>
            <a:ext cx="4953000" cy="1319144"/>
          </a:xfrm>
          <a:prstGeom prst="rect">
            <a:avLst/>
          </a:prstGeom>
          <a:noFill/>
        </p:spPr>
        <p:txBody>
          <a:bodyPr wrap="square" lIns="0" tIns="0" rIns="0" bIns="0">
            <a:spAutoFit/>
          </a:bodyPr>
          <a:lstStyle/>
          <a:p>
            <a:pPr marL="457200" indent="-457200">
              <a:lnSpc>
                <a:spcPct val="108000"/>
              </a:lnSpc>
              <a:spcAft>
                <a:spcPts val="1200"/>
              </a:spcAft>
              <a:buClr>
                <a:srgbClr val="166B50"/>
              </a:buClr>
              <a:buSzPct val="100000"/>
              <a:buFont typeface="Arial"/>
              <a:buAutoNum type="arabicPeriod"/>
            </a:pPr>
            <a:r>
              <a:rPr sz="1550" b="0" i="0" dirty="0">
                <a:solidFill>
                  <a:srgbClr val="17211D"/>
                </a:solidFill>
                <a:latin typeface="Arial"/>
              </a:rPr>
              <a:t>One tree grows from the </a:t>
            </a:r>
            <a:r>
              <a:rPr sz="1550" b="1" i="0" dirty="0">
                <a:solidFill>
                  <a:srgbClr val="2F9A5E"/>
                </a:solidFill>
                <a:latin typeface="Arial"/>
              </a:rPr>
              <a:t>start</a:t>
            </a:r>
            <a:r>
              <a:rPr sz="1550" b="0" i="0" dirty="0">
                <a:solidFill>
                  <a:srgbClr val="17211D"/>
                </a:solidFill>
                <a:latin typeface="Arial"/>
              </a:rPr>
              <a:t>, one from the </a:t>
            </a:r>
            <a:r>
              <a:rPr sz="1550" b="1" i="0" dirty="0">
                <a:solidFill>
                  <a:srgbClr val="D97F1A"/>
                </a:solidFill>
                <a:latin typeface="Arial"/>
              </a:rPr>
              <a:t>goal</a:t>
            </a:r>
          </a:p>
          <a:p>
            <a:pPr marL="457200" indent="-457200">
              <a:lnSpc>
                <a:spcPct val="108000"/>
              </a:lnSpc>
              <a:spcAft>
                <a:spcPts val="1200"/>
              </a:spcAft>
              <a:buClr>
                <a:srgbClr val="166B50"/>
              </a:buClr>
              <a:buSzPct val="100000"/>
              <a:buFont typeface="Arial"/>
              <a:buAutoNum type="arabicPeriod"/>
            </a:pPr>
            <a:r>
              <a:rPr sz="1550" b="0" i="0" dirty="0">
                <a:solidFill>
                  <a:srgbClr val="17211D"/>
                </a:solidFill>
                <a:latin typeface="Arial"/>
              </a:rPr>
              <a:t>Then the </a:t>
            </a:r>
            <a:r>
              <a:rPr sz="1550" b="1" i="0" dirty="0">
                <a:solidFill>
                  <a:srgbClr val="17211D"/>
                </a:solidFill>
                <a:latin typeface="Arial"/>
              </a:rPr>
              <a:t>other tree</a:t>
            </a:r>
            <a:r>
              <a:rPr sz="1550" b="0" i="0" dirty="0">
                <a:solidFill>
                  <a:srgbClr val="17211D"/>
                </a:solidFill>
                <a:latin typeface="Arial"/>
              </a:rPr>
              <a:t> greedily chases that new node</a:t>
            </a:r>
            <a:endParaRPr lang="en-US" sz="1550" b="0" i="0" dirty="0">
              <a:solidFill>
                <a:srgbClr val="17211D"/>
              </a:solidFill>
              <a:latin typeface="Arial"/>
            </a:endParaRPr>
          </a:p>
          <a:p>
            <a:pPr marL="457200" indent="-457200">
              <a:lnSpc>
                <a:spcPct val="108000"/>
              </a:lnSpc>
              <a:spcAft>
                <a:spcPts val="1200"/>
              </a:spcAft>
              <a:buClr>
                <a:srgbClr val="166B50"/>
              </a:buClr>
              <a:buSzPct val="100000"/>
              <a:buFont typeface="Arial"/>
              <a:buAutoNum type="arabicPeriod"/>
            </a:pPr>
            <a:r>
              <a:rPr sz="1550" b="0" i="0" dirty="0">
                <a:solidFill>
                  <a:srgbClr val="17211D"/>
                </a:solidFill>
                <a:latin typeface="Arial"/>
              </a:rPr>
              <a:t>Trees touch → </a:t>
            </a:r>
            <a:r>
              <a:rPr sz="1550" b="1" i="0" dirty="0">
                <a:solidFill>
                  <a:srgbClr val="17211D"/>
                </a:solidFill>
                <a:latin typeface="Arial"/>
              </a:rPr>
              <a:t>path found</a:t>
            </a:r>
            <a:r>
              <a:rPr sz="1550" b="0" i="0" dirty="0">
                <a:solidFill>
                  <a:srgbClr val="17211D"/>
                </a:solidFill>
                <a:latin typeface="Arial"/>
              </a:rPr>
              <a:t>. Smooth it, resample it, animate it</a:t>
            </a:r>
          </a:p>
        </p:txBody>
      </p:sp>
      <p:sp>
        <p:nvSpPr>
          <p:cNvPr id="6" name="Rounded Rectangle 5"/>
          <p:cNvSpPr/>
          <p:nvPr/>
        </p:nvSpPr>
        <p:spPr>
          <a:xfrm>
            <a:off x="698500" y="5080000"/>
            <a:ext cx="10795000" cy="825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1" i="0" dirty="0">
                <a:solidFill>
                  <a:srgbClr val="D6EF5B"/>
                </a:solidFill>
                <a:latin typeface="Arial"/>
              </a:rPr>
              <a:t>Probabilistic:</a:t>
            </a:r>
            <a:r>
              <a:rPr sz="1400" b="0" i="0" dirty="0">
                <a:solidFill>
                  <a:srgbClr val="EAF5EE"/>
                </a:solidFill>
                <a:latin typeface="Arial"/>
              </a:rPr>
              <a:t> finding a route proves it fits — </a:t>
            </a:r>
            <a:r>
              <a:rPr sz="1400" b="1" i="0" dirty="0">
                <a:solidFill>
                  <a:srgbClr val="D6EF5B"/>
                </a:solidFill>
                <a:latin typeface="Arial"/>
              </a:rPr>
              <a:t>failing doesn't prove it can't</a:t>
            </a:r>
            <a:r>
              <a:rPr sz="1400" b="0" i="0" dirty="0">
                <a:solidFill>
                  <a:srgbClr val="EAF5EE"/>
                </a:solidFill>
                <a:latin typeface="Arial"/>
              </a:rPr>
              <a:t>. Run it again or raise iterations. </a:t>
            </a:r>
            <a:r>
              <a:rPr lang="en-US" sz="1400" b="0" i="0" dirty="0">
                <a:solidFill>
                  <a:srgbClr val="EAF5EE"/>
                </a:solidFill>
                <a:latin typeface="Arial"/>
              </a:rPr>
              <a:t>We never "fix" failures by quietly shrinking clearance.</a:t>
            </a:r>
            <a:endParaRPr sz="1400" b="0" i="0" dirty="0">
              <a:solidFill>
                <a:srgbClr val="EAF5EE"/>
              </a:solidFill>
              <a:latin typeface="Arial"/>
            </a:endParaRPr>
          </a:p>
        </p:txBody>
      </p:sp>
      <p:pic>
        <p:nvPicPr>
          <p:cNvPr id="7" name="Picture 6" descr="Path Planning for Mobile Robots Based on Improved RRT-Connect and DWA Fusion">
            <a:extLst>
              <a:ext uri="{FF2B5EF4-FFF2-40B4-BE49-F238E27FC236}">
                <a16:creationId xmlns:a16="http://schemas.microsoft.com/office/drawing/2014/main" id="{A845819E-B596-3A6E-E541-250DBB4B3FAA}"/>
              </a:ext>
            </a:extLst>
          </p:cNvPr>
          <p:cNvPicPr>
            <a:picLocks noChangeAspect="1"/>
          </p:cNvPicPr>
          <p:nvPr/>
        </p:nvPicPr>
        <p:blipFill>
          <a:blip r:embed="rId5"/>
          <a:stretch>
            <a:fillRect/>
          </a:stretch>
        </p:blipFill>
        <p:spPr>
          <a:xfrm>
            <a:off x="6096000" y="1811683"/>
            <a:ext cx="5745313" cy="3228561"/>
          </a:xfrm>
          <a:prstGeom prst="rect">
            <a:avLst/>
          </a:prstGeom>
        </p:spPr>
      </p:pic>
      <p:pic>
        <p:nvPicPr>
          <p:cNvPr id="10" name="Audio 9">
            <a:extLst>
              <a:ext uri="{FF2B5EF4-FFF2-40B4-BE49-F238E27FC236}">
                <a16:creationId xmlns:a16="http://schemas.microsoft.com/office/drawing/2014/main" id="{00A869D4-29DF-536C-C8F1-B068CAA3FBB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0153"/>
    </mc:Choice>
    <mc:Fallback xmlns="">
      <p:transition spd="slow" advTm="501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4</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Smart starts beat </a:t>
            </a:r>
            <a:r>
              <a:rPr sz="3800" b="1" i="0">
                <a:solidFill>
                  <a:srgbClr val="166B50"/>
                </a:solidFill>
                <a:latin typeface="Arial"/>
              </a:rPr>
              <a:t>pure luck</a:t>
            </a:r>
          </a:p>
        </p:txBody>
      </p:sp>
      <p:sp>
        <p:nvSpPr>
          <p:cNvPr id="4" name="TextBox 3"/>
          <p:cNvSpPr txBox="1"/>
          <p:nvPr/>
        </p:nvSpPr>
        <p:spPr>
          <a:xfrm>
            <a:off x="698500" y="1968500"/>
            <a:ext cx="4826000" cy="571500"/>
          </a:xfrm>
          <a:prstGeom prst="rect">
            <a:avLst/>
          </a:prstGeom>
          <a:noFill/>
        </p:spPr>
        <p:txBody>
          <a:bodyPr wrap="square" lIns="0" tIns="0" rIns="0" bIns="0" anchor="t">
            <a:spAutoFit/>
          </a:bodyPr>
          <a:lstStyle/>
          <a:p>
            <a:pPr algn="l">
              <a:lnSpc>
                <a:spcPct val="115000"/>
              </a:lnSpc>
              <a:spcAft>
                <a:spcPts val="0"/>
              </a:spcAft>
            </a:pPr>
            <a:r>
              <a:rPr sz="1550" b="0" i="0">
                <a:solidFill>
                  <a:srgbClr val="5D6963"/>
                </a:solidFill>
                <a:latin typeface="Arial"/>
              </a:rPr>
              <a:t>Random sampling alone rarely threads a tight doorway. So we seed the search:</a:t>
            </a:r>
          </a:p>
        </p:txBody>
      </p:sp>
      <p:sp>
        <p:nvSpPr>
          <p:cNvPr id="5" name="TextBox 4"/>
          <p:cNvSpPr txBox="1"/>
          <p:nvPr/>
        </p:nvSpPr>
        <p:spPr>
          <a:xfrm>
            <a:off x="698500" y="2730500"/>
            <a:ext cx="4953000" cy="3048000"/>
          </a:xfrm>
          <a:prstGeom prst="rect">
            <a:avLst/>
          </a:prstGeom>
          <a:noFill/>
        </p:spPr>
        <p:txBody>
          <a:bodyPr wrap="square" lIns="0" tIns="0" rIns="0" bIns="0">
            <a:spAutoFit/>
          </a:bodyPr>
          <a:lstStyle/>
          <a:p>
            <a:pPr marL="457200" indent="-457200">
              <a:lnSpc>
                <a:spcPct val="108000"/>
              </a:lnSpc>
              <a:spcAft>
                <a:spcPts val="1000"/>
              </a:spcAft>
              <a:buClr>
                <a:srgbClr val="166B50"/>
              </a:buClr>
              <a:buSzPct val="100000"/>
              <a:buFont typeface="Arial"/>
              <a:buAutoNum type="arabicPeriod"/>
            </a:pPr>
            <a:r>
              <a:rPr sz="1550" b="0" i="0">
                <a:solidFill>
                  <a:srgbClr val="17211D"/>
                </a:solidFill>
                <a:latin typeface="Arial"/>
              </a:rPr>
              <a:t>Sample offsets across the opening × </a:t>
            </a:r>
            <a:r>
              <a:rPr sz="1550" b="1" i="0">
                <a:solidFill>
                  <a:srgbClr val="17211D"/>
                </a:solidFill>
                <a:latin typeface="Arial"/>
              </a:rPr>
              <a:t>15°</a:t>
            </a:r>
            <a:r>
              <a:rPr sz="1550" b="0" i="0">
                <a:solidFill>
                  <a:srgbClr val="17211D"/>
                </a:solidFill>
                <a:latin typeface="Arial"/>
              </a:rPr>
              <a:t> yaw / pitch / roll orientations</a:t>
            </a:r>
          </a:p>
          <a:p>
            <a:pPr marL="457200" indent="-457200">
              <a:lnSpc>
                <a:spcPct val="108000"/>
              </a:lnSpc>
              <a:spcAft>
                <a:spcPts val="1000"/>
              </a:spcAft>
              <a:buClr>
                <a:srgbClr val="166B50"/>
              </a:buClr>
              <a:buSzPct val="100000"/>
              <a:buFont typeface="Arial"/>
              <a:buAutoNum type="arabicPeriod"/>
            </a:pPr>
            <a:r>
              <a:rPr sz="1550" b="1" i="0">
                <a:solidFill>
                  <a:srgbClr val="17211D"/>
                </a:solidFill>
                <a:latin typeface="Arial"/>
              </a:rPr>
              <a:t>Refine</a:t>
            </a:r>
            <a:r>
              <a:rPr sz="1550" b="0" i="0">
                <a:solidFill>
                  <a:srgbClr val="17211D"/>
                </a:solidFill>
                <a:latin typeface="Arial"/>
              </a:rPr>
              <a:t> the promising ones at 5°</a:t>
            </a:r>
          </a:p>
          <a:p>
            <a:pPr marL="457200" indent="-457200">
              <a:lnSpc>
                <a:spcPct val="108000"/>
              </a:lnSpc>
              <a:spcAft>
                <a:spcPts val="1000"/>
              </a:spcAft>
              <a:buClr>
                <a:srgbClr val="166B50"/>
              </a:buClr>
              <a:buSzPct val="100000"/>
              <a:buFont typeface="Arial"/>
              <a:buAutoNum type="arabicPeriod"/>
            </a:pPr>
            <a:r>
              <a:rPr sz="1550" b="1" i="0">
                <a:solidFill>
                  <a:srgbClr val="17211D"/>
                </a:solidFill>
                <a:latin typeface="Arial"/>
              </a:rPr>
              <a:t>Probe inward</a:t>
            </a:r>
            <a:r>
              <a:rPr sz="1550" b="0" i="0">
                <a:solidFill>
                  <a:srgbClr val="17211D"/>
                </a:solidFill>
                <a:latin typeface="Arial"/>
              </a:rPr>
              <a:t>: how deep does each candidate get?</a:t>
            </a:r>
          </a:p>
          <a:p>
            <a:pPr marL="457200" indent="-457200">
              <a:lnSpc>
                <a:spcPct val="108000"/>
              </a:lnSpc>
              <a:spcAft>
                <a:spcPts val="1000"/>
              </a:spcAft>
              <a:buClr>
                <a:srgbClr val="166B50"/>
              </a:buClr>
              <a:buSzPct val="100000"/>
              <a:buFont typeface="Arial"/>
              <a:buAutoNum type="arabicPeriod"/>
            </a:pPr>
            <a:r>
              <a:rPr sz="1550" b="1" i="0">
                <a:solidFill>
                  <a:srgbClr val="17211D"/>
                </a:solidFill>
                <a:latin typeface="Arial"/>
              </a:rPr>
              <a:t>Rank</a:t>
            </a:r>
            <a:r>
              <a:rPr sz="1550" b="0" i="0">
                <a:solidFill>
                  <a:srgbClr val="17211D"/>
                </a:solidFill>
                <a:latin typeface="Arial"/>
              </a:rPr>
              <a:t> by depth, clearance, alignment, offset, tilt</a:t>
            </a:r>
          </a:p>
          <a:p>
            <a:pPr marL="457200" indent="-457200">
              <a:lnSpc>
                <a:spcPct val="108000"/>
              </a:lnSpc>
              <a:spcAft>
                <a:spcPts val="1000"/>
              </a:spcAft>
              <a:buClr>
                <a:srgbClr val="166B50"/>
              </a:buClr>
              <a:buSzPct val="100000"/>
              <a:buFont typeface="Arial"/>
              <a:buAutoNum type="arabicPeriod"/>
            </a:pPr>
            <a:r>
              <a:rPr sz="1550" b="0" i="0">
                <a:solidFill>
                  <a:srgbClr val="17211D"/>
                </a:solidFill>
                <a:latin typeface="Arial"/>
              </a:rPr>
              <a:t>Feed the top poses as </a:t>
            </a:r>
            <a:r>
              <a:rPr sz="1550" b="1" i="0">
                <a:solidFill>
                  <a:srgbClr val="17211D"/>
                </a:solidFill>
                <a:latin typeface="Arial"/>
              </a:rPr>
              <a:t>many starts and goals</a:t>
            </a:r>
          </a:p>
        </p:txBody>
      </p:sp>
      <p:pic>
        <p:nvPicPr>
          <p:cNvPr id="6" name="Picture 5" descr="d13.png"/>
          <p:cNvPicPr>
            <a:picLocks noChangeAspect="1"/>
          </p:cNvPicPr>
          <p:nvPr/>
        </p:nvPicPr>
        <p:blipFill>
          <a:blip r:embed="rId3"/>
          <a:stretch>
            <a:fillRect/>
          </a:stretch>
        </p:blipFill>
        <p:spPr>
          <a:xfrm>
            <a:off x="6413500" y="1841500"/>
            <a:ext cx="4826000" cy="38608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3271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YOUR TURN</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Challenge: find the </a:t>
            </a:r>
            <a:r>
              <a:rPr sz="3800" b="1" i="0">
                <a:solidFill>
                  <a:srgbClr val="166B50"/>
                </a:solidFill>
                <a:latin typeface="Arial"/>
              </a:rPr>
              <a:t>tipping point</a:t>
            </a:r>
          </a:p>
        </p:txBody>
      </p:sp>
      <p:sp>
        <p:nvSpPr>
          <p:cNvPr id="4" name="TextBox 3"/>
          <p:cNvSpPr txBox="1"/>
          <p:nvPr/>
        </p:nvSpPr>
        <p:spPr>
          <a:xfrm>
            <a:off x="698500" y="2095500"/>
            <a:ext cx="5080000" cy="2494850"/>
          </a:xfrm>
          <a:prstGeom prst="rect">
            <a:avLst/>
          </a:prstGeom>
          <a:noFill/>
        </p:spPr>
        <p:txBody>
          <a:bodyPr wrap="square" lIns="0" tIns="0" rIns="0" bIns="0">
            <a:spAutoFit/>
          </a:bodyPr>
          <a:lstStyle/>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Build an </a:t>
            </a:r>
            <a:r>
              <a:rPr sz="1700" b="1" i="0" dirty="0">
                <a:solidFill>
                  <a:srgbClr val="17211D"/>
                </a:solidFill>
                <a:latin typeface="Arial"/>
              </a:rPr>
              <a:t>L-shaped hallway</a:t>
            </a:r>
            <a:r>
              <a:rPr sz="1700" b="0" i="0" dirty="0">
                <a:solidFill>
                  <a:srgbClr val="17211D"/>
                </a:solidFill>
                <a:latin typeface="Arial"/>
              </a:rPr>
              <a:t>: two blocks</a:t>
            </a:r>
            <a:r>
              <a:rPr lang="en-US" sz="1700" b="0" i="0" dirty="0">
                <a:solidFill>
                  <a:srgbClr val="17211D"/>
                </a:solidFill>
                <a:latin typeface="Arial"/>
              </a:rPr>
              <a:t> (5 * 2 * 2)</a:t>
            </a:r>
            <a:r>
              <a:rPr sz="1700" b="0" i="0" dirty="0">
                <a:solidFill>
                  <a:srgbClr val="17211D"/>
                </a:solidFill>
                <a:latin typeface="Arial"/>
              </a:rPr>
              <a:t>, connected end to end</a:t>
            </a:r>
          </a:p>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Furniture </a:t>
            </a:r>
            <a:r>
              <a:rPr lang="en-US" sz="1700" b="0" i="0" dirty="0">
                <a:solidFill>
                  <a:srgbClr val="17211D"/>
                </a:solidFill>
                <a:latin typeface="Arial"/>
              </a:rPr>
              <a:t>(</a:t>
            </a:r>
            <a:r>
              <a:rPr lang="en-US" sz="1700" b="1" dirty="0">
                <a:solidFill>
                  <a:srgbClr val="17211D"/>
                </a:solidFill>
                <a:latin typeface="Courier New"/>
              </a:rPr>
              <a:t>1</a:t>
            </a:r>
            <a:r>
              <a:rPr sz="1700" b="1" i="0" dirty="0">
                <a:solidFill>
                  <a:srgbClr val="17211D"/>
                </a:solidFill>
                <a:latin typeface="Courier New"/>
              </a:rPr>
              <a:t>.5</a:t>
            </a:r>
            <a:r>
              <a:rPr lang="en-US" sz="1700" b="1" i="0" dirty="0">
                <a:solidFill>
                  <a:srgbClr val="17211D"/>
                </a:solidFill>
                <a:latin typeface="Courier New"/>
              </a:rPr>
              <a:t> * </a:t>
            </a:r>
            <a:r>
              <a:rPr sz="1700" b="1" i="0" dirty="0">
                <a:solidFill>
                  <a:srgbClr val="17211D"/>
                </a:solidFill>
                <a:latin typeface="Courier New"/>
              </a:rPr>
              <a:t>1.2 </a:t>
            </a:r>
            <a:r>
              <a:rPr lang="en-US" sz="1700" b="1" i="0" dirty="0">
                <a:solidFill>
                  <a:srgbClr val="17211D"/>
                </a:solidFill>
                <a:latin typeface="Courier New"/>
              </a:rPr>
              <a:t>* </a:t>
            </a:r>
            <a:r>
              <a:rPr sz="1700" b="1" i="0" dirty="0">
                <a:solidFill>
                  <a:srgbClr val="17211D"/>
                </a:solidFill>
                <a:latin typeface="Courier New"/>
              </a:rPr>
              <a:t>1.2</a:t>
            </a:r>
            <a:r>
              <a:rPr lang="en-US" sz="1700" b="1" i="0" dirty="0">
                <a:solidFill>
                  <a:srgbClr val="17211D"/>
                </a:solidFill>
                <a:latin typeface="Courier New"/>
              </a:rPr>
              <a:t>)</a:t>
            </a:r>
            <a:r>
              <a:rPr sz="1700" b="0" i="0" dirty="0">
                <a:solidFill>
                  <a:srgbClr val="17211D"/>
                </a:solidFill>
                <a:latin typeface="Arial"/>
              </a:rPr>
              <a:t>, clearance </a:t>
            </a:r>
            <a:r>
              <a:rPr sz="1700" b="1" i="0" dirty="0">
                <a:solidFill>
                  <a:srgbClr val="17211D"/>
                </a:solidFill>
                <a:latin typeface="Courier New"/>
              </a:rPr>
              <a:t>0.1</a:t>
            </a:r>
          </a:p>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Try it </a:t>
            </a:r>
            <a:r>
              <a:rPr sz="1700" b="1" i="0" dirty="0">
                <a:solidFill>
                  <a:srgbClr val="17211D"/>
                </a:solidFill>
                <a:latin typeface="Arial"/>
              </a:rPr>
              <a:t>manually</a:t>
            </a:r>
            <a:r>
              <a:rPr sz="1700" b="0" i="0" dirty="0">
                <a:solidFill>
                  <a:srgbClr val="17211D"/>
                </a:solidFill>
                <a:latin typeface="Arial"/>
              </a:rPr>
              <a:t>, then run </a:t>
            </a:r>
            <a:r>
              <a:rPr sz="1700" b="1" i="0" dirty="0">
                <a:solidFill>
                  <a:srgbClr val="17211D"/>
                </a:solidFill>
                <a:latin typeface="Arial"/>
              </a:rPr>
              <a:t>the solver</a:t>
            </a:r>
          </a:p>
          <a:p>
            <a:pPr marL="457200" indent="-457200">
              <a:lnSpc>
                <a:spcPct val="108000"/>
              </a:lnSpc>
              <a:spcAft>
                <a:spcPts val="1600"/>
              </a:spcAft>
              <a:buClr>
                <a:srgbClr val="166B50"/>
              </a:buClr>
              <a:buSzPct val="100000"/>
              <a:buFont typeface="Arial"/>
              <a:buAutoNum type="arabicPeriod"/>
            </a:pPr>
            <a:r>
              <a:rPr lang="en-US" sz="1700" b="0" i="0" dirty="0">
                <a:solidFill>
                  <a:srgbClr val="17211D"/>
                </a:solidFill>
                <a:latin typeface="Arial"/>
              </a:rPr>
              <a:t>Increase the furniture size</a:t>
            </a:r>
            <a:r>
              <a:rPr sz="1700" b="0" i="0" dirty="0">
                <a:solidFill>
                  <a:srgbClr val="17211D"/>
                </a:solidFill>
                <a:latin typeface="Arial"/>
              </a:rPr>
              <a:t> until it </a:t>
            </a:r>
            <a:r>
              <a:rPr sz="1700" b="1" i="0" dirty="0">
                <a:solidFill>
                  <a:srgbClr val="17211D"/>
                </a:solidFill>
                <a:latin typeface="Arial"/>
              </a:rPr>
              <a:t>stops fitting</a:t>
            </a:r>
          </a:p>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What happens when you try </a:t>
            </a:r>
            <a:r>
              <a:rPr sz="1700" b="1" i="0" dirty="0">
                <a:solidFill>
                  <a:srgbClr val="17211D"/>
                </a:solidFill>
                <a:latin typeface="Arial"/>
              </a:rPr>
              <a:t>turning roll sampling off</a:t>
            </a:r>
            <a:r>
              <a:rPr sz="1700" b="0" i="0" dirty="0">
                <a:solidFill>
                  <a:srgbClr val="17211D"/>
                </a:solidFill>
                <a:latin typeface="Arial"/>
              </a:rPr>
              <a:t>?</a:t>
            </a:r>
          </a:p>
        </p:txBody>
      </p:sp>
      <p:sp>
        <p:nvSpPr>
          <p:cNvPr id="5" name="Rounded Rectangle 4"/>
          <p:cNvSpPr/>
          <p:nvPr/>
        </p:nvSpPr>
        <p:spPr>
          <a:xfrm>
            <a:off x="6350000" y="2159000"/>
            <a:ext cx="5143500" cy="27940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350000" y="2476500"/>
            <a:ext cx="5143500" cy="952500"/>
          </a:xfrm>
          <a:prstGeom prst="rect">
            <a:avLst/>
          </a:prstGeom>
          <a:noFill/>
        </p:spPr>
        <p:txBody>
          <a:bodyPr wrap="square" lIns="0" tIns="0" rIns="0" bIns="0" anchor="t">
            <a:spAutoFit/>
          </a:bodyPr>
          <a:lstStyle/>
          <a:p>
            <a:pPr algn="ctr">
              <a:lnSpc>
                <a:spcPct val="112000"/>
              </a:lnSpc>
              <a:spcAft>
                <a:spcPts val="0"/>
              </a:spcAft>
            </a:pPr>
            <a:r>
              <a:rPr sz="6000" b="0" i="0">
                <a:solidFill>
                  <a:srgbClr val="17211D"/>
                </a:solidFill>
                <a:latin typeface="Arial"/>
              </a:rPr>
              <a:t>🛋️</a:t>
            </a:r>
          </a:p>
        </p:txBody>
      </p:sp>
      <p:sp>
        <p:nvSpPr>
          <p:cNvPr id="7" name="TextBox 6"/>
          <p:cNvSpPr txBox="1"/>
          <p:nvPr/>
        </p:nvSpPr>
        <p:spPr>
          <a:xfrm>
            <a:off x="6731000" y="3556000"/>
            <a:ext cx="4381500" cy="745525"/>
          </a:xfrm>
          <a:prstGeom prst="rect">
            <a:avLst/>
          </a:prstGeom>
          <a:noFill/>
        </p:spPr>
        <p:txBody>
          <a:bodyPr wrap="square" lIns="0" tIns="0" rIns="0" bIns="0" anchor="t">
            <a:spAutoFit/>
          </a:bodyPr>
          <a:lstStyle/>
          <a:p>
            <a:pPr algn="ctr">
              <a:lnSpc>
                <a:spcPct val="115000"/>
              </a:lnSpc>
              <a:spcAft>
                <a:spcPts val="0"/>
              </a:spcAft>
            </a:pPr>
            <a:r>
              <a:rPr sz="2200" b="1" i="0" dirty="0">
                <a:solidFill>
                  <a:srgbClr val="17211D"/>
                </a:solidFill>
                <a:latin typeface="Arial"/>
              </a:rPr>
              <a:t>What's the </a:t>
            </a:r>
            <a:r>
              <a:rPr lang="en-US" sz="2200" b="1" i="0" dirty="0">
                <a:solidFill>
                  <a:srgbClr val="17211D"/>
                </a:solidFill>
                <a:latin typeface="Arial"/>
              </a:rPr>
              <a:t>largest sofa that fits your hallway</a:t>
            </a:r>
            <a:r>
              <a:rPr sz="2200" b="1" i="0" dirty="0">
                <a:solidFill>
                  <a:srgbClr val="17211D"/>
                </a:solidFill>
                <a:latin typeface="Arial"/>
              </a:rPr>
              <a:t>?</a:t>
            </a:r>
          </a:p>
        </p:txBody>
      </p:sp>
      <p:sp>
        <p:nvSpPr>
          <p:cNvPr id="8" name="TextBox 7"/>
          <p:cNvSpPr txBox="1"/>
          <p:nvPr/>
        </p:nvSpPr>
        <p:spPr>
          <a:xfrm>
            <a:off x="6731000" y="4381500"/>
            <a:ext cx="4381500" cy="317500"/>
          </a:xfrm>
          <a:prstGeom prst="rect">
            <a:avLst/>
          </a:prstGeom>
          <a:noFill/>
        </p:spPr>
        <p:txBody>
          <a:bodyPr wrap="square" lIns="0" tIns="0" rIns="0" bIns="0" anchor="t">
            <a:spAutoFit/>
          </a:bodyPr>
          <a:lstStyle/>
          <a:p>
            <a:pPr algn="ctr">
              <a:lnSpc>
                <a:spcPct val="112000"/>
              </a:lnSpc>
              <a:spcAft>
                <a:spcPts val="0"/>
              </a:spcAft>
            </a:pPr>
            <a:r>
              <a:rPr sz="1500" b="0" i="0" dirty="0">
                <a:solidFill>
                  <a:srgbClr val="5D6963"/>
                </a:solidFill>
                <a:latin typeface="Arial"/>
              </a:rPr>
              <a:t>Share your number in the comments.</a:t>
            </a:r>
          </a:p>
        </p:txBody>
      </p:sp>
      <p:pic>
        <p:nvPicPr>
          <p:cNvPr id="10" name="Picture 9">
            <a:extLst>
              <a:ext uri="{FF2B5EF4-FFF2-40B4-BE49-F238E27FC236}">
                <a16:creationId xmlns:a16="http://schemas.microsoft.com/office/drawing/2014/main" id="{9052F4E8-DAE5-BD11-0FE5-AADE50D7AF0D}"/>
              </a:ext>
            </a:extLst>
          </p:cNvPr>
          <p:cNvPicPr>
            <a:picLocks noChangeAspect="1"/>
          </p:cNvPicPr>
          <p:nvPr/>
        </p:nvPicPr>
        <p:blipFill>
          <a:blip r:embed="rId5"/>
          <a:stretch>
            <a:fillRect/>
          </a:stretch>
        </p:blipFill>
        <p:spPr>
          <a:xfrm>
            <a:off x="1742696" y="4699000"/>
            <a:ext cx="1991306" cy="1933447"/>
          </a:xfrm>
          <a:prstGeom prst="rect">
            <a:avLst/>
          </a:prstGeom>
        </p:spPr>
      </p:pic>
      <p:cxnSp>
        <p:nvCxnSpPr>
          <p:cNvPr id="12" name="Straight Arrow Connector 11">
            <a:extLst>
              <a:ext uri="{FF2B5EF4-FFF2-40B4-BE49-F238E27FC236}">
                <a16:creationId xmlns:a16="http://schemas.microsoft.com/office/drawing/2014/main" id="{8A8EC915-34A4-8D52-7BB7-92C6FD63FE32}"/>
              </a:ext>
            </a:extLst>
          </p:cNvPr>
          <p:cNvCxnSpPr/>
          <p:nvPr/>
        </p:nvCxnSpPr>
        <p:spPr>
          <a:xfrm flipH="1">
            <a:off x="3467819" y="4953000"/>
            <a:ext cx="638355" cy="1365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B1D9A6F3-C46D-A38F-8F5D-E2B5F340021C}"/>
              </a:ext>
            </a:extLst>
          </p:cNvPr>
          <p:cNvCxnSpPr/>
          <p:nvPr/>
        </p:nvCxnSpPr>
        <p:spPr>
          <a:xfrm flipH="1">
            <a:off x="1777202" y="6528930"/>
            <a:ext cx="638355" cy="1365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52F06BB-3C43-321D-839B-F08688EFA4C5}"/>
              </a:ext>
            </a:extLst>
          </p:cNvPr>
          <p:cNvSpPr txBox="1"/>
          <p:nvPr/>
        </p:nvSpPr>
        <p:spPr>
          <a:xfrm>
            <a:off x="4106174" y="4836626"/>
            <a:ext cx="1016625" cy="369332"/>
          </a:xfrm>
          <a:prstGeom prst="rect">
            <a:avLst/>
          </a:prstGeom>
          <a:noFill/>
        </p:spPr>
        <p:txBody>
          <a:bodyPr wrap="none" rtlCol="0">
            <a:spAutoFit/>
          </a:bodyPr>
          <a:lstStyle/>
          <a:p>
            <a:r>
              <a:rPr lang="en-US" dirty="0"/>
              <a:t>entrance</a:t>
            </a:r>
          </a:p>
        </p:txBody>
      </p:sp>
      <p:sp>
        <p:nvSpPr>
          <p:cNvPr id="15" name="TextBox 14">
            <a:extLst>
              <a:ext uri="{FF2B5EF4-FFF2-40B4-BE49-F238E27FC236}">
                <a16:creationId xmlns:a16="http://schemas.microsoft.com/office/drawing/2014/main" id="{9E8B4FFB-1F16-2042-7C57-59A2D3BE8135}"/>
              </a:ext>
            </a:extLst>
          </p:cNvPr>
          <p:cNvSpPr txBox="1"/>
          <p:nvPr/>
        </p:nvSpPr>
        <p:spPr>
          <a:xfrm>
            <a:off x="1157568" y="6447781"/>
            <a:ext cx="524503" cy="369332"/>
          </a:xfrm>
          <a:prstGeom prst="rect">
            <a:avLst/>
          </a:prstGeom>
          <a:noFill/>
        </p:spPr>
        <p:txBody>
          <a:bodyPr wrap="none" rtlCol="0">
            <a:spAutoFit/>
          </a:bodyPr>
          <a:lstStyle/>
          <a:p>
            <a:r>
              <a:rPr lang="en-US" dirty="0"/>
              <a:t>exit</a:t>
            </a:r>
          </a:p>
        </p:txBody>
      </p:sp>
      <p:pic>
        <p:nvPicPr>
          <p:cNvPr id="27" name="Audio 26">
            <a:extLst>
              <a:ext uri="{FF2B5EF4-FFF2-40B4-BE49-F238E27FC236}">
                <a16:creationId xmlns:a16="http://schemas.microsoft.com/office/drawing/2014/main" id="{AE815F0D-F97D-EB68-0E5A-A7F7EBAB76A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5465"/>
    </mc:Choice>
    <mc:Fallback xmlns="">
      <p:transition spd="slow" advTm="3546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7"/>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1B5A45"/>
            </a:gs>
            <a:gs pos="100000">
              <a:srgbClr val="08140F"/>
            </a:gs>
          </a:gsLst>
          <a:lin ang="19500000" scaled="0"/>
        </a:gra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435100" cy="2921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TRY IT NOW</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4400" b="1" i="0">
                <a:solidFill>
                  <a:srgbClr val="EEF5F0"/>
                </a:solidFill>
                <a:latin typeface="Arial"/>
              </a:rPr>
              <a:t>Open it in your browser</a:t>
            </a:r>
          </a:p>
        </p:txBody>
      </p:sp>
      <p:sp>
        <p:nvSpPr>
          <p:cNvPr id="4" name="Rounded Rectangle 3">
            <a:hlinkClick r:id="rId5"/>
          </p:cNvPr>
          <p:cNvSpPr/>
          <p:nvPr/>
        </p:nvSpPr>
        <p:spPr>
          <a:xfrm>
            <a:off x="698500" y="2095500"/>
            <a:ext cx="6604000" cy="1206500"/>
          </a:xfrm>
          <a:prstGeom prst="roundRect">
            <a:avLst>
              <a:gd name="adj" fmla="val 14000"/>
            </a:avLst>
          </a:prstGeom>
          <a:solidFill>
            <a:srgbClr val="D6EF5B"/>
          </a:solidFill>
          <a:ln>
            <a:noFill/>
          </a:ln>
          <a:effectLst/>
        </p:spPr>
        <p:style>
          <a:lnRef idx="1">
            <a:schemeClr val="accent1"/>
          </a:lnRef>
          <a:fillRef idx="3">
            <a:schemeClr val="accent1"/>
          </a:fillRef>
          <a:effectRef idx="2">
            <a:schemeClr val="accent1"/>
          </a:effectRef>
          <a:fontRef idx="minor">
            <a:schemeClr val="lt1"/>
          </a:fontRef>
        </p:style>
        <p:txBody>
          <a:bodyPr wrap="square" lIns="254000" rIns="254000" rtlCol="0" anchor="ctr"/>
          <a:lstStyle/>
          <a:p>
            <a:pPr algn="l"/>
            <a:r>
              <a:rPr sz="1200" b="1" i="0" spc="150" dirty="0">
                <a:solidFill>
                  <a:srgbClr val="0E2F26"/>
                </a:solidFill>
                <a:latin typeface="Arial"/>
              </a:rPr>
              <a:t>LAUNCH THE APP  —  NO INSTALL</a:t>
            </a:r>
          </a:p>
          <a:p>
            <a:pPr algn="l">
              <a:spcBef>
                <a:spcPts val="400"/>
              </a:spcBef>
            </a:pPr>
            <a:r>
              <a:rPr sz="2600" b="1" i="0" dirty="0">
                <a:solidFill>
                  <a:srgbClr val="0E2F26"/>
                </a:solidFill>
                <a:latin typeface="Arial"/>
              </a:rPr>
              <a:t>volcano1998.github.io/FurnitureSim_3D</a:t>
            </a:r>
          </a:p>
        </p:txBody>
      </p:sp>
      <p:sp>
        <p:nvSpPr>
          <p:cNvPr id="5" name="Rounded Rectangle 4">
            <a:hlinkClick r:id="rId6"/>
          </p:cNvPr>
          <p:cNvSpPr/>
          <p:nvPr/>
        </p:nvSpPr>
        <p:spPr>
          <a:xfrm>
            <a:off x="698500" y="3492500"/>
            <a:ext cx="6604000" cy="762000"/>
          </a:xfrm>
          <a:prstGeom prst="roundRect">
            <a:avLst>
              <a:gd name="adj" fmla="val 14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wrap="square" lIns="254000" rIns="254000" rtlCol="0" anchor="ctr"/>
          <a:lstStyle/>
          <a:p>
            <a:pPr algn="l"/>
            <a:r>
              <a:rPr sz="1200" b="1" i="0" spc="150">
                <a:solidFill>
                  <a:srgbClr val="D6EF5B"/>
                </a:solidFill>
                <a:latin typeface="Arial"/>
              </a:rPr>
              <a:t>SLIDES + POWERPOINT</a:t>
            </a:r>
          </a:p>
          <a:p>
            <a:pPr algn="l">
              <a:spcBef>
                <a:spcPts val="400"/>
              </a:spcBef>
            </a:pPr>
            <a:r>
              <a:rPr sz="1800" b="1" i="0">
                <a:solidFill>
                  <a:srgbClr val="EEF5F0"/>
                </a:solidFill>
                <a:latin typeface="Arial"/>
              </a:rPr>
              <a:t>volcano1998.github.io/FurnitureSim_3D/slides</a:t>
            </a:r>
          </a:p>
        </p:txBody>
      </p:sp>
      <p:sp>
        <p:nvSpPr>
          <p:cNvPr id="6" name="Rounded Rectangle 5">
            <a:hlinkClick r:id="rId7"/>
          </p:cNvPr>
          <p:cNvSpPr/>
          <p:nvPr/>
        </p:nvSpPr>
        <p:spPr>
          <a:xfrm>
            <a:off x="698500" y="4381500"/>
            <a:ext cx="6604000" cy="762000"/>
          </a:xfrm>
          <a:prstGeom prst="roundRect">
            <a:avLst>
              <a:gd name="adj" fmla="val 14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wrap="square" lIns="254000" rIns="254000" rtlCol="0" anchor="ctr"/>
          <a:lstStyle/>
          <a:p>
            <a:pPr algn="l"/>
            <a:r>
              <a:rPr sz="1200" b="1" i="0" spc="150">
                <a:solidFill>
                  <a:srgbClr val="D6EF5B"/>
                </a:solidFill>
                <a:latin typeface="Arial"/>
              </a:rPr>
              <a:t>SOURCE CODE ON GITHUB</a:t>
            </a:r>
          </a:p>
          <a:p>
            <a:pPr algn="l">
              <a:spcBef>
                <a:spcPts val="400"/>
              </a:spcBef>
            </a:pPr>
            <a:r>
              <a:rPr sz="1800" b="1" i="0">
                <a:solidFill>
                  <a:srgbClr val="EEF5F0"/>
                </a:solidFill>
                <a:latin typeface="Arial"/>
              </a:rPr>
              <a:t>github.com/volcano1998/FurnitureSim_3D</a:t>
            </a:r>
          </a:p>
        </p:txBody>
      </p:sp>
      <p:pic>
        <p:nvPicPr>
          <p:cNvPr id="7" name="Picture 6" descr="s4-route.jpg">
            <a:hlinkClick r:id="rId5"/>
          </p:cNvPr>
          <p:cNvPicPr>
            <a:picLocks noChangeAspect="1"/>
          </p:cNvPicPr>
          <p:nvPr/>
        </p:nvPicPr>
        <p:blipFill>
          <a:blip r:embed="rId8"/>
          <a:stretch>
            <a:fillRect/>
          </a:stretch>
        </p:blipFill>
        <p:spPr>
          <a:xfrm>
            <a:off x="7747000" y="2095500"/>
            <a:ext cx="3746500" cy="2341562"/>
          </a:xfrm>
          <a:prstGeom prst="rect">
            <a:avLst/>
          </a:prstGeom>
        </p:spPr>
      </p:pic>
      <p:sp>
        <p:nvSpPr>
          <p:cNvPr id="8" name="TextBox 7"/>
          <p:cNvSpPr txBox="1"/>
          <p:nvPr/>
        </p:nvSpPr>
        <p:spPr>
          <a:xfrm>
            <a:off x="7747000" y="4445000"/>
            <a:ext cx="3746500" cy="254000"/>
          </a:xfrm>
          <a:prstGeom prst="rect">
            <a:avLst/>
          </a:prstGeom>
          <a:noFill/>
        </p:spPr>
        <p:txBody>
          <a:bodyPr wrap="square" lIns="0" tIns="0" rIns="0" bIns="0" anchor="t">
            <a:spAutoFit/>
          </a:bodyPr>
          <a:lstStyle/>
          <a:p>
            <a:pPr algn="ctr">
              <a:lnSpc>
                <a:spcPct val="112000"/>
              </a:lnSpc>
              <a:spcAft>
                <a:spcPts val="0"/>
              </a:spcAft>
            </a:pPr>
            <a:r>
              <a:rPr sz="1200" b="0" i="0">
                <a:solidFill>
                  <a:srgbClr val="9DB5AA"/>
                </a:solidFill>
                <a:latin typeface="Arial"/>
              </a:rPr>
              <a:t>Click any card to open it</a:t>
            </a:r>
          </a:p>
        </p:txBody>
      </p:sp>
      <p:sp>
        <p:nvSpPr>
          <p:cNvPr id="9" name="TextBox 8"/>
          <p:cNvSpPr txBox="1"/>
          <p:nvPr/>
        </p:nvSpPr>
        <p:spPr>
          <a:xfrm>
            <a:off x="698500" y="5397500"/>
            <a:ext cx="6604000" cy="254000"/>
          </a:xfrm>
          <a:prstGeom prst="rect">
            <a:avLst/>
          </a:prstGeom>
          <a:noFill/>
        </p:spPr>
        <p:txBody>
          <a:bodyPr wrap="square" lIns="0" tIns="0" rIns="0" bIns="0" anchor="t">
            <a:spAutoFit/>
          </a:bodyPr>
          <a:lstStyle/>
          <a:p>
            <a:pPr algn="l">
              <a:lnSpc>
                <a:spcPct val="112000"/>
              </a:lnSpc>
              <a:spcAft>
                <a:spcPts val="0"/>
              </a:spcAft>
            </a:pPr>
            <a:r>
              <a:rPr sz="1300" b="0" i="0">
                <a:solidFill>
                  <a:srgbClr val="9DB5AA"/>
                </a:solidFill>
                <a:latin typeface="Arial"/>
              </a:rPr>
              <a:t>Prefer to run it locally? One command: </a:t>
            </a:r>
            <a:r>
              <a:rPr sz="1300" b="1" i="0">
                <a:solidFill>
                  <a:srgbClr val="D7EFE2"/>
                </a:solidFill>
                <a:latin typeface="Courier New"/>
              </a:rPr>
              <a:t>python3 -m http.server 8000</a:t>
            </a:r>
            <a:r>
              <a:rPr sz="1300" b="0" i="0">
                <a:solidFill>
                  <a:srgbClr val="9DB5AA"/>
                </a:solidFill>
                <a:latin typeface="Arial"/>
              </a:rPr>
              <a:t> — see the README.</a:t>
            </a:r>
          </a:p>
        </p:txBody>
      </p:sp>
      <p:sp>
        <p:nvSpPr>
          <p:cNvPr id="10" name="TextBox 9"/>
          <p:cNvSpPr txBox="1"/>
          <p:nvPr/>
        </p:nvSpPr>
        <p:spPr>
          <a:xfrm>
            <a:off x="698500" y="5842000"/>
            <a:ext cx="10795000" cy="571500"/>
          </a:xfrm>
          <a:prstGeom prst="rect">
            <a:avLst/>
          </a:prstGeom>
          <a:noFill/>
        </p:spPr>
        <p:txBody>
          <a:bodyPr wrap="square" lIns="0" tIns="0" rIns="0" bIns="0" anchor="t">
            <a:spAutoFit/>
          </a:bodyPr>
          <a:lstStyle/>
          <a:p>
            <a:pPr algn="ctr">
              <a:lnSpc>
                <a:spcPct val="112000"/>
              </a:lnSpc>
              <a:spcAft>
                <a:spcPts val="0"/>
              </a:spcAft>
            </a:pPr>
            <a:r>
              <a:rPr sz="3400" b="1" i="0">
                <a:solidFill>
                  <a:srgbClr val="EEF5F0"/>
                </a:solidFill>
                <a:latin typeface="Arial"/>
              </a:rPr>
              <a:t>Thanks for watching — </a:t>
            </a:r>
            <a:r>
              <a:rPr sz="3400" b="1" i="0">
                <a:solidFill>
                  <a:srgbClr val="D6EF5B"/>
                </a:solidFill>
                <a:latin typeface="Arial"/>
              </a:rPr>
              <a:t>go move some couches.</a:t>
            </a:r>
          </a:p>
        </p:txBody>
      </p:sp>
      <p:pic>
        <p:nvPicPr>
          <p:cNvPr id="18" name="Audio 17">
            <a:extLst>
              <a:ext uri="{FF2B5EF4-FFF2-40B4-BE49-F238E27FC236}">
                <a16:creationId xmlns:a16="http://schemas.microsoft.com/office/drawing/2014/main" id="{28A8BAC5-D357-9E07-A61D-C0A204D04CB4}"/>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3146"/>
    </mc:Choice>
    <mc:Fallback xmlns="">
      <p:transition spd="slow" advTm="231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7.4|2.1|6.1|3.5|6.3"/>
</p:tagLst>
</file>

<file path=ppt/tags/tag2.xml><?xml version="1.0" encoding="utf-8"?>
<p:tagLst xmlns:a="http://schemas.openxmlformats.org/drawingml/2006/main" xmlns:r="http://schemas.openxmlformats.org/officeDocument/2006/relationships" xmlns:p="http://schemas.openxmlformats.org/presentationml/2006/main">
  <p:tag name="TIMING" val="|5.1|5|4.2|5.6|6.5|1.6|1.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186</TotalTime>
  <Words>3020</Words>
  <Application>Microsoft Macintosh PowerPoint</Application>
  <PresentationFormat>Widescreen</PresentationFormat>
  <Paragraphs>299</Paragraphs>
  <Slides>17</Slides>
  <Notes>17</Notes>
  <HiddenSlides>1</HiddenSlides>
  <MMClips>10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Can Luo</cp:lastModifiedBy>
  <cp:revision>8</cp:revision>
  <dcterms:created xsi:type="dcterms:W3CDTF">2013-01-27T09:14:16Z</dcterms:created>
  <dcterms:modified xsi:type="dcterms:W3CDTF">2026-10-24T17:12:16Z</dcterms:modified>
  <cp:category/>
</cp:coreProperties>
</file>