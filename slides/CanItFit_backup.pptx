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68915"/>
  </p:normalViewPr>
  <p:slideViewPr>
    <p:cSldViewPr snapToGrid="0" snapToObjects="1">
      <p:cViewPr varScale="1">
        <p:scale>
          <a:sx n="74" d="100"/>
          <a:sy n="74" d="100"/>
        </p:scale>
        <p:origin x="6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
            </a:r>
            <a:r>
              <a:rPr lang="en-US" dirty="0"/>
              <a:t>is</a:t>
            </a:r>
            <a:r>
              <a:rPr dirty="0"/>
              <a:t> app gives you three ways to answer the question.</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First, </a:t>
            </a:r>
            <a:r>
              <a:rPr lang="en-US" dirty="0"/>
              <a:t>manual mode, where you grab the furniture yourself and try it virtually.</a:t>
            </a:r>
          </a:p>
          <a:p>
            <a:endParaRPr dirty="0"/>
          </a:p>
          <a:p>
            <a:r>
              <a:rPr dirty="0"/>
              <a:t>Second, a deterministic straight-shot heuristic.</a:t>
            </a:r>
          </a:p>
          <a:p>
            <a:endParaRPr dirty="0"/>
          </a:p>
          <a:p>
            <a:r>
              <a:rPr dirty="0"/>
              <a:t>Third, </a:t>
            </a:r>
            <a:r>
              <a:rPr lang="en-US" dirty="0"/>
              <a:t>a probabilistic solver using motion planning algorithm called RRT-Connect, </a:t>
            </a:r>
          </a:p>
          <a:p>
            <a:endParaRPr lang="en-US" dirty="0"/>
          </a:p>
          <a:p>
            <a:r>
              <a:rPr lang="en-US" dirty="0"/>
              <a:t>and </a:t>
            </a:r>
            <a:r>
              <a:rPr dirty="0"/>
              <a:t>Everything follows four simple steps: build the room, choose the entrance and exit, describe the furniture, and solve. Let's walk through each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one: build the room.</a:t>
            </a:r>
          </a:p>
          <a:p>
            <a:endParaRPr dirty="0"/>
          </a:p>
          <a:p>
            <a:r>
              <a:rPr dirty="0"/>
              <a:t>[DEMO: drag the A, B and C length sliders]</a:t>
            </a:r>
          </a:p>
          <a:p>
            <a:endParaRPr dirty="0"/>
          </a:p>
          <a:p>
            <a:r>
              <a:rPr dirty="0"/>
              <a:t>I'll set A to eight, and B and C to two point four. And just like that, we have a hallway.</a:t>
            </a:r>
          </a:p>
          <a:p>
            <a:endParaRPr dirty="0"/>
          </a:p>
          <a:p>
            <a:r>
              <a:rPr dirty="0"/>
              <a:t>Change the angles between the vectors and the box skews. There's even a one-click forty-five degree template.</a:t>
            </a:r>
          </a:p>
          <a:p>
            <a:endParaRPr dirty="0"/>
          </a:p>
          <a:p>
            <a:r>
              <a:rPr dirty="0"/>
              <a:t>Need a corner? Add a second object, hit "Connect two objects", and click a face on each. Now you have an L-shaped hallway.</a:t>
            </a:r>
          </a:p>
          <a:p>
            <a:endParaRPr dirty="0"/>
          </a:p>
          <a:p>
            <a:endParaRPr dirty="0"/>
          </a:p>
          <a:p>
            <a:r>
              <a:rPr dirty="0"/>
              <a:t>Turn on the vector labels and you can see A, B and C right on the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two: tell the planner where the furniture comes in, and where it has to come out.</a:t>
            </a:r>
          </a:p>
          <a:p>
            <a:endParaRPr dirty="0"/>
          </a:p>
          <a:p>
            <a:r>
              <a:rPr dirty="0"/>
              <a:t>Press "Pick faces in 3D view". Click an outside wall for the entrance, which turns green, then click another for the exit, which turns orange. You can also use the dropdowns.</a:t>
            </a:r>
          </a:p>
          <a:p>
            <a:endParaRPr dirty="0"/>
          </a:p>
          <a:p>
            <a:r>
              <a:rPr dirty="0"/>
              <a:t>Then press "Confirm 3D model", and the room locks.</a:t>
            </a:r>
          </a:p>
          <a:p>
            <a:endParaRPr dirty="0"/>
          </a:p>
          <a:p>
            <a:r>
              <a:rPr dirty="0"/>
              <a:t>Here's the key rule: these two faces are the only doorways. Every other wall is solid, so the furniture can't cheat.</a:t>
            </a:r>
          </a:p>
          <a:p>
            <a:endParaRPr dirty="0"/>
          </a:p>
          <a:p>
            <a:r>
              <a:rPr dirty="0"/>
              <a:t>And if you change your mind later, just click step one or step two in the progress bar and the room unlocks again.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three: describe your furniture.</a:t>
            </a:r>
          </a:p>
          <a:p>
            <a:endParaRPr dirty="0"/>
          </a:p>
          <a:p>
            <a:r>
              <a:rPr dirty="0"/>
              <a:t>Enter the length, width and height. I'll use two point five by one point two by one point two.</a:t>
            </a:r>
          </a:p>
          <a:p>
            <a:endParaRPr dirty="0"/>
          </a:p>
          <a:p>
            <a:r>
              <a:rPr dirty="0"/>
              <a:t>That green box next to the room is your sofa.</a:t>
            </a:r>
          </a:p>
          <a:p>
            <a:endParaRPr dirty="0"/>
          </a:p>
          <a:p>
            <a:r>
              <a:rPr dirty="0"/>
              <a:t>Then set the clearance, which is a safety margin around every side. And here's the important detail: clearance doesn't just add a rule at the end. It actually inflates the box in every direction before any collision check.</a:t>
            </a:r>
          </a:p>
          <a:p>
            <a:endParaRPr dirty="0"/>
          </a:p>
          <a:p>
            <a:r>
              <a:rPr dirty="0"/>
              <a:t>So a clearance of point one means the planner treats your sofa as slightly fatter than it really is. That's realistic, and it's deliberately conservative.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we let the computer try, try it yourself.</a:t>
            </a:r>
          </a:p>
          <a:p>
            <a:endParaRPr dirty="0"/>
          </a:p>
          <a:p>
            <a:r>
              <a:rPr dirty="0"/>
              <a:t>Press "Try manually". The furniture starts fully outside the entrance.</a:t>
            </a:r>
          </a:p>
          <a:p>
            <a:endParaRPr dirty="0"/>
          </a:p>
          <a:p>
            <a:r>
              <a:rPr dirty="0"/>
              <a:t>[DEMO: hold M and drag the furniture in]</a:t>
            </a:r>
          </a:p>
          <a:p>
            <a:endParaRPr dirty="0"/>
          </a:p>
          <a:p>
            <a:r>
              <a:rPr dirty="0"/>
              <a:t>Hold M and drag. Use the sliders for height, yaw, pitch and roll. Watch the </a:t>
            </a:r>
            <a:r>
              <a:rPr dirty="0" err="1"/>
              <a:t>colour</a:t>
            </a:r>
            <a:r>
              <a:rPr dirty="0"/>
              <a:t>: green means you're inside and legal, yellow means you're still outside, and red means you've collided with a wall.</a:t>
            </a:r>
          </a:p>
          <a:p>
            <a:endParaRPr dirty="0"/>
          </a:p>
          <a:p>
            <a:r>
              <a:rPr dirty="0"/>
              <a:t>Stuck at a corner? Try Auto Pilot. Click an edge of the furniture, then an edge of the room, and the app snaps them parallel for you.</a:t>
            </a:r>
          </a:p>
          <a:p>
            <a:endParaRPr dirty="0"/>
          </a:p>
          <a:p>
            <a:r>
              <a:rPr dirty="0"/>
              <a:t>Get all the way through the exit and you win.</a:t>
            </a:r>
          </a:p>
          <a:p>
            <a:endParaRPr dirty="0"/>
          </a:p>
          <a:p>
            <a:r>
              <a:rPr dirty="0"/>
              <a:t>I promise it's harder than it looks, and that's exactly why we need a planner.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 the planner try.</a:t>
            </a:r>
          </a:p>
          <a:p>
            <a:endParaRPr dirty="0"/>
          </a:p>
          <a:p>
            <a:r>
              <a:rPr dirty="0"/>
              <a:t>Choose RRT-Connect or Heuristic, and press "Run selected solver".</a:t>
            </a:r>
          </a:p>
          <a:p>
            <a:endParaRPr dirty="0"/>
          </a:p>
          <a:p>
            <a:r>
              <a:rPr dirty="0"/>
              <a:t>[DEMO: run it]</a:t>
            </a:r>
          </a:p>
          <a:p>
            <a:endParaRPr dirty="0"/>
          </a:p>
          <a:p>
            <a:r>
              <a:rPr dirty="0"/>
              <a:t>When it's done, a pop-up gives you the verdict: "It fits!", or "No route found". Close it, and scrub the timeline to watch the sofa travel through the room. Green means clear, yellow means tight, red means a collision.</a:t>
            </a:r>
          </a:p>
          <a:p>
            <a:endParaRPr dirty="0"/>
          </a:p>
          <a:p>
            <a:r>
              <a:rPr dirty="0"/>
              <a:t>If it fails, you have options. Raise the max iterations. Allow roll sampling. Reshape the room. Or just click back a step and change the furniture. Nothing is locked 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one: how do you describe where a couch is?</a:t>
            </a:r>
          </a:p>
          <a:p>
            <a:endParaRPr dirty="0"/>
          </a:p>
          <a:p>
            <a:r>
              <a:rPr dirty="0"/>
              <a:t>With six numbers. X, Y and Z for position, and yaw, pitch and roll for rotation.</a:t>
            </a:r>
          </a:p>
          <a:p>
            <a:endParaRPr dirty="0"/>
          </a:p>
          <a:p>
            <a:r>
              <a:rPr dirty="0"/>
              <a:t>The code stores that as a simple object, and converts the three angles into a quaternion, using Z-Y-X Euler order. We use the same convention everywhere, so rendering, collision checking and saving always agree.</a:t>
            </a:r>
          </a:p>
          <a:p>
            <a:endParaRPr dirty="0"/>
          </a:p>
          <a:p>
            <a:r>
              <a:rPr dirty="0"/>
              <a:t>And here's a neat trick: turn off "Allow roll sampling" and the search drops from six dimensions to five. That makes it faster, and most furniture never needs to barrel-roll anyway.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two: given a pose, is it legal?</a:t>
            </a:r>
          </a:p>
          <a:p>
            <a:endParaRPr dirty="0"/>
          </a:p>
          <a:p>
            <a:r>
              <a:rPr dirty="0"/>
              <a:t>If every </a:t>
            </a:r>
            <a:r>
              <a:rPr lang="en-US" dirty="0"/>
              <a:t>boundary point of the furniture </a:t>
            </a:r>
            <a:r>
              <a:rPr dirty="0"/>
              <a:t>is inside the room, the pose is legal.</a:t>
            </a:r>
          </a:p>
          <a:p>
            <a:endParaRPr dirty="0"/>
          </a:p>
          <a:p>
            <a:r>
              <a:rPr dirty="0"/>
              <a:t>To check a move between two poses, we interpolate and test every little step along the way.</a:t>
            </a:r>
          </a:p>
          <a:p>
            <a:endParaRPr dirty="0"/>
          </a:p>
          <a:p>
            <a:r>
              <a:rPr dirty="0"/>
              <a:t>And crossing a wall? That's only allowed through the entrance or exit.</a:t>
            </a:r>
          </a:p>
          <a:p>
            <a:endParaRPr dirty="0"/>
          </a:p>
          <a:p>
            <a:r>
              <a:rPr dirty="0"/>
              <a:t>It's the exact same check for manual mode and for both solvers.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second solver is the straight-shot heuristic, and it's the opposite of random.</a:t>
            </a:r>
          </a:p>
          <a:p>
            <a:endParaRPr dirty="0"/>
          </a:p>
          <a:p>
            <a:r>
              <a:rPr dirty="0"/>
              <a:t>The travel direction is the room edge that isn't part of the entrance face. We line up the furniture's longest axis with it, project the doorway along that direction, and check whether the furniture's cross-section, with clearance, fits through.</a:t>
            </a:r>
          </a:p>
          <a:p>
            <a:endParaRPr dirty="0"/>
          </a:p>
          <a:p>
            <a:r>
              <a:rPr dirty="0"/>
              <a:t>If it does, we </a:t>
            </a:r>
            <a:r>
              <a:rPr dirty="0" err="1"/>
              <a:t>centre</a:t>
            </a:r>
            <a:r>
              <a:rPr dirty="0"/>
              <a:t> it, park it outside, and slide it straight in.</a:t>
            </a:r>
          </a:p>
          <a:p>
            <a:endParaRPr dirty="0"/>
          </a:p>
          <a:p>
            <a:r>
              <a:rPr dirty="0"/>
              <a:t>For rooms made of several blocks, it hands off between blocks using a short RRT.</a:t>
            </a:r>
          </a:p>
          <a:p>
            <a:endParaRPr dirty="0"/>
          </a:p>
          <a:p>
            <a:r>
              <a:rPr dirty="0"/>
              <a:t>My rule of thumb: use the heuristic for a fast yes on </a:t>
            </a:r>
            <a:r>
              <a:rPr lang="en-US" dirty="0"/>
              <a:t>simple straight room</a:t>
            </a:r>
            <a:r>
              <a:rPr dirty="0"/>
              <a:t>, and RRT-Connect when you need real </a:t>
            </a:r>
            <a:r>
              <a:rPr dirty="0" err="1"/>
              <a:t>manoeuvring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it's your turn.</a:t>
            </a:r>
          </a:p>
          <a:p>
            <a:endParaRPr dirty="0"/>
          </a:p>
          <a:p>
            <a:r>
              <a:rPr dirty="0"/>
              <a:t>Build an L-shaped hallway out of two connected blocks. </a:t>
            </a:r>
            <a:r>
              <a:rPr lang="en-US" dirty="0"/>
              <a:t>You can make</a:t>
            </a:r>
            <a:r>
              <a:rPr dirty="0"/>
              <a:t> furniture </a:t>
            </a:r>
            <a:r>
              <a:rPr lang="en-US" dirty="0"/>
              <a:t>and clearance </a:t>
            </a:r>
            <a:r>
              <a:rPr dirty="0"/>
              <a:t>of</a:t>
            </a:r>
            <a:r>
              <a:rPr lang="en-US" dirty="0"/>
              <a:t> this size</a:t>
            </a:r>
          </a:p>
          <a:p>
            <a:endParaRPr dirty="0"/>
          </a:p>
          <a:p>
            <a:r>
              <a:rPr dirty="0"/>
              <a:t>Try it manually first. Then run both solvers.</a:t>
            </a:r>
          </a:p>
          <a:p>
            <a:endParaRPr dirty="0"/>
          </a:p>
          <a:p>
            <a:r>
              <a:rPr dirty="0"/>
              <a:t>Then </a:t>
            </a:r>
            <a:r>
              <a:rPr lang="en-US" dirty="0"/>
              <a:t>increase the furniture size </a:t>
            </a:r>
            <a:r>
              <a:rPr dirty="0"/>
              <a:t>until it stops fitting, and see whether roll sampling rescues it.</a:t>
            </a:r>
          </a:p>
          <a:p>
            <a:endParaRPr dirty="0"/>
          </a:p>
          <a:p>
            <a:r>
              <a:rPr dirty="0"/>
              <a:t>So here's the question: what's the</a:t>
            </a:r>
            <a:r>
              <a:rPr lang="en-US" dirty="0"/>
              <a:t> </a:t>
            </a:r>
            <a:r>
              <a:rPr lang="en-US" sz="1200" b="1" i="0" dirty="0">
                <a:solidFill>
                  <a:srgbClr val="17211D"/>
                </a:solidFill>
                <a:latin typeface="Arial"/>
              </a:rPr>
              <a:t>largest sofa that fits your hallway</a:t>
            </a:r>
            <a:r>
              <a:rPr dirty="0"/>
              <a:t>?</a:t>
            </a:r>
          </a:p>
          <a:p>
            <a:endParaRPr dirty="0"/>
          </a:p>
          <a:p>
            <a:r>
              <a:rPr dirty="0"/>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audio" Target="../media/media2.m4a"/><Relationship Id="rId2" Type="http://schemas.microsoft.com/office/2007/relationships/media" Target="../media/media2.m4a"/><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2" Type="http://schemas.microsoft.com/office/2007/relationships/media" Target="../media/media3.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png"/><Relationship Id="rId5" Type="http://schemas.openxmlformats.org/officeDocument/2006/relationships/image" Target="../media/image12.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slideLayout" Target="../slideLayouts/slideLayout7.xml"/><Relationship Id="rId7" Type="http://schemas.openxmlformats.org/officeDocument/2006/relationships/hyperlink" Target="https://github.com/volcano1998/FurnitureSim_3D" TargetMode="Externa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https://volcano1998.github.io/FurnitureSim_3D/slides/" TargetMode="External"/><Relationship Id="rId5" Type="http://schemas.openxmlformats.org/officeDocument/2006/relationships/hyperlink" Target="https://volcano1998.github.io/FurnitureSim_3D/" TargetMode="External"/><Relationship Id="rId4" Type="http://schemas.openxmlformats.org/officeDocument/2006/relationships/notesSlide" Target="../notesSlides/notesSlide16.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three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819658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4" name="Group 23">
            <a:extLst>
              <a:ext uri="{FF2B5EF4-FFF2-40B4-BE49-F238E27FC236}">
                <a16:creationId xmlns:a16="http://schemas.microsoft.com/office/drawing/2014/main" id="{6397C192-1A80-1117-96B7-11AAAFB625F1}"/>
              </a:ext>
            </a:extLst>
          </p:cNvPr>
          <p:cNvGrpSpPr/>
          <p:nvPr/>
        </p:nvGrpSpPr>
        <p:grpSpPr>
          <a:xfrm>
            <a:off x="4381500" y="2095500"/>
            <a:ext cx="3429000" cy="2095500"/>
            <a:chOff x="4381500" y="2095500"/>
            <a:chExt cx="3429000" cy="2095500"/>
          </a:xfrm>
        </p:grpSpPr>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2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dirty="0">
                  <a:solidFill>
                    <a:srgbClr val="17211D"/>
                  </a:solidFill>
                  <a:latin typeface="Arial"/>
                </a:rPr>
                <a:t>Deterministic solver</a:t>
              </a:r>
              <a:endParaRPr sz="2000" b="1" i="0" dirty="0">
                <a:solidFill>
                  <a:srgbClr val="17211D"/>
                </a:solidFill>
                <a:latin typeface="Arial"/>
              </a:endParaRPr>
            </a:p>
          </p:txBody>
        </p:sp>
        <p:sp>
          <p:nvSpPr>
            <p:cNvPr id="11" name="TextBox 10"/>
            <p:cNvSpPr txBox="1"/>
            <p:nvPr/>
          </p:nvSpPr>
          <p:spPr>
            <a:xfrm>
              <a:off x="4622800" y="3048000"/>
              <a:ext cx="2952750" cy="510909"/>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a deterministic straight-shot heuristic.</a:t>
              </a: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5080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the room</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Drag the </a:t>
            </a:r>
            <a:r>
              <a:rPr sz="1600" b="1" i="0">
                <a:solidFill>
                  <a:srgbClr val="17211D"/>
                </a:solidFill>
                <a:latin typeface="Arial"/>
              </a:rPr>
              <a:t>A / B / C length</a:t>
            </a:r>
            <a:r>
              <a:rPr sz="1600" b="0" i="0">
                <a:solidFill>
                  <a:srgbClr val="17211D"/>
                </a:solidFill>
                <a:latin typeface="Arial"/>
              </a:rPr>
              <a:t> sliders. Try </a:t>
            </a:r>
            <a:r>
              <a:rPr sz="1600" b="1" i="0">
                <a:solidFill>
                  <a:srgbClr val="17211D"/>
                </a:solidFill>
                <a:latin typeface="Courier New"/>
              </a:rPr>
              <a:t>8 · 2.4 · 2.4</a:t>
            </a:r>
            <a:r>
              <a:rPr sz="1600" b="0" i="0">
                <a:solidFill>
                  <a:srgbClr val="17211D"/>
                </a:solidFill>
                <a:latin typeface="Arial"/>
              </a:rPr>
              <a:t> — instant hallway.</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Change the </a:t>
            </a:r>
            <a:r>
              <a:rPr sz="1600" b="1" i="0">
                <a:solidFill>
                  <a:srgbClr val="17211D"/>
                </a:solidFill>
                <a:latin typeface="Arial"/>
              </a:rPr>
              <a:t>angles</a:t>
            </a:r>
            <a:r>
              <a:rPr sz="1600" b="0" i="0">
                <a:solidFill>
                  <a:srgbClr val="17211D"/>
                </a:solidFill>
                <a:latin typeface="Arial"/>
              </a:rPr>
              <a:t> to skew it, or hit the </a:t>
            </a:r>
            <a:r>
              <a:rPr sz="1600" b="1" i="0">
                <a:solidFill>
                  <a:srgbClr val="17211D"/>
                </a:solidFill>
                <a:latin typeface="Arial"/>
              </a:rPr>
              <a:t>45° two-face box</a:t>
            </a:r>
            <a:r>
              <a:rPr sz="1600" b="0" i="0">
                <a:solidFill>
                  <a:srgbClr val="17211D"/>
                </a:solidFill>
                <a:latin typeface="Arial"/>
              </a:rPr>
              <a:t> template.</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Need a turn? </a:t>
            </a:r>
            <a:r>
              <a:rPr sz="1600" b="1" i="0">
                <a:solidFill>
                  <a:srgbClr val="17211D"/>
                </a:solidFill>
                <a:latin typeface="Arial"/>
              </a:rPr>
              <a:t>+ Add object</a:t>
            </a:r>
            <a:r>
              <a:rPr sz="1600" b="0" i="0">
                <a:solidFill>
                  <a:srgbClr val="17211D"/>
                </a:solidFill>
                <a:latin typeface="Arial"/>
              </a:rPr>
              <a:t> → </a:t>
            </a:r>
            <a:r>
              <a:rPr sz="1600" b="1" i="0">
                <a:solidFill>
                  <a:srgbClr val="17211D"/>
                </a:solidFill>
                <a:latin typeface="Arial"/>
              </a:rPr>
              <a:t>Connect two objects</a:t>
            </a:r>
            <a:r>
              <a:rPr sz="1600" b="0" i="0">
                <a:solidFill>
                  <a:srgbClr val="17211D"/>
                </a:solidFill>
                <a:latin typeface="Arial"/>
              </a:rPr>
              <a:t> → click a face on each.</a:t>
            </a:r>
          </a:p>
        </p:txBody>
      </p:sp>
      <p:sp>
        <p:nvSpPr>
          <p:cNvPr id="5" name="Rounded Rectangle 4"/>
          <p:cNvSpPr/>
          <p:nvPr/>
        </p:nvSpPr>
        <p:spPr>
          <a:xfrm>
            <a:off x="698500" y="4699000"/>
            <a:ext cx="4064000" cy="952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Every room is a box: </a:t>
            </a:r>
            <a:r>
              <a:rPr sz="1400" b="1" i="0">
                <a:solidFill>
                  <a:srgbClr val="D6EF5B"/>
                </a:solidFill>
                <a:latin typeface="Arial"/>
              </a:rPr>
              <a:t>O + s·A + t·B + u·C</a:t>
            </a:r>
            <a:r>
              <a:rPr sz="1400" b="0" i="0">
                <a:solidFill>
                  <a:srgbClr val="EAF5EE"/>
                </a:solidFill>
                <a:latin typeface="Arial"/>
              </a:rPr>
              <a:t>, with s, t, u from 0 to 1. Turn on </a:t>
            </a:r>
            <a:r>
              <a:rPr sz="1400" b="1" i="0">
                <a:solidFill>
                  <a:srgbClr val="D6EF5B"/>
                </a:solidFill>
                <a:latin typeface="Arial"/>
              </a:rPr>
              <a:t>vector labels</a:t>
            </a:r>
            <a:r>
              <a:rPr sz="1400" b="0" i="0">
                <a:solidFill>
                  <a:srgbClr val="EAF5EE"/>
                </a:solidFill>
                <a:latin typeface="Arial"/>
              </a:rPr>
              <a:t> to see A, B, C.</a:t>
            </a:r>
          </a:p>
        </p:txBody>
      </p:sp>
      <p:pic>
        <p:nvPicPr>
          <p:cNvPr id="6" name="Picture 5" descr="s1b-labels.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Choose the entrance &amp; exit</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Press </a:t>
            </a:r>
            <a:r>
              <a:rPr sz="1600" b="1" i="0">
                <a:solidFill>
                  <a:srgbClr val="17211D"/>
                </a:solidFill>
                <a:latin typeface="Arial"/>
              </a:rPr>
              <a:t>Pick faces in 3D view</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Click an outside wall: first the </a:t>
            </a:r>
            <a:r>
              <a:rPr sz="1600" b="1" i="0">
                <a:solidFill>
                  <a:srgbClr val="2F9A5E"/>
                </a:solidFill>
                <a:latin typeface="Arial"/>
              </a:rPr>
              <a:t>entrance</a:t>
            </a:r>
            <a:r>
              <a:rPr sz="1600" b="0" i="0">
                <a:solidFill>
                  <a:srgbClr val="17211D"/>
                </a:solidFill>
                <a:latin typeface="Arial"/>
              </a:rPr>
              <a:t>, then the </a:t>
            </a:r>
            <a:r>
              <a:rPr sz="1600" b="1" i="0">
                <a:solidFill>
                  <a:srgbClr val="D97F1A"/>
                </a:solidFill>
                <a:latin typeface="Arial"/>
              </a:rPr>
              <a:t>exit</a:t>
            </a:r>
            <a:r>
              <a:rPr sz="1600" b="0" i="0">
                <a:solidFill>
                  <a:srgbClr val="17211D"/>
                </a:solidFill>
                <a:latin typeface="Arial"/>
              </a:rPr>
              <a:t>. (Or use the dropdowns.)</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Press </a:t>
            </a:r>
            <a:r>
              <a:rPr sz="1600" b="1" i="0">
                <a:solidFill>
                  <a:srgbClr val="17211D"/>
                </a:solidFill>
                <a:latin typeface="Arial"/>
              </a:rPr>
              <a:t>Confirm 3D model</a:t>
            </a:r>
            <a:r>
              <a:rPr sz="1600" b="0" i="0">
                <a:solidFill>
                  <a:srgbClr val="17211D"/>
                </a:solidFill>
                <a:latin typeface="Arial"/>
              </a:rPr>
              <a:t> — the room locks.</a:t>
            </a:r>
          </a:p>
        </p:txBody>
      </p:sp>
      <p:sp>
        <p:nvSpPr>
          <p:cNvPr id="5" name="Rounded Rectangle 4"/>
          <p:cNvSpPr/>
          <p:nvPr/>
        </p:nvSpPr>
        <p:spPr>
          <a:xfrm>
            <a:off x="698500" y="4445000"/>
            <a:ext cx="4064000" cy="1206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a:solidFill>
                  <a:srgbClr val="D6EF5B"/>
                </a:solidFill>
                <a:latin typeface="Arial"/>
              </a:rPr>
              <a:t>Only these two faces are doorways.</a:t>
            </a:r>
            <a:r>
              <a:rPr sz="1400" b="0" i="0">
                <a:solidFill>
                  <a:srgbClr val="EAF5EE"/>
                </a:solidFill>
                <a:latin typeface="Arial"/>
              </a:rPr>
              <a:t> Every other wall stays solid — the furniture can't cheat through them.</a:t>
            </a:r>
          </a:p>
        </p:txBody>
      </p:sp>
      <p:pic>
        <p:nvPicPr>
          <p:cNvPr id="6" name="Picture 5" descr="s2-openings.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pic>
        <p:nvPicPr>
          <p:cNvPr id="7" name="Picture 6" descr="s2-openings.jpg"/>
          <p:cNvPicPr>
            <a:picLocks noChangeAspect="1"/>
          </p:cNvPicPr>
          <p:nvPr/>
        </p:nvPicPr>
        <p:blipFill>
          <a:blip r:embed="rId3"/>
          <a:srcRect l="74074" t="35556" r="463" b="25185"/>
          <a:stretch>
            <a:fillRect/>
          </a:stretch>
        </p:blipFill>
        <p:spPr>
          <a:xfrm>
            <a:off x="9048750" y="3551237"/>
            <a:ext cx="2305050" cy="2222500"/>
          </a:xfrm>
          <a:prstGeom prst="rect">
            <a:avLst/>
          </a:prstGeom>
          <a:ln w="28575">
            <a:solidFill>
              <a:srgbClr val="166B5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Describe the furniture</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Enter </a:t>
            </a:r>
            <a:r>
              <a:rPr sz="1600" b="1" i="0">
                <a:solidFill>
                  <a:srgbClr val="17211D"/>
                </a:solidFill>
                <a:latin typeface="Arial"/>
              </a:rPr>
              <a:t>Length · Width · Height</a:t>
            </a:r>
            <a:r>
              <a:rPr sz="1600" b="0" i="0">
                <a:solidFill>
                  <a:srgbClr val="17211D"/>
                </a:solidFill>
                <a:latin typeface="Arial"/>
              </a:rPr>
              <a:t>. Try </a:t>
            </a:r>
            <a:r>
              <a:rPr sz="1600" b="1" i="0">
                <a:solidFill>
                  <a:srgbClr val="17211D"/>
                </a:solidFill>
                <a:latin typeface="Courier New"/>
              </a:rPr>
              <a:t>2.5 · 1.2 · 1.2</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The </a:t>
            </a:r>
            <a:r>
              <a:rPr sz="1600" b="1" i="0">
                <a:solidFill>
                  <a:srgbClr val="2F9A5E"/>
                </a:solidFill>
                <a:latin typeface="Arial"/>
              </a:rPr>
              <a:t>green box</a:t>
            </a:r>
            <a:r>
              <a:rPr sz="1600" b="0" i="0">
                <a:solidFill>
                  <a:srgbClr val="17211D"/>
                </a:solidFill>
                <a:latin typeface="Arial"/>
              </a:rPr>
              <a:t> is your furniture, parked beside the room. </a:t>
            </a:r>
            <a:r>
              <a:rPr sz="1600" b="1" i="0">
                <a:solidFill>
                  <a:srgbClr val="17211D"/>
                </a:solidFill>
                <a:latin typeface="Arial"/>
              </a:rPr>
              <a:t>Show furniture in 3D view</a:t>
            </a:r>
            <a:r>
              <a:rPr sz="1600" b="0" i="0">
                <a:solidFill>
                  <a:srgbClr val="17211D"/>
                </a:solidFill>
                <a:latin typeface="Arial"/>
              </a:rPr>
              <a:t> to focus it.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Set </a:t>
            </a:r>
            <a:r>
              <a:rPr sz="1600" b="1" i="0">
                <a:solidFill>
                  <a:srgbClr val="17211D"/>
                </a:solidFill>
                <a:latin typeface="Arial"/>
              </a:rPr>
              <a:t>Clearance</a:t>
            </a:r>
            <a:r>
              <a:rPr sz="1600" b="0" i="0">
                <a:solidFill>
                  <a:srgbClr val="17211D"/>
                </a:solidFill>
                <a:latin typeface="Arial"/>
              </a:rPr>
              <a:t> (</a:t>
            </a:r>
            <a:r>
              <a:rPr sz="1600" b="1" i="0">
                <a:solidFill>
                  <a:srgbClr val="17211D"/>
                </a:solidFill>
                <a:latin typeface="Courier New"/>
              </a:rPr>
              <a:t>0.1</a:t>
            </a:r>
            <a:r>
              <a:rPr sz="1600" b="0" i="0">
                <a:solidFill>
                  <a:srgbClr val="17211D"/>
                </a:solidFill>
                <a:latin typeface="Arial"/>
              </a:rPr>
              <a:t>) — a safety margin around every side.</a:t>
            </a:r>
          </a:p>
        </p:txBody>
      </p:sp>
      <p:sp>
        <p:nvSpPr>
          <p:cNvPr id="5" name="Rounded Rectangle 4"/>
          <p:cNvSpPr/>
          <p:nvPr/>
        </p:nvSpPr>
        <p:spPr>
          <a:xfrm>
            <a:off x="698500" y="4699000"/>
            <a:ext cx="4064000" cy="952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Furniture is one rigid box. Clearance </a:t>
            </a:r>
            <a:r>
              <a:rPr sz="1400" b="1" i="0">
                <a:solidFill>
                  <a:srgbClr val="D6EF5B"/>
                </a:solidFill>
                <a:latin typeface="Arial"/>
              </a:rPr>
              <a:t>grows the box</a:t>
            </a:r>
            <a:r>
              <a:rPr sz="1400" b="0" i="0">
                <a:solidFill>
                  <a:srgbClr val="EAF5EE"/>
                </a:solidFill>
                <a:latin typeface="Arial"/>
              </a:rPr>
              <a:t> in every direction before any collision check.</a:t>
            </a:r>
          </a:p>
        </p:txBody>
      </p:sp>
      <p:pic>
        <p:nvPicPr>
          <p:cNvPr id="6" name="Picture 5" descr="s3-furniture.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pic>
        <p:nvPicPr>
          <p:cNvPr id="7" name="Picture 6" descr="s3-furniture.jpg"/>
          <p:cNvPicPr>
            <a:picLocks noChangeAspect="1"/>
          </p:cNvPicPr>
          <p:nvPr/>
        </p:nvPicPr>
        <p:blipFill>
          <a:blip r:embed="rId3"/>
          <a:srcRect l="74074" t="37037" r="463" b="35556"/>
          <a:stretch>
            <a:fillRect/>
          </a:stretch>
        </p:blipFill>
        <p:spPr>
          <a:xfrm>
            <a:off x="9048750" y="4224337"/>
            <a:ext cx="2305050" cy="1549400"/>
          </a:xfrm>
          <a:prstGeom prst="rect">
            <a:avLst/>
          </a:prstGeom>
          <a:ln w="28575">
            <a:solidFill>
              <a:srgbClr val="166B50"/>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1" i="0">
                <a:solidFill>
                  <a:srgbClr val="17211D"/>
                </a:solidFill>
                <a:latin typeface="Arial"/>
              </a:rPr>
              <a:t>Try manually</a:t>
            </a:r>
            <a:r>
              <a:rPr sz="1600" b="0" i="0">
                <a:solidFill>
                  <a:srgbClr val="17211D"/>
                </a:solidFill>
                <a:latin typeface="Arial"/>
              </a:rPr>
              <a:t> — the furniture starts fully outside the entrance.</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Hold </a:t>
            </a:r>
            <a:r>
              <a:rPr sz="1600" b="1" i="0">
                <a:solidFill>
                  <a:srgbClr val="17211D"/>
                </a:solidFill>
                <a:latin typeface="Courier New"/>
              </a:rPr>
              <a:t>M</a:t>
            </a:r>
            <a:r>
              <a:rPr sz="1600" b="0" i="0">
                <a:solidFill>
                  <a:srgbClr val="17211D"/>
                </a:solidFill>
                <a:latin typeface="Arial"/>
              </a:rPr>
              <a:t> and drag. Use the sliders for </a:t>
            </a:r>
            <a:r>
              <a:rPr sz="1600" b="1" i="0">
                <a:solidFill>
                  <a:srgbClr val="17211D"/>
                </a:solidFill>
                <a:latin typeface="Arial"/>
              </a:rPr>
              <a:t>height</a:t>
            </a:r>
            <a:r>
              <a:rPr sz="1600" b="0" i="0">
                <a:solidFill>
                  <a:srgbClr val="17211D"/>
                </a:solidFill>
                <a:latin typeface="Arial"/>
              </a:rPr>
              <a:t>, </a:t>
            </a:r>
            <a:r>
              <a:rPr sz="1600" b="1" i="0">
                <a:solidFill>
                  <a:srgbClr val="17211D"/>
                </a:solidFill>
                <a:latin typeface="Arial"/>
              </a:rPr>
              <a:t>yaw</a:t>
            </a:r>
            <a:r>
              <a:rPr sz="1600" b="0" i="0">
                <a:solidFill>
                  <a:srgbClr val="17211D"/>
                </a:solidFill>
                <a:latin typeface="Arial"/>
              </a:rPr>
              <a:t>, </a:t>
            </a:r>
            <a:r>
              <a:rPr sz="1600" b="1" i="0">
                <a:solidFill>
                  <a:srgbClr val="17211D"/>
                </a:solidFill>
                <a:latin typeface="Arial"/>
              </a:rPr>
              <a:t>pitch</a:t>
            </a:r>
            <a:r>
              <a:rPr sz="1600" b="0" i="0">
                <a:solidFill>
                  <a:srgbClr val="17211D"/>
                </a:solidFill>
                <a:latin typeface="Arial"/>
              </a:rPr>
              <a:t>, </a:t>
            </a:r>
            <a:r>
              <a:rPr sz="1600" b="1" i="0">
                <a:solidFill>
                  <a:srgbClr val="17211D"/>
                </a:solidFill>
                <a:latin typeface="Arial"/>
              </a:rPr>
              <a:t>roll</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Stuck at a corner? </a:t>
            </a:r>
            <a:r>
              <a:rPr sz="1600" b="1" i="0">
                <a:solidFill>
                  <a:srgbClr val="17211D"/>
                </a:solidFill>
                <a:latin typeface="Arial"/>
              </a:rPr>
              <a:t>Auto Pilot</a:t>
            </a:r>
            <a:r>
              <a:rPr sz="1600" b="0" i="0">
                <a:solidFill>
                  <a:srgbClr val="17211D"/>
                </a:solidFill>
                <a:latin typeface="Arial"/>
              </a:rPr>
              <a:t>: click a furniture edge, then a room edge — they snap parallel.</a:t>
            </a:r>
          </a:p>
        </p:txBody>
      </p:sp>
      <p:sp>
        <p:nvSpPr>
          <p:cNvPr id="5" name="TextBox 4"/>
          <p:cNvSpPr txBox="1"/>
          <p:nvPr/>
        </p:nvSpPr>
        <p:spPr>
          <a:xfrm>
            <a:off x="698500" y="4381500"/>
            <a:ext cx="4064000" cy="254000"/>
          </a:xfrm>
          <a:prstGeom prst="rect">
            <a:avLst/>
          </a:prstGeom>
          <a:noFill/>
        </p:spPr>
        <p:txBody>
          <a:bodyPr wrap="square" lIns="0" tIns="0" rIns="0" bIns="0" anchor="t">
            <a:spAutoFit/>
          </a:bodyPr>
          <a:lstStyle/>
          <a:p>
            <a:pPr algn="l">
              <a:lnSpc>
                <a:spcPct val="112000"/>
              </a:lnSpc>
              <a:spcAft>
                <a:spcPts val="0"/>
              </a:spcAft>
            </a:pPr>
            <a:r>
              <a:rPr sz="1250" b="1" i="0">
                <a:solidFill>
                  <a:srgbClr val="2F9A5E"/>
                </a:solidFill>
                <a:latin typeface="Arial"/>
              </a:rPr>
              <a:t>■ inside, legal</a:t>
            </a:r>
            <a:r>
              <a:rPr sz="1250" b="1" i="0">
                <a:solidFill>
                  <a:srgbClr val="B08A1E"/>
                </a:solidFill>
                <a:latin typeface="Arial"/>
              </a:rPr>
              <a:t>     ■ outside     </a:t>
            </a:r>
            <a:r>
              <a:rPr sz="1250" b="1" i="0">
                <a:solidFill>
                  <a:srgbClr val="D94D45"/>
                </a:solidFill>
                <a:latin typeface="Arial"/>
              </a:rPr>
              <a:t>■ collision</a:t>
            </a:r>
          </a:p>
        </p:txBody>
      </p:sp>
      <p:sp>
        <p:nvSpPr>
          <p:cNvPr id="6" name="Rounded Rectangle 5"/>
          <p:cNvSpPr/>
          <p:nvPr/>
        </p:nvSpPr>
        <p:spPr>
          <a:xfrm>
            <a:off x="698500" y="4762500"/>
            <a:ext cx="4064000" cy="889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a:solidFill>
                  <a:srgbClr val="D6EF5B"/>
                </a:solidFill>
                <a:latin typeface="Arial"/>
              </a:rPr>
              <a:t>You win</a:t>
            </a:r>
            <a:r>
              <a:rPr sz="1400" b="0" i="0">
                <a:solidFill>
                  <a:srgbClr val="EAF5EE"/>
                </a:solidFill>
                <a:latin typeface="Arial"/>
              </a:rPr>
              <a:t> when the furniture passes completely through the exit — a pop-up tells you.</a:t>
            </a:r>
          </a:p>
        </p:txBody>
      </p:sp>
      <p:pic>
        <p:nvPicPr>
          <p:cNvPr id="7" name="Picture 6" descr="s4-manual.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Pick </a:t>
            </a:r>
            <a:r>
              <a:rPr sz="1600" b="1" i="0">
                <a:solidFill>
                  <a:srgbClr val="17211D"/>
                </a:solidFill>
                <a:latin typeface="Arial"/>
              </a:rPr>
              <a:t>RRT-Connect</a:t>
            </a:r>
            <a:r>
              <a:rPr sz="1600" b="0" i="0">
                <a:solidFill>
                  <a:srgbClr val="17211D"/>
                </a:solidFill>
                <a:latin typeface="Arial"/>
              </a:rPr>
              <a:t> or </a:t>
            </a:r>
            <a:r>
              <a:rPr sz="1600" b="1" i="0">
                <a:solidFill>
                  <a:srgbClr val="17211D"/>
                </a:solidFill>
                <a:latin typeface="Arial"/>
              </a:rPr>
              <a:t>Heuristic</a:t>
            </a:r>
            <a:r>
              <a:rPr sz="1600" b="0" i="0">
                <a:solidFill>
                  <a:srgbClr val="17211D"/>
                </a:solidFill>
                <a:latin typeface="Arial"/>
              </a:rPr>
              <a:t>, then </a:t>
            </a:r>
            <a:r>
              <a:rPr sz="1600" b="1" i="0">
                <a:solidFill>
                  <a:srgbClr val="17211D"/>
                </a:solidFill>
                <a:latin typeface="Arial"/>
              </a:rPr>
              <a:t>Run selected solver</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A pop-up gives the verdict: </a:t>
            </a:r>
            <a:r>
              <a:rPr sz="1600" b="1" i="0">
                <a:solidFill>
                  <a:srgbClr val="2F9A5E"/>
                </a:solidFill>
                <a:latin typeface="Arial"/>
              </a:rPr>
              <a:t>It fits!</a:t>
            </a:r>
            <a:r>
              <a:rPr sz="1600" b="0" i="0">
                <a:solidFill>
                  <a:srgbClr val="17211D"/>
                </a:solidFill>
                <a:latin typeface="Arial"/>
              </a:rPr>
              <a:t> or </a:t>
            </a:r>
            <a:r>
              <a:rPr sz="1600" b="1" i="0">
                <a:solidFill>
                  <a:srgbClr val="D94D45"/>
                </a:solidFill>
                <a:latin typeface="Arial"/>
              </a:rPr>
              <a:t>No route</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Scrub the timeline. Colours: green clear, yellow tight, red collision.</a:t>
            </a:r>
          </a:p>
        </p:txBody>
      </p:sp>
      <p:sp>
        <p:nvSpPr>
          <p:cNvPr id="5" name="Rounded Rectangle 4"/>
          <p:cNvSpPr/>
          <p:nvPr/>
        </p:nvSpPr>
        <p:spPr>
          <a:xfrm>
            <a:off x="698500" y="4699000"/>
            <a:ext cx="4064000" cy="952500"/>
          </a:xfrm>
          <a:prstGeom prst="roundRect">
            <a:avLst>
              <a:gd name="adj" fmla="val 14000"/>
            </a:avLst>
          </a:prstGeom>
          <a:solidFill>
            <a:srgbClr val="3A1F1B"/>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a:solidFill>
                  <a:srgbClr val="FFB4A8"/>
                </a:solidFill>
                <a:latin typeface="Arial"/>
              </a:rPr>
              <a:t>Failed?</a:t>
            </a:r>
            <a:r>
              <a:rPr sz="1400" b="0" i="0">
                <a:solidFill>
                  <a:srgbClr val="EAF5EE"/>
                </a:solidFill>
                <a:latin typeface="Arial"/>
              </a:rPr>
              <a:t> Raise max iterations, allow roll sampling, reshape the room — or go back a step.</a:t>
            </a:r>
          </a:p>
        </p:txBody>
      </p:sp>
      <p:pic>
        <p:nvPicPr>
          <p:cNvPr id="6" name="Picture 5" descr="s4-route.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pic>
        <p:nvPicPr>
          <p:cNvPr id="7" name="Picture 6" descr="s4-result-dialog.jpg"/>
          <p:cNvPicPr>
            <a:picLocks noChangeAspect="1"/>
          </p:cNvPicPr>
          <p:nvPr/>
        </p:nvPicPr>
        <p:blipFill>
          <a:blip r:embed="rId4"/>
          <a:srcRect l="34722" t="27407" r="34722" b="26667"/>
          <a:stretch>
            <a:fillRect/>
          </a:stretch>
        </p:blipFill>
        <p:spPr>
          <a:xfrm>
            <a:off x="8750300" y="3335337"/>
            <a:ext cx="2603500" cy="2438400"/>
          </a:xfrm>
          <a:prstGeom prst="rect">
            <a:avLst/>
          </a:prstGeom>
          <a:ln w="28575">
            <a:solidFill>
              <a:srgbClr val="166B50"/>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71500">
                <a:tc>
                  <a:txBody>
                    <a:bodyPr/>
                    <a:lstStyle/>
                    <a:p>
                      <a:endParaRPr/>
                    </a:p>
                  </a:txBody>
                  <a:tcPr marL="152400" marR="152400" anchor="ctr">
                    <a:solidFill>
                      <a:srgbClr val="0E2F26"/>
                    </a:solidFill>
                  </a:tcPr>
                </a:tc>
                <a:tc>
                  <a:txBody>
                    <a:bodyPr/>
                    <a:lstStyle/>
                    <a:p>
                      <a:r>
                        <a:rPr sz="1300" b="1" i="0">
                          <a:solidFill>
                            <a:srgbClr val="FFFFFF"/>
                          </a:solidFill>
                          <a:latin typeface="Arial"/>
                        </a:rPr>
                        <a:t>RRT-Connect</a:t>
                      </a:r>
                    </a:p>
                  </a:txBody>
                  <a:tcPr marL="152400" marR="152400" anchor="ctr">
                    <a:solidFill>
                      <a:srgbClr val="0E2F26"/>
                    </a:solidFill>
                  </a:tcPr>
                </a:tc>
                <a:tc>
                  <a:txBody>
                    <a:bodyPr/>
                    <a:lstStyle/>
                    <a:p>
                      <a:r>
                        <a:rPr sz="1300" b="1" i="0">
                          <a:solidFill>
                            <a:srgbClr val="FFFFFF"/>
                          </a:solidFill>
                          <a:latin typeface="Arial"/>
                        </a:rPr>
                        <a:t>Heuristic</a:t>
                      </a:r>
                    </a:p>
                  </a:txBody>
                  <a:tcPr marL="152400" marR="152400" anchor="ctr">
                    <a:solidFill>
                      <a:srgbClr val="0E2F26"/>
                    </a:solidFill>
                  </a:tcPr>
                </a:tc>
                <a:extLst>
                  <a:ext uri="{0D108BD9-81ED-4DB2-BD59-A6C34878D82A}">
                    <a16:rowId xmlns:a16="http://schemas.microsoft.com/office/drawing/2014/main" val="10000"/>
                  </a:ext>
                </a:extLst>
              </a:tr>
              <a:tr h="571500">
                <a:tc>
                  <a:txBody>
                    <a:bodyPr/>
                    <a:lstStyle/>
                    <a:p>
                      <a:r>
                        <a:rPr sz="1450" b="1" i="0">
                          <a:solidFill>
                            <a:srgbClr val="166B50"/>
                          </a:solidFill>
                          <a:latin typeface="Arial"/>
                        </a:rPr>
                        <a:t>Idea</a:t>
                      </a:r>
                    </a:p>
                  </a:txBody>
                  <a:tcPr marL="152400" marR="152400" anchor="ctr">
                    <a:solidFill>
                      <a:srgbClr val="FFFFFF"/>
                    </a:solidFill>
                  </a:tcPr>
                </a:tc>
                <a:tc>
                  <a:txBody>
                    <a:bodyPr/>
                    <a:lstStyle/>
                    <a:p>
                      <a:r>
                        <a:rPr sz="1450" b="0" i="0">
                          <a:solidFill>
                            <a:srgbClr val="17211D"/>
                          </a:solidFill>
                          <a:latin typeface="Arial"/>
                        </a:rPr>
                        <a:t>Random search</a:t>
                      </a:r>
                    </a:p>
                  </a:txBody>
                  <a:tcPr marL="152400" marR="152400" anchor="ctr">
                    <a:solidFill>
                      <a:srgbClr val="FFFFFF"/>
                    </a:solidFill>
                  </a:tcPr>
                </a:tc>
                <a:tc>
                  <a:txBody>
                    <a:bodyPr/>
                    <a:lstStyle/>
                    <a:p>
                      <a:r>
                        <a:rPr sz="1450" b="0" i="0">
                          <a:solidFill>
                            <a:srgbClr val="17211D"/>
                          </a:solidFill>
                          <a:latin typeface="Arial"/>
                        </a:rPr>
                        <a:t>Slide it in straight</a:t>
                      </a:r>
                    </a:p>
                  </a:txBody>
                  <a:tcPr marL="152400" marR="152400" anchor="ctr">
                    <a:solidFill>
                      <a:srgbClr val="FFFFFF"/>
                    </a:solidFill>
                  </a:tcPr>
                </a:tc>
                <a:extLst>
                  <a:ext uri="{0D108BD9-81ED-4DB2-BD59-A6C34878D82A}">
                    <a16:rowId xmlns:a16="http://schemas.microsoft.com/office/drawing/2014/main" val="10001"/>
                  </a:ext>
                </a:extLst>
              </a:tr>
              <a:tr h="571500">
                <a:tc>
                  <a:txBody>
                    <a:bodyPr/>
                    <a:lstStyle/>
                    <a:p>
                      <a:r>
                        <a:rPr sz="1450" b="1" i="0">
                          <a:solidFill>
                            <a:srgbClr val="166B50"/>
                          </a:solidFill>
                          <a:latin typeface="Arial"/>
                        </a:rPr>
                        <a:t>Result</a:t>
                      </a:r>
                    </a:p>
                  </a:txBody>
                  <a:tcPr marL="152400" marR="152400" anchor="ctr">
                    <a:solidFill>
                      <a:srgbClr val="FFFFFF"/>
                    </a:solidFill>
                  </a:tcPr>
                </a:tc>
                <a:tc>
                  <a:txBody>
                    <a:bodyPr/>
                    <a:lstStyle/>
                    <a:p>
                      <a:r>
                        <a:rPr sz="1450" b="0" i="0">
                          <a:solidFill>
                            <a:srgbClr val="17211D"/>
                          </a:solidFill>
                          <a:latin typeface="Arial"/>
                        </a:rPr>
                        <a:t>Different each run</a:t>
                      </a:r>
                    </a:p>
                  </a:txBody>
                  <a:tcPr marL="152400" marR="152400" anchor="ctr">
                    <a:solidFill>
                      <a:srgbClr val="FFFFFF"/>
                    </a:solidFill>
                  </a:tcPr>
                </a:tc>
                <a:tc>
                  <a:txBody>
                    <a:bodyPr/>
                    <a:lstStyle/>
                    <a:p>
                      <a:r>
                        <a:rPr sz="1450" b="0" i="0">
                          <a:solidFill>
                            <a:srgbClr val="17211D"/>
                          </a:solidFill>
                          <a:latin typeface="Arial"/>
                        </a:rPr>
                        <a:t>Same every run</a:t>
                      </a:r>
                    </a:p>
                  </a:txBody>
                  <a:tcPr marL="152400" marR="152400" anchor="ctr">
                    <a:solidFill>
                      <a:srgbClr val="FFFFFF"/>
                    </a:solidFill>
                  </a:tcPr>
                </a:tc>
                <a:extLst>
                  <a:ext uri="{0D108BD9-81ED-4DB2-BD59-A6C34878D82A}">
                    <a16:rowId xmlns:a16="http://schemas.microsoft.com/office/drawing/2014/main" val="10002"/>
                  </a:ext>
                </a:extLst>
              </a:tr>
              <a:tr h="571500">
                <a:tc>
                  <a:txBody>
                    <a:bodyPr/>
                    <a:lstStyle/>
                    <a:p>
                      <a:r>
                        <a:rPr sz="1450" b="1" i="0">
                          <a:solidFill>
                            <a:srgbClr val="166B50"/>
                          </a:solidFill>
                          <a:latin typeface="Arial"/>
                        </a:rPr>
                        <a:t>Handles turns</a:t>
                      </a:r>
                    </a:p>
                  </a:txBody>
                  <a:tcPr marL="152400" marR="152400" anchor="ctr">
                    <a:solidFill>
                      <a:srgbClr val="FFFFFF"/>
                    </a:solidFill>
                  </a:tcPr>
                </a:tc>
                <a:tc>
                  <a:txBody>
                    <a:bodyPr/>
                    <a:lstStyle/>
                    <a:p>
                      <a:r>
                        <a:rPr sz="1450" b="0" i="0">
                          <a:solidFill>
                            <a:srgbClr val="17211D"/>
                          </a:solidFill>
                          <a:latin typeface="Arial"/>
                        </a:rPr>
                        <a:t>Yes</a:t>
                      </a:r>
                    </a:p>
                  </a:txBody>
                  <a:tcPr marL="152400" marR="152400" anchor="ctr">
                    <a:solidFill>
                      <a:srgbClr val="FFFFFF"/>
                    </a:solidFill>
                  </a:tcPr>
                </a:tc>
                <a:tc>
                  <a:txBody>
                    <a:bodyPr/>
                    <a:lstStyle/>
                    <a:p>
                      <a:r>
                        <a:rPr sz="1450" b="0" i="0">
                          <a:solidFill>
                            <a:srgbClr val="17211D"/>
                          </a:solidFill>
                          <a:latin typeface="Arial"/>
                        </a:rPr>
                        <a:t>Via handoffs</a:t>
                      </a:r>
                    </a:p>
                  </a:txBody>
                  <a:tcPr marL="152400" marR="152400" anchor="ctr">
                    <a:solidFill>
                      <a:srgbClr val="FFFFFF"/>
                    </a:solidFill>
                  </a:tcPr>
                </a:tc>
                <a:extLst>
                  <a:ext uri="{0D108BD9-81ED-4DB2-BD59-A6C34878D82A}">
                    <a16:rowId xmlns:a16="http://schemas.microsoft.com/office/drawing/2014/main" val="10003"/>
                  </a:ext>
                </a:extLst>
              </a:tr>
              <a:tr h="571500">
                <a:tc>
                  <a:txBody>
                    <a:bodyPr/>
                    <a:lstStyle/>
                    <a:p>
                      <a:r>
                        <a:rPr sz="1450" b="1" i="0">
                          <a:solidFill>
                            <a:srgbClr val="166B50"/>
                          </a:solidFill>
                          <a:latin typeface="Arial"/>
                        </a:rPr>
                        <a:t>On failure</a:t>
                      </a:r>
                    </a:p>
                  </a:txBody>
                  <a:tcPr marL="152400" marR="152400" anchor="ctr">
                    <a:solidFill>
                      <a:srgbClr val="FFFFFF"/>
                    </a:solidFill>
                  </a:tcPr>
                </a:tc>
                <a:tc>
                  <a:txBody>
                    <a:bodyPr/>
                    <a:lstStyle/>
                    <a:p>
                      <a:r>
                        <a:rPr sz="1450" b="0" i="0">
                          <a:solidFill>
                            <a:srgbClr val="17211D"/>
                          </a:solidFill>
                          <a:latin typeface="Arial"/>
                        </a:rPr>
                        <a:t>Try again</a:t>
                      </a:r>
                    </a:p>
                  </a:txBody>
                  <a:tcPr marL="152400" marR="152400" anchor="ctr">
                    <a:solidFill>
                      <a:srgbClr val="FFFFFF"/>
                    </a:solidFill>
                  </a:tcPr>
                </a:tc>
                <a:tc>
                  <a:txBody>
                    <a:bodyPr/>
                    <a:lstStyle/>
                    <a:p>
                      <a:r>
                        <a:rPr sz="1450" b="0" i="0">
                          <a:solidFill>
                            <a:srgbClr val="17211D"/>
                          </a:solidFill>
                          <a:latin typeface="Arial"/>
                        </a:rPr>
                        <a:t>Shows the stuck spot</a:t>
                      </a:r>
                    </a:p>
                  </a:txBody>
                  <a:tcPr marL="152400" marR="152400" anchor="ctr">
                    <a:solidFill>
                      <a:srgbClr val="FFFFFF"/>
                    </a:solidFill>
                  </a:tcPr>
                </a:tc>
                <a:extLst>
                  <a:ext uri="{0D108BD9-81ED-4DB2-BD59-A6C34878D82A}">
                    <a16:rowId xmlns:a16="http://schemas.microsoft.com/office/drawing/2014/main" val="10004"/>
                  </a:ext>
                </a:extLst>
              </a:tr>
            </a:tbl>
          </a:graphicData>
        </a:graphic>
      </p:graphicFrame>
      <p:pic>
        <p:nvPicPr>
          <p:cNvPr id="21" name="Audio 20">
            <a:extLst>
              <a:ext uri="{FF2B5EF4-FFF2-40B4-BE49-F238E27FC236}">
                <a16:creationId xmlns:a16="http://schemas.microsoft.com/office/drawing/2014/main" id="{1B58BA4A-96FE-C24C-741B-D46BD621CF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31"/>
    </mc:Choice>
    <mc:Fallback xmlns="">
      <p:transition spd="slow" advTm="4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Does </a:t>
            </a:r>
            <a:r>
              <a:rPr sz="1700" b="1" i="0" dirty="0">
                <a:solidFill>
                  <a:srgbClr val="17211D"/>
                </a:solidFill>
                <a:latin typeface="Arial"/>
              </a:rPr>
              <a:t>roll sampling</a:t>
            </a:r>
            <a:r>
              <a:rPr sz="1700" b="0" i="0" dirty="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2766</Words>
  <Application>Microsoft Macintosh PowerPoint</Application>
  <PresentationFormat>Widescreen</PresentationFormat>
  <Paragraphs>280</Paragraphs>
  <Slides>16</Slides>
  <Notes>16</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7</cp:revision>
  <dcterms:created xsi:type="dcterms:W3CDTF">2013-01-27T09:14:16Z</dcterms:created>
  <dcterms:modified xsi:type="dcterms:W3CDTF">2026-10-24T16:20:27Z</dcterms:modified>
  <cp:category/>
</cp:coreProperties>
</file>